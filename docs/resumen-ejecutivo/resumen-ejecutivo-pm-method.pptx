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puesta" id="{e4b3cc8a-39da-76e2-7a8b-6abb5451aef2}">
          <p14:sldIdLst>
            <p14:sldId id="256"/>
            <p14:sldId id="257"/>
            <p14:sldId id="258"/>
          </p14:sldIdLst>
        </p14:section>
        <p14:section name="Producto" id="{216a81c3-a23e-4fbf-f02d-7b3d75e875eb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Casos E2E" id="{eda628e4-241b-3230-7834-7689c22db216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Confianza y adopción" id="{be740d77-d310-2533-f1ee-f7f99538334c}">
          <p14:sldIdLst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control permanente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DAT · datos ilegibles</c:v>
                  </c:pt>
                  <c:pt idx="1">
                    <c:v>BIT · bitácora de escrituras</c:v>
                  </c:pt>
                  <c:pt idx="2">
                    <c:v>TOL · pronóstico contra tolerancias</c:v>
                  </c:pt>
                  <c:pt idx="3">
                    <c:v>SUP · supuestos críticos</c:v>
                  </c:pt>
                  <c:pt idx="4">
                    <c:v>QUA · calidad a volumen</c:v>
                  </c:pt>
                  <c:pt idx="5">
                    <c:v>INT · integraciones MCP</c:v>
                  </c:pt>
                  <c:pt idx="6">
                    <c:v>ART · artefactos</c:v>
                  </c:pt>
                  <c:pt idx="7">
                    <c:v>MAP · mapas de Wardley y de recorrido</c:v>
                  </c:pt>
                  <c:pt idx="8">
                    <c:v>INS · instalación</c:v>
                  </c:pt>
                  <c:pt idx="9">
                    <c:v>DEC · decisiones con contexto</c:v>
                  </c:pt>
                  <c:pt idx="10">
                    <c:v>CAM · cambios contra presupuestos</c:v>
                  </c:pt>
                  <c:pt idx="11">
                    <c:v>REG · registros</c:v>
                  </c:pt>
                  <c:pt idx="12">
                    <c:v>EST · estado, roles y puertas</c:v>
                  </c:pt>
                  <c:pt idx="13">
                    <c:v>ESP · especificación y BMAD</c:v>
                  </c:pt>
                  <c:pt idx="14">
                    <c:v>STK · maestro de interesados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4</c:v>
                </c:pt>
                <c:pt idx="4">
                  <c:v>4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6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otras familias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DAT · datos ilegibles</c:v>
                  </c:pt>
                  <c:pt idx="1">
                    <c:v>BIT · bitácora de escrituras</c:v>
                  </c:pt>
                  <c:pt idx="2">
                    <c:v>TOL · pronóstico contra tolerancias</c:v>
                  </c:pt>
                  <c:pt idx="3">
                    <c:v>SUP · supuestos críticos</c:v>
                  </c:pt>
                  <c:pt idx="4">
                    <c:v>QUA · calidad a volumen</c:v>
                  </c:pt>
                  <c:pt idx="5">
                    <c:v>INT · integraciones MCP</c:v>
                  </c:pt>
                  <c:pt idx="6">
                    <c:v>ART · artefactos</c:v>
                  </c:pt>
                  <c:pt idx="7">
                    <c:v>MAP · mapas de Wardley y de recorrido</c:v>
                  </c:pt>
                  <c:pt idx="8">
                    <c:v>INS · instalación</c:v>
                  </c:pt>
                  <c:pt idx="9">
                    <c:v>DEC · decisiones con contexto</c:v>
                  </c:pt>
                  <c:pt idx="10">
                    <c:v>CAM · cambios contra presupuestos</c:v>
                  </c:pt>
                  <c:pt idx="11">
                    <c:v>REG · registros</c:v>
                  </c:pt>
                  <c:pt idx="12">
                    <c:v>EST · estado, roles y puertas</c:v>
                  </c:pt>
                  <c:pt idx="13">
                    <c:v>ESP · especificación y BMAD</c:v>
                  </c:pt>
                  <c:pt idx="14">
                    <c:v>STK · maestro de interesados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0</c:v>
                </c:pt>
                <c:pt idx="11">
                  <c:v>12</c:v>
                </c:pt>
                <c:pt idx="12">
                  <c:v>14</c:v>
                </c:pt>
                <c:pt idx="13">
                  <c:v>15</c:v>
                </c:pt>
                <c:pt idx="14">
                  <c:v>17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7242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AI-assisted project management with a real method, governance and permanent controls, as a Claude Code and Cowork plugin.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what is usually checked by hand, once or never becomes a permanent control that runs in every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one source of truth for PMOs, project managers, business leaders and product teams using BMAD.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a Claude Code and Cowork plugin with a fixed hierarchy: PRINCE2 7 always leads, PMBOK 8 supplies techniques, BMAD is read-only.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people decide, agents prepare, scripts write and verify.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agents and skills, each with an owner in the life 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every PRINCE2 transition goes through a board gate, verified before the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automatic controls watch what nobody checks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decide with context and the right authority, track every write, and find the evidence with its citation (optional pm-kb).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open integrations through generic MCP; nothing is hard-wired to a vendor.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end-to-end cases, each one also a training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docs/guias/E2E-1-riesgos.md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docs/guias/E2E-2-alcance-roadmap.md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docs/guias/E2E-3-interesados-okr-avance.md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docs/guias/E2E-4-producto-bmad.md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real figures from the reproducible reference run of each guide. · docs/guias/E2E-5-idea-a-proyecto.md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trust is shown, not claimed: reproducible tests, live tests and a security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different categories, compared fairly: Infinity answers with PMI content; pm-method runs the project with its method, its data and its gates; traditional management is the established practice.
Fuentes:
https://www.pmi.org/infinity
https://www.pmi.org/membership
https://www.pmi.org/trust-center
https://www.pmi.org/infinity-terms-of-use
https://www.pmi.org/-/media/pmi/documents/public/pdf/membership/user_guidelines_and_disclaimer_pmi_infinity_1.pdf
https://www.pmi.org/about/press-media/2024/pmi-introduces-pmi-infinity-the-all-new-ai-powered-resource-for-project-professionals
https://claude.com/pricing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when each option fits, and what pm-method does not do: lab evidence only, no real pilot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two ways to start: install on WSL2 or Linux, or an isolated Docker container; each has its own step-by-step guide.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EN: short glossary; full terminology in docs/TERMINOLOGIA.md.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9FD0F0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FD0F0"/>
                </a:solidFill>
              </a:rPr>
              <a:t>Logo IEEE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77272" y="365760"/>
            <a:ext cx="155448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69696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177272" y="36576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96969"/>
                </a:solidFill>
              </a:rPr>
              <a:t>Logo IEEE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555480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96969"/>
                </a:solidFill>
              </a:rPr>
              <a:t>pm-method 2.7.0 · Resumen ejecutivo · 2026-10-30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FD0F0"/>
                </a:solidFill>
              </a:rPr>
              <a:t>Resumen ejecutivo · pm-method 2.7.0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Gestión de proyectos con IA, con método, gobierno y controles permanentes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661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Un plugin para Claude Code y Cowork. PRINCE2 7 manda, PMBOK 8 aporta las técnicas y BMAD es la especificación del producto, de solo lectura. Decisiones con contexto y con la autoridad que corresponde, un radar de lo que hay que decidir hoy, cada escritura en una bitácora y, opcional, búsqueda citada en los proyectos.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6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agentes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99893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82773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39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982773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skills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51146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4026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5234026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hooks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02398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5278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116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7485278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controles automáticos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553651" y="4617720"/>
            <a:ext cx="2086661" cy="1051560"/>
          </a:xfrm>
          <a:prstGeom prst="roundRect">
            <a:avLst>
              <a:gd name="adj" fmla="val 6957"/>
            </a:avLst>
          </a:prstGeom>
          <a:solidFill>
            <a:srgbClr val="0B3A6E"/>
          </a:solidFill>
          <a:ln w="9525">
            <a:solidFill>
              <a:srgbClr val="0B3A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736531" y="4690872"/>
            <a:ext cx="1720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5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9736531" y="5239512"/>
            <a:ext cx="18123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0F0"/>
                </a:solidFill>
              </a:rPr>
              <a:t>casos de punta a punta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pm-method 2.7.0 · 30 de octubre de 2026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9FD0F0"/>
                </a:solidFill>
              </a:rPr>
              <a:t>EN: AI-assisted project management with a real method, governance and permanent controls, as a Claude Code and Cowork plugin.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Lo que hoy se controla a mano, una sola vez o nunca, pasa a ser un control permanente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LO HABITUAL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532120" y="1280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CON PM-METHOD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0332720" y="12801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CONTROL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57200" y="160020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" y="165506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72425"/>
                </a:solidFill>
              </a:rPr>
              <a:t>El registro de riesgos se arma en un taller y se congela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38928" y="16002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532120" y="160020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69280" y="165506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2855"/>
                </a:solidFill>
              </a:rPr>
              <a:t>Riesgos altos sin respuesta y revisiones vencidas aparecen en cada sesión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332720" y="1691640"/>
            <a:ext cx="1399032" cy="320040"/>
          </a:xfrm>
          <a:prstGeom prst="roundRect">
            <a:avLst>
              <a:gd name="adj" fmla="val 22857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332720" y="1691640"/>
            <a:ext cx="1399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REG-06 · REG-09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219456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" y="224942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72425"/>
                </a:solidFill>
              </a:rPr>
              <a:t>La respuesta a un riesgo se elige por intuición y la contingencia se improvisa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138928" y="21945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532120" y="219456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669280" y="224942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2855"/>
                </a:solidFill>
              </a:rPr>
              <a:t>Opciones comparadas por valor neto; decide el propietario y el plan de contingencia queda listo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332720" y="2286000"/>
            <a:ext cx="1399032" cy="320040"/>
          </a:xfrm>
          <a:prstGeom prst="roundRect">
            <a:avLst>
              <a:gd name="adj" fmla="val 22857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332720" y="2286000"/>
            <a:ext cx="1399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REG-10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278892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03504" y="284378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72425"/>
                </a:solidFill>
              </a:rPr>
              <a:t>Se elige entre alternativas sin evidencia ni pesos, y después nadie sabe qué decisión sigue vigente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138928" y="27889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532120" y="278892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669280" y="284378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2855"/>
                </a:solidFill>
              </a:rPr>
              <a:t>Expediente con fuente, matriz con sensibilidad y elección de quien tiene la autoridad; la vigente, con su cadena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10332720" y="2880360"/>
            <a:ext cx="1399032" cy="320040"/>
          </a:xfrm>
          <a:prstGeom prst="roundRect">
            <a:avLst>
              <a:gd name="adj" fmla="val 22857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332720" y="2880360"/>
            <a:ext cx="1399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DEC-01 · DEC-05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57200" y="338328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3504" y="343814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72425"/>
                </a:solidFill>
              </a:rPr>
              <a:t>Los cambios se aprueban uno a uno y nadie suma lo comprometido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138928" y="33832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532120" y="338328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69280" y="343814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2855"/>
                </a:solidFill>
              </a:rPr>
              <a:t>Cada cambio se mide antes de decidirlo y se carga contra el presupuesto de la junta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10332720" y="3474720"/>
            <a:ext cx="1399032" cy="320040"/>
          </a:xfrm>
          <a:prstGeom prst="roundRect">
            <a:avLst>
              <a:gd name="adj" fmla="val 22857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0332720" y="3474720"/>
            <a:ext cx="1399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CAM-03 · CAM-04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57200" y="397764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03504" y="403250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72425"/>
                </a:solidFill>
              </a:rPr>
              <a:t>«Aprobado con condiciones» queda en el acta y se olvida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5138928" y="39776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532120" y="397764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669280" y="403250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2855"/>
                </a:solidFill>
              </a:rPr>
              <a:t>La condición se sigue hasta que alguien con rol la cierra; abierta, bloquea el cierre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0332720" y="4069080"/>
            <a:ext cx="1399032" cy="320040"/>
          </a:xfrm>
          <a:prstGeom prst="roundRect">
            <a:avLst>
              <a:gd name="adj" fmla="val 22857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0332720" y="4069080"/>
            <a:ext cx="1399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EST-12 · G-01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57200" y="457200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03504" y="462686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72425"/>
                </a:solidFill>
              </a:rPr>
              <a:t>La calidad se revisa al final y el cierre se firma de memoria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5138928" y="45720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5532120" y="457200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69280" y="462686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2855"/>
                </a:solidFill>
              </a:rPr>
              <a:t>Cada historia terminada necesita su revisión, y el cierre lista por id lo que falta aceptar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10332720" y="4663440"/>
            <a:ext cx="1399032" cy="320040"/>
          </a:xfrm>
          <a:prstGeom prst="roundRect">
            <a:avLst>
              <a:gd name="adj" fmla="val 22857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332720" y="4663440"/>
            <a:ext cx="1399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QUA-01 · C-07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457200" y="516636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03504" y="522122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72425"/>
                </a:solidFill>
              </a:rPr>
              <a:t>Las lecciones se archivan en un informe que nadie vuelve a leer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5138928" y="51663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5651D"/>
                </a:solidFill>
              </a:rPr>
              <a:t>→</a:t>
            </a:r>
            <a:endParaRPr lang="en-US" sz="1800" dirty="0"/>
          </a:p>
        </p:txBody>
      </p:sp>
      <p:sp>
        <p:nvSpPr>
          <p:cNvPr id="52" name="Shape 49"/>
          <p:cNvSpPr/>
          <p:nvPr/>
        </p:nvSpPr>
        <p:spPr>
          <a:xfrm>
            <a:off x="5532120" y="516636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0" y="5221224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2855"/>
                </a:solidFill>
              </a:rPr>
              <a:t>Cada lección de impacto alto se acciona, se verifica que funcionó y alimenta a otros proyectos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10332720" y="5257800"/>
            <a:ext cx="1399032" cy="320040"/>
          </a:xfrm>
          <a:prstGeom prst="roundRect">
            <a:avLst>
              <a:gd name="adj" fmla="val 22857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10332720" y="5257800"/>
            <a:ext cx="1399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REG-11 · REG-12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457200" y="5806440"/>
            <a:ext cx="11274552" cy="457200"/>
          </a:xfrm>
          <a:prstGeom prst="roundRect">
            <a:avLst>
              <a:gd name="adj" fmla="val 16000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B5651D"/>
                </a:solidFill>
              </a:rPr>
              <a:t>El modelo prepara; la persona decide; los scripts verifican y registran.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PMO, gestores, negocio y producto trabajan sobre la misma fuente de verdad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325880"/>
            <a:ext cx="5541264" cy="2286000"/>
          </a:xfrm>
          <a:prstGeom prst="roundRect">
            <a:avLst>
              <a:gd name="adj" fmla="val 3200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58368" y="1527048"/>
            <a:ext cx="457200" cy="45720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545336"/>
            <a:ext cx="4535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855"/>
                </a:solidFill>
              </a:rPr>
              <a:t>PMO y centros de excelencia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1305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QUÉ OBTIENE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368296"/>
            <a:ext cx="5084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Un estándar reproducible de gestión asistida, con trazabilidad y controles.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13639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Para empezar: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guía E2E-2: cambio y gestión por excepción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190488" y="1325880"/>
            <a:ext cx="5541264" cy="2286000"/>
          </a:xfrm>
          <a:prstGeom prst="roundRect">
            <a:avLst>
              <a:gd name="adj" fmla="val 3200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91656" y="1527048"/>
            <a:ext cx="457200" cy="45720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91656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995160" y="1545336"/>
            <a:ext cx="4535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855"/>
                </a:solidFill>
              </a:rPr>
              <a:t>Gestores de proyecto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19088" y="21305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QUÉ OBTIENE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19088" y="2368296"/>
            <a:ext cx="5084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Planes, registros, informes y puertas preparados con método; comunicados por interesado enviados con aprobación; menos trabajo administrativo.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419088" y="313639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Para empezar: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guía E2E-1: riesgos de punta a punta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3776472"/>
            <a:ext cx="5541264" cy="2286000"/>
          </a:xfrm>
          <a:prstGeom prst="roundRect">
            <a:avLst>
              <a:gd name="adj" fmla="val 3200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8368" y="3977640"/>
            <a:ext cx="457200" cy="45720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8368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1261872" y="3995928"/>
            <a:ext cx="4535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855"/>
                </a:solidFill>
              </a:rPr>
              <a:t>Líderes de negocio y junta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58114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QUÉ OBTIENE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4818888"/>
            <a:ext cx="5084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Decisiones claras con opciones, tolerancias y excepciones a tiempo.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" y="5586984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Para empezar: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guía E2E-5: de la idea al proyecto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190488" y="3776472"/>
            <a:ext cx="5541264" cy="2286000"/>
          </a:xfrm>
          <a:prstGeom prst="roundRect">
            <a:avLst>
              <a:gd name="adj" fmla="val 3200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391656" y="3977640"/>
            <a:ext cx="457200" cy="45720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91656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6995160" y="3995928"/>
            <a:ext cx="4535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855"/>
                </a:solidFill>
              </a:rPr>
              <a:t>Equipos de producto con BMAD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419088" y="458114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6969"/>
                </a:solidFill>
              </a:rPr>
              <a:t>QUÉ OBTIENE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19088" y="4818888"/>
            <a:ext cx="5084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72425"/>
                </a:solidFill>
              </a:rPr>
              <a:t>Backlog sincronizado con BMAD, MoSCoW, release plan, avance por puntos.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419088" y="5586984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51D"/>
                </a:solidFill>
              </a:rPr>
              <a:t>Para empezar: </a:t>
            </a:r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</a:rPr>
              <a:t>guía E2E-4: producto con BMAD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Un plugin de Claude Code y Cowork con una jerarquía fija: PRINCE2 7 siempre manda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JERARQUÍA DE FUENTES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572768"/>
            <a:ext cx="5257800" cy="877824"/>
          </a:xfrm>
          <a:prstGeom prst="roundRect">
            <a:avLst>
              <a:gd name="adj" fmla="val 8333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6459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 · PRINCE2 7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5681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Método y ciclo de vida; siempre manda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1792" y="2560320"/>
            <a:ext cx="5093208" cy="877824"/>
          </a:xfrm>
          <a:prstGeom prst="roundRect">
            <a:avLst>
              <a:gd name="adj" fmla="val 8333"/>
            </a:avLst>
          </a:prstGeom>
          <a:solidFill>
            <a:srgbClr val="00629B"/>
          </a:solidFill>
          <a:ln w="9525">
            <a:solidFill>
              <a:srgbClr val="00629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4672" y="2633472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 · PMBOK 8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294436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Solo el "cómo" (técnicas) o vacíos de PRINCE2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86384" y="3547872"/>
            <a:ext cx="4928616" cy="877824"/>
          </a:xfrm>
          <a:prstGeom prst="roundRect">
            <a:avLst>
              <a:gd name="adj" fmla="val 8333"/>
            </a:avLst>
          </a:prstGeom>
          <a:solidFill>
            <a:srgbClr val="4F86B5"/>
          </a:solidFill>
          <a:ln w="9525">
            <a:solidFill>
              <a:srgbClr val="4F86B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9264" y="3621024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 · Plantillas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69264" y="3931920"/>
            <a:ext cx="4608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Artefactos (campos, listas), destiladas en palabras propias, nunca texto literal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50976" y="4535424"/>
            <a:ext cx="4764024" cy="877824"/>
          </a:xfrm>
          <a:prstGeom prst="roundRect">
            <a:avLst>
              <a:gd name="adj" fmla="val 8333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33856" y="4608576"/>
            <a:ext cx="4443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2855"/>
                </a:solidFill>
              </a:rPr>
              <a:t>4 · BMAD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133856" y="4919472"/>
            <a:ext cx="4443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2855"/>
                </a:solidFill>
              </a:rPr>
              <a:t>Capa de especificación de solo lectura, fuente única por dato (especificacion.py, bmad.py)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989320" y="13258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172200" y="14173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6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agentes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72200" y="20391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un orquestador y 5 subagentes de fase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915400" y="13258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098280" y="14173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39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skills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098280" y="20391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33 que el modelo activa y 6 comandos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989320" y="26974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72200" y="27889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hooks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172200" y="34107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guardian · idioma · inicio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915400" y="26974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098280" y="27889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14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registros CSV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098280" y="34107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9 base y 5 que se crean al primer uso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989320" y="40690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72200" y="41605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6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tipos de puerta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172200" y="47823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decisiones de la junta, verificadas antes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8915400" y="4069080"/>
            <a:ext cx="2816352" cy="1261872"/>
          </a:xfrm>
          <a:prstGeom prst="roundRect">
            <a:avLst>
              <a:gd name="adj" fmla="val 5797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098280" y="41605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02855"/>
                </a:solidFill>
              </a:rPr>
              <a:t>116  </a:t>
            </a:r>
            <a:pPr indent="0" marL="0">
              <a:buNone/>
            </a:pPr>
            <a:r>
              <a:rPr lang="en-US" sz="1400" b="1" dirty="0">
                <a:solidFill>
                  <a:srgbClr val="00629B"/>
                </a:solidFill>
              </a:rPr>
              <a:t>controles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9098280" y="4782312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96969"/>
                </a:solidFill>
              </a:rPr>
              <a:t>104 de sanidad y 12 de puerta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457200" y="565099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96969"/>
                </a:solidFill>
              </a:rPr>
              <a:t>Bilingüe ES/EN. Licencia MIT. La fuente de verdad es una carpeta de Markdown, CSV y JSON que se versiona con git y se lee sin pm-method.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Las personas deciden, los agentes preparan y los scripts escriben y verifican</a:t>
            </a:r>
            <a:endParaRPr lang="en-US" sz="1900" dirty="0"/>
          </a:p>
        </p:txBody>
      </p:sp>
      <p:pic>
        <p:nvPicPr>
          <p:cNvPr id="4" name="Image 0" descr="diagramas/arquite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6086" y="1298448"/>
            <a:ext cx="9016779" cy="37033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5138928"/>
            <a:ext cx="3630168" cy="1097280"/>
          </a:xfrm>
          <a:prstGeom prst="roundRect">
            <a:avLst>
              <a:gd name="adj" fmla="val 666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21792" y="5230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5651D"/>
                </a:solidFill>
              </a:rPr>
              <a:t>Decisiones humanas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21792" y="5522976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Solo pm-director registra decisiones de la junta, siempre después de una respuesta con nombre y rol; un hook lo hace cumplir.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4279392" y="5138928"/>
            <a:ext cx="3630168" cy="1097280"/>
          </a:xfrm>
          <a:prstGeom prst="roundRect">
            <a:avLst>
              <a:gd name="adj" fmla="val 666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443984" y="5230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2855"/>
                </a:solidFill>
              </a:rPr>
              <a:t>Datos íntegros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443984" y="5522976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estado.json y los registros cambian solo por scripts que validan; las ediciones directas se bloquean.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101584" y="5138928"/>
            <a:ext cx="3630168" cy="1097280"/>
          </a:xfrm>
          <a:prstGeom prst="roundRect">
            <a:avLst>
              <a:gd name="adj" fmla="val 666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66176" y="5230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2855"/>
                </a:solidFill>
              </a:rPr>
              <a:t>Especificación sin copias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266176" y="5522976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BMAD se lee por una fachada y nunca se escribe; los desvíos contra la línea base se detectan.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6 agentes y 39 skills, cada una con un dueño en el ciclo de vida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6692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pm-orquestador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9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FD0F0"/>
                </a:solidFill>
              </a:rPr>
              <a:t>Conversa, pregunta, delega y presenta las decisiones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607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pm-estado-proyecto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pm-exportar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pm-knowledge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pm-orquestador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pm-sanidad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pm-visuales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pm-ayuda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pm-estado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pm-nuevo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35458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B5651D"/>
          </a:solidFill>
          <a:ln w="9525">
            <a:solidFill>
              <a:srgbClr val="B5651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6430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pm-director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246430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46430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2E6"/>
                </a:solidFill>
              </a:rPr>
              <a:t>Único que registra las decisiones de la junta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35458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47345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pm-comunicacion-stakeholders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pm-direccion-decisiones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pm-okr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pm-puerta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25196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6168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pm-inicio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36168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7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36168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Del mandato al proyecto autorizado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25196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37083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pm-acta-constitucion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pm-caso-de-negocio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pm-enfoques-gestion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pm-interesados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pm-mandato-y-brief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pm-mapas-estrategicos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pm-organizacion-roles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14934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5906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pm-planificacion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25906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7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25906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Productos, estimación, cronograma y costo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14934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26821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pm-adquisiciones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pm-agil-hibrido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pm-bmad-puente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pm-costos-presupuesto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pm-cronograma-estimacion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pm-plan-etapa-y-limites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pm-planificacion-por-productos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04672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15644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pm-control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15644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10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15644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Mantiene la etapa dentro de tolerancias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804672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16559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pm-calidad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pm-integraciones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pm-issues-cambios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pm-paquetes-trabajo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pm-progreso-reportes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pm-registros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pm-reuniones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pm-riesgos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pm-reporte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pm-sync</a:t>
            </a:r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96969"/>
                </a:solidFill>
              </a:rPr>
              <a:t>  comando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9944100" y="1298448"/>
            <a:ext cx="1787652" cy="1188720"/>
          </a:xfrm>
          <a:prstGeom prst="roundRect">
            <a:avLst>
              <a:gd name="adj" fmla="val 6154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0053828" y="1371600"/>
            <a:ext cx="15681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pm-cierre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10053828" y="164592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skills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10053828" y="2029968"/>
            <a:ext cx="15681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Cierre ordenado, planificado o prematuro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944100" y="2578608"/>
            <a:ext cx="1787652" cy="3291840"/>
          </a:xfrm>
          <a:prstGeom prst="roundRect">
            <a:avLst>
              <a:gd name="adj" fmla="val 4092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062972" y="2688336"/>
            <a:ext cx="16047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pm-cierre-proyecto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pm-lecciones-aprendidas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5943600"/>
            <a:ext cx="11274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96969"/>
                </a:solidFill>
              </a:rPr>
              <a:t>Agente dueño según el campo metadata.pm-method.agente de cada SKILL.md. Los comandos (/pm-method:…) los invoca la persona; las demás skills las activa el modelo por su descripción.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Cada transición del ciclo PRINCE2 pasa por una puerta que decide la junta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11274552" cy="384048"/>
          </a:xfrm>
          <a:prstGeom prst="roundRect">
            <a:avLst>
              <a:gd name="adj" fmla="val 19048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28016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DP · Dirección: la junta decide en cada puerta; pm-director prepara la solicitud y registra la decisión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2157984"/>
            <a:ext cx="1870862" cy="786384"/>
          </a:xfrm>
          <a:prstGeom prst="homePlate">
            <a:avLst/>
          </a:prstGeom>
          <a:solidFill>
            <a:srgbClr val="00629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3504" y="2157984"/>
            <a:ext cx="141366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SU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Puesta en marcha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401214" y="2432304"/>
            <a:ext cx="237744" cy="237744"/>
          </a:xfrm>
          <a:prstGeom prst="diamond">
            <a:avLst/>
          </a:prstGeom>
          <a:solidFill>
            <a:srgbClr val="B5651D"/>
          </a:solidFill>
          <a:ln w="15875">
            <a:solidFill>
              <a:srgbClr val="B5651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68526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autorizar-inicio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etapa 0 · pre-proyecto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pm-inicio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mandato · project brief · caso de negocio esquemático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pm-caso-de-negocio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pm-interesados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pm-mandato-y-brief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pm-mapas-estrategicos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pm-organizacion-roles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712110" y="2157984"/>
            <a:ext cx="1870862" cy="786384"/>
          </a:xfrm>
          <a:prstGeom prst="chevron">
            <a:avLst/>
          </a:prstGeom>
          <a:solidFill>
            <a:srgbClr val="00629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69310" y="2157984"/>
            <a:ext cx="113934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IP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Iniciación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56125" y="2432304"/>
            <a:ext cx="237744" cy="237744"/>
          </a:xfrm>
          <a:prstGeom prst="diamond">
            <a:avLst/>
          </a:prstGeom>
          <a:solidFill>
            <a:srgbClr val="B5651D"/>
          </a:solidFill>
          <a:ln w="15875">
            <a:solidFill>
              <a:srgbClr val="B5651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723437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autorizar-proyecto + autorizar-etapa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2712110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etapa 1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2712110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pm-inicio + pm-planificacion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2712110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PID · business case · planes · presupuestos de la junta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2712110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803550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pm-acta-constitucion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pm-caso-de-negocio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pm-enfoques-gestion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pm-interesados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pm-mandato-y-brief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pm-mapas-estrategicos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pm-organizacion-roles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967021" y="2157984"/>
            <a:ext cx="1870862" cy="786384"/>
          </a:xfrm>
          <a:prstGeom prst="chevron">
            <a:avLst/>
          </a:prstGeom>
          <a:solidFill>
            <a:srgbClr val="0028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24221" y="2157984"/>
            <a:ext cx="113934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CS · MP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Control y entrega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911035" y="2432304"/>
            <a:ext cx="237744" cy="23774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9696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978347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dirty="0">
                <a:solidFill>
                  <a:srgbClr val="696969"/>
                </a:solidFill>
              </a:rPr>
              <a:t>límite de etapa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4967021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etapas 2 … n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4967021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pm-control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4967021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paquetes · highlight · registros · valor ganado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967021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58461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pm-calidad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pm-integraciones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pm-issues-cambios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pm-paquetes-trabajo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pm-progreso-reportes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pm-registros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pm-reuniones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2855"/>
                </a:solidFill>
              </a:rPr>
              <a:t>pm-riesgos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221931" y="2157984"/>
            <a:ext cx="1870862" cy="786384"/>
          </a:xfrm>
          <a:prstGeom prst="chevron">
            <a:avLst/>
          </a:prstGeom>
          <a:solidFill>
            <a:srgbClr val="4F86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679131" y="2157984"/>
            <a:ext cx="113934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SB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Límite de etapa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9165946" y="2432304"/>
            <a:ext cx="237744" cy="23774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96969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233258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dirty="0">
                <a:solidFill>
                  <a:srgbClr val="696969"/>
                </a:solidFill>
              </a:rPr>
              <a:t>cierre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7221931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fin de cada etapa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7221931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pm-planificacion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7221931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informe de fin de etapa · plan de la siguiente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221931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313371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pm-adquisiciones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pm-agil-hibrido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pm-bmad-puente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pm-costos-presupuesto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pm-cronograma-estimacion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pm-plan-etapa-y-limites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pm-planificacion-por-productos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476842" y="2157984"/>
            <a:ext cx="1870862" cy="786384"/>
          </a:xfrm>
          <a:prstGeom prst="chevron">
            <a:avLst/>
          </a:prstGeom>
          <a:solidFill>
            <a:srgbClr val="00629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934042" y="2157984"/>
            <a:ext cx="113934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CP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Cierre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1420856" y="2432304"/>
            <a:ext cx="237744" cy="237744"/>
          </a:xfrm>
          <a:prstGeom prst="diamond">
            <a:avLst/>
          </a:prstGeom>
          <a:solidFill>
            <a:srgbClr val="B5651D"/>
          </a:solidFill>
          <a:ln w="15875">
            <a:solidFill>
              <a:srgbClr val="B5651D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628632" y="17190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autorizar-cierre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9476842" y="3035808"/>
            <a:ext cx="21451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última etapa</a:t>
            </a:r>
            <a:endParaRPr lang="en-US" sz="1000" dirty="0"/>
          </a:p>
        </p:txBody>
      </p:sp>
      <p:sp>
        <p:nvSpPr>
          <p:cNvPr id="47" name="Text 44"/>
          <p:cNvSpPr txBox="1"/>
          <p:nvPr/>
        </p:nvSpPr>
        <p:spPr>
          <a:xfrm>
            <a:off x="9476842" y="3264408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629B"/>
                </a:solidFill>
              </a:rPr>
              <a:t>pm-cierre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9476842" y="3639312"/>
            <a:ext cx="21451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aceptación · lecciones · revisión de beneficios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9476842" y="4187952"/>
            <a:ext cx="2145182" cy="1280160"/>
          </a:xfrm>
          <a:prstGeom prst="roundRect">
            <a:avLst>
              <a:gd name="adj" fmla="val 571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568282" y="4261104"/>
            <a:ext cx="198059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pm-cierre-proyecto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2855"/>
                </a:solidFill>
              </a:rPr>
              <a:t>pm-lecciones-aprendidas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457200" y="554126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◆  </a:t>
            </a:r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puerta de la junta     </a:t>
            </a:r>
            <a:pPr indent="0" marL="0">
              <a:buNone/>
            </a:pPr>
            <a:r>
              <a:rPr lang="en-US" sz="1100" b="1" dirty="0">
                <a:solidFill>
                  <a:srgbClr val="696969"/>
                </a:solidFill>
              </a:rPr>
              <a:t>◇  </a:t>
            </a:r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transición que prepara el gestor     </a:t>
            </a:r>
            <a:pPr indent="0" marL="0">
              <a:buNone/>
            </a:pPr>
            <a:r>
              <a:rPr lang="en-US" sz="1000" b="1" dirty="0">
                <a:solidFill>
                  <a:srgbClr val="B5651D"/>
                </a:solidFill>
              </a:rPr>
              <a:t>SB → CS: autorizar-etapa (n+1)     ·     Pronóstico fuera de tolerancia → informe de excepción → autorizar-plan-excepcion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457200" y="5852160"/>
            <a:ext cx="11274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96969"/>
                </a:solidFill>
              </a:rPr>
              <a:t>Antes de cada puerta: sanidad, lista de control de la junta y, con BMAD, verificación de la especificación. Un ERROR abierto bloquea la decisión salvo que la junta lo acepte como condición.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116 controles automáticos vigilan lo que nadie revisa a mano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CÓDIGOS DE CONTROL POR FAMILIA DE SANIDAD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36192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B6834"/>
                </a:solidFill>
              </a:rPr>
              <a:t>■ </a:t>
            </a:r>
            <a:pPr indent="0" marL="0">
              <a:buNone/>
            </a:pPr>
            <a:r>
              <a:rPr lang="en-US" sz="1050" dirty="0">
                <a:solidFill>
                  <a:srgbClr val="272425"/>
                </a:solidFill>
              </a:rPr>
              <a:t>control permanente     </a:t>
            </a:r>
            <a:pPr indent="0" marL="0">
              <a:buNone/>
            </a:pPr>
            <a:r>
              <a:rPr lang="en-US" sz="1200" dirty="0">
                <a:solidFill>
                  <a:srgbClr val="2A78D6"/>
                </a:solidFill>
              </a:rPr>
              <a:t>■ </a:t>
            </a:r>
            <a:pPr indent="0" marL="0">
              <a:buNone/>
            </a:pPr>
            <a:r>
              <a:rPr lang="en-US" sz="1050" dirty="0">
                <a:solidFill>
                  <a:srgbClr val="272425"/>
                </a:solidFill>
              </a:rPr>
              <a:t>otras familias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810512"/>
          <a:ext cx="621792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572414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2855"/>
                </a:solidFill>
              </a:rPr>
              <a:t>Además, 12 controles de puerta (P y G) verifican cada decisión de la junta.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812280" y="128016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LO QUE DETECTARON EN LOS CASOS E2E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812280" y="160020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949440" y="1709928"/>
            <a:ext cx="960120" cy="292608"/>
          </a:xfrm>
          <a:prstGeom prst="roundRect">
            <a:avLst>
              <a:gd name="adj" fmla="val 25000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49440" y="170992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CAM-03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8001000" y="17099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E2E-1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949440" y="205740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72425"/>
                </a:solidFill>
              </a:rPr>
              <a:t>La reserva pasa del 18 % al 94 % en cinco corridas de la sanidad; al activar el plan de contingencia de R-003 cruza el 80 % y CAM-03 deja de ser informativo y avisa. La provisión para lo no identificado no está en esas barras: vive en la reserva de gestión, que solo libera la junta.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812280" y="278892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49440" y="2898648"/>
            <a:ext cx="960120" cy="292608"/>
          </a:xfrm>
          <a:prstGeom prst="roundRect">
            <a:avLst>
              <a:gd name="adj" fmla="val 25000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949440" y="289864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STK-12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8001000" y="289864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E2E-3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949440" y="324612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72425"/>
                </a:solidFill>
              </a:rPr>
              <a:t>STK-12 al 5/2: TI, Martín y Lucía superan el máximo de días sin contacto. Laura, Sofía y el sindicato están en el límite.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812280" y="397764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949440" y="4087368"/>
            <a:ext cx="960120" cy="292608"/>
          </a:xfrm>
          <a:prstGeom prst="roundRect">
            <a:avLst>
              <a:gd name="adj" fmla="val 25000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949440" y="408736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QUA-01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8001000" y="408736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E2E-4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6949440" y="443484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72425"/>
                </a:solidFill>
              </a:rPr>
              <a:t>Historias terminadas contra historias con revisión aprobada en cada corte, según el estado de productos que deriva estado.py productos: las brechas del 26/2 y del 7/5 se cerraron antes de la puerta siguiente (pasos 6 y 8).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812280" y="516636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949440" y="5276088"/>
            <a:ext cx="960120" cy="292608"/>
          </a:xfrm>
          <a:prstGeom prst="roundRect">
            <a:avLst>
              <a:gd name="adj" fmla="val 25000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949440" y="52760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REG-11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8001000" y="527608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E2E-4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6949440" y="562356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72425"/>
                </a:solidFill>
              </a:rPr>
              <a:t>De la retrospectiva del sprint 4 al índice de la organización: 3 lecciones con cita (1 de impacto alto), la acción de L-002 verificada en el sprint 5, L-003 cambia el plan de la etapa 3 y se verifica al cerrar el Release 2, y 3 lecciones en el índice (pasos 6c, 7, 8 y 9).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Decidir con contexto, controlar cada escritura y encontrar la evidencia con su cita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61872"/>
            <a:ext cx="5541264" cy="4572000"/>
          </a:xfrm>
          <a:prstGeom prst="roundRect">
            <a:avLst>
              <a:gd name="adj" fmla="val 1600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371600"/>
            <a:ext cx="5175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DECIDIR CON CONTEXTO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82496"/>
            <a:ext cx="51755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</a:rPr>
              <a:t>Expediente: la evidencia que aplica a la decisión, cada dato con su fuente y sin datos confidenciales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</a:rPr>
              <a:t>Matriz con pesos explícitos, eliminatorios y sensibilidad: qué peso cambiaría la elección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</a:rPr>
              <a:t>Elige la persona con la autoridad que fija PRINCE2 y refleja la RACI; si no es el A, explica por qué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</a:rPr>
              <a:t>Vigencia: qué decisión reemplaza a cuál, con aviso de contradicciones y revisiones vencidas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</a:rPr>
              <a:t>Bitácora encadenada de cada escritura y propuestas de los agentes que aprueba una persona</a:t>
            </a:r>
            <a:endParaRPr lang="en-US" sz="1050" dirty="0"/>
          </a:p>
        </p:txBody>
      </p:sp>
      <p:pic>
        <p:nvPicPr>
          <p:cNvPr id="7" name="Image 0" descr="/home/claude/pm-method/docs/guias/img/g1-sensibilidad-r0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0312" y="3529584"/>
            <a:ext cx="3495040" cy="1965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5532120"/>
            <a:ext cx="5175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96969"/>
                </a:solidFill>
              </a:rPr>
              <a:t>Sensibilidad de la decisión de R-003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6190488" y="1261872"/>
            <a:ext cx="5541264" cy="4572000"/>
          </a:xfrm>
          <a:prstGeom prst="roundRect">
            <a:avLst>
              <a:gd name="adj" fmla="val 1600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73368" y="1371600"/>
            <a:ext cx="5175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BUSCAR EN LOS PROYECTOS (PM-KB, OPCIONAL)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373368" y="1682496"/>
            <a:ext cx="51755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Índice de registros, documentos con sus versiones, actas y transcripciones de cada proyecto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Preguntas en español o inglés; cada respuesta con la cita de archivo y línea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Portal web con token por persona (tableros con su historial, artefactos y enlaces de solo lectura) y MCP para Claude Code y Hermes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Sobre WSL2 con un clúster propio o con Docker en un contenedor segregado</a:t>
            </a:r>
            <a:endParaRPr lang="en-US" sz="1150" dirty="0"/>
          </a:p>
        </p:txBody>
      </p:sp>
      <p:pic>
        <p:nvPicPr>
          <p:cNvPr id="12" name="Image 1" descr="/home/claude/pm-method/docs/guias/img/g1-kb-busque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600" y="3529584"/>
            <a:ext cx="3495040" cy="1965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373368" y="5532120"/>
            <a:ext cx="5175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96969"/>
                </a:solidFill>
              </a:rPr>
              <a:t>Búsqueda en pm-kb: C-003 primero, con su cita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457200" y="5925312"/>
            <a:ext cx="11274552" cy="329184"/>
          </a:xfrm>
          <a:prstGeom prst="roundRect">
            <a:avLst>
              <a:gd name="adj" fmla="val 22222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0080" y="59253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Controles: DEC-01 a DEC-06 (decisiones) · BIT-01 y BIT-02 (bitácora) · MAP-01 al elegir en un mapa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Se conecta con las herramientas que ya usa la organización, sin atarse a ninguna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251960" y="1988820"/>
            <a:ext cx="1156716" cy="162306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57200" y="132588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141732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BMAD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69164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versiones probadas: 4.x, 6.11, 6.12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194767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Especificación de solo lectura: PRD, arquitectura, épicas, historias y estado del sprint, sin copias.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51960" y="3497580"/>
            <a:ext cx="1156716" cy="11430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283464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292608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Trackers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320040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29B"/>
                </a:solidFill>
              </a:rPr>
              <a:t>Azure DevOps · GitHub · Jira · Linear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21792" y="345643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Instantáneas fechadas, avance y riesgos candidatos desde los tickets.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 flipV="1">
            <a:off x="4251960" y="3611880"/>
            <a:ext cx="1156716" cy="139446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" y="434340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1792" y="443484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Transcripciones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621792" y="470916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29B"/>
                </a:solidFill>
              </a:rPr>
              <a:t>archivo · Fireflies · Granola · minutes · Teams · Zoom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496519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72425"/>
                </a:solidFill>
              </a:rPr>
              <a:t>Acuerdos con cita: decisiones, compromisos, supuestos, riesgos y lecciones propuestos desde la transcripción y registrados solo si una persona los confirma.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 flipV="1">
            <a:off x="6780276" y="1988820"/>
            <a:ext cx="1156716" cy="162306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936992" y="132588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01584" y="141732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Correo, Slack y Teams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8101584" y="169164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5651D"/>
                </a:solidFill>
              </a:rPr>
              <a:t>.eml · Gmail · Outlook · SMTP · Slack · Teams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101584" y="194767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Capa de canales: envía solo mensajes aprobados, simula por defecto y registra cada envío.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 flipV="1">
            <a:off x="6780276" y="3497580"/>
            <a:ext cx="1156716" cy="11430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936992" y="283464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01584" y="292608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OKR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8101584" y="320040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29B"/>
                </a:solidFill>
              </a:rPr>
              <a:t>archivo · Perdoo · Tability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8101584" y="345643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Resultados clave ligados a los beneficios del business case, con check-ins y salud.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780276" y="3611880"/>
            <a:ext cx="1156716" cy="1394460"/>
          </a:xfrm>
          <a:prstGeom prst="line">
            <a:avLst/>
          </a:prstGeom>
          <a:noFill/>
          <a:ln w="15875">
            <a:solidFill>
              <a:srgbClr val="AFC0D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936992" y="4343400"/>
            <a:ext cx="3794760" cy="1325880"/>
          </a:xfrm>
          <a:prstGeom prst="roundRect">
            <a:avLst>
              <a:gd name="adj" fmla="val 5517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101584" y="443484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2855"/>
                </a:solidFill>
              </a:rPr>
              <a:t>Mapas de Wardley y recorrido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8101584" y="4709160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629B"/>
                </a:solidFill>
              </a:rPr>
              <a:t>Mermaid wardley-beta y journey · OWM · HTML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101584" y="4965192"/>
            <a:ext cx="3465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Qué construir, comprar o tercerizar y la experiencia del usuario paso a paso, con controles.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180076" y="2697480"/>
            <a:ext cx="1828800" cy="1828800"/>
          </a:xfrm>
          <a:prstGeom prst="ellipse">
            <a:avLst/>
          </a:prstGeom>
          <a:solidFill>
            <a:srgbClr val="0028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271516" y="32278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pm-method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5408676" y="36301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D0F0"/>
                </a:solidFill>
              </a:rPr>
              <a:t>gobierno sobre la carpeta del proyecto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457200" y="5870448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96969"/>
                </a:solidFill>
              </a:rPr>
              <a:t>Conexión por MCP genérico: nada viene predefinido. Sin MCP, pm-method trabaja con archivos; sin BMAD, con su propia especificación.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5 casos de punta a punta, cada uno con su módulo de capacitación</a:t>
            </a:r>
            <a:endParaRPr lang="en-US" sz="1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1127455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88152"/>
                <a:gridCol w="777240"/>
                <a:gridCol w="777240"/>
                <a:gridCol w="914400"/>
                <a:gridCol w="1143000"/>
                <a:gridCol w="960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recorre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Pasos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Minutos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Diapositivas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Glosario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Riesgos desde cuatro fuentes, opciones por valor neto, matriz de la decisión, contingencia y la pregunta de la junta con pm-kb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Alcance, tres valores, capacidad del release, impacto de cada cambio, pregunta tipada y 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Interesados, decisión de la A de la RACI, acuerdos de reunión, radar, highlight desde el dato y envío por canales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Producto con BMAD: calidad a volumen, ciclo de las lecciones, cierre por id, auditoría con bitácora y versiones con pm-kb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E2E-5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 la idea al proyecto: lecciones previas, supuestos, VAN con matriz, hacer o comprar, personas de usuario y mapas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517136"/>
            <a:ext cx="5541264" cy="1719072"/>
          </a:xfrm>
          <a:prstGeom prst="roundRect">
            <a:avLst>
              <a:gd name="adj" fmla="val 4255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40080" y="46451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MATERIAL POR CASO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4937760"/>
            <a:ext cx="51755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72425"/>
                </a:solidFill>
              </a:rPr>
              <a:t>guía paso a paso por prompts, guion del instructor minuto a minuto, ejercicio autocontenido con ejemplo resuelto y diapositivas PPTX y HTML que regenera un script.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6190488" y="4517136"/>
            <a:ext cx="5541264" cy="1719072"/>
          </a:xfrm>
          <a:prstGeom prst="roundRect">
            <a:avLst>
              <a:gd name="adj" fmla="val 4255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373368" y="464515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INDUCCIÓN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6373368" y="4937760"/>
            <a:ext cx="51755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72425"/>
                </a:solidFill>
              </a:rPr>
              <a:t>instalar → recorrer una guía sobre la copia del proyecto de prueba con BMAD real → dictar su clase → piloto en paralelo con un proyecto real.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E2E-1 · Riesgos: el registro trabaja solo entre revisiones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El registro de riesgos nace en un taller y se congela. Las respuestas no se costean y la reserva se usa como bolsa general.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Riesgos candidatos desde BMAD, transcripciones, Jira y artefactos, con cita de origen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Opciones por valor neto y, para R-003, expediente y matriz con su sensibilidad; decide el propietario, contrastado con la RACI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Presupuesto de riesgo vigilado y reserva de gestión de la junta para lo no identificado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272425"/>
                </a:solidFill>
              </a:rPr>
              <a:t>Para R-001 conviene reducir; para R-003, preparar la contingencia. En los dos, evitar deja el residual más bajo pero no el mayor valor neto: cuesta más y crea un riesgo secundario.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272425"/>
                </a:solidFill>
              </a:rPr>
              <a:t>La reserva pasa del 18 % al 94 % en cinco corridas de la sanidad; al activar el plan de contingencia de R-003 cruza el 80 % y CAM-03 deja de ser informativo y avisa. La provisión para lo no identificado no está en esas barras: vive en la reserva de gestión, que solo libera la junta.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272425"/>
                </a:solidFill>
              </a:rPr>
              <a:t>El estado de riesgo en una sola vista para la junta del límite de etapa: lo único en atención es la reserva de riesgo; la reserva de gestión sigue intacta.</a:t>
            </a:r>
            <a:endParaRPr lang="en-US" sz="1000" dirty="0"/>
          </a:p>
        </p:txBody>
      </p:sp>
      <p:pic>
        <p:nvPicPr>
          <p:cNvPr id="11" name="Image 0" descr="/home/claude/pm-method/docs/guias/img/g1-opciones-valor-ne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Valor neto de las opciones de respuesta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16 pasos · 2 clases de webinar · guía docs/guias/E2E-1-riesgos.md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E2E-2 · Alcance y cambio: el desvío se ve el mismo día, no al cerrar la etapa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El alcance se define bien una vez y se controla mal después. Los cambios se aprueban «porque son razonables» y nadie suma lo comprometido.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Tres valores, reserva de cronograma y capacidad del release por MoSCoW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Análisis de impacto antes de decidir: tiempo, capacidad, presupuesto, VAN y quién decide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Excepción completa: detectada, informada, replanificada y autorizada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272425"/>
                </a:solidFill>
              </a:rPr>
              <a:t>C-002 usaría el 200 % del presupuesto de cambio, el 150 % del límite de quien lo aprobó de palabra y el 143 % de la tolerancia de tiempo de la etapa: no lo puede decidir la autoridad de cambio, lo decide la junta (paso 10).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272425"/>
                </a:solidFill>
              </a:rPr>
              <a:t>El 29/1 no entra el 10,3 % del alcance (ámbar, lo gestiona el PO); el 19/2 no entra el 22,1 %, más que el 20 % de margen: los Must peligran y hay excepción (pasos 9 y 10).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272425"/>
                </a:solidFill>
              </a:rPr>
              <a:t>Resumen al 26/2: VAN de 30.939 con los dos cambios, puesta en producción el 20/5, 2 días de reserva, presupuesto de cambio al 75 % tras la ampliación, 22,1 % del alcance en riesgo en el corte del 19/2 y 13 de 13 requisitos trazados.</a:t>
            </a:r>
            <a:endParaRPr lang="en-US" sz="1000" dirty="0"/>
          </a:p>
        </p:txBody>
      </p:sp>
      <p:pic>
        <p:nvPicPr>
          <p:cNvPr id="11" name="Image 0" descr="/home/claude/pm-method/docs/guias/img/g2-impacto-c0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Límites que usaría C-002, según su análisis de impacto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10 pasos · 2 clases de webinar · guía docs/guias/E2E-2-alcance-roadmap.md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E2E-3 · Interesados y avance: compromiso y cifras verificados cada período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El mapa de interesados se arma una vez, el highlight se copia a mano y los OKR se miran al final.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Acuerdos del taller propuestos con cita y registrados solo al confirmarlos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Radar de lo que hay que decidir hoy y highlight con las cifras verificadas contra el EVM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Cadencia de contacto y brecha de compromiso como control permanente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Highlight al 8/1: plazo y costo en ámbar dentro de la tolerancia (SPI 0,933, CPI 0,942) y un compromiso vencido (A-004).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STK-12 al 5/2: TI, Martín y Lucía superan el máximo de días sin contacto. Laura, Sofía y el sindicato están en el límite.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La brecha total baja de 7 a 3 niveles. TI empeora cuando se corta su reunión semanal y repunta al retomarla.</a:t>
            </a:r>
            <a:endParaRPr lang="en-US" sz="1150" dirty="0"/>
          </a:p>
        </p:txBody>
      </p:sp>
      <p:pic>
        <p:nvPicPr>
          <p:cNvPr id="11" name="Image 0" descr="/home/claude/pm-method/docs/guias/img/g3-highlight-indicado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Indicadores del highlight al 8/1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15 pasos · 2 clases de webinar · guía docs/guias/E2E-3-interesados-okr-avance.md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E2E-4 · Producto con BMAD: calidad, cierre por id y beneficios medidos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Con decenas de historias terminadas nadie verifica cada revisión, las condiciones de la junta se olvidan y los beneficios no se miden.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El CONCERNS del gate de BMAD se vuelve una condición formal que bloquea el cierre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Retrospectiva con cita y ciclo de las lecciones: acción, verificación e índice de la organización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Cierre verificado por id y expediente de auditoría con la bitácora de escrituras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272425"/>
                </a:solidFill>
              </a:rPr>
              <a:t>Historias terminadas contra historias con revisión aprobada en cada corte, según el estado de productos que deriva estado.py productos: las brechas del 26/2 y del 7/5 se cerraron antes de la puerta siguiente (pasos 6 y 8).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272425"/>
                </a:solidFill>
              </a:rPr>
              <a:t>De la retrospectiva del sprint 4 al índice de la organización: 3 lecciones con cita (1 de impacto alto), la acción de L-002 verificada en el sprint 5, L-003 cambia el plan de la etapa 3 y se verifica al cerrar el Release 2, y 3 lecciones en el índice (pasos 6c, 7, 8 y 9).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272425"/>
                </a:solidFill>
              </a:rPr>
              <a:t>El expediente para la auditoría externa: 42 eventos en la cronología, 44 archivos con su huella y 142 escrituras en la bitácora; una sola palabra cambiada en la copia, la verificación la delata y la bitácora muestra que no salió de los scripts (paso 9b).</a:t>
            </a:r>
            <a:endParaRPr lang="en-US" sz="950" dirty="0"/>
          </a:p>
        </p:txBody>
      </p:sp>
      <p:pic>
        <p:nvPicPr>
          <p:cNvPr id="11" name="Image 0" descr="/home/claude/pm-method/docs/guias/img/g4-cier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Tablero de cierre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16 pasos · 2 clases de webinar · guía docs/guias/E2E-4-producto-bmad.md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E2E-5 · De la idea al proyecto: los supuestos se validan antes de invertir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9844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5544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72425"/>
                </a:solidFill>
              </a:rPr>
              <a:t>El caso de negocio se escribe una vez, con el supuesto más optimista, y el enfoque de entrega se elige por costumbre.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591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QUÉ MUESTRA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15184"/>
            <a:ext cx="5120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Lecciones de otros proyectos y mapa de supuestos antes de comprometer dinero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Opciones comparadas con VAN y enfoque de entrega elegido con criterios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72425"/>
                </a:solidFill>
              </a:rPr>
              <a:t>Personas de usuario por requisito Must, y hacer o comprar con el contexto de los mapas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95020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INDICADORES DE LA CORRIDA DE REFERENCIA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206240"/>
            <a:ext cx="5120640" cy="2029968"/>
          </a:xfrm>
          <a:prstGeom prst="roundRect">
            <a:avLst>
              <a:gd name="adj" fmla="val 3604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29768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Tres supuestos críticos sin evidencia (S-001, S-002, S-003) sostienen los dos beneficios y la factibilidad: ahí se invierte primero en aprender (paso 2).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El piloto bajó el VAN de las dos opciones; la opción 2 sigue siendo la mejor, con una TIR de 54,3 % y un repago de 1,78 años (paso 4).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B5651D"/>
                </a:solidFill>
              </a:rPr>
              <a:t>●  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Los 4 Must tienen persona y REQ-003 sirve al paciente, a la recepcionista y al paciente mayor de 65; el aviso STK-13 de REQ-006 se resolvió marcando al paciente como beneficiario (paso 10b).</a:t>
            </a:r>
            <a:endParaRPr lang="en-US" sz="1100" dirty="0"/>
          </a:p>
        </p:txBody>
      </p:sp>
      <p:pic>
        <p:nvPicPr>
          <p:cNvPr id="11" name="Image 0" descr="/home/claude/pm-method/docs/guias/img/g5-van-opci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298448"/>
            <a:ext cx="5925312" cy="33329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6440" y="4686300"/>
            <a:ext cx="5925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96969"/>
                </a:solidFill>
              </a:rPr>
              <a:t>VAN antes y después de los experimentos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806440" y="5897880"/>
            <a:ext cx="5925312" cy="338328"/>
          </a:xfrm>
          <a:prstGeom prst="roundRect">
            <a:avLst>
              <a:gd name="adj" fmla="val 21622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43600" y="5897880"/>
            <a:ext cx="5669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</a:rPr>
              <a:t>20 pasos · 2 clases de webinar · guía docs/guias/E2E-5-idea-a-proyecto.md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La confianza se demuestra: pruebas reproducibles, pruebas en vivo y revisión de seguridad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1792" y="13533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558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1865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pruebas de regresión OK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213969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0 FALLO · 43 casos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319272" y="1298448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83864" y="13533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5/5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483864" y="1865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recorridos E2E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483864" y="213969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reproducen las guías con los scripts reales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81344" y="1298448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45936" y="13533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131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345936" y="1865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diagramas Mermaid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345936" y="213969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0 errores de lint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9043416" y="1298448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002855"/>
          </a:solidFill>
          <a:ln w="9525">
            <a:solidFill>
              <a:srgbClr val="00285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208008" y="13533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134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9208008" y="186537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D0F0"/>
                </a:solidFill>
              </a:rPr>
              <a:t>frases de enrutamiento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208008" y="213969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para pruebas en vivo con Claude Code real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2670048"/>
            <a:ext cx="3657600" cy="3154680"/>
          </a:xfrm>
          <a:prstGeom prst="roundRect">
            <a:avLst>
              <a:gd name="adj" fmla="val 2319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21792" y="277977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PRUEBAS EN VIVO CON CLAUDE CODE REAL (LAS MÁS RECIENTES)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21792" y="3108960"/>
            <a:ext cx="332841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3/3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105–107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21/10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12/12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108–114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21/10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6/6 · 8/8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115–120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21/10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4/4 · 10/10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121–124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21/10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2/2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125–126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22/10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4/4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127–128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22/10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2/2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129–130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22/10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51D"/>
                </a:solidFill>
              </a:rPr>
              <a:t>11/11  </a:t>
            </a:r>
            <a:pPr indent="0" marL="0">
              <a:buNone/>
            </a:pPr>
            <a:r>
              <a:rPr lang="en-US" sz="1100" dirty="0">
                <a:solidFill>
                  <a:srgbClr val="272425"/>
                </a:solidFill>
              </a:rPr>
              <a:t>enrutamiento, ids 131–134 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696969"/>
                </a:solidFill>
              </a:rPr>
              <a:t>28/10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265676" y="2670048"/>
            <a:ext cx="3657600" cy="3154680"/>
          </a:xfrm>
          <a:prstGeom prst="roundRect">
            <a:avLst>
              <a:gd name="adj" fmla="val 2319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430268" y="277977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REVISIÓN DE SEGURIDAD · 2026-10-20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0268" y="3127248"/>
          <a:ext cx="3328416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822960"/>
                <a:gridCol w="15453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Hallazgos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Corregidos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+ SEG-12 en parte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Informativa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2"/>
          <p:cNvSpPr txBox="1"/>
          <p:nvPr/>
        </p:nvSpPr>
        <p:spPr>
          <a:xfrm>
            <a:off x="4430268" y="5166360"/>
            <a:ext cx="3328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Sin hallazgos de severidad alta. Detalle y estado de cada uno en docs/SEGURIDAD.md.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8074152" y="2670048"/>
            <a:ext cx="3657600" cy="3154680"/>
          </a:xfrm>
          <a:prstGeom prst="roundRect">
            <a:avLst>
              <a:gd name="adj" fmla="val 2319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8238744" y="277977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CONTENEDOR DOCKER ENDURECIDO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8238744" y="3127248"/>
            <a:ext cx="332841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Usuario sin privilegios pm (UID 1000)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Raíz de solo lectura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Sin capacidades de Linux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Sin escalada de privilegios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Sin secretos en capas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629B"/>
                </a:solidFill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72425"/>
                </a:solidFill>
              </a:rPr>
              <a:t>Dependencias verificadas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457200" y="58978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96969"/>
                </a:solidFill>
              </a:rPr>
              <a:t>Los límites conocidos están declarados en docs/RESUMEN-EJECUTIVO.md §7: el enrutamiento en lenguaje natural es probabilístico, y los conectores MCP de terceros no se probaron en vivo.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Infinity responde con el contenido de PMI; pm-method gestiona el proyecto con su método, sus datos y sus puertas</a:t>
            </a:r>
            <a:endParaRPr lang="en-US" sz="19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4358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72425"/>
                </a:solidFill>
              </a:rPr>
              <a:t>Tres categorías distintas, comparadas con justicia: un asistente de IA para consultar y redactar, un sistema que lleva un proyecto concreto y la práctica establecida de la organización. Se pueden combinar.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55648"/>
          <a:ext cx="11274552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3364992"/>
                <a:gridCol w="3200400"/>
                <a:gridCol w="32004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pm-method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PMI Infinity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Gestión tradicional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5734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Sistema que gestiona un proyecto dentro de un agente de IA (Claude Code; también Cowork y Hermes)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Asistente y coach de IA sobre el contenido de PMI, con agentes que redactan documentos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Plantillas, planillas, herramientas de cronograma y una PMO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34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y contenido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PRINCE2 7 manda y PMBOK 8 aporta técnicas, destilados en palabras propias: no es contenido oficial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Estándares de PMI: contenido oficial, con citas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que defina la organización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Puertas y autoridad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 una persona con nombre y rol; solo pm-director registra y un hook lo impone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descritas en las fuentes públicas consultadas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Actas y firmas, con control manual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Datos del proyecto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Carpeta propia (Markdown, CSV, JSON) que solo cambian scripts que validan, con bitácora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Documentos que se cargan para analizar; PMI pide no cargar datos confidenciales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Archivos y herramientas de la organización, sin restricción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 controles de sanidad en cada sesión y antes de cada puerta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descritos en las fuentes públicas consultadas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Revisiones periódicas de la PMO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Instalación técnica (terminal, WSL2 o Docker) y alguien que la haga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y app móvil, sin instalar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Herramientas conocidas; formación en el método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Plugin libre (MIT) más un plan pago de Claude o la API; costo semanal real sin medir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Incluido en la membresía de PMI (no en la cuenta gratuita)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Licencias de herramientas y horas de personas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Madurez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 pruebas de regresión y 5/5 recorridos E2E OK: evidencia de laboratorio, sin piloto real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el mercado desde enero de 2024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Décadas de uso y aceptación institucional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5833872"/>
            <a:ext cx="11274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96969"/>
                </a:solidFill>
              </a:rPr>
              <a:t>Fuentes de terceros consultadas el 2026-10-29: pmi.org/infinity, pmi.org/membership, Trust Center, guía de uso y términos de uso de PMI Infinity, comunicado de PMI del 22-01-2024 y claude.com/pricing. La tabla completa, con la fuente de cada dato y lo que queda por verificar, está en docs/RESUMEN-EJECUTIVO.md §9. Comparativo propio, sin relación ni aval de PMI.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Cuándo conviene cada uno y lo que pm-method no hace: evidencia de laboratorio, sin piloto real todavía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6035040" cy="4407408"/>
          </a:xfrm>
          <a:prstGeom prst="roundRect">
            <a:avLst>
              <a:gd name="adj" fmla="val 1660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389888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CUÁNDO CONVIENE CADA UNO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00784"/>
          <a:ext cx="566928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0116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Conviene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Aprender o consultar el estándar de PMI y redactar un primer borrador, también desde el móvil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PMI Infinity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PMO madura, cronogramas con calendarios y nivelación, carteras o auditorías que exigen herramientas establecidas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Gestión tradicional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Proyecto con junta y tolerancias PRINCE2 que necesita decisiones auditables, trazabilidad y controles que corran solos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pm-method, tras un piloto en paralelo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 de producto que ya especifica con BMAD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pm-method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Datos confidenciales que no pueden salir de la organización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Gestión tradicional; pm-method solo con un proveedor de IA aprobado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Personas sin perfil técnico y sin apoyo para instalar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PMI Infinity o gestión tradicional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280160"/>
            <a:ext cx="5056632" cy="4407408"/>
          </a:xfrm>
          <a:prstGeom prst="roundRect">
            <a:avLst>
              <a:gd name="adj" fmla="val 1660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858000" y="138988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651D"/>
                </a:solidFill>
              </a:rPr>
              <a:t>LO QUE PM-METHOD NO HACE O NO PROBÓ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858000" y="1700784"/>
            <a:ext cx="470916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B5651D"/>
                </a:solidFill>
              </a:rPr>
              <a:t>▪ 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No es contenido oficial de PMI ni de PeopleCert, ni está avalado por ellos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B5651D"/>
                </a:solidFill>
              </a:rPr>
              <a:t>▪ 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No reemplaza a MS Project o Primavera en calendarios, nivelación o carteras: exporta a ellos (MSPDI)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B5651D"/>
                </a:solidFill>
              </a:rPr>
              <a:t>▪ 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No tiene app móvil ni web propia (salvo el portal opcional de pm-kb, de solo lectura)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B5651D"/>
                </a:solidFill>
              </a:rPr>
              <a:t>▪ 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Sin piloto en un proyecto real: el ahorro de tiempo y la usabilidad con líderes no técnicos están sin medir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B5651D"/>
                </a:solidFill>
              </a:rPr>
              <a:t>▪ 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Depende de un proveedor de modelos: su política de datos, su precio y sus límites de uso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B5651D"/>
                </a:solidFill>
              </a:rPr>
              <a:t>▪ 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Exige instalación técnica; Windows nativo, Cowork y arm64 tienen partes sin verificar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B5651D"/>
                </a:solidFill>
              </a:rPr>
              <a:t>▪ 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Un solo autor, sin soporte comercial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B5651D"/>
                </a:solidFill>
              </a:rPr>
              <a:t>▪ 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272425"/>
                </a:solidFill>
              </a:rPr>
              <a:t>El texto del modelo puede equivocarse: los borradores requieren revisión humana, como en cualquier asistente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5779008"/>
            <a:ext cx="11274552" cy="457200"/>
          </a:xfrm>
          <a:prstGeom prst="roundRect">
            <a:avLst>
              <a:gd name="adj" fmla="val 16000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577900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5651D"/>
                </a:solidFill>
              </a:rPr>
              <a:t>Se combinan: PMI Infinity para consultar el estándar, pm-method para llevar el proyecto y la herramienta corporativa para el cronograma detallado.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Dos formas de empezar: instalación sobre WSL2 o Linux, o contenedor Docker aislado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457200" y="1298448"/>
            <a:ext cx="5541264" cy="4937760"/>
          </a:xfrm>
          <a:prstGeom prst="roundRect">
            <a:avLst>
              <a:gd name="adj" fmla="val 1481"/>
            </a:avLst>
          </a:prstGeom>
          <a:solidFill>
            <a:srgbClr val="E9F1F8"/>
          </a:solidFill>
          <a:ln w="9525">
            <a:solidFill>
              <a:srgbClr val="E9F1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4447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SOBRE WSL2 O LINUX (GUÍA: DOCS/INSTALACION-WSL2.MD)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175504" cy="749808"/>
          </a:xfrm>
          <a:prstGeom prst="roundRect">
            <a:avLst>
              <a:gd name="adj" fmla="val 9756"/>
            </a:avLst>
          </a:prstGeom>
          <a:solidFill>
            <a:srgbClr val="0F2238"/>
          </a:solidFill>
          <a:ln w="9525">
            <a:solidFill>
              <a:srgbClr val="0F223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65376"/>
            <a:ext cx="49011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marketplace add Arturo-Penas-Rial/pm-method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install pm-method@pm-method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7249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29B"/>
                </a:solidFill>
              </a:rPr>
              <a:t>LUEGO, EN UNA SESIÓN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999232"/>
            <a:ext cx="5175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2855"/>
                </a:solidFill>
              </a:rPr>
              <a:t>/pm-method:pm-nuevo "Mi proyecto" y "¿qué sigue?"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0080" y="3840480"/>
            <a:ext cx="5175504" cy="2212848"/>
          </a:xfrm>
          <a:prstGeom prst="roundRect">
            <a:avLst>
              <a:gd name="adj" fmla="val 3306"/>
            </a:avLst>
          </a:prstGeom>
          <a:solidFill>
            <a:srgbClr val="FBF1E6"/>
          </a:solidFill>
          <a:ln w="9525">
            <a:solidFill>
              <a:srgbClr val="FBF1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968496"/>
            <a:ext cx="4809744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5651D"/>
                </a:solidFill>
              </a:rPr>
              <a:t>Siguiente paso: recorrer una guía E2E sobre la copia del proyecto de prueba (docs/guias/README.md) y planificar un piloto en paralelo (docs/PILOTO.md). Opcional, en cualquiera de los dos caminos: pm-kb para buscar en los proyectos con evidencia citada y ver sus tableros en el portal (docs/PM-KB.md).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90488" y="1298448"/>
            <a:ext cx="5541264" cy="4937760"/>
          </a:xfrm>
          <a:prstGeom prst="roundRect">
            <a:avLst>
              <a:gd name="adj" fmla="val 1481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73368" y="144475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2855"/>
                </a:solidFill>
              </a:rPr>
              <a:t>DOCKER (GUÍA: DOCS/INSTALACION-DOCKER.MD)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373368" y="1828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29B"/>
                </a:solidFill>
              </a:rPr>
              <a:t>1 · Construir la imagen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373368" y="2176272"/>
            <a:ext cx="5175504" cy="457200"/>
          </a:xfrm>
          <a:prstGeom prst="roundRect">
            <a:avLst>
              <a:gd name="adj" fmla="val 16000"/>
            </a:avLst>
          </a:prstGeom>
          <a:solidFill>
            <a:srgbClr val="0F2238"/>
          </a:solidFill>
          <a:ln w="9525">
            <a:solidFill>
              <a:srgbClr val="0F223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10528" y="2258568"/>
            <a:ext cx="4901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-f docker/compose.yaml build pm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373368" y="31546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29B"/>
                </a:solidFill>
              </a:rPr>
              <a:t>2 · Trabajar sobre un proyecto montado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373368" y="3502152"/>
            <a:ext cx="5175504" cy="658368"/>
          </a:xfrm>
          <a:prstGeom prst="roundRect">
            <a:avLst>
              <a:gd name="adj" fmla="val 11111"/>
            </a:avLst>
          </a:prstGeom>
          <a:solidFill>
            <a:srgbClr val="0F2238"/>
          </a:solidFill>
          <a:ln w="9525">
            <a:solidFill>
              <a:srgbClr val="0F223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10528" y="3584448"/>
            <a:ext cx="49011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PROYECTO=/ruta/al/proyecto docker compose -f /ruta/a/pm-method/docker/compose.yaml run --rm pm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6373368" y="44805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29B"/>
                </a:solidFill>
              </a:rPr>
              <a:t>3 · Correr todas las pruebas sin red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373368" y="4828032"/>
            <a:ext cx="5175504" cy="457200"/>
          </a:xfrm>
          <a:prstGeom prst="roundRect">
            <a:avLst>
              <a:gd name="adj" fmla="val 16000"/>
            </a:avLst>
          </a:prstGeom>
          <a:solidFill>
            <a:srgbClr val="0F2238"/>
          </a:solidFill>
          <a:ln w="9525">
            <a:solidFill>
              <a:srgbClr val="0F223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10528" y="4910328"/>
            <a:ext cx="4901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-f docker/compose.yaml run --rm pruebas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40080" y="365760"/>
            <a:ext cx="9235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Glosario breve</a:t>
            </a:r>
            <a:endParaRPr lang="en-US" sz="1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5541264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9410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Agente y subagente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Instancia del modelo con un rol. El orquestador conversa con la persona y delega en subagentes de fase, que trabajan con contexto aislado y no deciden.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BMAD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de especificación y construcción con agentes; en pm-method es la fuente única de la especificación, de solo lectura.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Condición formal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que la junta impone al autorizar una puerta; se sigue con EST-12 y G-01 hasta cumplir-condiciones.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Fachada de especificación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Lectura de BMAD que hace pm-method (bmad.py, especificacion.py) sin copiar ni modificar los artefactos.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Gestión por excepción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nivel decide dentro de su tolerancia y escala solo cuando un pronóstico la supera (management by exception): el informe de excepción avisa a la junta con opciones y recomendación y, si la junta lo pide, el plan de excepción reemplaza al vigente y se aprueba en una puerta.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Hook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 que Claude Code ejecuta ante un evento (inicio de sesión, pedido, uso de una herramienta). En pm-method protege los datos de gobierno y agrega contexto.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Junta del proyecto (project board)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Ejecutiva, usuaria sénior y proveedor sénior; decide tolerancias, presupuestos y excepciones.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RACI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 elemento (paquete, requisito, decisión): un solo A que rinde cuentas, quién lo hace (R), a quién se consulta antes (C) y a quién se informa después (I). Refleja la autoridad de PRINCE2; no la reemplaza.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Context Protocol: estándar para conectar el modelo con herramientas externas como trackers, chat, correo, transcripciones u OKR.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Objetivos y resultados clave: metas de ciclo que complementan los beneficios y se siguen con check-ins (mediciones fechadas con su confianza).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0488" y="1298448"/>
          <a:ext cx="5541264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9410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Piloto en paralelo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Prueba en un proyecto real que se sigue gestionando como siempre mientras pm-method produce lo mismo, para comparar antes de adoptarlo (docs/PILOTO.md).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PMBOK 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Guía de fundamentos de la dirección de proyectos. En pm-method aporta solo técnicas (valor ganado, camino crítico, PERT, P×I) dentro de PRINCE2.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PMI Infinity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Asistente de IA del Project Management Institute (PMI) que responde con contenido de PMI, con citas, y redacta documentos; web y app móvil, para miembros. Se nombra solo para compararlo, sin relación ni aval.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Oficina de gestión de proyectos: define los estándares de la organización, revisa los proyectos y consolida sus informes.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Monto que la junta reserva para pagar cambios aprobados, separado de la reserva de riesgo (change budget).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PRINCE2 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de gestión de proyectos por etapas. En pm-method define el ciclo de vida, los roles, las tolerancias y las puertas, y siempre manda.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Puerta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Decisión formal de la junta; pm-method la verifica y la bloquea si sanidad tiene un ERROR.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Sanidad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automático de pm-method que, en cada corrida, informa hallazgos ERROR, AVISO o INFO con su código.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Paquete de instrucciones, plantillas y scripts que Claude Code activa por su descripción o que la persona invoca como comando.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Desvío que un nivel de gestión puede absorber sin escalar al nivel de arriba (tolerance).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ganado (EVM)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Técnica que compara lo planificado (PV), lo ganado (EV) y lo gastado (AC) para pronosticar.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sumen pm-method">
  <a:themeElements>
    <a:clrScheme name="Resumen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A78D6"/>
      </a:accent5>
      <a:accent6>
        <a:srgbClr val="EB6834"/>
      </a:accent6>
      <a:hlink>
        <a:srgbClr val="00629B"/>
      </a:hlink>
      <a:folHlink>
        <a:srgbClr val="002855"/>
      </a:folHlink>
    </a:clrScheme>
    <a:fontScheme name="Resumen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pm-method · Resumen ejecutivo 2.7.0</dc:title>
  <dc:subject>Resumen ejecutivo comercial de pm-method</dc:subject>
  <dc:creator>pm-method</dc:creator>
  <cp:lastModifiedBy>pm-method</cp:lastModifiedBy>
  <cp:revision>1</cp:revision>
  <dcterms:created xsi:type="dcterms:W3CDTF">2026-10-30T06:01:06Z</dcterms:created>
  <dcterms:modified xsi:type="dcterms:W3CDTF">2026-10-30T06:01:06Z</dcterms:modified>
</cp:coreProperties>
</file>