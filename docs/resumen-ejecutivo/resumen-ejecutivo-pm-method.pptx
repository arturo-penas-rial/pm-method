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uesta" id="{dfc8cfe3-975b-7d66-a66e-d16027930e8d}">
          <p14:sldIdLst>
            <p14:sldId id="256"/>
            <p14:sldId id="257"/>
            <p14:sldId id="258"/>
          </p14:sldIdLst>
        </p14:section>
        <p14:section name="Producto" id="{180a3aed-c3a6-da03-cdd3-3a8f766c78f8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Casos E2E" id="{0bb15fcc-3869-5602-9342-c8676ce89ba8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onfianza y adopción" id="{0f59116f-4bed-2148-0e4c-6cbe74f9cf36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permanente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TOL · pronóstico contra tolerancias</c:v>
                  </c:pt>
                  <c:pt idx="1">
                    <c:v>SUP · supuestos críticos</c:v>
                  </c:pt>
                  <c:pt idx="2">
                    <c:v>QUA · calidad a volumen</c:v>
                  </c:pt>
                  <c:pt idx="3">
                    <c:v>INT · integraciones MCP</c:v>
                  </c:pt>
                  <c:pt idx="4">
                    <c:v>ART · artefactos</c:v>
                  </c:pt>
                  <c:pt idx="5">
                    <c:v>CAM · cambios contra presupuestos</c:v>
                  </c:pt>
                  <c:pt idx="6">
                    <c:v>MAP · mapas de Wardley y de recorrido</c:v>
                  </c:pt>
                  <c:pt idx="7">
                    <c:v>INS · instalación</c:v>
                  </c:pt>
                  <c:pt idx="8">
                    <c:v>REG · registros</c:v>
                  </c:pt>
                  <c:pt idx="9">
                    <c:v>STK · maestro de interesados</c:v>
                  </c:pt>
                  <c:pt idx="10">
                    <c:v>EST · estado, roles y puertas</c:v>
                  </c:pt>
                  <c:pt idx="11">
                    <c:v>ESP · especificación y BMAD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0</c:v>
                </c:pt>
                <c:pt idx="4">
                  <c:v>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otras familias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TOL · pronóstico contra tolerancias</c:v>
                  </c:pt>
                  <c:pt idx="1">
                    <c:v>SUP · supuestos críticos</c:v>
                  </c:pt>
                  <c:pt idx="2">
                    <c:v>QUA · calidad a volumen</c:v>
                  </c:pt>
                  <c:pt idx="3">
                    <c:v>INT · integraciones MCP</c:v>
                  </c:pt>
                  <c:pt idx="4">
                    <c:v>ART · artefactos</c:v>
                  </c:pt>
                  <c:pt idx="5">
                    <c:v>CAM · cambios contra presupuestos</c:v>
                  </c:pt>
                  <c:pt idx="6">
                    <c:v>MAP · mapas de Wardley y de recorrido</c:v>
                  </c:pt>
                  <c:pt idx="7">
                    <c:v>INS · instalación</c:v>
                  </c:pt>
                  <c:pt idx="8">
                    <c:v>REG · registros</c:v>
                  </c:pt>
                  <c:pt idx="9">
                    <c:v>STK · maestro de interesados</c:v>
                  </c:pt>
                  <c:pt idx="10">
                    <c:v>EST · estado, roles y puertas</c:v>
                  </c:pt>
                  <c:pt idx="11">
                    <c:v>ESP · especificación y BMAD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  <c:pt idx="4">
                  <c:v>4</c:v>
                </c:pt>
                <c:pt idx="5">
                  <c:v>0</c:v>
                </c:pt>
                <c:pt idx="6">
                  <c:v>6</c:v>
                </c:pt>
                <c:pt idx="7">
                  <c:v>6</c:v>
                </c:pt>
                <c:pt idx="8">
                  <c:v>9</c:v>
                </c:pt>
                <c:pt idx="9">
                  <c:v>13</c:v>
                </c:pt>
                <c:pt idx="10">
                  <c:v>14</c:v>
                </c:pt>
                <c:pt idx="11">
                  <c:v>15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7242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AI-assisted project management with a real method, governance and permanent controls, as a Claude Code and Cowork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what is usually checked by hand, once or never becomes a permanent control that runs in every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one source of truth for PMOs, project managers, business leaders and product teams using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 Claude Code and Cowork plugin with a fixed hierarchy: PRINCE2 7 always leads, PMBOK 8 supplies techniques, BMAD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people decide, agents prepare, scripts write and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agents and skills, each with an owner in the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every PRINCE2 transition goes through a board gate, verified before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automatic controls watch what nobody checks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open integrations through generic MCP; nothing is hard-wired to a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end-to-end cases, each one also a training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docs/guias/E2E-1-riesgos.md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docs/guias/E2E-2-alcance-roadmap.md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docs/guias/E2E-3-interesados-okr-avance.md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docs/guias/E2E-4-producto-bmad.md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docs/guias/E2E-5-idea-a-proyecto.md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trust is shown, not claimed: reproducible tests, live tests and a security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two ways to start: manual install or an isolated Docker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short glossary; full terminology in docs/TERMINOLOGIA.md.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2.3.0 · Resumen ejecutivo · 2026-10-20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FD0F0"/>
                </a:solidFill>
              </a:rPr>
              <a:t>Resumen ejecutivo · pm-method 2.3.0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Gestión de proyectos con IA, con método, gobierno y controles permanentes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Un plugin para Claude Code y Cowork. PRINCE2 7 manda, PMBOK 8 aporta las técnicas y BMAD es la especificación del producto, de solo lectura.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agentes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99893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82773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39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982773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skills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51146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4026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234026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02398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5278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97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485278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controles automáticos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3651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36531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736531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casos de punta a punta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pm-method 2.3.0 · 20 de octubre de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FD0F0"/>
                </a:solidFill>
              </a:rPr>
              <a:t>EN: AI-assisted project management with a real method, governance and permanent controls, as a Claude Code and Cowork plugin.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Lo que hoy se controla a mano, una sola vez o nunca, pasa a ser un control permanente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LO HABITUAL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CON PM-METHOD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332720" y="1280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CONTROL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6550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registro de riesgos se arma en un taller y se congela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38928" y="1600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532120" y="160020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16550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Riesgos altos sin respuesta y revisiones vencidas aparecen en cada sesión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332720" y="1691640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169164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REG-06 · REG-09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25856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Los cambios se aprueban uno a uno y nadie suma lo comprometido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38928" y="225856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32120" y="225856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0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cambio se carga contra el presupuesto de la junta; excedido, bloquea la puerta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332720" y="2350008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0" y="2350008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 · CAM-04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916936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" y="2971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«Aprobado con condiciones» queda en el acta y se olvida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38928" y="29169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532120" y="2916936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69280" y="2971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La condición se sigue hasta que alguien con rol la cierra; abierta, bloquea el cierre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332720" y="3008376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32720" y="3008376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EST-12 · G-01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35753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3504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La calidad se revisa al final, si se revisa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38928" y="357530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532120" y="35753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historia terminada necesita su revisión aprobada, en cada entrega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332720" y="3666744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666744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 · QUA-02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423367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03504" y="4288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pronóstico de valor ganado no se vuelve a mirar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38928" y="42336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532120" y="423367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4288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Un pronóstico fuera de tolerancia sin excepción abierta genera aviso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332720" y="4325112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332720" y="4325112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TOL-01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8920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03504" y="49469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plan de comunicaciones promete una frecuencia que nadie verifica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138928" y="4892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5532120" y="48920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49469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La cadencia de contacto de cada interesado clave queda vigilada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10332720" y="4983480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32720" y="49834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57200" y="5596128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596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5651D"/>
                </a:solidFill>
              </a:rPr>
              <a:t>El modelo prepara; la persona decide; los scripts verifican y registran.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PMO, gestores, negocio y producto trabajan sobre la misma fuente de verdad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PMO y centros de excelencia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 estándar reproducible de gestión asistida, con trazabilidad y controles.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E2E-2: cambio y gestión por excepción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91656" y="152704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91656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Gestores de proyecto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19088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9088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Planes, registros, informes y puertas preparados con método; comunicados por interesado enviados con aprobación; menos trabajo administrativo.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19088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E2E-1: riesgos de punta a punta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77640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Líderes de negocio y junta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Decisiones claras con opciones, tolerancias y excepciones a tiempo.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E2E-5: de la idea al proyecto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90488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91656" y="3977640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9165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Equipos de producto con BMAD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419088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19088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Backlog sincronizado con BMAD, MoSCoW, release plan, avance por puntos.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19088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E2E-4: producto con BMAD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plugin de Claude Code y Cowork con una jerarquía fija: PRINCE2 7 siempre manda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JERARQUÍA DE FUENTES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572768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6459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· PRINCE2 7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568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Método y ciclo de vida; siempre manda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" y="2560320"/>
            <a:ext cx="5093208" cy="877824"/>
          </a:xfrm>
          <a:prstGeom prst="roundRect">
            <a:avLst>
              <a:gd name="adj" fmla="val 8333"/>
            </a:avLst>
          </a:prstGeom>
          <a:solidFill>
            <a:srgbClr val="00629B"/>
          </a:solidFill>
          <a:ln w="9525">
            <a:solidFill>
              <a:srgbClr val="00629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" y="26334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 · PMBOK 8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94436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Solo el "cómo" (técnicas) o vacíos de PRINCE2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" y="3547872"/>
            <a:ext cx="4928616" cy="877824"/>
          </a:xfrm>
          <a:prstGeom prst="roundRect">
            <a:avLst>
              <a:gd name="adj" fmla="val 8333"/>
            </a:avLst>
          </a:prstGeom>
          <a:solidFill>
            <a:srgbClr val="4F86B5"/>
          </a:solidFill>
          <a:ln w="9525">
            <a:solidFill>
              <a:srgbClr val="4F86B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36210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 · Plantillas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393192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Artefactos (campos, listas), destiladas en palabras propias, nunca texto literal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50976" y="4535424"/>
            <a:ext cx="4764024" cy="877824"/>
          </a:xfrm>
          <a:prstGeom prst="roundRect">
            <a:avLst>
              <a:gd name="adj" fmla="val 8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33856" y="4608576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4 · BMAD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19472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Capa de especificación de solo lectura, fuente única por dato (especificacion.py, bmad.py)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agentes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un orquestador y 5 subagentes de fase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91540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9828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39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skills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33 que el modelo activa y 6 comandos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8932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hooks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guardian · idioma · inicio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1540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9828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registros CSV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09828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9 base y 4 que se crean al primer uso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98932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tipos de puerta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decisiones de la junta, verificadas antes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91540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97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controles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85 de sanidad y 12 de puerta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Bilingüe ES/EN. Licencia MIT. La fuente de verdad es una carpeta de Markdown, CSV y JSON que se versiona con git y se lee sin pm-method.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Las personas deciden, los agentes preparan y los scripts escriben y verifican</a:t>
            </a:r>
            <a:endParaRPr lang="en-US" sz="1900" dirty="0"/>
          </a:p>
        </p:txBody>
      </p:sp>
      <p:pic>
        <p:nvPicPr>
          <p:cNvPr id="4" name="Image 0" descr="diagramas/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451" y="1298448"/>
            <a:ext cx="11210050" cy="3703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1792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Decisiones humanas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21792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Solo pm-director registra decisiones de la junta, siempre después de una respuesta con nombre y rol; un hook lo hace cumplir.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279392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43984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Datos íntegros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443984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estado.json y los registros cambian solo por scripts que validan; las ediciones directas se bloquean.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01584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66176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Especificación sin copias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66176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BMAD se lee por una fachada y nunca se escribe; los desvíos contra la línea base se detectan.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6 agentes y 39 skills, cada una con un dueño en el ciclo de vida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pm-orquestador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Conversa, pregunta, delega y presenta las decisiones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pm-estado-proyecto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pm-exportar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pm-knowledge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pm-orquestador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pm-sanidad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pm-visuales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pm-ayuda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pm-estado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pm-nuevo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5458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430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pm-director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6430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6430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2E6"/>
                </a:solidFill>
              </a:rPr>
              <a:t>Único que registra las decisiones de la junta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5458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7345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pm-comunicacion-stakeholders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pm-direccion-decisiones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pm-okr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pm-puerta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168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pm-inicio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6168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6168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Del mandato al proyecto autorizado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5196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7083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pm-acta-constitucion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pm-caso-de-negocio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pm-enfoques-gestion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pm-interesados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pm-mandato-y-brief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pm-mapas-estrategicos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pm-organizacion-roles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934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5906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pm-planificacion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25906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Productos, estimación, cronograma y costo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4934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6821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pm-adquisiciones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pm-agil-hibrido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pm-bmad-puente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pm-costos-presupuesto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pm-cronograma-estimacion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pm-plan-etapa-y-limites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pm-planificacion-por-productos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04672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5644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pm-control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5644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5644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Mantiene la etapa dentro de tolerancias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4672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559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pm-calidad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pm-integraciones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pm-issues-cambios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pm-paquetes-trabajo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pm-progreso-reportes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pm-registros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pm-reuniones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pm-riesgos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pm-reporte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pm-sync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9441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0538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pm-cierre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0538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0538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Cierre ordenado, planificado o prematuro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9441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629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pm-cierre-proyecto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pm-lecciones-aprendidas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4360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Agente dueño según el campo metadata.pm-method.agente de cada SKILL.md. Los comandos (/pm-method:…) los invoca la persona; las demás skills las activa el modelo por su descripción.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transición del ciclo PRINCE2 pasa por una puerta que decide la junta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DP · Dirección: la junta decide en cada puerta; pm-director prepara la solicitud y registra la decisión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2157984"/>
            <a:ext cx="1870862" cy="786384"/>
          </a:xfrm>
          <a:prstGeom prst="homePlate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" y="2157984"/>
            <a:ext cx="141366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Puesta en marcha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01214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68526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autorizar-inicio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0 · pre-proyecto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mandato · project brief · caso de negocio esquemático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712110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69310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Iniciación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56125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2343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autorizar-proyecto + autorizar-etapa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71211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71211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 + pm-planificacion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271211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PID · business case · planes · presupuestos de la junta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1211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0355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pm-acta-constitucion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pm-enfoques-gestion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967021" y="2157984"/>
            <a:ext cx="1870862" cy="786384"/>
          </a:xfrm>
          <a:prstGeom prst="chevron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2422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CS · MP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y entrega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911035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7834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límite de etapa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96702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etapas 2 … 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96702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pm-control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96702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paquetes · highlight · registros · valor ganado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96702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5846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pm-calidad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pm-integraciones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pm-issues-cambios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pm-paquetes-trabajo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pm-progreso-reportes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pm-registros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pm-reuniones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pm-riesgos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221931" y="2157984"/>
            <a:ext cx="1870862" cy="786384"/>
          </a:xfrm>
          <a:prstGeom prst="chevron">
            <a:avLst/>
          </a:prstGeom>
          <a:solidFill>
            <a:srgbClr val="4F86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7913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SB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Límite de etapa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165946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33258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cierre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22193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fin de cada etapa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22193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pm-planificacion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22193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informe de fin de etapa · plan de la siguiente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2193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337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pm-adquisiciones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pm-agil-hibrido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pm-bmad-puente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pm-costos-presupuesto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pm-cronograma-estimacion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pm-plan-etapa-y-limites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pm-planificacion-por-productos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476842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34042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Cierre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420856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28632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autorizar-cierre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9476842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última etapa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9476842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pm-cierre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76842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aceptación · lecciones · revisión de beneficios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476842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8282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pm-cierre-proyecto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pm-lecciones-aprendidas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554126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puerta de la junta     </a:t>
            </a:r>
            <a:pPr indent="0" marL="0">
              <a:buNone/>
            </a:pPr>
            <a:r>
              <a:rPr lang="en-US" sz="1100" b="1" dirty="0">
                <a:solidFill>
                  <a:srgbClr val="696969"/>
                </a:solidFill>
              </a:rPr>
              <a:t>◇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transición que prepara el gestor     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SB → CS: autorizar-etapa (n+1)     ·     Pronóstico fuera de tolerancia → informe de excepción → autorizar-plan-excepcion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7200" y="5852160"/>
            <a:ext cx="11274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Antes de cada puerta: sanidad, lista de control de la junta y, con BMAD, verificación de la especificación. Un ERROR abierto bloquea la decisión salvo que la junta lo acepte como condición.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97 controles automáticos vigilan lo que nadie revisa a mano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CÓDIGOS DE CONTROL POR FAMILIA DE SANIDAD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361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B6834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control permanente     </a:t>
            </a:r>
            <a:pPr indent="0" marL="0">
              <a:buNone/>
            </a:pPr>
            <a:r>
              <a:rPr lang="en-US" sz="1200" dirty="0">
                <a:solidFill>
                  <a:srgbClr val="2A78D6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otras familias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810512"/>
          <a:ext cx="62179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5724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855"/>
                </a:solidFill>
              </a:rPr>
              <a:t>Además, 12 controles de puerta (P y G) verifican cada decisión de la junta.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812280" y="12801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LO QUE DETECTARON EN LOS CASOS E2E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49440" y="170992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49440" y="1709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1709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5740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El presupuesto de cambio queda en 75 % tras C-001; con C-002 llegaría al 200 %, por eso C-002 espera a la junta, que amplía el presupuesto y lo aprueba: vuelve a 75 % (paso 10).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12280" y="278892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0" y="289864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28986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28986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324612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La reserva pasa del 21 % al 81 % en cinco corridas de la sanidad; al cruzar el 80 %, CAM-03 deja de ser informativo y avisa.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12280" y="397764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49440" y="408736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49440" y="408736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0873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E2E-3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443484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12280" y="516636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49440" y="527608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949440" y="5276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52760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949440" y="56235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Historias terminadas contra historias con revisión aprobada en cada corte: las brechas del 26/2 y del 7/5 se cerraron antes de la puerta siguiente (paso 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Se conecta con las herramientas que ya usa la organización, sin atarse a ninguna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51960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BMAD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versiones probadas: 4.x, 6.11, 6.12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Especificación de solo lectura: PRD, arquitectura, épicas, historias y estado del sprint, sin copias.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Trackers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Azure DevOps · GitHub · Jira · Linear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Instantáneas fechadas, avance y riesgos candidatos desde los tickets.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 flipV="1">
            <a:off x="4251960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Transcripciones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21792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Fireflies · Granola · minutes · Teams · Zoom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Actas con acciones, riesgos, decisiones y preferencias declaradas, confirmadas por una persona.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 flipV="1">
            <a:off x="6780276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36992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01584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Correo, Slack y Teams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101584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.eml · Gmail · Outlook · SMTP · Slack · Teams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101584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Capa de canales: envía solo mensajes aprobados, simula por defecto y registra cada envío.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flipV="1">
            <a:off x="6780276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36992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01584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OKR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101584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Perdoo · Tability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101584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Resultados clave ligados a los beneficios del business case, con check-ins y salud.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80276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36992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101584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Mapas de Wardley y recorrido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8101584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Mermaid wardley-beta y journey · OWM · HTML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101584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Qué construir, comprar o tercerizar y la experiencia del usuario paso a paso, con controles.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180076" y="2697480"/>
            <a:ext cx="1828800" cy="18288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71516" y="3227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pm-method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08676" y="3630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gobierno sobre la carpeta del proyecto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5870448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96969"/>
                </a:solidFill>
              </a:rPr>
              <a:t>Conexión por MCP genérico: nada viene predefinido. Sin MCP, pm-method trabaja con archivos; sin BMAD, con su propia especificación.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5 casos de punta a punta, cada uno con su módulo de capacitación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88152"/>
                <a:gridCol w="777240"/>
                <a:gridCol w="777240"/>
                <a:gridCol w="914400"/>
                <a:gridCol w="114300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recorre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Diapositivas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Glosario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Riesgos desde cuatro fuentes, respuestas costeadas, reserva vigilada y escalamiento a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por productos, estimación, priorización, cambio con presupuesto y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Interesados, preferencias, RACI, OKR, highlight desde el dato y envío por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con BMAD: condiciones formales, calidad a volumen, cierre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la idea al proyecto diseñado: supuestos, opciones con VAN, enfoque y 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008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MATERIAL POR CASO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guía paso a paso por prompts, guion del instructor minuto a minuto, ejercicio con solución de referencia y diapositivas PPTX y HTML que regenera un script.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190488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73368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INDUCCIÓN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373368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instalar → recorrer una guía sobre la copia del proyecto de prueba con BMAD real → dictar su clase → piloto en paralelo con un proyecto real.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E2E-1 · Riesgos: el registro trabaja solo entre revisiones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registro de riesgos nace en un taller y se congela. Las respuestas no se costean y la reserva se usa como bolsa general.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Riesgos candidatos desde BMAD, transcripciones, Jira y artefactos, con cita de origen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Respuestas justificadas por su costo frente a la reducción del valor monetario esperado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Reserva de riesgo vigilada como presupuesto vivo de la junta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Dos amenazas en zona alta al salir del taller; con las respuestas del paso 6, ninguna queda en zona alta.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reserva pasa del 21 % al 81 % en cinco corridas de la sanidad; al cruzar el 80 %, CAM-03 deja de ser informativo y avisa.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estado de riesgo en una sola vista para la junta del límite de etapa: lo único en atención es la reserva.</a:t>
            </a:r>
            <a:endParaRPr lang="en-US" sz="1150" dirty="0"/>
          </a:p>
        </p:txBody>
      </p:sp>
      <p:pic>
        <p:nvPicPr>
          <p:cNvPr id="11" name="Image 0" descr="/home/claude/pm-method/docs/guias/img/g1-consumo-reser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Consumo de la reserva de riesgo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15 pasos · 2 clases de webinar · guía docs/guias/E2E-1-riesgos.md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E2E-2 · Alcance y cambio: el desvío se ve el mismo día, no al cerrar la etapa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alcance se define bien una vez y se controla mal después. Los cambios se aprueban «porque son razonables» y nadie suma lo comprometido.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Alcance por productos trazado a requisitos e historias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Presupuesto y límite de la autoridad de cambio registrados por la junta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Excepción completa: detectada, informada, replanificada y autorizada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presupuesto de cambio queda en 75 % tras C-001; con C-002 llegaría al 200 %, por eso C-002 espera a la junta, que amplía el presupuesto y lo aprueba: vuelve a 75 % (paso 10).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29/1 no entra el 10,3 % del alcance (ámbar, lo gestiona el PO); el 19/2 no entra el 22,1 %, más que el 20 % de margen: los Must peligran y hay excepción (pasos 9 y 10).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Resumen al 26/2: VAN de 30.939 con los dos cambios, puesta en producción el 18/5, 2 días de reserva, presupuesto de cambio al 75 % tras la ampliación, 22,1 % del alcance en riesgo en el corte del 19/2 y 13 de 13 requisitos trazados.</a:t>
            </a:r>
            <a:endParaRPr lang="en-US" sz="1100" dirty="0"/>
          </a:p>
        </p:txBody>
      </p:sp>
      <p:pic>
        <p:nvPicPr>
          <p:cNvPr id="11" name="Image 0" descr="/home/claude/pm-method/docs/guias/img/g2-consumo-camb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Consumo del presupuesto de cambio en tres cortes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10 pasos · 2 clases de webinar · guía docs/guias/E2E-2-alcance-roadmap.md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E2E-3 · Interesados y OKR: el compromiso se mide en cada período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mapa de interesados se arma una vez, el highlight se copia a mano y los OKR se miran al final.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72425"/>
                </a:solidFill>
              </a:rPr>
              <a:t>Maestro único de interesados: matriz, preferencias con cita y RACI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72425"/>
                </a:solidFill>
              </a:rPr>
              <a:t>Highlight armado desde el dato y enviado por la capa de canales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72425"/>
                </a:solidFill>
              </a:rPr>
              <a:t>Cadencia de contacto y brecha de compromiso como control permanente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Highlight al 8/1: plazo y costo en ámbar dentro de la tolerancia (SPI 0,933, CPI 0,942) y un compromiso vencido (A-004).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brecha total baja de 7 a 3 niveles. TI empeora cuando se corta su reunión semanal y repunta al retomarla.</a:t>
            </a:r>
            <a:endParaRPr lang="en-US" sz="1150" dirty="0"/>
          </a:p>
        </p:txBody>
      </p:sp>
      <p:pic>
        <p:nvPicPr>
          <p:cNvPr id="11" name="Image 0" descr="/home/claude/pm-method/docs/guias/img/g3-cadencia-stk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Cadencia de contacto al 5/2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14 pasos · 2 clases de webinar · guía docs/guias/E2E-3-interesados-okr-avance.md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E2E-4 · Producto con BMAD: calidad a volumen y beneficios medidos después del cierre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Con decenas de historias terminadas nadie verifica cada revisión, las condiciones de la junta se olvidan y los beneficios no se miden.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CONCERNS del gate de BMAD se vuelve una condición formal que bloquea el cierre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Cada historia terminada con su revisión de calidad, incluido un rechazo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Beneficios medidos después del cierre contra trayectoria y tolerancia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Historias terminadas contra historias con revisión aprobada en cada corte: las brechas del 26/2 y del 7/5 se cerraron antes de la puerta siguiente (paso 8).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puerta de cierre en una página: 11 de 11 historias con revisión aprobada, CPI 0,977, 40 % del presupuesto de cambio usado y 0 condiciones abiertas (paso 9).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Al 31/12/2027, B-02 adopción llega al 83 % de la meta y queda fuera de la tolerancia de −10 %; B-01 y B-03, dentro (paso 11).</a:t>
            </a:r>
            <a:endParaRPr lang="en-US" sz="1150" dirty="0"/>
          </a:p>
        </p:txBody>
      </p:sp>
      <p:pic>
        <p:nvPicPr>
          <p:cNvPr id="11" name="Image 0" descr="/home/claude/pm-method/docs/guias/img/g4-calidad-entre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Calidad por entrega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12 pasos · 2 clases de webinar · guía docs/guias/E2E-4-producto-bmad.md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E2E-5 · De la idea al proyecto: los supuestos se validan antes de invertir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caso de negocio se escribe una vez, con el supuesto más optimista, y el enfoque de entrega se elige por costumbre.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Mapa de supuestos y experimentos baratos antes de comprometer dinero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comparadas con VAN y enfoque de entrega elegido con criterios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Mapa de Wardley y recorrido del paciente para decidir qué construir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Tres supuestos críticos sin evidencia (S-001, S-002, S-003) sostienen los dos beneficios y la factibilidad: ahí se invierte primero en aprender (paso 2).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piloto bajó el VAN de las dos opciones; la opción 2 sigue siendo la mejor, con una TIR de 54,3 % y un repago de 1,78 años (paso 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junta autoriza USD 179.340 (BAC 170.800 + reserva de gestión 8.540) y fija aparte un presupuesto de cambio de 10.000 con tope de 3.000 por cambio (paso 9).</a:t>
            </a:r>
            <a:endParaRPr lang="en-US" sz="1150" dirty="0"/>
          </a:p>
        </p:txBody>
      </p:sp>
      <p:pic>
        <p:nvPicPr>
          <p:cNvPr id="11" name="Image 0" descr="/home/claude/pm-method/docs/guias/img/g5-van-op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VAN antes y después de los experimentos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18 pasos · 2 clases de webinar · guía docs/guias/E2E-5-idea-a-proyecto.md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confianza se demuestra: pruebas reproducibles, pruebas en vivo y revisión de seguridad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216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pruebas de regresión OK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FALLO · 20 casos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19272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83864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5/5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483864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recorridos E2E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83864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reproducen las guías con los scripts reales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81344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45936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127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45936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diagramas Mermaid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45936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errores de lint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043416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08008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102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208008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frases de enrutamiento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208008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para pruebas en vivo con Claude Code real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PRUEBAS EN VIVO CON CLAUDE CODE REAL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3108960"/>
            <a:ext cx="332841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14/14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8/8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95–102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7/7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controles, tras el control de autoridad y p…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12/12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integracion con las 29 skills de BMAD 6.12.…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65676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30268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REVISIÓN DE SEGURIDAD · 2026-10-20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0268" y="3127248"/>
          <a:ext cx="3328416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22960"/>
                <a:gridCol w="15453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Corregidos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+ SEG-12 en parte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430268" y="5166360"/>
            <a:ext cx="3328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Sin hallazgos de severidad alta. Detalle y estado de cada uno en docs/SEGURIDAD.md.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74152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38744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CONTENEDOR DOCKER ENDURECIDO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238744" y="3127248"/>
            <a:ext cx="33284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Usuario sin privilegios pm (UID 1000)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Raíz de solo lectura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capacidades de Linux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escalada de privilegios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secretos en capas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Dependencias verificadas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Los límites conocidos están declarados en docs/RESUMEN-EJECUTIVO.md §7: el enrutamiento en lenguaje natural es probabilístico, y los conectores MCP de terceros no se probaron en vivo.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Dos formas de empezar: instalación manual o contenedor Docker aislado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INSTALACIÓN MANUAL (CLAUDE CODE Y COWORK)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749808"/>
          </a:xfrm>
          <a:prstGeom prst="roundRect">
            <a:avLst>
              <a:gd name="adj" fmla="val 9756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65376"/>
            <a:ext cx="4901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Arturo-Penas-Rial/pm-method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pm-method@pm-method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LUEGO, EN UNA SESIÓN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99232"/>
            <a:ext cx="5175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/pm-method:pm-nuevo "Mi proyecto" y "¿qué sigue?"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840480"/>
            <a:ext cx="5175504" cy="2212848"/>
          </a:xfrm>
          <a:prstGeom prst="roundRect">
            <a:avLst>
              <a:gd name="adj" fmla="val 3306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968496"/>
            <a:ext cx="48097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Siguiente paso: recorrer una guía E2E sobre la copia del proyecto de prueba (docs/guias/README.md) y planificar un piloto en paralelo (docs/PILOTO.md).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3368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DOCKER (PROBAR SIN INSTALAR NADA EN EL EQUIPO)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373368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1 · Construir la imagen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73368" y="217627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225856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build pm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2 · Trabajar sobre un proyecto montado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73368" y="3502152"/>
            <a:ext cx="5175504" cy="658368"/>
          </a:xfrm>
          <a:prstGeom prst="roundRect">
            <a:avLst>
              <a:gd name="adj" fmla="val 11111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10528" y="3584448"/>
            <a:ext cx="4901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PROYECTO=/ruta/al/proyecto docker compose -f /ruta/a/pm-method/docker/compose.yaml run --rm pm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4480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3 · Correr todas las pruebas sin red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3368" y="482803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10528" y="491032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run --rm pruebas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Glosario breve</a:t>
            </a:r>
            <a:endParaRPr lang="en-US" sz="1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 y subagente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del modelo con un rol. El orquestador conversa con la persona y delega en subagentes de fase, que trabajan con contexto aislado y no deciden.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especificación y construcción con agentes; en pm-method es la fuente única de la especificación, de solo lectura.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 formal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que la junta impone al autorizar una puerta; se sigue con EST-12 y G-01 hasta cumplir-condiciones.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Fachada de especificación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 de BMAD que hace pm-method (bmad.py, especificacion.py) sin copiar ni modificar los artefactos.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 que Claude Code ejecuta ante un evento (inicio de sesión, pedido, uso de una herramienta). En pm-method protege los datos de gobierno y agrega contexto.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sénior; decide tolerancias, presupuestos y excepciones.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Context Protocol: estándar para conectar el modelo con herramientas externas como trackers, chat, correo, transcripciones u OKR.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PMBOK 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Guía de fundamentos de la dirección de proyectos. En pm-method aporta solo técnicas (valor ganado, camino crítico, PERT, P×I) dentro de PRINCE2.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PRINCE2 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gestión de proyectos por etapas. En pm-method define el ciclo de vida, los roles, las tolerancias y las puertas, y siempre manda.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automático de pm-method que, en cada corrida, informa hallazgos ERROR, AVISO o INFO con su código.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Paquete de instrucciones, plantillas y scripts que Claude Code activa por su descripción o que la persona invoca como comando.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fijado por la junta; superarlo es una excepción que decide un nivel superior.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n pm-method">
  <a:themeElements>
    <a:clrScheme name="Resumen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A78D6"/>
      </a:accent5>
      <a:accent6>
        <a:srgbClr val="EB6834"/>
      </a:accent6>
      <a:hlink>
        <a:srgbClr val="00629B"/>
      </a:hlink>
      <a:folHlink>
        <a:srgbClr val="002855"/>
      </a:folHlink>
    </a:clrScheme>
    <a:fontScheme name="Resumen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ejecutivo 2.3.0</dc:title>
  <dc:subject>Resumen ejecutivo comercial de pm-method</dc:subject>
  <dc:creator>pm-method</dc:creator>
  <cp:lastModifiedBy>pm-method</cp:lastModifiedBy>
  <cp:revision>1</cp:revision>
  <dcterms:created xsi:type="dcterms:W3CDTF">2026-10-20T17:34:13Z</dcterms:created>
  <dcterms:modified xsi:type="dcterms:W3CDTF">2026-10-20T17:34:13Z</dcterms:modified>
</cp:coreProperties>
</file>