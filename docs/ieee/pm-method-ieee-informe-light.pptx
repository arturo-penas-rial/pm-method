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2 es la documentación completa de pm-method: qué es, cómo está construido, cómo se instala, cómo se asegura y cómo se prueba. Esta versión light toma solo lo más relevante y lo cuenta sin jerga de gestión de proyectos. Las siglas se explican en un recuadro en la tercera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cuatro problemas aparecen apenas se usa IA para gestionar un proyecto real. Cada tarjeta muestra el problema arriba y la respuesta del sistema abajo. La idea que atraviesa todo: la IA ayuda a preparar, pero el control y la decisión no se delegan.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jerarquía es fija: el método decide qué se hace y cuándo; las técnicas solo aportan el cómo; las plantillas dan forma a los documentos; y la especificación del producto, si existe, se lee pero no se toca. Esa separación evita contradicciones: cada dato tiene un solo dueño. El recuadro traduce las siglas.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coordinador es el único que conversa con la persona; los ayudantes trabajan aparte, cada uno en su etapa, y devuelven resultados. Ninguno de ellos puede aprobar nada: solo el registrador anota decisiones, y únicamente después de que una persona respondió con nombre y rol. El guardián impide atajos, incluso si alguien intenta editar los archivos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puerta es un punto de decisión: el proyecto no pasa a la etapa siguiente hasta que la persona con autoridad lo aprueba. Antes de presentarla, el sistema hace tres comprobaciones y muestra qué bloquea, qué queda como condición y qué es solo un aviso. La decisión queda anotada con nombre, fecha y condiciones.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Muchos controles de un proyecto dependen de que alguien se acuerde de hacerlos. Aquí se revisan en cada sesión y antes de cada puerta. En el gráfico, un cambio de alcance supera todos sus límites, así que el sistema no deja que lo apruebe quien no tiene autoridad y lo deriva a quien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vez que se abre una sesión, el sistema arma un resumen del proyecto a partir de los datos guardados y una línea con lo urgente. Esto es seguridad aplicada a la IA agéntica: el modelo propone, cita la fuente y espera confirmación. Si un texto de entrada trae instrucciones escondidas, se tratan como datos y no se ejecutan.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ventajas cambian según el rol, pero tienen un denominador común: lo que se decide queda registrado y los números cuadran entre el informe, el tablero y el correo. La línea de calidad resume la evidencia del informe completo. Al ser abierto, nada queda atado al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completo es explícito sobre lo que falta: un piloto real con personas no técnicas y pruebas con servicios externos reales. Lo que sí está listo es el material para aprender: cinco casos de práctica con guía, ejercicio y diapositivas. El siguiente paso propuesto es un piloto de formación corto con IEEE.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2B6A9A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2.5.0 · Informe 2 en versión light para IEEE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</a:rPr>
              <a:t>Informe 2 en versión light · para miembros de IEEE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64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</a:rPr>
              <a:t>pm-method ordena la gestión de proyectos asistida por IA: método claro, decisiones humanas y datos verificados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844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Los aspectos más relevantes del Informe 2, la documentación completa del ecosistema, contados sin jerga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resuelve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Documentos de gestión sueltos, sin etapas, sin control y sin registro de quién decidió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6824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Cómo lo hace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Un método por etapas, ayudantes de IA con límites y controles que corren solos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65008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66176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gana el equipo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Decisiones trazables, datos que cuadran y menos trabajo administrativo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D0F0"/>
                </a:solidFill>
              </a:rPr>
              <a:t>pm-method 2.5.0 · resumen del Informe 2 (documentación del ecosistema)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El problema: la IA produce documentos de gestión, pero sin método, sin control y sin registro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4630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373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Documentos sueltos, sin etapas: nadie sabe qué está aprobado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5420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2615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8895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Un ciclo de vida por etapas; cada etapa termina en una decisión registrada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73368" y="14630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3368" y="1463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6772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967728" y="17373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La IA «aprueba» lo que le corresponde a una persona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3368" y="25420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37960" y="2615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28895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Solo un rol registra decisiones, y solo después de la respuesta explícita de una persona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7200" y="38130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9776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995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42519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Requisitos y plan en mundos separados, que se desincronizan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40080" y="50566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" y="51297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" y="54041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Una sola fuente por dato: los requisitos se leen, no se copian, y los cambios se detectan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190488" y="38130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3368" y="39776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73368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3995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42519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Datos editados a mano: informes que no cuadran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373368" y="50566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37960" y="51297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54041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El estado y los registros solo cambian por programas que validan; un guardián bloquea el resto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base: un método manda, las técnicas ayudan y la especificación del producto no se copia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5651D"/>
                </a:solidFill>
              </a:rPr>
              <a:t>CUATRO CAPAS, EN ORDEN DE AUTORIDAD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6858000" cy="1005840"/>
          </a:xfrm>
          <a:prstGeom prst="roundRect">
            <a:avLst>
              <a:gd name="adj" fmla="val 7273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75564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 · Método · PRINCE2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2140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Manda siempre: etapas, decisiones y quién decide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779776"/>
            <a:ext cx="6583680" cy="1005840"/>
          </a:xfrm>
          <a:prstGeom prst="roundRect">
            <a:avLst>
              <a:gd name="adj" fmla="val 7273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88950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 · Técnicas · PMBOK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25526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 caja de herramientas: estimar, medir el avance, analizar riesgos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05840" y="3913632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5B8DB8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34440" y="402336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 · Plantillas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389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 forma de cada documento: campos y listas de verificación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280160" y="5047488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08760" y="5157216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4 · Producto · BMAD (opcional)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552297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La especificación del software: se lee, nunca se edita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589520" y="1298448"/>
            <a:ext cx="4142232" cy="4901184"/>
          </a:xfrm>
          <a:prstGeom prst="roundRect">
            <a:avLst>
              <a:gd name="adj" fmla="val 1766"/>
            </a:avLst>
          </a:prstGeom>
          <a:solidFill>
            <a:srgbClr val="F4F6F8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90688" y="14447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¿Qué significan las siglas?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90688" y="1847088"/>
            <a:ext cx="373989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PMI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Project Management Institute: asociación profesional internacional de gestión de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PMBOK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guía del PMI con técnicas de gestión: estimar, medir el avance, analizar riesgos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PRINCE2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de gestión por etapas: cada etapa termina en una decisión de un comité (la «junta»)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PMO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oficina de gestión de proyectos: el área que fija estándares y supervisa los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BMAD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abierto para especificar productos de software con agentes de IA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Agente de IA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IA que no solo responde: ejecuta pasos (lee archivos, corre programas) dentro de límites que fija una persona; «agéntico» es el sistema que usa agentes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5870448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PRINCE2® y PMBOK® son marcas de sus titulares.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Quién hace qué: un coordinador conversa, ayudantes por etapa preparan y solo un rol registra decisiones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81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Persona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288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Gestor, directivo o equipo: pide, revisa y decide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13716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Coordinador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18288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8F3"/>
                </a:solidFill>
              </a:rPr>
              <a:t>Conversa con la persona, lee el estado, pregunta y reparte el trabajo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412480" y="1371600"/>
            <a:ext cx="331927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95360" y="148132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Registrador de decisiones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828800"/>
            <a:ext cx="2953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2E6"/>
                </a:solidFill>
              </a:rPr>
              <a:t>El único que anota aprobaciones, siempre después de la respuesta de una persona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520440" y="1965960"/>
            <a:ext cx="594360" cy="0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headEnd type="triangl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1965960"/>
            <a:ext cx="594360" cy="0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587752"/>
            <a:ext cx="0" cy="448056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011680" y="3063240"/>
            <a:ext cx="8165592" cy="1371600"/>
          </a:xfrm>
          <a:prstGeom prst="roundRect">
            <a:avLst>
              <a:gd name="adj" fmla="val 5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40280" y="3172968"/>
            <a:ext cx="7708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Ayudantes por etapa (preparan, no deciden)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240280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40280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Inicio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13098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13098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Planificación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85916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85916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Control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158734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58734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Cierre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595360" y="4462272"/>
            <a:ext cx="0" cy="356616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10972800" y="2587752"/>
            <a:ext cx="0" cy="2231136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457200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640080" y="49560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Guardián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3035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Bloquea la edición a mano del estado y de los registros, también desde la consola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45352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49560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Archivos de texto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28232" y="53035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Estado, registros y documentos: la fuente de verdad, versionable y legible sin el sistema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etapa termina en una puerta: el proyecto avanza solo cuando una persona lo aprueba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417320"/>
            <a:ext cx="2269998" cy="914400"/>
          </a:xfrm>
          <a:prstGeom prst="homePlate">
            <a:avLst/>
          </a:prstGeom>
          <a:solidFill>
            <a:srgbClr val="2B6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17670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Arranque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¿vale la pena empezar?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846070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1398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inicio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5838" y="1417320"/>
            <a:ext cx="2269998" cy="914400"/>
          </a:xfrm>
          <a:prstGeom prst="chevron">
            <a:avLst/>
          </a:prstGeom>
          <a:solidFill>
            <a:srgbClr val="2B6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33038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Iniciación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plan, costos y riesgos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4708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60036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proyecto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94476" y="1417320"/>
            <a:ext cx="2269998" cy="91440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51676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Entrega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se repite por etapa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483346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78674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etapa siguiente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13114" y="1417320"/>
            <a:ext cx="2269998" cy="914400"/>
          </a:xfrm>
          <a:prstGeom prst="chevron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70314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Cierre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aceptación y lecciones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1301984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811512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cierre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29260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300" dirty="0">
                <a:solidFill>
                  <a:srgbClr val="696969"/>
                </a:solidFill>
              </a:rPr>
              <a:t>puerta: decide una persona con autoridad (la «junta»)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324D"/>
                </a:solidFill>
              </a:rPr>
              <a:t>ANTES DE CADA PUERTA, TRES COMPROBACIONES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Salud de los datos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Nada contradictorio ni faltante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67228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3378708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43300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4330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037076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Controles del método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3561588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Lo que el método exige para pasar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88736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300216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464808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6480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958584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Preguntas de juicio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483096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Las confirma una persona, nunca la IA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10244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221724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404604" y="3803904"/>
            <a:ext cx="2144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Decisión registrada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404604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Quién decidió, cuándo y con qué condiciones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57200" y="52120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Si el pronóstico se sale de lo tolerado, el sistema lo escala a quien decide (gestión por excepción).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Controles permanentes: lo que hoy se revisa a mano, tarde o nunca, se revisa solo en cada sesión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0624" y="1335024"/>
            <a:ext cx="7022592" cy="39822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5" name="Image 0" descr="g2-impacto-c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949440" cy="39090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40867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96969"/>
                </a:solidFill>
              </a:rPr>
              <a:t>Caso de práctica: un cambio supera los cinco límites del análisis y el sistema lo deriva a quien decide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726680" y="12984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PREGUNTAS QUE EL SISTEMA RESPONDE SOLO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726680" y="1627632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91272" y="1944243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19442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719072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¿Cuánto queda del presupuesto para cambios?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726680" y="2791206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891272" y="3107817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91272" y="310781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882646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¿Quién tiene autoridad para aprobar este cambio?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726680" y="3954780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91272" y="4271391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91272" y="42713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458200" y="4046220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¿Qué riesgos tienen la revisión vencida?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726680" y="5118354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91272" y="5434965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91272" y="543496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58200" y="5209794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¿A quién no contactamos con la frecuencia prometida?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Al retomar el trabajo, el sistema dice qué hay que decidir, escalar, desbloquear y vigilar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0624" y="1335024"/>
            <a:ext cx="7022592" cy="39822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5" name="Image 0" descr="g3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949440" cy="39090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40867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96969"/>
                </a:solidFill>
              </a:rPr>
              <a:t>Caso de práctica: el «radar» al abrir la sesión, con cada ítem, su responsable y el siguiente paso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726680" y="12984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IA AGÉNTICA CON CONTROL HUMANO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726680" y="1627632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91272" y="1944243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19442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719072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El resumen sale de los registros, no de la memoria del modelo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726680" y="2791206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891272" y="3107817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91272" y="310781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882646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De una reunión propone decisiones y compromisos con cita textual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726680" y="3954780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91272" y="4271391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91272" y="42713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458200" y="4046220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Registra solo lo que una persona confirma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726680" y="5118354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91272" y="5434965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91272" y="543496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58200" y="5209794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Una instrucción escondida en una transcripción nunca se ejecuta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Ventajas: decisiones trazables, datos que cuadran y menos trabajo administrativo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8132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Quien gestiona proyectos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01168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Planes, registros e informes preparados con método; menos tiempo armando documentos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0488" y="129844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91656" y="148132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13448" y="148132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Quien dirige o patrocina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13448" y="201168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Decisiones claras, con opciones y avisos a tiempo cuando algo se sale de lo previsto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7200" y="303580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21868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Equipo técnico o de producto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74904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El plan sigue a los requisitos sin copiarlos; los cambios quedan a la vista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90488" y="303580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91656" y="3218688"/>
            <a:ext cx="457200" cy="45720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91656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13448" y="321868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La organización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13448" y="374904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Un estándar repetible y auditable: cada decisión, con su fuente y su registro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57200" y="4828032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8280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Calidad verificada (2026-10-27): 355 pruebas automáticas sin fallos y 5 recorridos completos reproducibles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57200" y="5596128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5961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Abierto: licencia MIT; los datos son archivos de texto que se leen sin pm-method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Qué falta y cómo seguir: un piloto real, con usuarios y herramientas reales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114800"/>
          </a:xfrm>
          <a:prstGeom prst="roundRect">
            <a:avLst>
              <a:gd name="adj" fmla="val 1778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14630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324D"/>
                </a:solidFill>
              </a:rPr>
              <a:t>LÍMITES CONOCIDOS, CON HONESTIDAD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847088"/>
            <a:ext cx="513892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Falta un piloto real con usuarios no técnicos durante varias semanas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Los conectores con herramientas externas están documentados, pero no se probaron en vivo con servicios reales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El asistente puede interpretar distinto una frase: los comandos fijos son la vía segura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No reemplaza el criterio profesional: las decisiones son siempre de una persona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90488" y="1298448"/>
            <a:ext cx="5541264" cy="4114800"/>
          </a:xfrm>
          <a:prstGeom prst="roundRect">
            <a:avLst>
              <a:gd name="adj" fmla="val 1778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91656" y="14630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MATERIAL LISTO PARA APRENDER: CINCO CASOS DE PRÁCTICA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91656" y="19019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91656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958584" y="18653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Anticipar lo que puede salir mal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958584" y="21579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riesgos · caso E2E-1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91656" y="25877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91656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958584" y="25511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Cambiar el plan sin perder el control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958584" y="28437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alcance y cambios · caso E2E-2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91656" y="32735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91656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58584" y="32369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Informar a cada persona lo que necesita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958584" y="35295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interesados y avance · caso E2E-3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91656" y="39593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1656" y="3959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58584" y="39227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Construir un producto de software con control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958584" y="42153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producto con IA · caso E2E-4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391656" y="46451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91656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958584" y="46085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Decidir si una idea vale la pena antes de invertir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958584" y="49011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de la idea al proyecto · caso E2E-5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" y="55595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5559552"/>
            <a:ext cx="10881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Siguiente paso para IEEE: un piloto de formación de 4 a 6 sesiones (detalle en la presentación de resumen)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-method IEEE light">
  <a:themeElements>
    <a:clrScheme name="pm-method IEEE light">
      <a:dk1>
        <a:srgbClr val="272425"/>
      </a:dk1>
      <a:lt1>
        <a:srgbClr val="FFFFFF"/>
      </a:lt1>
      <a:dk2>
        <a:srgbClr val="17324D"/>
      </a:dk2>
      <a:lt2>
        <a:srgbClr val="F4F6F8"/>
      </a:lt2>
      <a:accent1>
        <a:srgbClr val="2B6A9A"/>
      </a:accent1>
      <a:accent2>
        <a:srgbClr val="B5651D"/>
      </a:accent2>
      <a:accent3>
        <a:srgbClr val="17324D"/>
      </a:accent3>
      <a:accent4>
        <a:srgbClr val="696969"/>
      </a:accent4>
      <a:accent5>
        <a:srgbClr val="2A78D6"/>
      </a:accent5>
      <a:accent6>
        <a:srgbClr val="EB6834"/>
      </a:accent6>
      <a:hlink>
        <a:srgbClr val="2B6A9A"/>
      </a:hlink>
      <a:folHlink>
        <a:srgbClr val="17324D"/>
      </a:folHlink>
    </a:clrScheme>
    <a:fontScheme name="pm-method IEEE l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Informe 2 light para IEEE</dc:title>
  <dc:subject>Resumen light del Informe 2 de pm-method para miembros de IEEE: qué resuelve, cómo está organizado, cómo controla y qué ventajas tiene, sin jerga.</dc:subject>
  <dc:creator>pm-method</dc:creator>
  <cp:lastModifiedBy>pm-method</cp:lastModifiedBy>
  <cp:revision>1</cp:revision>
  <dcterms:created xsi:type="dcterms:W3CDTF">2026-10-27T22:56:38Z</dcterms:created>
  <dcterms:modified xsi:type="dcterms:W3CDTF">2026-10-27T22:56:38Z</dcterms:modified>
</cp:coreProperties>
</file>