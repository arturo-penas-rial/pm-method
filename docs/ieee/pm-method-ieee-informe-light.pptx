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Informe 2 es la documentación completa de pm-method: qué es, cómo está construido, cómo se instala, cómo se asegura y cómo se prueba. Esta versión light toma solo lo más relevante y lo cuenta sin jerga de gestión de proyectos. Las siglas se explican en un recuadro en la tercera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cuatro problemas aparecen apenas se usa IA para gestionar un proyecto real. Cada tarjeta muestra el problema arriba y la respuesta del sistema abajo. La idea que atraviesa todo: la IA ayuda a preparar, pero el control y la decisión no se delegan.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jerarquía es fija: el método decide qué se hace y cuándo; las técnicas solo aportan el cómo; las plantillas dan forma a los documentos; y la especificación del producto, si existe, se lee pero no se toca. Esa separación evita contradicciones: cada dato tiene un solo dueño. El recuadro traduce las siglas.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coordinador es el único que conversa con la persona; los ayudantes trabajan aparte, cada uno en su etapa, y devuelven resultados. Ninguno de ellos puede aprobar nada: solo el registrador anota decisiones, y únicamente después de que una persona respondió con nombre y rol. El guardián impide atajos, incluso si alguien intenta editar los archivos 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puerta es un punto de decisión: el proyecto no pasa a la etapa siguiente hasta que la persona con autoridad lo aprueba. Antes de presentarla, el sistema hace tres comprobaciones y muestra qué bloquea, qué queda como condición y qué es solo un aviso. La decisión queda anotada con nombre, fecha y condiciones.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Muchos controles de un proyecto dependen de que alguien se acuerde de hacerlos. Aquí se revisan en cada sesión y antes de cada puerta. En el gráfico, un cambio de alcance supera todos sus límites, así que el sistema no deja que lo apruebe quien no tiene autoridad y lo deriva a quien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vez que se abre una sesión, el sistema arma un resumen del proyecto a partir de los datos guardados y una línea con lo urgente. Esto es seguridad aplicada a la IA agéntica: el modelo propone, cita la fuente y espera confirmación. Si un texto de entrada trae instrucciones escondidas, se tratan como datos y no se ejecutan.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Elegir entre alternativas es donde más se improvisa: se decide con lo que uno recuerda y después nadie encuentra en qué se basó. El sistema arma primero un expediente con la evidencia, compara las opciones con criterios explícitos y deja que decida quien tiene la autoridad. Un componente opcional indexa los documentos del proyecto y responde preguntas citando la fuente; nunca escribe en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ventajas cambian según el rol, pero tienen un denominador común: lo que se decide queda registrado y los números cuadran entre el informe, el tablero y el correo. La línea de calidad resume la evidencia del informe completo. Al ser abierto, nada queda atado al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informe completo es explícito sobre lo que falta: un piloto real con personas no técnicas y pruebas con servicios externos reales. Lo que sí está listo es el material para aprender: cinco casos de práctica con guía, ejercicio y diapositivas. El siguiente paso propuesto es un piloto de formación corto con IEEE.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28800" cy="7315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9FD0F0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FD0F0"/>
                </a:solidFill>
              </a:rPr>
              <a:t>Logo IEEE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77272" y="365760"/>
            <a:ext cx="1554480" cy="71323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696969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177272" y="3657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96969"/>
                </a:solidFill>
              </a:rPr>
              <a:t>Logo IEEE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9555480" cy="713232"/>
          </a:xfrm>
          <a:prstGeom prst="rect">
            <a:avLst>
              <a:gd name="adj" fmla="val 12821"/>
            </a:avLst>
          </a:prstGeom>
          <a:solidFill>
            <a:srgbClr val="2B6A9A"/>
          </a:solidFill>
          <a:ln/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5720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96969"/>
                </a:solidFill>
              </a:rPr>
              <a:t>pm-method 2.6.0 · Informe 2 en versión light para IEEE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D0F0"/>
                </a:solidFill>
              </a:rPr>
              <a:t>Informe 2 en versión light · para miembros de IEEE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11064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pm-method ordena la gestión de proyectos asistida por IA: método claro, decisiones humanas y datos verificados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84448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Los aspectos más relevantes del Informe 2, la documentación completa del ecosistema, contados sin jerga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4434840"/>
            <a:ext cx="3575304" cy="1371600"/>
          </a:xfrm>
          <a:prstGeom prst="roundRect">
            <a:avLst>
              <a:gd name="adj" fmla="val 5333"/>
            </a:avLst>
          </a:prstGeom>
          <a:solidFill>
            <a:srgbClr val="22476E"/>
          </a:solidFill>
          <a:ln w="9525">
            <a:solidFill>
              <a:srgbClr val="2247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4544568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Qué resuelve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4901184"/>
            <a:ext cx="3172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D0F0"/>
                </a:solidFill>
              </a:rPr>
              <a:t>Documentos de gestión sueltos, sin etapas, sin control y sin registro de quién decidió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06824" y="4434840"/>
            <a:ext cx="3575304" cy="1371600"/>
          </a:xfrm>
          <a:prstGeom prst="roundRect">
            <a:avLst>
              <a:gd name="adj" fmla="val 5333"/>
            </a:avLst>
          </a:prstGeom>
          <a:solidFill>
            <a:srgbClr val="22476E"/>
          </a:solidFill>
          <a:ln w="9525">
            <a:solidFill>
              <a:srgbClr val="2247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07992" y="4544568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Cómo lo hace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07992" y="4901184"/>
            <a:ext cx="3172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D0F0"/>
                </a:solidFill>
              </a:rPr>
              <a:t>Un método por etapas, ayudantes de IA con límites y controles que corren solos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65008" y="4434840"/>
            <a:ext cx="3575304" cy="1371600"/>
          </a:xfrm>
          <a:prstGeom prst="roundRect">
            <a:avLst>
              <a:gd name="adj" fmla="val 5333"/>
            </a:avLst>
          </a:prstGeom>
          <a:solidFill>
            <a:srgbClr val="22476E"/>
          </a:solidFill>
          <a:ln w="9525">
            <a:solidFill>
              <a:srgbClr val="2247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66176" y="4544568"/>
            <a:ext cx="3172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Qué gana el equipo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66176" y="4901184"/>
            <a:ext cx="31729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FD0F0"/>
                </a:solidFill>
              </a:rPr>
              <a:t>Decisiones trazables, datos que cuadran y menos trabajo administrativo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D0F0"/>
                </a:solidFill>
              </a:rPr>
              <a:t>pm-method 2.6.0 · resumen del Informe 2 (documentación del ecosistema)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El problema: la IA produce documentos de gestión, pero sin método, sin control y sin registro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57200" y="1298448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463040"/>
            <a:ext cx="438912" cy="438912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96969"/>
                </a:solidFill>
              </a:rPr>
              <a:t>PROBLEMA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737360"/>
            <a:ext cx="4581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2425"/>
                </a:solidFill>
              </a:rPr>
              <a:t>Documentos sueltos, sin etapas: nadie sabe qué está aprobado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542032"/>
            <a:ext cx="5175504" cy="905256"/>
          </a:xfrm>
          <a:prstGeom prst="roundRect">
            <a:avLst>
              <a:gd name="adj" fmla="val 8081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2615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A9A"/>
                </a:solidFill>
              </a:rPr>
              <a:t>→ RESPUESTA DE PM-METHOD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889504"/>
            <a:ext cx="4846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Un ciclo de vida por etapas; cada etapa termina en una decisión registrada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90488" y="1298448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73368" y="1463040"/>
            <a:ext cx="438912" cy="438912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73368" y="14630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967728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96969"/>
                </a:solidFill>
              </a:rPr>
              <a:t>PROBLEMA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967728" y="1737360"/>
            <a:ext cx="4581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2425"/>
                </a:solidFill>
              </a:rPr>
              <a:t>La IA «aprueba» lo que le corresponde a una persona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73368" y="2542032"/>
            <a:ext cx="5175504" cy="905256"/>
          </a:xfrm>
          <a:prstGeom prst="roundRect">
            <a:avLst>
              <a:gd name="adj" fmla="val 8081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37960" y="2615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A9A"/>
                </a:solidFill>
              </a:rPr>
              <a:t>→ RESPUESTA DE PM-METHOD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2889504"/>
            <a:ext cx="4846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Solo un rol registra decisiones, y solo después de la respuesta explícita de una persona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" y="3813048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977640"/>
            <a:ext cx="438912" cy="438912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3995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96969"/>
                </a:solidFill>
              </a:rPr>
              <a:t>PROBLEMA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1234440" y="4251960"/>
            <a:ext cx="4581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2425"/>
                </a:solidFill>
              </a:rPr>
              <a:t>Requisitos y plan en mundos separados, que se desincronizan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0080" y="5056632"/>
            <a:ext cx="5175504" cy="905256"/>
          </a:xfrm>
          <a:prstGeom prst="roundRect">
            <a:avLst>
              <a:gd name="adj" fmla="val 8081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04672" y="51297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A9A"/>
                </a:solidFill>
              </a:rPr>
              <a:t>→ RESPUESTA DE PM-METHOD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04672" y="5404104"/>
            <a:ext cx="4846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Una sola fuente por dato: los requisitos se leen, no se copian, y los cambios se detectan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6190488" y="3813048"/>
            <a:ext cx="5541264" cy="2331720"/>
          </a:xfrm>
          <a:prstGeom prst="roundRect">
            <a:avLst>
              <a:gd name="adj" fmla="val 3137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73368" y="3977640"/>
            <a:ext cx="438912" cy="438912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373368" y="3977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6967728" y="39959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96969"/>
                </a:solidFill>
              </a:rPr>
              <a:t>PROBLEMA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6967728" y="4251960"/>
            <a:ext cx="45811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2425"/>
                </a:solidFill>
              </a:rPr>
              <a:t>Datos editados a mano: informes que no cuadran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373368" y="5056632"/>
            <a:ext cx="5175504" cy="905256"/>
          </a:xfrm>
          <a:prstGeom prst="roundRect">
            <a:avLst>
              <a:gd name="adj" fmla="val 8081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37960" y="51297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A9A"/>
                </a:solidFill>
              </a:rPr>
              <a:t>→ RESPUESTA DE PM-METHOD</a:t>
            </a:r>
            <a:endParaRPr lang="en-US" sz="11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5404104"/>
            <a:ext cx="4846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El estado y los registros solo cambian por programas que validan; un guardián bloquea el resto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La base: un método manda, las técnicas ayudan y la especificación del producto no se copia</a:t>
            </a:r>
            <a:endParaRPr lang="en-US" sz="1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984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5651D"/>
                </a:solidFill>
              </a:rPr>
              <a:t>CUATRO CAPAS, EN ORDEN DE AUTORIDAD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6858000" cy="1005840"/>
          </a:xfrm>
          <a:prstGeom prst="roundRect">
            <a:avLst>
              <a:gd name="adj" fmla="val 7273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75564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 · Método · PRINCE2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214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Manda siempre: etapas, decisiones y quién decide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2779776"/>
            <a:ext cx="6583680" cy="1005840"/>
          </a:xfrm>
          <a:prstGeom prst="roundRect">
            <a:avLst>
              <a:gd name="adj" fmla="val 7273"/>
            </a:avLst>
          </a:prstGeom>
          <a:solidFill>
            <a:srgbClr val="2B6A9A"/>
          </a:solidFill>
          <a:ln w="9525">
            <a:solidFill>
              <a:srgbClr val="2B6A9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88950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 · Técnicas · PMBOK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255264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La caja de herramientas: estimar, medir el avance, analizar riesgos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05840" y="3913632"/>
            <a:ext cx="6309360" cy="1005840"/>
          </a:xfrm>
          <a:prstGeom prst="roundRect">
            <a:avLst>
              <a:gd name="adj" fmla="val 7273"/>
            </a:avLst>
          </a:prstGeom>
          <a:solidFill>
            <a:srgbClr val="5B8DB8"/>
          </a:solidFill>
          <a:ln w="9525">
            <a:solidFill>
              <a:srgbClr val="5B8D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234440" y="402336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 · Plantillas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4389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La forma de cada documento: campos y listas de verificación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280160" y="5047488"/>
            <a:ext cx="6035040" cy="1005840"/>
          </a:xfrm>
          <a:prstGeom prst="roundRect">
            <a:avLst>
              <a:gd name="adj" fmla="val 7273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508760" y="5157216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4 · Producto · BMAD (opcional)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552297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La especificación del software: se lee, nunca se edita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89520" y="1298448"/>
            <a:ext cx="4142232" cy="4901184"/>
          </a:xfrm>
          <a:prstGeom prst="roundRect">
            <a:avLst>
              <a:gd name="adj" fmla="val 1766"/>
            </a:avLst>
          </a:prstGeom>
          <a:solidFill>
            <a:srgbClr val="F4F6F8"/>
          </a:solidFill>
          <a:ln w="9525">
            <a:solidFill>
              <a:srgbClr val="D5DC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90688" y="1444752"/>
            <a:ext cx="3776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¿Qué significan las siglas?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790688" y="1847088"/>
            <a:ext cx="3739896" cy="403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7324D"/>
                </a:solidFill>
              </a:rPr>
              <a:t>PMI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72425"/>
                </a:solidFill>
              </a:rPr>
              <a:t>Project Management Institute: asociación profesional internacional de gestión de proyectos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7324D"/>
                </a:solidFill>
              </a:rPr>
              <a:t>PMBOK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72425"/>
                </a:solidFill>
              </a:rPr>
              <a:t>guía del PMI con técnicas de gestión: estimar, medir el avance, analizar riesgos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7324D"/>
                </a:solidFill>
              </a:rPr>
              <a:t>PRINCE2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72425"/>
                </a:solidFill>
              </a:rPr>
              <a:t>método de gestión por etapas: cada etapa termina en una decisión de un comité (la «junta»)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7324D"/>
                </a:solidFill>
              </a:rPr>
              <a:t>PMO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72425"/>
                </a:solidFill>
              </a:rPr>
              <a:t>oficina de gestión de proyectos: el área que fija estándares y supervisa los proyectos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7324D"/>
                </a:solidFill>
              </a:rPr>
              <a:t>BMAD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72425"/>
                </a:solidFill>
              </a:rPr>
              <a:t>método abierto para especificar productos de software con agentes de IA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7324D"/>
                </a:solidFill>
              </a:rPr>
              <a:t>Agente de IA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272425"/>
                </a:solidFill>
              </a:rPr>
              <a:t>IA que no solo responde: ejecuta pasos (lee archivos, corre programas) dentro de límites que fija una persona; «agéntico» es el sistema que usa agentes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7790688" y="5870448"/>
            <a:ext cx="3739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96969"/>
                </a:solidFill>
              </a:rPr>
              <a:t>PRINCE2® y PMBOK® son marcas de sus titulares.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Quién hace qué: un coordinador conversa, ayudantes por etapa preparan y solo un rol registra decisiones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3017520" cy="1188720"/>
          </a:xfrm>
          <a:prstGeom prst="roundRect">
            <a:avLst>
              <a:gd name="adj" fmla="val 6154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813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</a:rPr>
              <a:t>Persona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2880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Gestor, directivo o equipo: pide, revisa y decide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60520" y="1371600"/>
            <a:ext cx="3566160" cy="1188720"/>
          </a:xfrm>
          <a:prstGeom prst="roundRect">
            <a:avLst>
              <a:gd name="adj" fmla="val 6154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343400" y="14813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Coordinador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343400" y="18288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CE8F3"/>
                </a:solidFill>
              </a:rPr>
              <a:t>Conversa con la persona, lee el estado, pregunta y reparte el trabajo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412480" y="1371600"/>
            <a:ext cx="3319272" cy="1188720"/>
          </a:xfrm>
          <a:prstGeom prst="roundRect">
            <a:avLst>
              <a:gd name="adj" fmla="val 6154"/>
            </a:avLst>
          </a:prstGeom>
          <a:solidFill>
            <a:srgbClr val="B5651D"/>
          </a:solidFill>
          <a:ln w="9525">
            <a:solidFill>
              <a:srgbClr val="B5651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95360" y="1481328"/>
            <a:ext cx="2953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Registrador de decisiones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595360" y="1828800"/>
            <a:ext cx="2953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2E6"/>
                </a:solidFill>
              </a:rPr>
              <a:t>El único que anota aprobaciones, siempre después de la respuesta de una persona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520440" y="1965960"/>
            <a:ext cx="594360" cy="0"/>
          </a:xfrm>
          <a:prstGeom prst="line">
            <a:avLst/>
          </a:prstGeom>
          <a:noFill/>
          <a:ln w="25400">
            <a:solidFill>
              <a:srgbClr val="B5651D"/>
            </a:solidFill>
            <a:prstDash val="solid"/>
            <a:headEnd type="triangl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772400" y="1965960"/>
            <a:ext cx="594360" cy="0"/>
          </a:xfrm>
          <a:prstGeom prst="line">
            <a:avLst/>
          </a:prstGeom>
          <a:noFill/>
          <a:ln w="25400">
            <a:solidFill>
              <a:srgbClr val="B5651D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943600" y="2587752"/>
            <a:ext cx="0" cy="448056"/>
          </a:xfrm>
          <a:prstGeom prst="line">
            <a:avLst/>
          </a:prstGeom>
          <a:noFill/>
          <a:ln w="25400">
            <a:solidFill>
              <a:srgbClr val="696969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2011680" y="3063240"/>
            <a:ext cx="8165592" cy="1371600"/>
          </a:xfrm>
          <a:prstGeom prst="roundRect">
            <a:avLst>
              <a:gd name="adj" fmla="val 5333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40280" y="3172968"/>
            <a:ext cx="7708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Ayudantes por etapa (preparan, no deciden)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2240280" y="3611880"/>
            <a:ext cx="1789938" cy="621792"/>
          </a:xfrm>
          <a:prstGeom prst="roundRect">
            <a:avLst>
              <a:gd name="adj" fmla="val 11765"/>
            </a:avLst>
          </a:prstGeom>
          <a:solidFill>
            <a:srgbClr val="2B6A9A"/>
          </a:solidFill>
          <a:ln w="9525">
            <a:solidFill>
              <a:srgbClr val="2B6A9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40280" y="3611880"/>
            <a:ext cx="178993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Inicio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13098" y="3611880"/>
            <a:ext cx="1789938" cy="621792"/>
          </a:xfrm>
          <a:prstGeom prst="roundRect">
            <a:avLst>
              <a:gd name="adj" fmla="val 11765"/>
            </a:avLst>
          </a:prstGeom>
          <a:solidFill>
            <a:srgbClr val="2B6A9A"/>
          </a:solidFill>
          <a:ln w="9525">
            <a:solidFill>
              <a:srgbClr val="2B6A9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213098" y="3611880"/>
            <a:ext cx="178993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Planificación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6185916" y="3611880"/>
            <a:ext cx="1789938" cy="621792"/>
          </a:xfrm>
          <a:prstGeom prst="roundRect">
            <a:avLst>
              <a:gd name="adj" fmla="val 11765"/>
            </a:avLst>
          </a:prstGeom>
          <a:solidFill>
            <a:srgbClr val="2B6A9A"/>
          </a:solidFill>
          <a:ln w="9525">
            <a:solidFill>
              <a:srgbClr val="2B6A9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85916" y="3611880"/>
            <a:ext cx="178993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Control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158734" y="3611880"/>
            <a:ext cx="1789938" cy="621792"/>
          </a:xfrm>
          <a:prstGeom prst="roundRect">
            <a:avLst>
              <a:gd name="adj" fmla="val 11765"/>
            </a:avLst>
          </a:prstGeom>
          <a:solidFill>
            <a:srgbClr val="2B6A9A"/>
          </a:solidFill>
          <a:ln w="9525">
            <a:solidFill>
              <a:srgbClr val="2B6A9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158734" y="3611880"/>
            <a:ext cx="178993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Cierre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595360" y="4462272"/>
            <a:ext cx="0" cy="356616"/>
          </a:xfrm>
          <a:prstGeom prst="line">
            <a:avLst/>
          </a:prstGeom>
          <a:noFill/>
          <a:ln w="25400">
            <a:solidFill>
              <a:srgbClr val="696969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10972800" y="2587752"/>
            <a:ext cx="0" cy="2231136"/>
          </a:xfrm>
          <a:prstGeom prst="line">
            <a:avLst/>
          </a:prstGeom>
          <a:noFill/>
          <a:ln w="25400">
            <a:solidFill>
              <a:srgbClr val="B5651D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457200" y="48463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12700">
            <a:solidFill>
              <a:srgbClr val="696969"/>
            </a:solidFill>
            <a:prstDash val="dash"/>
          </a:ln>
        </p:spPr>
      </p:sp>
      <p:sp>
        <p:nvSpPr>
          <p:cNvPr id="29" name="Text 26"/>
          <p:cNvSpPr txBox="1"/>
          <p:nvPr/>
        </p:nvSpPr>
        <p:spPr>
          <a:xfrm>
            <a:off x="640080" y="49560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Guardián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30352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Bloquea la edición a mano del estado y de los registros, también desde la consola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6245352" y="48463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28232" y="49560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Archivos de texto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428232" y="530352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Estado, registros y documentos: la fuente de verdad, versionable y legible sin el sistema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Cada etapa termina en una puerta: el proyecto avanza solo cuando una persona lo aprueba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57200" y="1417320"/>
            <a:ext cx="2269998" cy="914400"/>
          </a:xfrm>
          <a:prstGeom prst="homePlate">
            <a:avLst/>
          </a:prstGeom>
          <a:solidFill>
            <a:srgbClr val="2B6A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17670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Arranque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¿vale la pena empezar?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846070" y="1719072"/>
            <a:ext cx="310896" cy="310896"/>
          </a:xfrm>
          <a:prstGeom prst="diamond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041398" y="2404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651D"/>
                </a:solidFill>
              </a:rPr>
              <a:t>autorizar inicio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5838" y="1417320"/>
            <a:ext cx="2269998" cy="914400"/>
          </a:xfrm>
          <a:prstGeom prst="chevron">
            <a:avLst/>
          </a:prstGeom>
          <a:solidFill>
            <a:srgbClr val="2B6A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33038" y="1417320"/>
            <a:ext cx="14927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Iniciación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plan, costos y riesgos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4708" y="1719072"/>
            <a:ext cx="310896" cy="310896"/>
          </a:xfrm>
          <a:prstGeom prst="diamond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60036" y="2404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651D"/>
                </a:solidFill>
              </a:rPr>
              <a:t>autorizar proyecto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94476" y="1417320"/>
            <a:ext cx="2269998" cy="914400"/>
          </a:xfrm>
          <a:prstGeom prst="chevron">
            <a:avLst/>
          </a:prstGeom>
          <a:solidFill>
            <a:srgbClr val="1732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551676" y="1417320"/>
            <a:ext cx="14927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Entrega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 repite por etapa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483346" y="1719072"/>
            <a:ext cx="310896" cy="310896"/>
          </a:xfrm>
          <a:prstGeom prst="diamond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78674" y="2404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651D"/>
                </a:solidFill>
              </a:rPr>
              <a:t>autorizar etapa siguiente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913114" y="1417320"/>
            <a:ext cx="2269998" cy="914400"/>
          </a:xfrm>
          <a:prstGeom prst="chevron">
            <a:avLst/>
          </a:prstGeom>
          <a:solidFill>
            <a:srgbClr val="5B8D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370314" y="1417320"/>
            <a:ext cx="14927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Cierre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aceptación y lecciones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1301984" y="1719072"/>
            <a:ext cx="310896" cy="310896"/>
          </a:xfrm>
          <a:prstGeom prst="diamond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811512" y="240487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5651D"/>
                </a:solidFill>
              </a:rPr>
              <a:t>autorizar cierre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29260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</a:rPr>
              <a:t>◆  </a:t>
            </a:r>
            <a:pPr indent="0" marL="0">
              <a:buNone/>
            </a:pPr>
            <a:r>
              <a:rPr lang="en-US" sz="1300" dirty="0">
                <a:solidFill>
                  <a:srgbClr val="696969"/>
                </a:solidFill>
              </a:rPr>
              <a:t>puerta: decide una persona con autoridad (la «junta»)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3467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324D"/>
                </a:solidFill>
              </a:rPr>
              <a:t>ANTES DE CADA PUERTA, TRES COMPROBACIONES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657600"/>
            <a:ext cx="2510028" cy="1325880"/>
          </a:xfrm>
          <a:prstGeom prst="roundRect">
            <a:avLst>
              <a:gd name="adj" fmla="val 551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21792" y="3803904"/>
            <a:ext cx="384048" cy="384048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1792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115568" y="3803904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Salud de los datos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4297680"/>
            <a:ext cx="21442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Nada contradictorio ni faltante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2967228" y="3657600"/>
            <a:ext cx="411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651D"/>
                </a:solidFill>
              </a:rPr>
              <a:t>→</a:t>
            </a:r>
            <a:endParaRPr lang="en-US" sz="2200" dirty="0"/>
          </a:p>
        </p:txBody>
      </p:sp>
      <p:sp>
        <p:nvSpPr>
          <p:cNvPr id="28" name="Shape 25"/>
          <p:cNvSpPr/>
          <p:nvPr/>
        </p:nvSpPr>
        <p:spPr>
          <a:xfrm>
            <a:off x="3378708" y="3657600"/>
            <a:ext cx="2510028" cy="1325880"/>
          </a:xfrm>
          <a:prstGeom prst="roundRect">
            <a:avLst>
              <a:gd name="adj" fmla="val 551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43300" y="3803904"/>
            <a:ext cx="384048" cy="384048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54330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4037076" y="3803904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Controles del método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3561588" y="4297680"/>
            <a:ext cx="21442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Lo que el método exige para pasar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5888736" y="3657600"/>
            <a:ext cx="411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651D"/>
                </a:solidFill>
              </a:rPr>
              <a:t>→</a:t>
            </a:r>
            <a:endParaRPr lang="en-US" sz="2200" dirty="0"/>
          </a:p>
        </p:txBody>
      </p:sp>
      <p:sp>
        <p:nvSpPr>
          <p:cNvPr id="34" name="Shape 31"/>
          <p:cNvSpPr/>
          <p:nvPr/>
        </p:nvSpPr>
        <p:spPr>
          <a:xfrm>
            <a:off x="6300216" y="3657600"/>
            <a:ext cx="2510028" cy="1325880"/>
          </a:xfrm>
          <a:prstGeom prst="roundRect">
            <a:avLst>
              <a:gd name="adj" fmla="val 5517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64808" y="3803904"/>
            <a:ext cx="384048" cy="384048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64808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6958584" y="3803904"/>
            <a:ext cx="1687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Preguntas de juicio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6483096" y="4297680"/>
            <a:ext cx="21442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72425"/>
                </a:solidFill>
              </a:rPr>
              <a:t>Las confirma una persona, nunca la IA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8810244" y="3657600"/>
            <a:ext cx="411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651D"/>
                </a:solidFill>
              </a:rPr>
              <a:t>→</a:t>
            </a:r>
            <a:endParaRPr lang="en-US" sz="2200" dirty="0"/>
          </a:p>
        </p:txBody>
      </p:sp>
      <p:sp>
        <p:nvSpPr>
          <p:cNvPr id="40" name="Shape 37"/>
          <p:cNvSpPr/>
          <p:nvPr/>
        </p:nvSpPr>
        <p:spPr>
          <a:xfrm>
            <a:off x="9221724" y="3657600"/>
            <a:ext cx="2510028" cy="1325880"/>
          </a:xfrm>
          <a:prstGeom prst="roundRect">
            <a:avLst>
              <a:gd name="adj" fmla="val 5517"/>
            </a:avLst>
          </a:prstGeom>
          <a:solidFill>
            <a:srgbClr val="B5651D"/>
          </a:solidFill>
          <a:ln w="9525">
            <a:solidFill>
              <a:srgbClr val="B5651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404604" y="3803904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Decisión registrada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9404604" y="4297680"/>
            <a:ext cx="214426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Quién decidió, cuándo y con qué condiciones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57200" y="5212080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5800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</a:rPr>
              <a:t>Si el pronóstico se sale de lo tolerado, el sistema lo escala a quien decide (gestión por excepción).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Controles permanentes: lo que hoy se revisa a mano, tarde o nunca, se revisa solo en cada sesión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20624" y="1335024"/>
            <a:ext cx="7022592" cy="39822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</p:spPr>
      </p:sp>
      <p:pic>
        <p:nvPicPr>
          <p:cNvPr id="5" name="Image 0" descr="g2-impacto-c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39090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5408676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96969"/>
                </a:solidFill>
              </a:rPr>
              <a:t>Caso de práctica: un cambio supera los cinco límites del análisis y el sistema lo deriva a quien decide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7726680" y="129844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A9A"/>
                </a:solidFill>
              </a:rPr>
              <a:t>PREGUNTAS QUE EL SISTEMA RESPONDE SOLO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726680" y="1627632"/>
            <a:ext cx="4005072" cy="1035558"/>
          </a:xfrm>
          <a:prstGeom prst="roundRect">
            <a:avLst>
              <a:gd name="adj" fmla="val 7064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891272" y="1944243"/>
            <a:ext cx="402336" cy="402336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91272" y="19442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458200" y="1719072"/>
            <a:ext cx="3108960" cy="852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¿Cuánto queda del presupuesto para cambios?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726680" y="2791206"/>
            <a:ext cx="4005072" cy="1035558"/>
          </a:xfrm>
          <a:prstGeom prst="roundRect">
            <a:avLst>
              <a:gd name="adj" fmla="val 7064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891272" y="3107817"/>
            <a:ext cx="402336" cy="402336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91272" y="31078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458200" y="2882646"/>
            <a:ext cx="3108960" cy="852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¿Quién tiene autoridad para aprobar este cambio?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726680" y="3954780"/>
            <a:ext cx="4005072" cy="1035558"/>
          </a:xfrm>
          <a:prstGeom prst="roundRect">
            <a:avLst>
              <a:gd name="adj" fmla="val 7064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91272" y="4271391"/>
            <a:ext cx="402336" cy="402336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891272" y="42713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458200" y="4046220"/>
            <a:ext cx="3108960" cy="852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¿Qué riesgos tienen la revisión vencida?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726680" y="5118354"/>
            <a:ext cx="4005072" cy="1035558"/>
          </a:xfrm>
          <a:prstGeom prst="roundRect">
            <a:avLst>
              <a:gd name="adj" fmla="val 7064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891272" y="5434965"/>
            <a:ext cx="402336" cy="402336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891272" y="543496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458200" y="5209794"/>
            <a:ext cx="3108960" cy="852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¿A quién no contactamos con la frecuencia prometida?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Al retomar el trabajo, el sistema dice qué hay que decidir, escalar, desbloquear y vigilar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20624" y="1335024"/>
            <a:ext cx="7022592" cy="39822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</p:spPr>
      </p:sp>
      <p:pic>
        <p:nvPicPr>
          <p:cNvPr id="5" name="Image 0" descr="g3-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39090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5408676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96969"/>
                </a:solidFill>
              </a:rPr>
              <a:t>Caso de práctica: el «radar» al abrir la sesión, con cada ítem, su responsable y el siguiente paso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7726680" y="129844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A9A"/>
                </a:solidFill>
              </a:rPr>
              <a:t>IA AGÉNTICA CON CONTROL HUMANO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726680" y="1627632"/>
            <a:ext cx="4005072" cy="1035558"/>
          </a:xfrm>
          <a:prstGeom prst="roundRect">
            <a:avLst>
              <a:gd name="adj" fmla="val 7064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891272" y="1944243"/>
            <a:ext cx="402336" cy="402336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91272" y="19442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458200" y="1719072"/>
            <a:ext cx="3108960" cy="852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El resumen sale de los registros, no de la memoria del modelo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726680" y="2791206"/>
            <a:ext cx="4005072" cy="1035558"/>
          </a:xfrm>
          <a:prstGeom prst="roundRect">
            <a:avLst>
              <a:gd name="adj" fmla="val 7064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891272" y="3107817"/>
            <a:ext cx="402336" cy="402336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91272" y="31078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458200" y="2882646"/>
            <a:ext cx="3108960" cy="852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De una reunión propone decisiones y compromisos con cita textual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726680" y="3954780"/>
            <a:ext cx="4005072" cy="1035558"/>
          </a:xfrm>
          <a:prstGeom prst="roundRect">
            <a:avLst>
              <a:gd name="adj" fmla="val 7064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91272" y="4271391"/>
            <a:ext cx="402336" cy="402336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891272" y="42713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458200" y="4046220"/>
            <a:ext cx="3108960" cy="852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Registra solo lo que una persona confirma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726680" y="5118354"/>
            <a:ext cx="4005072" cy="1035558"/>
          </a:xfrm>
          <a:prstGeom prst="roundRect">
            <a:avLst>
              <a:gd name="adj" fmla="val 7064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891272" y="5434965"/>
            <a:ext cx="402336" cy="402336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891272" y="543496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458200" y="5209794"/>
            <a:ext cx="3108960" cy="852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Una instrucción escondida en una transcripción nunca se ejecuta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Decidir con la evidencia a la vista y encontrarla después con la fuente citada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20624" y="1335024"/>
            <a:ext cx="7022592" cy="39822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</p:spPr>
      </p:sp>
      <p:pic>
        <p:nvPicPr>
          <p:cNvPr id="5" name="Image 0" descr="g1-kb-busqu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6949440" cy="39090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5408676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96969"/>
                </a:solidFill>
              </a:rPr>
              <a:t>Caso de práctica: a la pregunta «¿por qué no se aprobó la compra de licencias de diseño?», el buscador trae primero el cambio rechazado, con el motivo y la cita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7726680" y="129844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A9A"/>
                </a:solidFill>
              </a:rPr>
              <a:t>DECIDIR Y BUSCAR CON EVIDENCIA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7726680" y="1627632"/>
            <a:ext cx="4005072" cy="1035558"/>
          </a:xfrm>
          <a:prstGeom prst="roundRect">
            <a:avLst>
              <a:gd name="adj" fmla="val 7064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7891272" y="1944243"/>
            <a:ext cx="402336" cy="402336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91272" y="1944243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458200" y="1719072"/>
            <a:ext cx="3108960" cy="852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Antes de elegir, el sistema reúne la evidencia que aplica, cada dato con su fuente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726680" y="2791206"/>
            <a:ext cx="4005072" cy="1035558"/>
          </a:xfrm>
          <a:prstGeom prst="roundRect">
            <a:avLst>
              <a:gd name="adj" fmla="val 7064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891272" y="3107817"/>
            <a:ext cx="402336" cy="402336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91272" y="31078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458200" y="2882646"/>
            <a:ext cx="3108960" cy="852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Compara las opciones con criterios y pesos explícitos, y muestra qué peso cambiaría la elección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726680" y="3954780"/>
            <a:ext cx="4005072" cy="1035558"/>
          </a:xfrm>
          <a:prstGeom prst="roundRect">
            <a:avLst>
              <a:gd name="adj" fmla="val 7064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91272" y="4271391"/>
            <a:ext cx="402336" cy="402336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891272" y="4271391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458200" y="4046220"/>
            <a:ext cx="3108960" cy="852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Decide la persona con la autoridad que corresponde; queda a la vista qué decisión sigue vigente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726680" y="5118354"/>
            <a:ext cx="4005072" cy="1035558"/>
          </a:xfrm>
          <a:prstGeom prst="roundRect">
            <a:avLst>
              <a:gd name="adj" fmla="val 7064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891272" y="5434965"/>
            <a:ext cx="402336" cy="402336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891272" y="543496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458200" y="5209794"/>
            <a:ext cx="3108960" cy="852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7324D"/>
                </a:solidFill>
              </a:rPr>
              <a:t>Buscador opcional: preguntas en español o inglés sobre todo el proyecto, con la cita de cada respuesta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Ventajas: decisiones trazables, datos que cuadran y menos trabajo administrativo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57200" y="1298448"/>
            <a:ext cx="5541264" cy="1572768"/>
          </a:xfrm>
          <a:prstGeom prst="roundRect">
            <a:avLst>
              <a:gd name="adj" fmla="val 4651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1481328"/>
            <a:ext cx="457200" cy="45720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48132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Quien gestiona proyectos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011680"/>
            <a:ext cx="4535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2425"/>
                </a:solidFill>
              </a:rPr>
              <a:t>Planes, registros e informes preparados con método; menos tiempo armando documentos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90488" y="1298448"/>
            <a:ext cx="5541264" cy="1572768"/>
          </a:xfrm>
          <a:prstGeom prst="roundRect">
            <a:avLst>
              <a:gd name="adj" fmla="val 4651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91656" y="1481328"/>
            <a:ext cx="457200" cy="45720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91656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13448" y="148132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Quien dirige o patrocina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013448" y="2011680"/>
            <a:ext cx="4535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2425"/>
                </a:solidFill>
              </a:rPr>
              <a:t>Decisiones claras, con opciones y avisos a tiempo cuando algo se sale de lo previsto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3035808"/>
            <a:ext cx="5541264" cy="1572768"/>
          </a:xfrm>
          <a:prstGeom prst="roundRect">
            <a:avLst>
              <a:gd name="adj" fmla="val 4651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3218688"/>
            <a:ext cx="457200" cy="457200"/>
          </a:xfrm>
          <a:prstGeom prst="ellipse">
            <a:avLst/>
          </a:prstGeom>
          <a:solidFill>
            <a:srgbClr val="B5651D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21868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Equipo técnico o de producto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280160" y="3749040"/>
            <a:ext cx="4535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2425"/>
                </a:solidFill>
              </a:rPr>
              <a:t>El plan sigue a los requisitos sin copiarlos; los cambios quedan a la vista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190488" y="3035808"/>
            <a:ext cx="5541264" cy="1572768"/>
          </a:xfrm>
          <a:prstGeom prst="roundRect">
            <a:avLst>
              <a:gd name="adj" fmla="val 4651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91656" y="3218688"/>
            <a:ext cx="457200" cy="45720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91656" y="32186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013448" y="3218688"/>
            <a:ext cx="4535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</a:rPr>
              <a:t>La organización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7013448" y="3749040"/>
            <a:ext cx="4535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2425"/>
                </a:solidFill>
              </a:rPr>
              <a:t>Un estándar repetible y auditable: cada decisión, con su fuente y su registro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457200" y="4828032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48280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D0F0"/>
                </a:solidFill>
              </a:rPr>
              <a:t>✓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Calidad verificada (2026-10-29): 463 pruebas automáticas sin fallos y 5 recorridos completos reproducibles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57200" y="5596128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" y="55961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324D"/>
                </a:solidFill>
              </a:rPr>
              <a:t>Abierto: licencia MIT; los datos son archivos de texto que se leen sin pm-method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365760"/>
            <a:ext cx="9235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Qué falta y cómo seguir: un piloto real, con usuarios y herramientas reales</a:t>
            </a:r>
            <a:endParaRPr lang="en-US" sz="1900" dirty="0"/>
          </a:p>
        </p:txBody>
      </p:sp>
      <p:sp>
        <p:nvSpPr>
          <p:cNvPr id="4" name="Shape 1"/>
          <p:cNvSpPr/>
          <p:nvPr/>
        </p:nvSpPr>
        <p:spPr>
          <a:xfrm>
            <a:off x="457200" y="1298448"/>
            <a:ext cx="5541264" cy="4114800"/>
          </a:xfrm>
          <a:prstGeom prst="roundRect">
            <a:avLst>
              <a:gd name="adj" fmla="val 1778"/>
            </a:avLst>
          </a:prstGeom>
          <a:solidFill>
            <a:srgbClr val="F4F6F8"/>
          </a:solidFill>
          <a:ln w="9525">
            <a:solidFill>
              <a:srgbClr val="F4F6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58368" y="1463040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324D"/>
                </a:solidFill>
              </a:rPr>
              <a:t>LÍMITES CONOCIDOS, CON HONESTIDAD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1847088"/>
            <a:ext cx="513892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5651D"/>
                </a:solidFill>
              </a:rPr>
              <a:t>▪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72425"/>
                </a:solidFill>
              </a:rPr>
              <a:t>Falta un piloto real con usuarios no técnicos durante varias semanas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5651D"/>
                </a:solidFill>
              </a:rPr>
              <a:t>▪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72425"/>
                </a:solidFill>
              </a:rPr>
              <a:t>Los conectores con herramientas externas están documentados, pero no se probaron en vivo con servicios reales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5651D"/>
                </a:solidFill>
              </a:rPr>
              <a:t>▪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72425"/>
                </a:solidFill>
              </a:rPr>
              <a:t>El asistente puede interpretar distinto una frase: los comandos fijos son la vía segura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B5651D"/>
                </a:solidFill>
              </a:rPr>
              <a:t>▪ 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72425"/>
                </a:solidFill>
              </a:rPr>
              <a:t>No reemplaza el criterio profesional: las decisiones son siempre de una persona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90488" y="1298448"/>
            <a:ext cx="5541264" cy="4114800"/>
          </a:xfrm>
          <a:prstGeom prst="roundRect">
            <a:avLst>
              <a:gd name="adj" fmla="val 1778"/>
            </a:avLst>
          </a:prstGeom>
          <a:solidFill>
            <a:srgbClr val="E9F1F8"/>
          </a:solidFill>
          <a:ln w="9525">
            <a:solidFill>
              <a:srgbClr val="E9F1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91656" y="1463040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B6A9A"/>
                </a:solidFill>
              </a:rPr>
              <a:t>MATERIAL LISTO PARA APRENDER: CINCO CASOS DE PRÁCTICA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91656" y="1901952"/>
            <a:ext cx="420624" cy="42062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91656" y="1901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958584" y="1865376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Anticipar lo que puede salir mal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958584" y="2157984"/>
            <a:ext cx="4581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</a:rPr>
              <a:t>riesgos · caso E2E-1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91656" y="2587752"/>
            <a:ext cx="420624" cy="42062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391656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958584" y="2551176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Cambiar el plan sin perder el control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958584" y="2843784"/>
            <a:ext cx="4581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</a:rPr>
              <a:t>alcance y cambios · caso E2E-2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91656" y="3273552"/>
            <a:ext cx="420624" cy="42062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91656" y="3273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958584" y="3236976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Informar a cada persona lo que necesita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958584" y="3529584"/>
            <a:ext cx="4581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</a:rPr>
              <a:t>interesados y avance · caso E2E-3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391656" y="3959352"/>
            <a:ext cx="420624" cy="42062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391656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958584" y="3922776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Construir un producto de software con control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958584" y="4215384"/>
            <a:ext cx="4581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</a:rPr>
              <a:t>producto con IA · caso E2E-4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391656" y="4645152"/>
            <a:ext cx="420624" cy="420624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391656" y="4645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958584" y="4608576"/>
            <a:ext cx="4581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4D"/>
                </a:solidFill>
              </a:rPr>
              <a:t>Decidir si una idea vale la pena antes de invertir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958584" y="4901184"/>
            <a:ext cx="4581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96969"/>
                </a:solidFill>
              </a:rPr>
              <a:t>de la idea al proyecto · caso E2E-5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5559552"/>
            <a:ext cx="11274552" cy="676656"/>
          </a:xfrm>
          <a:prstGeom prst="roundRect">
            <a:avLst>
              <a:gd name="adj" fmla="val 10811"/>
            </a:avLst>
          </a:prstGeom>
          <a:solidFill>
            <a:srgbClr val="FBF1E6"/>
          </a:solidFill>
          <a:ln w="9525">
            <a:solidFill>
              <a:srgbClr val="FBF1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5800" y="5559552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5651D"/>
                </a:solidFill>
              </a:rPr>
              <a:t>Siguiente paso para IEEE: un piloto de formación de 4 a 6 sesiones (detalle en la presentación de resumen)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9696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m-method IEEE light">
  <a:themeElements>
    <a:clrScheme name="pm-method IEEE light">
      <a:dk1>
        <a:srgbClr val="272425"/>
      </a:dk1>
      <a:lt1>
        <a:srgbClr val="FFFFFF"/>
      </a:lt1>
      <a:dk2>
        <a:srgbClr val="17324D"/>
      </a:dk2>
      <a:lt2>
        <a:srgbClr val="F4F6F8"/>
      </a:lt2>
      <a:accent1>
        <a:srgbClr val="2B6A9A"/>
      </a:accent1>
      <a:accent2>
        <a:srgbClr val="B5651D"/>
      </a:accent2>
      <a:accent3>
        <a:srgbClr val="17324D"/>
      </a:accent3>
      <a:accent4>
        <a:srgbClr val="696969"/>
      </a:accent4>
      <a:accent5>
        <a:srgbClr val="2A78D6"/>
      </a:accent5>
      <a:accent6>
        <a:srgbClr val="EB6834"/>
      </a:accent6>
      <a:hlink>
        <a:srgbClr val="2B6A9A"/>
      </a:hlink>
      <a:folHlink>
        <a:srgbClr val="17324D"/>
      </a:folHlink>
    </a:clrScheme>
    <a:fontScheme name="pm-method IEEE l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pm-method · Informe 2 light para IEEE</dc:title>
  <dc:subject>Resumen light del Informe 2 de pm-method para miembros de IEEE: qué resuelve, cómo está organizado, cómo controla y qué ventajas tiene, sin jerga.</dc:subject>
  <dc:creator>pm-method</dc:creator>
  <cp:lastModifiedBy>pm-method</cp:lastModifiedBy>
  <cp:revision>1</cp:revision>
  <dcterms:created xsi:type="dcterms:W3CDTF">2026-10-29T03:46:28Z</dcterms:created>
  <dcterms:modified xsi:type="dcterms:W3CDTF">2026-10-29T03:46:28Z</dcterms:modified>
</cp:coreProperties>
</file>