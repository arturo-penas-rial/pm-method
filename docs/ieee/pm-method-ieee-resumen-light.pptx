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es para quien nunca trabajó con métodos formales de gestión de proyectos. La idea central: un asistente de IA puede ayudar mucho a gestionar un proyecto, siempre que trabaje con un método y que las decisiones las tome una persona. Al final hay una propuesta de formación, pensada para empezar despacio.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cualquiera puede pedirle a una IA un plan de proyecto, pero ese plan queda suelto: no se sabe si alguien lo aprobó ni si sigue vigente. pm-method agrega lo que falta: etapas, decisiones explícitas de una persona y controles que corren solos. Conviene leer cada fila de izquierda a derecha: problema y respuesta. La última fila trata las decisiones: antes de elegir entre alternativas, el sistema reúne la evidencia y compara las opciones con criterios explícitos; y, si se instala el buscador opcional, cualquier pregunta sobre el proyecto se responde citando el documento de donde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tiene tres tiempos y siempre en el mismo orden: el asistente prepara, una persona decide y el sistema verifica y deja registro. Eso es lo que significa usar IA agéntica con control humano: la IA ejecuta pasos, pero dentro de límites que fija una persona. El recuadro de la derecha traduce las siglas que van a escuchar en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propuesta, no un programa cerrado: se puede ajustar el orden, el ritmo y la cantidad de talleres. Primero una introducción sin jerga; después cinco talleres, cada uno nombrado por el problema que resuelve; y al final cada participante lo aplica a un proyecto propio. Los cinco talleres ya tienen guía, ejercicio y diapositivas; la introducción y el integrador hay que prepararlos.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empezar con IEEE conviene ir despacio: un piloto corto con la introducción y un solo taller, el de riesgos, que es el más universal para cualquier ingeniero. Si el grupo quiere más, se agrega un segundo taller y el piloto llega a seis sesiones. La imagen es real: sale de la corrida del caso de práctica que se usa en ese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FD0F0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D0F0"/>
                </a:solidFill>
              </a:rPr>
              <a:t>Logo IEEE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365760"/>
            <a:ext cx="155448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9696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177272" y="365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96969"/>
                </a:solidFill>
              </a:rPr>
              <a:t>Logo IEEE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555480" cy="713232"/>
          </a:xfrm>
          <a:prstGeom prst="rect">
            <a:avLst>
              <a:gd name="adj" fmla="val 12821"/>
            </a:avLst>
          </a:prstGeom>
          <a:solidFill>
            <a:srgbClr val="2B6A9A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6969"/>
                </a:solidFill>
              </a:rPr>
              <a:t>pm-method 2.6.0 · Resumen light para IEEE · propuesta ajustable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</a:rPr>
              <a:t>pm-method · presentación para miembros de IEEE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Gestionar proyectos con un asistente de IA, con método y con una persona que decide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42488"/>
            <a:ext cx="10607040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Qué resuelve, cómo trabaja, qué ventajas tiene y una propuesta de formación a ritmo tranquilo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22476E"/>
          </a:solidFill>
          <a:ln w="9525">
            <a:solidFill>
              <a:srgbClr val="2247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5445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Qué resuelve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901184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0F0"/>
                </a:solidFill>
              </a:rPr>
              <a:t>Ordena el trabajo de gestión que hoy queda disperso en documentos sueltos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06824" y="443484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22476E"/>
          </a:solidFill>
          <a:ln w="9525">
            <a:solidFill>
              <a:srgbClr val="2247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45445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Cómo trabaja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4901184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0F0"/>
                </a:solidFill>
              </a:rPr>
              <a:t>El asistente prepara, una persona decide y el sistema verifica y registra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65008" y="443484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22476E"/>
          </a:solidFill>
          <a:ln w="9525">
            <a:solidFill>
              <a:srgbClr val="2247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45445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Formación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4901184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0F0"/>
                </a:solidFill>
              </a:rPr>
              <a:t>Propuesta: 14 sesiones de 90 min y un piloto de 4 a 6 sesiones para empezar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D0F0"/>
                </a:solidFill>
              </a:rPr>
              <a:t>pm-method 2.6.0 · propuesta ajustable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Qué resuelve: la IA ya redacta planes, pero sin método nadie sabe qué está aprobado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96969"/>
                </a:solidFill>
              </a:rPr>
              <a:t>LO QUE PASA HOY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1298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CON PM-METHOD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27632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007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2425"/>
                </a:solidFill>
              </a:rPr>
              <a:t>Documentos sueltos: un plan por acá, un informe por allá, sin etapas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1627632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651D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72200" y="1627632"/>
            <a:ext cx="5559552" cy="676656"/>
          </a:xfrm>
          <a:prstGeom prst="roundRect">
            <a:avLst>
              <a:gd name="adj" fmla="val 1081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17007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 recorrido claro por etapas, y cada etapa termina en una decisión explícita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395728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4688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2425"/>
                </a:solidFill>
              </a:rPr>
              <a:t>La IA «aprueba» cosas que le corresponden a una persona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2395728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651D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72200" y="2395728"/>
            <a:ext cx="5559552" cy="676656"/>
          </a:xfrm>
          <a:prstGeom prst="roundRect">
            <a:avLst>
              <a:gd name="adj" fmla="val 1081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24688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Solo una persona aprueba; el sistema lo hace cumplir y anota quién, cuándo y por qué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163824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2369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2425"/>
                </a:solidFill>
              </a:rPr>
              <a:t>Los requisitos del producto y el plan del proyecto se desincronizan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316382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651D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172200" y="3163824"/>
            <a:ext cx="5559552" cy="676656"/>
          </a:xfrm>
          <a:prstGeom prst="roundRect">
            <a:avLst>
              <a:gd name="adj" fmla="val 1081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323697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Los requisitos se leen de una sola fuente, sin copiarlos; cada cambio queda a la vista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3931920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00507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2425"/>
                </a:solidFill>
              </a:rPr>
              <a:t>Controles que se hacen a mano, tarde o nunca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393192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651D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6172200" y="3931920"/>
            <a:ext cx="5559552" cy="676656"/>
          </a:xfrm>
          <a:prstGeom prst="roundRect">
            <a:avLst>
              <a:gd name="adj" fmla="val 1081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55080" y="400507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Controles automáticos en cada sesión que avisan antes de que el problema llegue a la reunión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7200" y="4700016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47731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2425"/>
                </a:solidFill>
              </a:rPr>
              <a:t>Se decide a ojo y después nadie encuentra en qué se basó la decisión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23560" y="4700016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651D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6172200" y="4700016"/>
            <a:ext cx="5559552" cy="676656"/>
          </a:xfrm>
          <a:prstGeom prst="roundRect">
            <a:avLst>
              <a:gd name="adj" fmla="val 1081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477316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Cada decisión, con su evidencia y sus opciones comparadas; y búsqueda en el proyecto con la fuente citada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557784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5651D"/>
                </a:solidFill>
              </a:rPr>
              <a:t>El asistente prepara, la persona decide, el sistema verifica y registra.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Cómo trabaja: el asistente prepara, una persona decide y el sistema verifica y registra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1120140" y="1417320"/>
            <a:ext cx="960120" cy="9601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2014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189988" y="1897380"/>
            <a:ext cx="1106424" cy="0"/>
          </a:xfrm>
          <a:prstGeom prst="line">
            <a:avLst/>
          </a:prstGeom>
          <a:noFill/>
          <a:ln w="254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30352" y="24871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Prepara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83464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El asistente de IA arma planes, informes y opciones siguiendo el método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06140" y="1417320"/>
            <a:ext cx="960120" cy="9601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0614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75988" y="1897380"/>
            <a:ext cx="1106424" cy="0"/>
          </a:xfrm>
          <a:prstGeom prst="line">
            <a:avLst/>
          </a:prstGeom>
          <a:noFill/>
          <a:ln w="254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816352" y="24871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51D"/>
                </a:solidFill>
              </a:rPr>
              <a:t>Decide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852928" y="283464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Una persona aprueba, rechaza o pide cambios: nada avanza sin ella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92140" y="1417320"/>
            <a:ext cx="960120" cy="9601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9214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102352" y="24871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Verifica y registra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138928" y="283464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Programas comprueban los datos y guardan cada decisión con nombre y fecha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VENTAJAS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3342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6A9A"/>
                </a:solidFill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Trazabilidad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46451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Cada decisión con quién, cuándo y por qué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977640" y="4242816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42232" y="43342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Menos trabajo administrativo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142232" y="46451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Informes y registros ya preparados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5285232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5376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Avisos tempranos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" y="56875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Los problemas aparecen antes de la reunión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977640" y="5285232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42232" y="5376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6A9A"/>
                </a:solidFill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Abierto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142232" y="56875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Licencia MIT; datos en archivos de texto que se leen sin el sistema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589520" y="1298448"/>
            <a:ext cx="4142232" cy="4901184"/>
          </a:xfrm>
          <a:prstGeom prst="roundRect">
            <a:avLst>
              <a:gd name="adj" fmla="val 1766"/>
            </a:avLst>
          </a:prstGeom>
          <a:solidFill>
            <a:srgbClr val="F4F6F8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1444752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¿Qué significan las siglas?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790688" y="1847088"/>
            <a:ext cx="373989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PMI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Project Management Institute: asociación profesional internacional de gestión de proyectos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PMBOK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guía del PMI con técnicas de gestión: estimar, medir el avance, analizar riesgos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PRINCE2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método de gestión por etapas: cada etapa termina en una decisión de un comité (la «junta»)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PMO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oficina de gestión de proyectos: el área que fija estándares y supervisa los proyectos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BMAD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método abierto para especificar productos de software con agentes de IA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Agente de IA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IA que no solo responde: ejecuta pasos (lee archivos, corre programas) dentro de límites que fija una persona; «agéntico» es el sistema que usa agentes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790688" y="5870448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PRINCE2® y PMBOK® son marcas de sus titulares.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Programa propuesto: 14 sesiones de 90 minutos (21 horas), de lo simple a un proyecto propio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B5651D"/>
          </a:solidFill>
          <a:ln w="9525">
            <a:solidFill>
              <a:srgbClr val="B5651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2E6"/>
                </a:solidFill>
              </a:rPr>
              <a:t>Inicio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Introducción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Las bases, sin jerga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80913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72353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Taller 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172353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080913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72353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Anticipar lo que puede salir mal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72353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riesgos · E2E-1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04626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96066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Taller 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96066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704626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96066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Cambiar el plan sin perder el control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796066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alcance y cambios · E2E-2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28339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19779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Taller 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19779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328339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19779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Informar a cada persona lo que necesita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19779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interesados y avance · E2E-3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952053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043493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Taller 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043493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952053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43493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Construir un producto de software con control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043493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producto con IA · E2E-4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575766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67206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Taller 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667206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575766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667206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Decidir si una idea vale la pena antes de invertir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8667206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de la idea al proyecto · E2E-5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199479" y="1298448"/>
            <a:ext cx="1532273" cy="868680"/>
          </a:xfrm>
          <a:prstGeom prst="roundRect">
            <a:avLst>
              <a:gd name="adj" fmla="val 8421"/>
            </a:avLst>
          </a:prstGeom>
          <a:solidFill>
            <a:srgbClr val="B5651D"/>
          </a:solidFill>
          <a:ln w="9525">
            <a:solidFill>
              <a:srgbClr val="B5651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290919" y="1371600"/>
            <a:ext cx="13493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2E6"/>
                </a:solidFill>
              </a:rPr>
              <a:t>Cierre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0290919" y="1627632"/>
            <a:ext cx="13493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sesiones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0199479" y="2221992"/>
            <a:ext cx="1532273" cy="1325880"/>
          </a:xfrm>
          <a:prstGeom prst="roundRect">
            <a:avLst>
              <a:gd name="adj" fmla="val 551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90919" y="2295144"/>
            <a:ext cx="134939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Taller integrador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0290919" y="3136392"/>
            <a:ext cx="13493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un proyecto propio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36393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material ya listo (guía, ejercicio y diapositivas)     </a:t>
            </a:r>
            <a:pPr indent="0" marL="0">
              <a:buNone/>
            </a:pPr>
            <a:r>
              <a:rPr lang="en-US" sz="1300" dirty="0">
                <a:solidFill>
                  <a:srgbClr val="B5651D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a preparar para IEEE     </a:t>
            </a:r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propuesta ajustable: orden, ritmo y cantidad de talleres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57200" y="4005072"/>
            <a:ext cx="5541264" cy="841248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21792" y="40782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</a:rPr>
              <a:t>Introducción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21792" y="43525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Qué es gestionar un proyecto con método; las siglas en simple; qué es un sistema agéntico y cómo se usa con control humano y seguridad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190488" y="4005072"/>
            <a:ext cx="5541264" cy="841248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355080" y="40782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</a:rPr>
              <a:t>Taller integrador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6355080" y="43525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Cada participante aplica lo aprendido a un proyecto suyo, real o de práctica, con acompañamiento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457200" y="4974336"/>
            <a:ext cx="5541264" cy="128016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40080" y="5065776"/>
            <a:ext cx="5212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 + 5 × 2 + 2 = 14 sesiones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14 × 90 min = 1.260 min = 21 h</a:t>
            </a:r>
            <a:endParaRPr lang="en-US" sz="1700" dirty="0"/>
          </a:p>
        </p:txBody>
      </p:sp>
      <p:sp>
        <p:nvSpPr>
          <p:cNvPr id="55" name="Text 52"/>
          <p:cNvSpPr txBox="1"/>
          <p:nvPr/>
        </p:nvSpPr>
        <p:spPr>
          <a:xfrm>
            <a:off x="640080" y="568756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8F3"/>
                </a:solidFill>
              </a:rPr>
              <a:t>Los 5 talleres usan el material ya listo del webinar (10 clases de 90 min = 15 h). La introducción y el taller integrador (4 sesiones = 6 h) se preparan para IEEE.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190488" y="4974336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373368" y="5120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14 semanas</a:t>
            </a:r>
            <a:endParaRPr lang="en-US" sz="3000" dirty="0"/>
          </a:p>
        </p:txBody>
      </p:sp>
      <p:sp>
        <p:nvSpPr>
          <p:cNvPr id="58" name="Text 55"/>
          <p:cNvSpPr txBox="1"/>
          <p:nvPr/>
        </p:nvSpPr>
        <p:spPr>
          <a:xfrm>
            <a:off x="6373368" y="5724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1 sesión por semana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006840" y="4974336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189720" y="5120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51D"/>
                </a:solidFill>
              </a:rPr>
              <a:t>7 semanas</a:t>
            </a:r>
            <a:endParaRPr lang="en-US" sz="3000" dirty="0"/>
          </a:p>
        </p:txBody>
      </p:sp>
      <p:sp>
        <p:nvSpPr>
          <p:cNvPr id="61" name="Text 58"/>
          <p:cNvSpPr txBox="1"/>
          <p:nvPr/>
        </p:nvSpPr>
        <p:spPr>
          <a:xfrm>
            <a:off x="9189720" y="5724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2 sesiones por semana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Para empezar: un piloto de 4 a 6 sesiones, y decidir con lo aprendido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5486400" cy="1335024"/>
          </a:xfrm>
          <a:prstGeom prst="roundRect">
            <a:avLst>
              <a:gd name="adj" fmla="val 5479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898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Sesiones 1–2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45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Introducción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93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Qué es gestionar un proyecto con método; las siglas en simple; qué es un sistema agéntico y cómo se usa con control humano y seguridad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5486400" cy="938784"/>
          </a:xfrm>
          <a:prstGeom prst="roundRect">
            <a:avLst>
              <a:gd name="adj" fmla="val 7792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8346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Sesiones 3–4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906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Taller: Anticipar lo que puede salir mal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374136"/>
            <a:ext cx="5120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Riesgos · caso E2E-1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791712"/>
            <a:ext cx="5486400" cy="938784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69696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40080" y="38831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Sesiones 5–6 · opcional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13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Taller: Cambiar el plan sin perder el control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422648"/>
            <a:ext cx="5120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Alcance y cambios · caso E2E-2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876800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931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FD0F0"/>
                </a:solidFill>
              </a:rPr>
              <a:t>Piloto base (4 sesiones):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× 90 min = 360 min = 6 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2059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8F3"/>
                </a:solidFill>
              </a:rPr>
              <a:t>4 semanas a 1 por semana · 2 a 2 por semana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5571744"/>
            <a:ext cx="5486400" cy="603504"/>
          </a:xfrm>
          <a:prstGeom prst="roundRect">
            <a:avLst>
              <a:gd name="adj" fmla="val 1212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56266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Piloto ampliado (6 sesiones):  </a:t>
            </a:r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6 × 90 min = 540 min = 9 h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9009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6969"/>
                </a:solidFill>
              </a:rPr>
              <a:t>6 semanas a 1 por semana · 3 a 2 por semana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27064" y="1335024"/>
            <a:ext cx="5541264" cy="3148965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pic>
        <p:nvPicPr>
          <p:cNvPr id="23" name="Image 0" descr="g1-mapa-inherente-resid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371600"/>
            <a:ext cx="5468112" cy="307581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263640" y="4557141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96969"/>
                </a:solidFill>
              </a:rPr>
              <a:t>Lo que se ve en el taller «Anticipar lo que puede salir mal»: después de las respuestas, ningún riesgo queda en la zona alta (caso de práctica ficticio, corrida real)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63640" y="5138928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64808" y="5212080"/>
            <a:ext cx="50657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</a:rPr>
              <a:t>Las sesiones del piloto cuentan para el programa completo: si funciona, se suman los talleres que faltan y el integrador.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-method IEEE light">
  <a:themeElements>
    <a:clrScheme name="pm-method IEEE light">
      <a:dk1>
        <a:srgbClr val="272425"/>
      </a:dk1>
      <a:lt1>
        <a:srgbClr val="FFFFFF"/>
      </a:lt1>
      <a:dk2>
        <a:srgbClr val="17324D"/>
      </a:dk2>
      <a:lt2>
        <a:srgbClr val="F4F6F8"/>
      </a:lt2>
      <a:accent1>
        <a:srgbClr val="2B6A9A"/>
      </a:accent1>
      <a:accent2>
        <a:srgbClr val="B5651D"/>
      </a:accent2>
      <a:accent3>
        <a:srgbClr val="17324D"/>
      </a:accent3>
      <a:accent4>
        <a:srgbClr val="696969"/>
      </a:accent4>
      <a:accent5>
        <a:srgbClr val="2A78D6"/>
      </a:accent5>
      <a:accent6>
        <a:srgbClr val="EB6834"/>
      </a:accent6>
      <a:hlink>
        <a:srgbClr val="2B6A9A"/>
      </a:hlink>
      <a:folHlink>
        <a:srgbClr val="17324D"/>
      </a:folHlink>
    </a:clrScheme>
    <a:fontScheme name="pm-method IEEE l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pm-method · Resumen light para IEEE</dc:title>
  <dc:subject>Resumen light de pm-method para miembros de IEEE: qué resuelve, cómo trabaja, ventajas y una propuesta de formación a ritmo tranquilo con su ruta de entrada.</dc:subject>
  <dc:creator>pm-method</dc:creator>
  <cp:lastModifiedBy>pm-method</cp:lastModifiedBy>
  <cp:revision>1</cp:revision>
  <dcterms:created xsi:type="dcterms:W3CDTF">2026-10-29T03:48:06Z</dcterms:created>
  <dcterms:modified xsi:type="dcterms:W3CDTF">2026-10-29T03:48:06Z</dcterms:modified>
</cp:coreProperties>
</file>