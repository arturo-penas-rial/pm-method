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cha del taller" id="{c6c3bacb-46f8-b424-5b07-7dc8eecb554d}">
          <p14:sldIdLst>
            <p14:sldId id="256"/>
            <p14:sldId id="25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Abrí con una pregunta: en el último proyecto que viste aprobar, ¿cuántos números del caso de negocio descansaban en un supuesto que nadie había verificado? El taller muestra cómo validar antes de invertir. La imagen es real, de la corrida del caso: un piloto de cuatro semanas bajó el VAN de las dos opciones; la idea sobrevive, con otro tamaño, y la junta lo sabe antes de invertir. Cerrá con los objetivos y con para quién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Explicá la división del trabajo: el agente busca lecciones, calcula y verifica; el equipo fija los criterios y la junta decide, incluso qué supuestos acepta sin validar. La primera clase responde «¿vale la pena?»; la segunda diseña el proyecto hasta su autorización. Es el primer caso del ciclo de vida: no hace falta haber visto otro.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CHA_PORTAD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103120"/>
          </a:xfrm>
          <a:prstGeom prst="rect">
            <a:avLst/>
          </a:prstGeom>
          <a:solidFill>
            <a:srgbClr val="002855"/>
          </a:solidFill>
          <a:ln w="12700">
            <a:solidFill>
              <a:srgbClr val="002855"/>
            </a:solidFill>
            <a:prstDash val="solid"/>
          </a:ln>
        </p:spPr>
      </p:sp>
      <p:sp>
        <p:nvSpPr>
          <p:cNvPr id="3" name="Shape 1"/>
          <p:cNvSpPr/>
          <p:nvPr/>
        </p:nvSpPr>
        <p:spPr>
          <a:xfrm>
            <a:off x="10268712" y="329184"/>
            <a:ext cx="1463040" cy="713232"/>
          </a:xfrm>
          <a:prstGeom prst="rect">
            <a:avLst/>
          </a:prstGeom>
          <a:solidFill>
            <a:srgbClr val="002855">
              <a:alpha val="0"/>
            </a:srgbClr>
          </a:solidFill>
          <a:ln w="12700">
            <a:solidFill>
              <a:srgbClr val="7F9BB8"/>
            </a:solidFill>
            <a:prstDash val="dash"/>
          </a:ln>
        </p:spPr>
      </p:sp>
      <p:sp>
        <p:nvSpPr>
          <p:cNvPr id="4" name="Text 2"/>
          <p:cNvSpPr/>
          <p:nvPr/>
        </p:nvSpPr>
        <p:spPr>
          <a:xfrm>
            <a:off x="10268712" y="329184"/>
            <a:ext cx="1463040" cy="713232"/>
          </a:xfrm>
          <a:prstGeom prst="rect">
            <a:avLst/>
          </a:prstGeom>
          <a:noFill/>
          <a:ln/>
        </p:spPr>
        <p:txBody>
          <a:bodyPr wrap="square" lIns="0" tIns="0" rIns="0" bIns="0" rtlCol="0" anchor="ctr"/>
          <a:lstStyle/>
          <a:p>
            <a:pPr algn="ctr" indent="0" marL="0">
              <a:buNone/>
            </a:pPr>
            <a:r>
              <a:rPr lang="en-US" sz="1000" dirty="0">
                <a:solidFill>
                  <a:srgbClr val="7F9BB8"/>
                </a:solidFill>
              </a:rPr>
              <a:t>Logo IEEE</a:t>
            </a:r>
            <a:endParaRPr lang="en-US" sz="1000" dirty="0"/>
          </a:p>
        </p:txBody>
      </p:sp>
      <p:sp>
        <p:nvSpPr>
          <p:cNvPr id="5" name="Text 3"/>
          <p:cNvSpPr/>
          <p:nvPr>
            <p:ph idx="103" type="title" hasCustomPrompt="1"/>
          </p:nvPr>
        </p:nvSpPr>
        <p:spPr>
          <a:xfrm>
            <a:off x="457200" y="658368"/>
            <a:ext cx="9445752" cy="841248"/>
          </a:xfrm>
          <a:prstGeom prst="rect">
            <a:avLst/>
          </a:prstGeom>
          <a:noFill/>
          <a:ln/>
        </p:spPr>
        <p:txBody>
          <a:bodyPr wrap="square" rtlCol="0"/>
          <a:lstStyle>
            <a:lvl1pPr algn="l" indent="0" marL="0">
              <a:buNone/>
              <a:defRPr lang="en-US" sz="3000" b="1" dirty="0">
                <a:solidFill>
                  <a:srgbClr val="FFFFFF"/>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2.4.0 · Webinar E2E-5 · Ficha del taller</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CHA_DETAL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268712" y="365760"/>
            <a:ext cx="1463040" cy="713232"/>
          </a:xfrm>
          <a:prstGeom prst="rect">
            <a:avLst/>
          </a:prstGeom>
          <a:solidFill>
            <a:srgbClr val="FFFFFF">
              <a:alpha val="0"/>
            </a:srgbClr>
          </a:solidFill>
          <a:ln w="12700">
            <a:solidFill>
              <a:srgbClr val="A9A9A9"/>
            </a:solidFill>
            <a:prstDash val="dash"/>
          </a:ln>
        </p:spPr>
      </p:sp>
      <p:sp>
        <p:nvSpPr>
          <p:cNvPr id="3" name="Text 1"/>
          <p:cNvSpPr/>
          <p:nvPr/>
        </p:nvSpPr>
        <p:spPr>
          <a:xfrm>
            <a:off x="10268712" y="365760"/>
            <a:ext cx="1463040" cy="713232"/>
          </a:xfrm>
          <a:prstGeom prst="rect">
            <a:avLst/>
          </a:prstGeom>
          <a:noFill/>
          <a:ln/>
        </p:spPr>
        <p:txBody>
          <a:bodyPr wrap="square" lIns="0" tIns="0" rIns="0" bIns="0" rtlCol="0" anchor="ctr"/>
          <a:lstStyle/>
          <a:p>
            <a:pPr algn="ctr" indent="0" marL="0">
              <a:buNone/>
            </a:pPr>
            <a:r>
              <a:rPr lang="en-US" sz="1000" dirty="0">
                <a:solidFill>
                  <a:srgbClr val="A9A9A9"/>
                </a:solidFill>
              </a:rPr>
              <a:t>Logo IEEE</a:t>
            </a:r>
            <a:endParaRPr lang="en-US" sz="1000" dirty="0"/>
          </a:p>
        </p:txBody>
      </p:sp>
      <p:sp>
        <p:nvSpPr>
          <p:cNvPr id="4" name="Shape 2"/>
          <p:cNvSpPr/>
          <p:nvPr/>
        </p:nvSpPr>
        <p:spPr>
          <a:xfrm>
            <a:off x="457200" y="365760"/>
            <a:ext cx="9628632" cy="713232"/>
          </a:xfrm>
          <a:prstGeom prst="rect">
            <a:avLst>
              <a:gd name="adj" fmla="val 12821"/>
            </a:avLst>
          </a:prstGeom>
          <a:solidFill>
            <a:srgbClr val="00629B"/>
          </a:solidFill>
          <a:ln/>
        </p:spPr>
      </p:sp>
      <p:sp>
        <p:nvSpPr>
          <p:cNvPr id="5" name="Text 3"/>
          <p:cNvSpPr/>
          <p:nvPr>
            <p:ph idx="103" type="title" hasCustomPrompt="1"/>
          </p:nvPr>
        </p:nvSpPr>
        <p:spPr>
          <a:xfrm>
            <a:off x="658368" y="365760"/>
            <a:ext cx="9244584" cy="713232"/>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6" name="Text 3"/>
          <p:cNvSpPr/>
          <p:nvPr/>
        </p:nvSpPr>
        <p:spPr>
          <a:xfrm>
            <a:off x="457200" y="6419088"/>
            <a:ext cx="8229600" cy="274320"/>
          </a:xfrm>
          <a:prstGeom prst="rect">
            <a:avLst/>
          </a:prstGeom>
          <a:noFill/>
          <a:ln/>
        </p:spPr>
        <p:txBody>
          <a:bodyPr wrap="square" lIns="0" tIns="0" rIns="0" bIns="0" rtlCol="0" anchor="t"/>
          <a:lstStyle/>
          <a:p>
            <a:pPr indent="0" marL="0">
              <a:buNone/>
            </a:pPr>
            <a:r>
              <a:rPr lang="en-US" sz="1000" dirty="0">
                <a:solidFill>
                  <a:srgbClr val="696969"/>
                </a:solidFill>
              </a:rPr>
              <a:t>pm-method 2.4.0 · Webinar E2E-5 · Ficha del taller</a:t>
            </a:r>
            <a:endParaRPr lang="en-US" sz="10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310896"/>
            <a:ext cx="9445752" cy="310896"/>
          </a:xfrm>
          <a:prstGeom prst="rect">
            <a:avLst/>
          </a:prstGeom>
          <a:noFill/>
          <a:ln/>
        </p:spPr>
        <p:txBody>
          <a:bodyPr wrap="square" lIns="0" tIns="0" rIns="0" bIns="0" rtlCol="0" anchor="t"/>
          <a:lstStyle/>
          <a:p>
            <a:pPr indent="0" marL="0">
              <a:buNone/>
            </a:pPr>
            <a:r>
              <a:rPr lang="en-US" sz="1400" b="1" dirty="0">
                <a:solidFill>
                  <a:srgbClr val="9FD0F0"/>
                </a:solidFill>
                <a:latin typeface="Arial" pitchFamily="34" charset="0"/>
                <a:ea typeface="Arial" pitchFamily="34" charset="-122"/>
                <a:cs typeface="Arial" pitchFamily="34" charset="-120"/>
              </a:rPr>
              <a:t>Taller · 2 clases de 90 minutos · Webinar pm-method 2.4.0 · E2E-5</a:t>
            </a:r>
            <a:endParaRPr lang="en-US" sz="1400" dirty="0"/>
          </a:p>
        </p:txBody>
      </p:sp>
      <p:sp>
        <p:nvSpPr>
          <p:cNvPr id="3" name="Text 3"/>
          <p:cNvSpPr/>
          <p:nvPr>
            <p:ph idx="103" type="title" hasCustomPrompt="1"/>
          </p:nvPr>
        </p:nvSpPr>
        <p:spPr>
          <a:xfrm>
            <a:off x="457200" y="658368"/>
            <a:ext cx="9445752" cy="841248"/>
          </a:xfrm>
          <a:prstGeom prst="rect">
            <a:avLst/>
          </a:prstGeom>
          <a:noFill/>
          <a:ln/>
        </p:spPr>
        <p:txBody>
          <a:bodyPr wrap="square" lIns="0" tIns="0" rIns="0" bIns="0" rtlCol="0" anchor="ctr"/>
          <a:lstStyle/>
          <a:p>
            <a:pPr algn="l" indent="0" marL="0">
              <a:buNone/>
            </a:pPr>
            <a:r>
              <a:rPr lang="en-US" sz="2750" b="1" dirty="0">
                <a:solidFill>
                  <a:srgbClr val="FFFFFF"/>
                </a:solidFill>
                <a:latin typeface="Arial" pitchFamily="34" charset="0"/>
                <a:ea typeface="Arial" pitchFamily="34" charset="-122"/>
                <a:cs typeface="Arial" pitchFamily="34" charset="-120"/>
              </a:rPr>
              <a:t>¿Vale la pena? Validar la idea antes de invertir y diseñar el proyecto</a:t>
            </a:r>
            <a:endParaRPr lang="en-US" sz="3000" dirty="0"/>
          </a:p>
        </p:txBody>
      </p:sp>
      <p:sp>
        <p:nvSpPr>
          <p:cNvPr id="4" name="Text 2"/>
          <p:cNvSpPr txBox="1"/>
          <p:nvPr/>
        </p:nvSpPr>
        <p:spPr>
          <a:xfrm>
            <a:off x="457200" y="1572768"/>
            <a:ext cx="11274552" cy="475488"/>
          </a:xfrm>
          <a:prstGeom prst="rect">
            <a:avLst/>
          </a:prstGeom>
          <a:noFill/>
          <a:ln/>
        </p:spPr>
        <p:txBody>
          <a:bodyPr wrap="square" lIns="0" tIns="0" rIns="0" bIns="0" rtlCol="0" anchor="t"/>
          <a:lstStyle/>
          <a:p>
            <a:pPr indent="0" marL="0">
              <a:buNone/>
            </a:pPr>
            <a:r>
              <a:rPr lang="en-US" sz="1550" dirty="0">
                <a:solidFill>
                  <a:srgbClr val="D6E4F0"/>
                </a:solidFill>
                <a:latin typeface="Arial" pitchFamily="34" charset="0"/>
                <a:ea typeface="Arial" pitchFamily="34" charset="-122"/>
                <a:cs typeface="Arial" pitchFamily="34" charset="-120"/>
              </a:rPr>
              <a:t>Supuestos con experimento, opciones comparadas con VAN, el enfoque de entrega elegido con criterios y una junta que decide sabiendo qué acepta sin validar.</a:t>
            </a:r>
            <a:endParaRPr lang="en-US" sz="1600" dirty="0"/>
          </a:p>
        </p:txBody>
      </p:sp>
      <p:sp>
        <p:nvSpPr>
          <p:cNvPr id="5" name="Text 3"/>
          <p:cNvSpPr txBox="1"/>
          <p:nvPr/>
        </p:nvSpPr>
        <p:spPr>
          <a:xfrm>
            <a:off x="457200" y="2304288"/>
            <a:ext cx="6355080" cy="329184"/>
          </a:xfrm>
          <a:prstGeom prst="rect">
            <a:avLst/>
          </a:prstGeom>
          <a:noFill/>
          <a:ln/>
        </p:spPr>
        <p:txBody>
          <a:bodyPr wrap="square" lIns="0" tIns="0" rIns="0" bIns="0" rtlCol="0" anchor="t"/>
          <a:lstStyle/>
          <a:p>
            <a:pPr indent="0" marL="0">
              <a:buNone/>
            </a:pPr>
            <a:r>
              <a:rPr lang="en-US" sz="1600" b="1" dirty="0">
                <a:solidFill>
                  <a:srgbClr val="B5651D"/>
                </a:solidFill>
                <a:latin typeface="Arial" pitchFamily="34" charset="0"/>
                <a:ea typeface="Arial" pitchFamily="34" charset="-122"/>
                <a:cs typeface="Arial" pitchFamily="34" charset="-120"/>
              </a:rPr>
              <a:t>Qué vas a poder hacer</a:t>
            </a:r>
            <a:endParaRPr lang="en-US" sz="1600" dirty="0"/>
          </a:p>
        </p:txBody>
      </p:sp>
      <p:sp>
        <p:nvSpPr>
          <p:cNvPr id="6" name="Shape 4"/>
          <p:cNvSpPr/>
          <p:nvPr/>
        </p:nvSpPr>
        <p:spPr>
          <a:xfrm>
            <a:off x="457200" y="2688336"/>
            <a:ext cx="6355080" cy="373075"/>
          </a:xfrm>
          <a:prstGeom prst="roundRect">
            <a:avLst>
              <a:gd name="adj" fmla="val 14706"/>
            </a:avLst>
          </a:prstGeom>
          <a:solidFill>
            <a:srgbClr val="E9F1F8"/>
          </a:solidFill>
          <a:ln w="12700">
            <a:solidFill>
              <a:srgbClr val="E9F1F8"/>
            </a:solidFill>
            <a:prstDash val="solid"/>
          </a:ln>
        </p:spPr>
      </p:sp>
      <p:sp>
        <p:nvSpPr>
          <p:cNvPr id="7" name="Text 5"/>
          <p:cNvSpPr txBox="1"/>
          <p:nvPr/>
        </p:nvSpPr>
        <p:spPr>
          <a:xfrm>
            <a:off x="548640" y="2688336"/>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1</a:t>
            </a:r>
            <a:endParaRPr lang="en-US" sz="1800" dirty="0"/>
          </a:p>
        </p:txBody>
      </p:sp>
      <p:sp>
        <p:nvSpPr>
          <p:cNvPr id="8" name="Text 6"/>
          <p:cNvSpPr txBox="1"/>
          <p:nvPr/>
        </p:nvSpPr>
        <p:spPr>
          <a:xfrm>
            <a:off x="1005840" y="2715768"/>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Armar un mapa de supuestos y elegir dónde invertir primero en aprender</a:t>
            </a:r>
            <a:endParaRPr lang="en-US" sz="1600" dirty="0"/>
          </a:p>
        </p:txBody>
      </p:sp>
      <p:sp>
        <p:nvSpPr>
          <p:cNvPr id="9" name="Shape 7"/>
          <p:cNvSpPr/>
          <p:nvPr/>
        </p:nvSpPr>
        <p:spPr>
          <a:xfrm>
            <a:off x="457200" y="3134563"/>
            <a:ext cx="6355080" cy="373075"/>
          </a:xfrm>
          <a:prstGeom prst="roundRect">
            <a:avLst>
              <a:gd name="adj" fmla="val 14706"/>
            </a:avLst>
          </a:prstGeom>
          <a:solidFill>
            <a:srgbClr val="F4F6F8"/>
          </a:solidFill>
          <a:ln w="12700">
            <a:solidFill>
              <a:srgbClr val="F4F6F8"/>
            </a:solidFill>
            <a:prstDash val="solid"/>
          </a:ln>
        </p:spPr>
      </p:sp>
      <p:sp>
        <p:nvSpPr>
          <p:cNvPr id="10" name="Text 8"/>
          <p:cNvSpPr txBox="1"/>
          <p:nvPr/>
        </p:nvSpPr>
        <p:spPr>
          <a:xfrm>
            <a:off x="548640" y="3134563"/>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2</a:t>
            </a:r>
            <a:endParaRPr lang="en-US" sz="1800" dirty="0"/>
          </a:p>
        </p:txBody>
      </p:sp>
      <p:sp>
        <p:nvSpPr>
          <p:cNvPr id="11" name="Text 9"/>
          <p:cNvSpPr txBox="1"/>
          <p:nvPr/>
        </p:nvSpPr>
        <p:spPr>
          <a:xfrm>
            <a:off x="1005840" y="3161995"/>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Diseñar un experimento barato con el criterio de decisión fijado antes de ver el resultado</a:t>
            </a:r>
            <a:endParaRPr lang="en-US" sz="1600" dirty="0"/>
          </a:p>
        </p:txBody>
      </p:sp>
      <p:sp>
        <p:nvSpPr>
          <p:cNvPr id="12" name="Shape 10"/>
          <p:cNvSpPr/>
          <p:nvPr/>
        </p:nvSpPr>
        <p:spPr>
          <a:xfrm>
            <a:off x="457200" y="3580790"/>
            <a:ext cx="6355080" cy="373075"/>
          </a:xfrm>
          <a:prstGeom prst="roundRect">
            <a:avLst>
              <a:gd name="adj" fmla="val 14706"/>
            </a:avLst>
          </a:prstGeom>
          <a:solidFill>
            <a:srgbClr val="E9F1F8"/>
          </a:solidFill>
          <a:ln w="12700">
            <a:solidFill>
              <a:srgbClr val="E9F1F8"/>
            </a:solidFill>
            <a:prstDash val="solid"/>
          </a:ln>
        </p:spPr>
      </p:sp>
      <p:sp>
        <p:nvSpPr>
          <p:cNvPr id="13" name="Text 11"/>
          <p:cNvSpPr txBox="1"/>
          <p:nvPr/>
        </p:nvSpPr>
        <p:spPr>
          <a:xfrm>
            <a:off x="548640" y="3580790"/>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3</a:t>
            </a:r>
            <a:endParaRPr lang="en-US" sz="1800" dirty="0"/>
          </a:p>
        </p:txBody>
      </p:sp>
      <p:sp>
        <p:nvSpPr>
          <p:cNvPr id="14" name="Text 12"/>
          <p:cNvSpPr txBox="1"/>
          <p:nvPr/>
        </p:nvSpPr>
        <p:spPr>
          <a:xfrm>
            <a:off x="1005840" y="3608222"/>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Comparar opciones contra no hacer nada con VAN, TIR, repago y punto de equilibrio</a:t>
            </a:r>
            <a:endParaRPr lang="en-US" sz="1600" dirty="0"/>
          </a:p>
        </p:txBody>
      </p:sp>
      <p:sp>
        <p:nvSpPr>
          <p:cNvPr id="15" name="Shape 13"/>
          <p:cNvSpPr/>
          <p:nvPr/>
        </p:nvSpPr>
        <p:spPr>
          <a:xfrm>
            <a:off x="457200" y="4027018"/>
            <a:ext cx="6355080" cy="373075"/>
          </a:xfrm>
          <a:prstGeom prst="roundRect">
            <a:avLst>
              <a:gd name="adj" fmla="val 14706"/>
            </a:avLst>
          </a:prstGeom>
          <a:solidFill>
            <a:srgbClr val="F4F6F8"/>
          </a:solidFill>
          <a:ln w="12700">
            <a:solidFill>
              <a:srgbClr val="F4F6F8"/>
            </a:solidFill>
            <a:prstDash val="solid"/>
          </a:ln>
        </p:spPr>
      </p:sp>
      <p:sp>
        <p:nvSpPr>
          <p:cNvPr id="16" name="Text 14"/>
          <p:cNvSpPr txBox="1"/>
          <p:nvPr/>
        </p:nvSpPr>
        <p:spPr>
          <a:xfrm>
            <a:off x="548640" y="4027018"/>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4</a:t>
            </a:r>
            <a:endParaRPr lang="en-US" sz="1800" dirty="0"/>
          </a:p>
        </p:txBody>
      </p:sp>
      <p:sp>
        <p:nvSpPr>
          <p:cNvPr id="17" name="Text 15"/>
          <p:cNvSpPr txBox="1"/>
          <p:nvPr/>
        </p:nvSpPr>
        <p:spPr>
          <a:xfrm>
            <a:off x="1005840" y="4054450"/>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Elegir el enfoque de entrega por entregable con criterios explícitos</a:t>
            </a:r>
            <a:endParaRPr lang="en-US" sz="1600" dirty="0"/>
          </a:p>
        </p:txBody>
      </p:sp>
      <p:sp>
        <p:nvSpPr>
          <p:cNvPr id="18" name="Shape 16"/>
          <p:cNvSpPr/>
          <p:nvPr/>
        </p:nvSpPr>
        <p:spPr>
          <a:xfrm>
            <a:off x="457200" y="4473245"/>
            <a:ext cx="6355080" cy="373075"/>
          </a:xfrm>
          <a:prstGeom prst="roundRect">
            <a:avLst>
              <a:gd name="adj" fmla="val 14706"/>
            </a:avLst>
          </a:prstGeom>
          <a:solidFill>
            <a:srgbClr val="E9F1F8"/>
          </a:solidFill>
          <a:ln w="12700">
            <a:solidFill>
              <a:srgbClr val="E9F1F8"/>
            </a:solidFill>
            <a:prstDash val="solid"/>
          </a:ln>
        </p:spPr>
      </p:sp>
      <p:sp>
        <p:nvSpPr>
          <p:cNvPr id="19" name="Text 17"/>
          <p:cNvSpPr txBox="1"/>
          <p:nvPr/>
        </p:nvSpPr>
        <p:spPr>
          <a:xfrm>
            <a:off x="548640" y="4473245"/>
            <a:ext cx="384048" cy="373075"/>
          </a:xfrm>
          <a:prstGeom prst="rect">
            <a:avLst/>
          </a:prstGeom>
          <a:noFill/>
          <a:ln/>
        </p:spPr>
        <p:txBody>
          <a:bodyPr wrap="square" lIns="0" tIns="0" rIns="0" bIns="0" rtlCol="0" anchor="ctr"/>
          <a:lstStyle/>
          <a:p>
            <a:pPr algn="ctr" indent="0" marL="0">
              <a:buNone/>
            </a:pPr>
            <a:r>
              <a:rPr lang="en-US" sz="1800" b="1" dirty="0">
                <a:solidFill>
                  <a:srgbClr val="00629B"/>
                </a:solidFill>
                <a:latin typeface="Arial" pitchFamily="34" charset="0"/>
                <a:ea typeface="Arial" pitchFamily="34" charset="-122"/>
                <a:cs typeface="Arial" pitchFamily="34" charset="-120"/>
              </a:rPr>
              <a:t>5</a:t>
            </a:r>
            <a:endParaRPr lang="en-US" sz="1800" dirty="0"/>
          </a:p>
        </p:txBody>
      </p:sp>
      <p:sp>
        <p:nvSpPr>
          <p:cNvPr id="20" name="Text 18"/>
          <p:cNvSpPr txBox="1"/>
          <p:nvPr/>
        </p:nvSpPr>
        <p:spPr>
          <a:xfrm>
            <a:off x="1005840" y="4500677"/>
            <a:ext cx="5696712" cy="318211"/>
          </a:xfrm>
          <a:prstGeom prst="rect">
            <a:avLst/>
          </a:prstGeom>
          <a:noFill/>
          <a:ln/>
        </p:spPr>
        <p:txBody>
          <a:bodyPr wrap="square" lIns="0" tIns="0" rIns="0" bIns="0" rtlCol="0" anchor="ctr"/>
          <a:lstStyle/>
          <a:p>
            <a:pPr indent="0" marL="0">
              <a:buNone/>
            </a:pPr>
            <a:r>
              <a:rPr lang="en-US" sz="1200" dirty="0">
                <a:solidFill>
                  <a:srgbClr val="272425"/>
                </a:solidFill>
                <a:latin typeface="Arial" pitchFamily="34" charset="0"/>
                <a:ea typeface="Arial" pitchFamily="34" charset="-122"/>
                <a:cs typeface="Arial" pitchFamily="34" charset="-120"/>
              </a:rPr>
              <a:t>Separar contingencia, reserva de gestión y presupuesto de cambio, y adaptar la gestión</a:t>
            </a:r>
            <a:endParaRPr lang="en-US" sz="1600" dirty="0"/>
          </a:p>
        </p:txBody>
      </p:sp>
      <p:sp>
        <p:nvSpPr>
          <p:cNvPr id="21" name="Text 19"/>
          <p:cNvSpPr txBox="1"/>
          <p:nvPr/>
        </p:nvSpPr>
        <p:spPr>
          <a:xfrm>
            <a:off x="457200" y="4992624"/>
            <a:ext cx="6355080" cy="329184"/>
          </a:xfrm>
          <a:prstGeom prst="rect">
            <a:avLst/>
          </a:prstGeom>
          <a:noFill/>
          <a:ln/>
        </p:spPr>
        <p:txBody>
          <a:bodyPr wrap="square" lIns="0" tIns="0" rIns="0" bIns="0" rtlCol="0" anchor="t"/>
          <a:lstStyle/>
          <a:p>
            <a:pPr indent="0" marL="0">
              <a:buNone/>
            </a:pPr>
            <a:r>
              <a:rPr lang="en-US" sz="1600" b="1" dirty="0">
                <a:solidFill>
                  <a:srgbClr val="B5651D"/>
                </a:solidFill>
                <a:latin typeface="Arial" pitchFamily="34" charset="0"/>
                <a:ea typeface="Arial" pitchFamily="34" charset="-122"/>
                <a:cs typeface="Arial" pitchFamily="34" charset="-120"/>
              </a:rPr>
              <a:t>Para quién es</a:t>
            </a:r>
            <a:endParaRPr lang="en-US" sz="1600" dirty="0"/>
          </a:p>
        </p:txBody>
      </p:sp>
      <p:sp>
        <p:nvSpPr>
          <p:cNvPr id="22" name="Text 20"/>
          <p:cNvSpPr txBox="1"/>
          <p:nvPr/>
        </p:nvSpPr>
        <p:spPr>
          <a:xfrm>
            <a:off x="457200" y="5358384"/>
            <a:ext cx="6355080" cy="905256"/>
          </a:xfrm>
          <a:prstGeom prst="rect">
            <a:avLst/>
          </a:prstGeom>
          <a:noFill/>
          <a:ln/>
        </p:spPr>
        <p:txBody>
          <a:bodyPr wrap="square" lIns="0" tIns="0" rIns="0" bIns="0" rtlCol="0" anchor="t"/>
          <a:lstStyle/>
          <a:p>
            <a:pPr indent="0" marL="0">
              <a:spcAft>
                <a:spcPts val="600"/>
              </a:spcAft>
              <a:buNone/>
            </a:pPr>
            <a:r>
              <a:rPr lang="en-US" sz="140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400" dirty="0">
                <a:solidFill>
                  <a:srgbClr val="272425"/>
                </a:solidFill>
                <a:latin typeface="Arial" pitchFamily="34" charset="0"/>
                <a:ea typeface="Arial" pitchFamily="34" charset="-122"/>
                <a:cs typeface="Arial" pitchFamily="34" charset="-120"/>
              </a:rPr>
              <a:t>Gestores de proyecto y analistas de negocio que preparan casos de negocio</a:t>
            </a:r>
            <a:endParaRPr lang="en-US" sz="1600" dirty="0"/>
          </a:p>
          <a:p>
            <a:pPr indent="0" marL="0">
              <a:spcAft>
                <a:spcPts val="600"/>
              </a:spcAft>
              <a:buNone/>
            </a:pPr>
            <a:r>
              <a:rPr lang="en-US" sz="140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400" dirty="0">
                <a:solidFill>
                  <a:srgbClr val="272425"/>
                </a:solidFill>
                <a:latin typeface="Arial" pitchFamily="34" charset="0"/>
                <a:ea typeface="Arial" pitchFamily="34" charset="-122"/>
                <a:cs typeface="Arial" pitchFamily="34" charset="-120"/>
              </a:rPr>
              <a:t>Patrocinadores y juntas que autorizan inversiones</a:t>
            </a:r>
            <a:endParaRPr lang="en-US" sz="1600" dirty="0"/>
          </a:p>
          <a:p>
            <a:pPr indent="0" marL="0">
              <a:spcAft>
                <a:spcPts val="600"/>
              </a:spcAft>
              <a:buNone/>
            </a:pPr>
            <a:r>
              <a:rPr lang="en-US" sz="1400" b="1" dirty="0">
                <a:solidFill>
                  <a:srgbClr val="00629B"/>
                </a:solidFill>
                <a:latin typeface="Arial" pitchFamily="34" charset="0"/>
                <a:ea typeface="Arial" pitchFamily="34" charset="-122"/>
                <a:cs typeface="Arial" pitchFamily="34" charset="-120"/>
              </a:rPr>
              <a:t>▪  </a:t>
            </a:r>
            <a:pPr indent="0" marL="0">
              <a:spcAft>
                <a:spcPts val="600"/>
              </a:spcAft>
              <a:buNone/>
            </a:pPr>
            <a:r>
              <a:rPr lang="en-US" sz="1400" dirty="0">
                <a:solidFill>
                  <a:srgbClr val="272425"/>
                </a:solidFill>
                <a:latin typeface="Arial" pitchFamily="34" charset="0"/>
                <a:ea typeface="Arial" pitchFamily="34" charset="-122"/>
                <a:cs typeface="Arial" pitchFamily="34" charset="-120"/>
              </a:rPr>
              <a:t>Equipos de PMO que definen cómo adaptar la gestión a cada proyecto</a:t>
            </a:r>
            <a:endParaRPr lang="en-US" sz="1600" dirty="0"/>
          </a:p>
        </p:txBody>
      </p:sp>
      <p:pic>
        <p:nvPicPr>
          <p:cNvPr id="23" name="Image 0" descr="Del caso: el piloto bajó el VAN de las dos opciones; la opción 2 sigue siendo la mejor.">    </p:cNvPr>
          <p:cNvPicPr>
            <a:picLocks noChangeAspect="1"/>
          </p:cNvPicPr>
          <p:nvPr/>
        </p:nvPicPr>
        <p:blipFill>
          <a:blip r:embed="rId1"/>
          <a:stretch>
            <a:fillRect/>
          </a:stretch>
        </p:blipFill>
        <p:spPr>
          <a:xfrm>
            <a:off x="7132320" y="2304288"/>
            <a:ext cx="4599432" cy="2587181"/>
          </a:xfrm>
          <a:prstGeom prst="rect">
            <a:avLst/>
          </a:prstGeom>
        </p:spPr>
      </p:pic>
      <p:sp>
        <p:nvSpPr>
          <p:cNvPr id="24" name="Shape 21"/>
          <p:cNvSpPr/>
          <p:nvPr/>
        </p:nvSpPr>
        <p:spPr>
          <a:xfrm>
            <a:off x="7132320" y="2304288"/>
            <a:ext cx="4599432" cy="2587181"/>
          </a:xfrm>
          <a:prstGeom prst="rect">
            <a:avLst/>
          </a:prstGeom>
          <a:solidFill>
            <a:srgbClr val="FFFFFF">
              <a:alpha val="0"/>
            </a:srgbClr>
          </a:solidFill>
          <a:ln w="9525">
            <a:solidFill>
              <a:srgbClr val="E2E2E6"/>
            </a:solidFill>
            <a:prstDash val="solid"/>
          </a:ln>
        </p:spPr>
      </p:sp>
      <p:sp>
        <p:nvSpPr>
          <p:cNvPr id="25" name="Text 22"/>
          <p:cNvSpPr txBox="1"/>
          <p:nvPr/>
        </p:nvSpPr>
        <p:spPr>
          <a:xfrm>
            <a:off x="7132320" y="4946333"/>
            <a:ext cx="4599432" cy="420624"/>
          </a:xfrm>
          <a:prstGeom prst="rect">
            <a:avLst/>
          </a:prstGeom>
          <a:noFill/>
          <a:ln/>
        </p:spPr>
        <p:txBody>
          <a:bodyPr wrap="square" lIns="0" tIns="0" rIns="0" bIns="0" rtlCol="0" anchor="t"/>
          <a:lstStyle/>
          <a:p>
            <a:pPr indent="0" marL="0">
              <a:buNone/>
            </a:pPr>
            <a:r>
              <a:rPr lang="en-US" sz="1200" i="1" dirty="0">
                <a:solidFill>
                  <a:srgbClr val="696969"/>
                </a:solidFill>
                <a:latin typeface="Arial" pitchFamily="34" charset="0"/>
                <a:ea typeface="Arial" pitchFamily="34" charset="-122"/>
                <a:cs typeface="Arial" pitchFamily="34" charset="-120"/>
              </a:rPr>
              <a:t>Del caso: el piloto bajó el VAN de las dos opciones; la opción 2 sigue siendo la mejor.</a:t>
            </a:r>
            <a:endParaRPr lang="en-US" sz="1600" dirty="0"/>
          </a:p>
        </p:txBody>
      </p:sp>
      <p:sp>
        <p:nvSpPr>
          <p:cNvPr id="26" name="Shape 23"/>
          <p:cNvSpPr/>
          <p:nvPr/>
        </p:nvSpPr>
        <p:spPr>
          <a:xfrm>
            <a:off x="7132320" y="5458396"/>
            <a:ext cx="4599432" cy="805244"/>
          </a:xfrm>
          <a:prstGeom prst="roundRect">
            <a:avLst>
              <a:gd name="adj" fmla="val 9084"/>
            </a:avLst>
          </a:prstGeom>
          <a:solidFill>
            <a:srgbClr val="002855"/>
          </a:solidFill>
          <a:ln w="12700">
            <a:solidFill>
              <a:srgbClr val="002855"/>
            </a:solidFill>
            <a:prstDash val="solid"/>
          </a:ln>
        </p:spPr>
      </p:sp>
      <p:sp>
        <p:nvSpPr>
          <p:cNvPr id="27" name="Text 24"/>
          <p:cNvSpPr txBox="1"/>
          <p:nvPr/>
        </p:nvSpPr>
        <p:spPr>
          <a:xfrm>
            <a:off x="7315200" y="5549836"/>
            <a:ext cx="4233672" cy="310896"/>
          </a:xfrm>
          <a:prstGeom prst="rect">
            <a:avLst/>
          </a:prstGeom>
          <a:noFill/>
          <a:ln/>
        </p:spPr>
        <p:txBody>
          <a:bodyPr wrap="square" lIns="0" tIns="0" rIns="0" bIns="0" rtlCol="0" anchor="t"/>
          <a:lstStyle/>
          <a:p>
            <a:pPr indent="0" marL="0">
              <a:buNone/>
            </a:pPr>
            <a:r>
              <a:rPr lang="en-US" sz="1600" b="1" dirty="0">
                <a:solidFill>
                  <a:srgbClr val="9FD0F0"/>
                </a:solidFill>
                <a:latin typeface="Arial" pitchFamily="34" charset="0"/>
                <a:ea typeface="Arial" pitchFamily="34" charset="-122"/>
                <a:cs typeface="Arial" pitchFamily="34" charset="-120"/>
              </a:rPr>
              <a:t>3 h en total · 2 clases de 90 minutos</a:t>
            </a:r>
            <a:endParaRPr lang="en-US" sz="1600" dirty="0"/>
          </a:p>
        </p:txBody>
      </p:sp>
      <p:sp>
        <p:nvSpPr>
          <p:cNvPr id="28" name="Text 25"/>
          <p:cNvSpPr txBox="1"/>
          <p:nvPr/>
        </p:nvSpPr>
        <p:spPr>
          <a:xfrm>
            <a:off x="7315200" y="5860733"/>
            <a:ext cx="4233672" cy="329756"/>
          </a:xfrm>
          <a:prstGeom prst="rect">
            <a:avLst/>
          </a:prstGeom>
          <a:noFill/>
          <a:ln/>
        </p:spPr>
        <p:txBody>
          <a:bodyPr wrap="square" lIns="0" tIns="0" rIns="0" bIns="0" rtlCol="0" anchor="t"/>
          <a:lstStyle/>
          <a:p>
            <a:pPr indent="0" marL="0">
              <a:buNone/>
            </a:pPr>
            <a:r>
              <a:rPr lang="en-US" sz="1050" dirty="0">
                <a:solidFill>
                  <a:srgbClr val="FFFFFF"/>
                </a:solidFill>
                <a:latin typeface="Arial" pitchFamily="34" charset="0"/>
                <a:ea typeface="Arial" pitchFamily="34" charset="-122"/>
                <a:cs typeface="Arial" pitchFamily="34" charset="-120"/>
              </a:rPr>
              <a:t>Fecha, horario, lugar o enlace e inscripción: a completar por quien organiza.</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3" type="title" hasCustomPrompt="1"/>
          </p:nvPr>
        </p:nvSpPr>
        <p:spPr>
          <a:xfrm>
            <a:off x="658368" y="365760"/>
            <a:ext cx="9244584" cy="713232"/>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Cómo es el taller y qué te llevás</a:t>
            </a:r>
            <a:endParaRPr lang="en-US" sz="2400" dirty="0"/>
          </a:p>
        </p:txBody>
      </p:sp>
      <p:sp>
        <p:nvSpPr>
          <p:cNvPr id="3" name="Text 1"/>
          <p:cNvSpPr txBox="1"/>
          <p:nvPr/>
        </p:nvSpPr>
        <p:spPr>
          <a:xfrm>
            <a:off x="457200" y="1207008"/>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Cómo trabajás con el agente</a:t>
            </a:r>
            <a:endParaRPr lang="en-US" sz="1600" dirty="0"/>
          </a:p>
        </p:txBody>
      </p:sp>
      <p:sp>
        <p:nvSpPr>
          <p:cNvPr id="4" name="Shape 2"/>
          <p:cNvSpPr/>
          <p:nvPr/>
        </p:nvSpPr>
        <p:spPr>
          <a:xfrm>
            <a:off x="457200" y="1600200"/>
            <a:ext cx="5500116" cy="1043559"/>
          </a:xfrm>
          <a:prstGeom prst="roundRect">
            <a:avLst>
              <a:gd name="adj" fmla="val 7010"/>
            </a:avLst>
          </a:prstGeom>
          <a:solidFill>
            <a:srgbClr val="E9F1F8"/>
          </a:solidFill>
          <a:ln w="12700">
            <a:solidFill>
              <a:srgbClr val="E9F1F8"/>
            </a:solidFill>
            <a:prstDash val="solid"/>
          </a:ln>
        </p:spPr>
      </p:sp>
      <p:sp>
        <p:nvSpPr>
          <p:cNvPr id="5" name="Text 3"/>
          <p:cNvSpPr txBox="1"/>
          <p:nvPr/>
        </p:nvSpPr>
        <p:spPr>
          <a:xfrm>
            <a:off x="557784" y="1700784"/>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Lo hace el agente (Claude Code con pm-method)</a:t>
            </a:r>
            <a:endParaRPr lang="en-US" sz="1050" dirty="0"/>
          </a:p>
        </p:txBody>
      </p:sp>
      <p:sp>
        <p:nvSpPr>
          <p:cNvPr id="6" name="Text 4"/>
          <p:cNvSpPr txBox="1"/>
          <p:nvPr/>
        </p:nvSpPr>
        <p:spPr>
          <a:xfrm>
            <a:off x="557784" y="1874139"/>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Busca lecciones aprobadas de otros proyectos, en solo lectura</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Calcula VAN, TIR, repago y sensibilidad desde los flujos de cada opción</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Avisa de supuestos sin experimento, fechas vencidas y resultados sin tratar</a:t>
            </a:r>
            <a:endParaRPr lang="en-US" sz="1600" dirty="0"/>
          </a:p>
        </p:txBody>
      </p:sp>
      <p:sp>
        <p:nvSpPr>
          <p:cNvPr id="7" name="Shape 5"/>
          <p:cNvSpPr/>
          <p:nvPr/>
        </p:nvSpPr>
        <p:spPr>
          <a:xfrm>
            <a:off x="457200" y="2707767"/>
            <a:ext cx="5500116" cy="1043559"/>
          </a:xfrm>
          <a:prstGeom prst="roundRect">
            <a:avLst>
              <a:gd name="adj" fmla="val 7010"/>
            </a:avLst>
          </a:prstGeom>
          <a:solidFill>
            <a:srgbClr val="FBF1E6"/>
          </a:solidFill>
          <a:ln w="12700">
            <a:solidFill>
              <a:srgbClr val="FBF1E6"/>
            </a:solidFill>
            <a:prstDash val="solid"/>
          </a:ln>
        </p:spPr>
      </p:sp>
      <p:sp>
        <p:nvSpPr>
          <p:cNvPr id="8" name="Text 6"/>
          <p:cNvSpPr txBox="1"/>
          <p:nvPr/>
        </p:nvSpPr>
        <p:spPr>
          <a:xfrm>
            <a:off x="557784" y="2808351"/>
            <a:ext cx="5298948" cy="173355"/>
          </a:xfrm>
          <a:prstGeom prst="rect">
            <a:avLst/>
          </a:prstGeom>
          <a:noFill/>
          <a:ln/>
        </p:spPr>
        <p:txBody>
          <a:bodyPr wrap="square" lIns="0" tIns="0" rIns="0" bIns="0" rtlCol="0" anchor="t"/>
          <a:lstStyle/>
          <a:p>
            <a:pPr indent="0" marL="0">
              <a:buNone/>
            </a:pPr>
            <a:r>
              <a:rPr lang="en-US" sz="1050" b="1" dirty="0">
                <a:solidFill>
                  <a:srgbClr val="B5651D"/>
                </a:solidFill>
                <a:latin typeface="Arial" pitchFamily="34" charset="0"/>
                <a:ea typeface="Arial" pitchFamily="34" charset="-122"/>
                <a:cs typeface="Arial" pitchFamily="34" charset="-120"/>
              </a:rPr>
              <a:t>Lo decidís vos</a:t>
            </a:r>
            <a:endParaRPr lang="en-US" sz="1050" dirty="0"/>
          </a:p>
        </p:txBody>
      </p:sp>
      <p:sp>
        <p:nvSpPr>
          <p:cNvPr id="9" name="Text 7"/>
          <p:cNvSpPr txBox="1"/>
          <p:nvPr/>
        </p:nvSpPr>
        <p:spPr>
          <a:xfrm>
            <a:off x="557784" y="2981706"/>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El equipo fija el criterio de cada experimento antes del resultado</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La junta elige la opción y acepta por escrito lo que no se validó</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El gestor adapta la formalidad de la gestión al contexto</a:t>
            </a:r>
            <a:endParaRPr lang="en-US" sz="1600" dirty="0"/>
          </a:p>
        </p:txBody>
      </p:sp>
      <p:sp>
        <p:nvSpPr>
          <p:cNvPr id="10" name="Shape 8"/>
          <p:cNvSpPr/>
          <p:nvPr/>
        </p:nvSpPr>
        <p:spPr>
          <a:xfrm>
            <a:off x="457200" y="3815334"/>
            <a:ext cx="5500116" cy="576072"/>
          </a:xfrm>
          <a:prstGeom prst="roundRect">
            <a:avLst>
              <a:gd name="adj" fmla="val 12698"/>
            </a:avLst>
          </a:prstGeom>
          <a:solidFill>
            <a:srgbClr val="002855"/>
          </a:solidFill>
          <a:ln w="12700">
            <a:solidFill>
              <a:srgbClr val="002855"/>
            </a:solidFill>
            <a:prstDash val="solid"/>
          </a:ln>
        </p:spPr>
      </p:sp>
      <p:sp>
        <p:nvSpPr>
          <p:cNvPr id="11" name="Text 9"/>
          <p:cNvSpPr txBox="1"/>
          <p:nvPr/>
        </p:nvSpPr>
        <p:spPr>
          <a:xfrm>
            <a:off x="557784" y="3915918"/>
            <a:ext cx="5298948" cy="374904"/>
          </a:xfrm>
          <a:prstGeom prst="rect">
            <a:avLst/>
          </a:prstGeom>
          <a:noFill/>
          <a:ln/>
        </p:spPr>
        <p:txBody>
          <a:bodyPr wrap="square" lIns="0" tIns="0" rIns="0" bIns="0" rtlCol="0" anchor="t"/>
          <a:lstStyle/>
          <a:p>
            <a:pPr indent="0" marL="0">
              <a:buNone/>
            </a:pPr>
            <a:r>
              <a:rPr lang="en-US" sz="1050" b="1" dirty="0">
                <a:solidFill>
                  <a:srgbClr val="9FD0F0"/>
                </a:solidFill>
                <a:latin typeface="Arial" pitchFamily="34" charset="0"/>
                <a:ea typeface="Arial" pitchFamily="34" charset="-122"/>
                <a:cs typeface="Arial" pitchFamily="34" charset="-120"/>
              </a:rPr>
              <a:t>Control humano: </a:t>
            </a:r>
            <a:pPr indent="0" marL="0">
              <a:buNone/>
            </a:pPr>
            <a:r>
              <a:rPr lang="en-US" sz="1050" dirty="0">
                <a:solidFill>
                  <a:srgbClr val="FFFFFF"/>
                </a:solidFill>
                <a:latin typeface="Arial" pitchFamily="34" charset="0"/>
                <a:ea typeface="Arial" pitchFamily="34" charset="-122"/>
                <a:cs typeface="Arial" pitchFamily="34" charset="-120"/>
              </a:rPr>
              <a:t>El agente calcula y verifica; la junta decide. Un supuesto crítico sin validar queda como condición de la puerta hasta que la junta lo acepta.</a:t>
            </a:r>
            <a:endParaRPr lang="en-US" sz="1600" dirty="0"/>
          </a:p>
        </p:txBody>
      </p:sp>
      <p:sp>
        <p:nvSpPr>
          <p:cNvPr id="12" name="Shape 10"/>
          <p:cNvSpPr/>
          <p:nvPr/>
        </p:nvSpPr>
        <p:spPr>
          <a:xfrm>
            <a:off x="457200" y="4455414"/>
            <a:ext cx="5500116" cy="1418463"/>
          </a:xfrm>
          <a:prstGeom prst="roundRect">
            <a:avLst>
              <a:gd name="adj" fmla="val 5157"/>
            </a:avLst>
          </a:prstGeom>
          <a:solidFill>
            <a:srgbClr val="F4F6F8"/>
          </a:solidFill>
          <a:ln w="12700">
            <a:solidFill>
              <a:srgbClr val="F4F6F8"/>
            </a:solidFill>
            <a:prstDash val="solid"/>
          </a:ln>
        </p:spPr>
      </p:sp>
      <p:sp>
        <p:nvSpPr>
          <p:cNvPr id="13" name="Text 11"/>
          <p:cNvSpPr txBox="1"/>
          <p:nvPr/>
        </p:nvSpPr>
        <p:spPr>
          <a:xfrm>
            <a:off x="557784" y="4555998"/>
            <a:ext cx="5298948" cy="173355"/>
          </a:xfrm>
          <a:prstGeom prst="rect">
            <a:avLst/>
          </a:prstGeom>
          <a:noFill/>
          <a:ln/>
        </p:spPr>
        <p:txBody>
          <a:bodyPr wrap="square" lIns="0" tIns="0" rIns="0" bIns="0" rtlCol="0" anchor="t"/>
          <a:lstStyle/>
          <a:p>
            <a:pPr indent="0" marL="0">
              <a:buNone/>
            </a:pPr>
            <a:r>
              <a:rPr lang="en-US" sz="1050" b="1" dirty="0">
                <a:solidFill>
                  <a:srgbClr val="B5651D"/>
                </a:solidFill>
                <a:latin typeface="Arial" pitchFamily="34" charset="0"/>
                <a:ea typeface="Arial" pitchFamily="34" charset="-122"/>
                <a:cs typeface="Arial" pitchFamily="34" charset="-120"/>
              </a:rPr>
              <a:t>Antes de inscribirte</a:t>
            </a:r>
            <a:endParaRPr lang="en-US" sz="1050" dirty="0"/>
          </a:p>
        </p:txBody>
      </p:sp>
      <p:sp>
        <p:nvSpPr>
          <p:cNvPr id="14" name="Text 12"/>
          <p:cNvSpPr txBox="1"/>
          <p:nvPr/>
        </p:nvSpPr>
        <p:spPr>
          <a:xfrm>
            <a:off x="557784" y="4729353"/>
            <a:ext cx="5298948" cy="714756"/>
          </a:xfrm>
          <a:prstGeom prst="rect">
            <a:avLst/>
          </a:prstGeom>
          <a:noFill/>
          <a:ln/>
        </p:spPr>
        <p:txBody>
          <a:bodyPr wrap="square" lIns="0" tIns="0" rIns="0" bIns="0" rtlCol="0" anchor="t"/>
          <a:lstStyle/>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Saber qué es un caso de negocio y un presupuesto; no hace falta calcular VAN a mano</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Una idea o un proyecto propio en evaluación, o el escenario del caso</a:t>
            </a:r>
            <a:endParaRPr lang="en-US" sz="1600" dirty="0"/>
          </a:p>
          <a:p>
            <a:pPr indent="0" marL="0">
              <a:spcAft>
                <a:spcPts val="400"/>
              </a:spcAft>
              <a:buNone/>
            </a:pPr>
            <a:r>
              <a:rPr lang="en-US" sz="1050" b="1" dirty="0">
                <a:solidFill>
                  <a:srgbClr val="B5651D"/>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Nada que instalar ni programar; para practicar después, Claude Code con pm-method</a:t>
            </a:r>
            <a:endParaRPr lang="en-US" sz="1600" dirty="0"/>
          </a:p>
        </p:txBody>
      </p:sp>
      <p:sp>
        <p:nvSpPr>
          <p:cNvPr id="15" name="Text 13"/>
          <p:cNvSpPr txBox="1"/>
          <p:nvPr/>
        </p:nvSpPr>
        <p:spPr>
          <a:xfrm>
            <a:off x="557784" y="5398389"/>
            <a:ext cx="5298948" cy="374904"/>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Modalidad: </a:t>
            </a:r>
            <a:pPr indent="0" marL="0">
              <a:buNone/>
            </a:pPr>
            <a:r>
              <a:rPr lang="en-US" sz="1050" dirty="0">
                <a:solidFill>
                  <a:srgbClr val="272425"/>
                </a:solidFill>
                <a:latin typeface="Arial" pitchFamily="34" charset="0"/>
                <a:ea typeface="Arial" pitchFamily="34" charset="-122"/>
                <a:cs typeface="Arial" pitchFamily="34" charset="-120"/>
              </a:rPr>
              <a:t>Dos clases en vivo de 90 minutos: demostración sobre un caso real y ejercicio de 10 minutos al cierre de cada una.</a:t>
            </a:r>
            <a:endParaRPr lang="en-US" sz="1600" dirty="0"/>
          </a:p>
        </p:txBody>
      </p:sp>
      <p:sp>
        <p:nvSpPr>
          <p:cNvPr id="16" name="Text 14"/>
          <p:cNvSpPr txBox="1"/>
          <p:nvPr/>
        </p:nvSpPr>
        <p:spPr>
          <a:xfrm>
            <a:off x="6231636" y="1207008"/>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Contenidos</a:t>
            </a:r>
            <a:endParaRPr lang="en-US" sz="1600" dirty="0"/>
          </a:p>
        </p:txBody>
      </p:sp>
      <p:sp>
        <p:nvSpPr>
          <p:cNvPr id="17" name="Shape 15"/>
          <p:cNvSpPr/>
          <p:nvPr/>
        </p:nvSpPr>
        <p:spPr>
          <a:xfrm>
            <a:off x="6231636" y="1600200"/>
            <a:ext cx="5500116" cy="1254379"/>
          </a:xfrm>
          <a:prstGeom prst="roundRect">
            <a:avLst>
              <a:gd name="adj" fmla="val 5832"/>
            </a:avLst>
          </a:prstGeom>
          <a:solidFill>
            <a:srgbClr val="F4F6F8"/>
          </a:solidFill>
          <a:ln w="12700">
            <a:solidFill>
              <a:srgbClr val="F4F6F8"/>
            </a:solidFill>
            <a:prstDash val="solid"/>
          </a:ln>
        </p:spPr>
      </p:sp>
      <p:sp>
        <p:nvSpPr>
          <p:cNvPr id="18" name="Text 16"/>
          <p:cNvSpPr txBox="1"/>
          <p:nvPr/>
        </p:nvSpPr>
        <p:spPr>
          <a:xfrm>
            <a:off x="6332220" y="1700784"/>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Clase 1 · 90 min · ¿Vale la pena?</a:t>
            </a:r>
            <a:endParaRPr lang="en-US" sz="1050" dirty="0"/>
          </a:p>
        </p:txBody>
      </p:sp>
      <p:sp>
        <p:nvSpPr>
          <p:cNvPr id="19" name="Text 17"/>
          <p:cNvSpPr txBox="1"/>
          <p:nvPr/>
        </p:nvSpPr>
        <p:spPr>
          <a:xfrm>
            <a:off x="6332220" y="1874139"/>
            <a:ext cx="5298948" cy="92557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Mandato y lecciones de otros proyectos</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Mapa de supuestos y experimentos baratos</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Opciones de negocio con VAN, TIR y repago</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Enfoque de entrega, mapa de valor y recorrido</a:t>
            </a:r>
            <a:endParaRPr lang="en-US" sz="1600" dirty="0"/>
          </a:p>
        </p:txBody>
      </p:sp>
      <p:sp>
        <p:nvSpPr>
          <p:cNvPr id="20" name="Shape 18"/>
          <p:cNvSpPr/>
          <p:nvPr/>
        </p:nvSpPr>
        <p:spPr>
          <a:xfrm>
            <a:off x="6231636" y="2918587"/>
            <a:ext cx="5500116" cy="1254379"/>
          </a:xfrm>
          <a:prstGeom prst="roundRect">
            <a:avLst>
              <a:gd name="adj" fmla="val 5832"/>
            </a:avLst>
          </a:prstGeom>
          <a:solidFill>
            <a:srgbClr val="F4F6F8"/>
          </a:solidFill>
          <a:ln w="12700">
            <a:solidFill>
              <a:srgbClr val="F4F6F8"/>
            </a:solidFill>
            <a:prstDash val="solid"/>
          </a:ln>
        </p:spPr>
      </p:sp>
      <p:sp>
        <p:nvSpPr>
          <p:cNvPr id="21" name="Text 19"/>
          <p:cNvSpPr txBox="1"/>
          <p:nvPr/>
        </p:nvSpPr>
        <p:spPr>
          <a:xfrm>
            <a:off x="6332220" y="3019171"/>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Clase 2 · 90 min · Diseñar el proyecto</a:t>
            </a:r>
            <a:endParaRPr lang="en-US" sz="1050" dirty="0"/>
          </a:p>
        </p:txBody>
      </p:sp>
      <p:sp>
        <p:nvSpPr>
          <p:cNvPr id="22" name="Text 20"/>
          <p:cNvSpPr txBox="1"/>
          <p:nvPr/>
        </p:nvSpPr>
        <p:spPr>
          <a:xfrm>
            <a:off x="6332220" y="3192526"/>
            <a:ext cx="5298948" cy="92557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Beneficios con dueño y producto del proyecto</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Presupuesto con reservas y presupuestos de la junta</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Interesados, personas de usuario y enfoques adaptados</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PID, supuestos sin validar y autorizar-proyecto</a:t>
            </a:r>
            <a:endParaRPr lang="en-US" sz="1600" dirty="0"/>
          </a:p>
        </p:txBody>
      </p:sp>
      <p:sp>
        <p:nvSpPr>
          <p:cNvPr id="23" name="Text 21"/>
          <p:cNvSpPr txBox="1"/>
          <p:nvPr/>
        </p:nvSpPr>
        <p:spPr>
          <a:xfrm>
            <a:off x="6231636" y="4282694"/>
            <a:ext cx="5500116" cy="292608"/>
          </a:xfrm>
          <a:prstGeom prst="rect">
            <a:avLst/>
          </a:prstGeom>
          <a:noFill/>
          <a:ln/>
        </p:spPr>
        <p:txBody>
          <a:bodyPr wrap="square" lIns="0" tIns="0" rIns="0" bIns="0" rtlCol="0" anchor="t"/>
          <a:lstStyle/>
          <a:p>
            <a:pPr indent="0" marL="0">
              <a:buNone/>
            </a:pPr>
            <a:r>
              <a:rPr lang="en-US" sz="1600" b="1" dirty="0">
                <a:solidFill>
                  <a:srgbClr val="002855"/>
                </a:solidFill>
                <a:latin typeface="Arial" pitchFamily="34" charset="0"/>
                <a:ea typeface="Arial" pitchFamily="34" charset="-122"/>
                <a:cs typeface="Arial" pitchFamily="34" charset="-120"/>
              </a:rPr>
              <a:t>Qué te llevás</a:t>
            </a:r>
            <a:endParaRPr lang="en-US" sz="1600" dirty="0"/>
          </a:p>
        </p:txBody>
      </p:sp>
      <p:sp>
        <p:nvSpPr>
          <p:cNvPr id="24" name="Shape 22"/>
          <p:cNvSpPr/>
          <p:nvPr/>
        </p:nvSpPr>
        <p:spPr>
          <a:xfrm>
            <a:off x="6231636" y="4675886"/>
            <a:ext cx="5500116" cy="1624330"/>
          </a:xfrm>
          <a:prstGeom prst="roundRect">
            <a:avLst>
              <a:gd name="adj" fmla="val 4504"/>
            </a:avLst>
          </a:prstGeom>
          <a:solidFill>
            <a:srgbClr val="E9F1F8"/>
          </a:solidFill>
          <a:ln w="12700">
            <a:solidFill>
              <a:srgbClr val="E9F1F8"/>
            </a:solidFill>
            <a:prstDash val="solid"/>
          </a:ln>
        </p:spPr>
      </p:sp>
      <p:sp>
        <p:nvSpPr>
          <p:cNvPr id="25" name="Text 23"/>
          <p:cNvSpPr txBox="1"/>
          <p:nvPr/>
        </p:nvSpPr>
        <p:spPr>
          <a:xfrm>
            <a:off x="6332220" y="4776470"/>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Para vos</a:t>
            </a:r>
            <a:endParaRPr lang="en-US" sz="1050" dirty="0"/>
          </a:p>
        </p:txBody>
      </p:sp>
      <p:sp>
        <p:nvSpPr>
          <p:cNvPr id="26" name="Text 24"/>
          <p:cNvSpPr txBox="1"/>
          <p:nvPr/>
        </p:nvSpPr>
        <p:spPr>
          <a:xfrm>
            <a:off x="6332220" y="4949825"/>
            <a:ext cx="5298948" cy="50393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Un caso de negocio que resiste preguntas difíciles</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Tu hoja de trabajo aplicada a una idea o un proyecto propio</a:t>
            </a:r>
            <a:endParaRPr lang="en-US" sz="1600" dirty="0"/>
          </a:p>
        </p:txBody>
      </p:sp>
      <p:sp>
        <p:nvSpPr>
          <p:cNvPr id="27" name="Text 25"/>
          <p:cNvSpPr txBox="1"/>
          <p:nvPr/>
        </p:nvSpPr>
        <p:spPr>
          <a:xfrm>
            <a:off x="6332220" y="5408041"/>
            <a:ext cx="5298948" cy="173355"/>
          </a:xfrm>
          <a:prstGeom prst="rect">
            <a:avLst/>
          </a:prstGeom>
          <a:noFill/>
          <a:ln/>
        </p:spPr>
        <p:txBody>
          <a:bodyPr wrap="square" lIns="0" tIns="0" rIns="0" bIns="0" rtlCol="0" anchor="t"/>
          <a:lstStyle/>
          <a:p>
            <a:pPr indent="0" marL="0">
              <a:buNone/>
            </a:pPr>
            <a:r>
              <a:rPr lang="en-US" sz="1050" b="1" dirty="0">
                <a:solidFill>
                  <a:srgbClr val="002855"/>
                </a:solidFill>
                <a:latin typeface="Arial" pitchFamily="34" charset="0"/>
                <a:ea typeface="Arial" pitchFamily="34" charset="-122"/>
                <a:cs typeface="Arial" pitchFamily="34" charset="-120"/>
              </a:rPr>
              <a:t>Para tu organización</a:t>
            </a:r>
            <a:endParaRPr lang="en-US" sz="1050" dirty="0"/>
          </a:p>
        </p:txBody>
      </p:sp>
      <p:sp>
        <p:nvSpPr>
          <p:cNvPr id="28" name="Text 26"/>
          <p:cNvSpPr txBox="1"/>
          <p:nvPr/>
        </p:nvSpPr>
        <p:spPr>
          <a:xfrm>
            <a:off x="6332220" y="5581396"/>
            <a:ext cx="5298948" cy="663956"/>
          </a:xfrm>
          <a:prstGeom prst="rect">
            <a:avLst/>
          </a:prstGeom>
          <a:noFill/>
          <a:ln/>
        </p:spPr>
        <p:txBody>
          <a:bodyPr wrap="square" lIns="0" tIns="0" rIns="0" bIns="0" rtlCol="0" anchor="t"/>
          <a:lstStyle/>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Inversiones con la evidencia a la vista: en el caso, un piloto corrigió el VAN antes</a:t>
            </a:r>
            <a:endParaRPr lang="en-US" sz="1600" dirty="0"/>
          </a:p>
          <a:p>
            <a:pPr indent="0" marL="0">
              <a:spcAft>
                <a:spcPts val="400"/>
              </a:spcAft>
              <a:buNone/>
            </a:pPr>
            <a:r>
              <a:rPr lang="en-US" sz="1050" b="1" dirty="0">
                <a:solidFill>
                  <a:srgbClr val="00629B"/>
                </a:solidFill>
                <a:latin typeface="Arial" pitchFamily="34" charset="0"/>
                <a:ea typeface="Arial" pitchFamily="34" charset="-122"/>
                <a:cs typeface="Arial" pitchFamily="34" charset="-120"/>
              </a:rPr>
              <a:t>▪  </a:t>
            </a:r>
            <a:pPr indent="0" marL="0">
              <a:spcAft>
                <a:spcPts val="400"/>
              </a:spcAft>
              <a:buNone/>
            </a:pPr>
            <a:r>
              <a:rPr lang="en-US" sz="1050" dirty="0">
                <a:solidFill>
                  <a:srgbClr val="272425"/>
                </a:solidFill>
                <a:latin typeface="Arial" pitchFamily="34" charset="0"/>
                <a:ea typeface="Arial" pitchFamily="34" charset="-122"/>
                <a:cs typeface="Arial" pitchFamily="34" charset="-120"/>
              </a:rPr>
              <a:t>Presupuestos y tolerancias de la junta fijados antes de ejecutar</a:t>
            </a:r>
            <a:endParaRPr lang="en-US" sz="1600" dirty="0"/>
          </a:p>
        </p:txBody>
      </p:sp>
      <p:sp>
        <p:nvSpPr>
          <p:cNvPr id="25" name="Slide Number Placeholder 0"/>
          <p:cNvSpPr>
            <a:spLocks noGrp="1"/>
          </p:cNvSpPr>
          <p:nvPr>
            <p:ph type="sldNum" sz="quarter" idx="4294967295"/>
          </p:nvPr>
        </p:nvSpPr>
        <p:spPr>
          <a:xfrm>
            <a:off x="11091672" y="6419088"/>
            <a:ext cx="64008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696969"/>
                </a:solidFill>
              </a:defRPr>
            </a:lvl1pPr>
          </a:lstStyle>
          <a:p>
            <a:pPr algn="r"/>
            <a:fld id="{F7021451-1387-4CA6-816F-3879F97B5CBC}" type="slidenum">
              <a:rPr b="0" lang="en-US"/>
              <a:t>2</a:t>
            </a:fld>
            <a:endParaRPr lang="en-US"/>
          </a:p>
        </p:txBody>
      </p:sp>
    </p:spTree>
  </p:cSld>
  <p:clrMapOvr>
    <a:masterClrMapping/>
  </p:clrMapOvr>
</p:sld>
</file>

<file path=ppt/theme/theme1.xml><?xml version="1.0" encoding="utf-8"?>
<a:theme xmlns:a="http://schemas.openxmlformats.org/drawingml/2006/main" name="Webinar pm-method">
  <a:themeElements>
    <a:clrScheme name="Webinar pm-method">
      <a:dk1>
        <a:srgbClr val="272425"/>
      </a:dk1>
      <a:lt1>
        <a:srgbClr val="FFFFFF"/>
      </a:lt1>
      <a:dk2>
        <a:srgbClr val="002855"/>
      </a:dk2>
      <a:lt2>
        <a:srgbClr val="F4F6F8"/>
      </a:lt2>
      <a:accent1>
        <a:srgbClr val="00629B"/>
      </a:accent1>
      <a:accent2>
        <a:srgbClr val="B5651D"/>
      </a:accent2>
      <a:accent3>
        <a:srgbClr val="002855"/>
      </a:accent3>
      <a:accent4>
        <a:srgbClr val="696969"/>
      </a:accent4>
      <a:accent5>
        <a:srgbClr val="272425"/>
      </a:accent5>
      <a:accent6>
        <a:srgbClr val="00629B"/>
      </a:accent6>
      <a:hlink>
        <a:srgbClr val="00629B"/>
      </a:hlink>
      <a:folHlink>
        <a:srgbClr val="002855"/>
      </a:folHlink>
    </a:clrScheme>
    <a:fontScheme name="Webinar pm-metho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Ficha del taller E2E-5 · ¿Vale la pena? Validar la idea antes de invertir y diseñar el proyecto</dc:title>
  <dc:subject>pm-method 2.4.0</dc:subject>
  <dc:creator>pm-method</dc:creator>
  <cp:lastModifiedBy>pm-method</cp:lastModifiedBy>
  <cp:revision>1</cp:revision>
  <dcterms:created xsi:type="dcterms:W3CDTF">2026-10-22T12:25:54Z</dcterms:created>
  <dcterms:modified xsi:type="dcterms:W3CDTF">2026-10-22T12:25:54Z</dcterms:modified>
</cp:coreProperties>
</file>