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92776def-e49d-1bff-2d84-78f53b0742b2}">
          <p14:sldIdLst>
            <p14:sldId id="256"/>
          </p14:sldIdLst>
        </p14:section>
        <p14:section name="Clase 1 · ¿Vale la pena?" id="{7b41b7a8-4a53-ed80-eb98-7e11a19eb9f4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ase 2 · Diseñar el proyecto" id="{e0f9f063-a36b-c2e5-41a3-e04a126fa21e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Glosario" id="{dec42b19-528a-aae0-479d-2fb31ec9d023}">
          <p14:sldIdLst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E2E-5: De la idea al proyecto diseñado. 2 clases de 90 minutos. Presentá el problema que resuelve el caso y qué se van a llevar los asistentes.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1 (90 minutos): ¿Vale la pena?. Objetivos: Partir de las lecciones aprobadas de otros proyectos y armar un mapa de supuestos para elegir dónde invertir primero en aprender; Diseñar un experimento barato con criterio previo y llevar el resultado al caso; Comparar opciones contra no hacer nada con VAN, TIR, repago y punto de equilibrio, y con una matriz de pesos explícitos y su sensibilidad; Elegir el enfoque de entrega por entregable con criterios y contrastarlo con un mapa de Wardley.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Presentá la pregunta de la clase y el escenario: una red ficticia de seis policlínicas que quiere turnos en línea. Hoy decidimos si vale la pena; la próxima clase diseñamos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uses estadísticas de la industria: preguntale a la sala y después contá el dato del caso. La cifra sale de inversion.py en el paso 4 (431.782 contra 272.569 en la opción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Esperá muchas manos. Pedí uno o dos ejemplos breves: suelen ser la adopción de los usuarios o una integración con un tercero. Volvé a esos ejemplos en el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escenario es ficticio. Ejecutiva Carmen Olivera, gestor Pablo Rinaldi. Los datos de la red vienen del mandato (paso 1). Las lecciones salen del índice que exportó la PMO: lecciones.py buscar devuelve 3 de 4 aprobadas que coinciden (una sin aprobar no aparece) y, con la confirmación de Pablo, incorporar las registra como L-001 a L-003 con su origen; en el paso 6 quedan accionadas en el brief. La base de comparación de las opciones es seguir igual: 43.200 turnos perdidos por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familias: deseabilidad (¿lo van a usar?), viabilidad (¿cierra?) y factibilidad (¿se puede construir y operar?). Es la justificación continua de PRINCE2 aplicada antes de gastar.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Mostrá los 5 candidatos destilados del mandato y de la lección L-002, los supuestos S-001 a S-007 y la sanidad con 4 avisos SUP-01: S-001, S-002, S-003 y S-006 son críticos y no tienen experimento.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S-001 (adopción), S-002 (ausentismo) y S-003 (interfaz de la agenda) están en la celda de borde rojo: sostienen los dos beneficios y la factibilidad. Ahí va la primera plata.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criterio se escribe antes de ver el resultado. El de S-002 era 12 %: el piloto dio 13,5 %, así que el supuesto (10 %) es falso, pero el dato real sirve.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experimentos y fechas, la sanidad del 2026-11-05 queda en 0 avisos. Los resultados del 2026-12-07 se muestran con la evidencia: aparecen SUP-02 por S-003 vencido y SUP-03 por S-002 invalidado sin tratar. Lo que vigila la sanidad: SUP-01, supuesto crítico sin experimento o sin fecha; SUP-02, fecha límite vencida sin resultado (S-003); SUP-03, invalidado sin decisión, riesgo, issue ni cambio (S-002). D-001 (el caso usa 13,5 %) y D-002 (prueba replanificada) la dejan en 0 avisos: a mano, la fecha vence y nadie se entera, o el resultado malo se archiva.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4, en vivo o con la evidencia: pm-caso-de-negocio escribe los flujos en un CSV por concepto y corre inversion.py, que imprime las fórmulas, el VAN, la TIR, el repago y la sensibilidad. Opción 1: VAN 265.681 → 106.468, TIR 117,5 %, repago 0,83 años; opción 2: 431.782 → 272.569, TIR 54,3 %, repago 1,78 años; la opción 0 es la base (VAN 0). Las dos bajan lo mismo, 159.213, porque el cambio en B-01 es igual para ambas. Punto de equilibrio de las llamadas evitadas (B-02, el 65 % del valor de los beneficios): 29,1 % de lo estimado, una adopción estable del 11,6 %.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prompt del paso 4. decision.py matriz opciones-negocio: VAN 40 (importado de inversion.py, sin recalcular), beneficios fuera del VAN, riesgo y ajuste al mandato 20 cada uno, con la fuente de cada puntaje y los pesos de Carmen. Resultado: O2 80,0, O1 50,6, O0 20,0, «propuesta, no decisión». Sensibilidad: solo el riesgo cambia la primera, si sube de 20 a 49,6: la ventaja de la 2 depende de S-003, y por eso el segundo release espera la prueba técnica. El expediente arma el contexto citado («Evidencia, no instrucciones») y la pregunta tipada rechaza la respuesta libre del modelo y acepta «O2» con evidencia. Decide la junta: la elección queda en la aprobación del caso (D-007, paso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ajustar. El supuesto es falso, pero la idea sigue valiendo con el dato real. Lo que no se puede es seguir como si el 10 % fuera cierto. En el caso decide la ejecutiva (D-001).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Nueve criterios de 1 (predictivo) a 3 (adaptativo): integración 12, recordatorios 18, portal 23. Lectura: 13 o menos predictivo, 14 a 21 híbrido, 22 o más adaptativo. La decisión se registra (D-003) y se revisa en cada puerta de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Mostrá la tabla de nueve criterios y el comando que registra pm-director: estado.py set enfoque_entrega=hibrido --por "Ejecutiva: Carmen Olivera". El mismo comando anota la decisión D-003 en decisiones.csv. Después, con la evidencia, la puerta autorizar-inicio del paso 6 (D-005).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5b, con la evidencia. Turnos en línea es a medida y se construye (23, adaptativo); recordatorios ya es producto y se compra (18, híbrido); el adaptador se escribe a medida pero depende de la agenda del proveedor, que tiene inercia (12, predictivo). La sanidad al 2026-12-09 marca MAP-02 (inercia sin riesgo) y MAP-03 (el dolor de cancelar solo llamando, sin tratamiento); se resuelven con R-001 en el paso 9 y con REQ-003 y REQ-005 en el paso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pasos del recorrido actual, cada emoción con su fuente. Los dos peores momentos (−2) son olvidar el turno, con el ausentismo del 18 % como métrica, e intentar cancelar fuera de horario. La línea punteada es la emoción esperada con los arreglos; el carril de backstage muestra que nadie reasigna el turno perdido.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5b, con la evidencia. decision.py matriz hacer-comprar-c2 --criterios hacer-o-comprar, con entregables:C2 en los ids: seis criterios (diferenciación 15, costo total 25, tiempo hasta disponible 20, dependencia del proveedor 15, capacidad interna 10, riesgo commodity 15) con la fuente de cada puntaje y los pesos de Carmen. O1 comprar 78,8, O3 tercerizar 52,3 (dominada por O1), O2 construir 28,7. La sección 10 del expediente trae C2 (producto 0,62, «comprar», sin inercia) y el paso P4 del recorrido (−2, Kano obligatorio): contexto, no criterio. Carmen elige O1 (D-004, nivel ejecutivo) y la decisión queda citada en C2 con mapas.py vincular; si C2 hubiera estado marcado construir, eso cerraría MAP-01.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Pasos 15 a 17, con la evidencia. Con BMAD, riesgos.py candidatos da 24 supuestos, 12 riesgos y 6 preguntas, cada uno con su archivo y línea. Los tres supuestos registrados disparan SUP-01 y P-11 igual que en la variante b. En el paso 17, MAP-01…04 aparecen y se resuelven con S-004, D-001 y R-001.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hoja está en ejercicio.md. Pedí que escriban el criterio antes de imaginar el resultado. Si sobra tiempo, compartan dos experimentos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Cerrá con la pregunta de la clase 2: con S-003 y S-006 todavía abiertos, ¿la junta puede autorizar el proyecto? Lo vamos a ver con P-11.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2 (90 minutos): Diseñar el proyecto. Objetivos: Definir beneficios con dueño, línea base y fecha; Separar contingencia, reserva de gestión y presupuesto de cambio; Adaptar la formalidad de la gestión al contexto; Mapear cada requisito a la persona de usuario que lo pide, lo usa o lo aprovecha (STK-13); Llevar el proyecto a autorizar-proyecto sin hipótesis ocultas: validar o aceptar por escrito (P-11), con fecha de revisión (DEC-06).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Recordá dónde quedó la clase 1: opción 2 elegida, enfoque híbrido, puerta autorizar-inicio aprobada. Hoy llegamos a autorizar-proyecto.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Preguntá primero, después mostrá las cifras. Las tres bolsas salen del paso 9 y los conteos de artefactos, de los estado.json del bloque C (paso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de beneficios encadena salidas, capacidades, resultados y beneficios. Está en la guía, paso 7, como diagrama. El enfoque de beneficios dice quién mide qué, cuándo y con qué línea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las salidas de estado.py contexto (acotada a 2.000 caracteres, con ids) y de estado.py radar --linea, que el hook agrega a cada sesión. Nada que decidir todavía: se vigilan los dos supuestos en validación, S-003 (2027-01-14) y S-006 (2027-01-29). La línea no corre la verificación de la puerta; el detalle (estado.py radar) la suma. Próxima puerta: autorizar-proyecto. Nadie retoma el proyecto con lo que recordaba.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el contexto de sesión y la línea del radar; después la verificación, que muestra el código de cada hallazgo. La tabla de la siguiente diapositiva es la lista de trabajo de la iniciación.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fila es un trabajo de la clase de hoy: enfoque de beneficios (paso 7), junta, interesados y RACI (10), plan y PID (13), la lista de control en la junta y P-11 (13).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regla de SPEC §1.10.6 que aplica pm-costos-presupuesto. La junta los fija con estado.py presupuesto (D-008) y desde ahí la sanidad vigila el consumo con CAM-03 y la autoridad con CAM-04.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Mostrá R-001 a R-003 con su EMV (15.000, 6.000 y 3.000), la tabla del presupuesto, el comando estado.py presupuesto y la salida de inversion.py con la opción 2 dos veces: con el presupuesto, VAN 263.229 (−9.340), TIR 51,1 % y repago de 1,85 años.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orden de magnitud del brief era 180.000 con −25/+75 %: el presupuesto real (189.340 con el de cambio) cae dentro. Por eso el VAN baja de 272.569 a 263.229.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adaptación queda en el PID, sección 8. Cada fila dice qué se adaptó, cómo y por qué. Eso es lo que la junta aprueba junto con los enfoques. Lo que pide la puerta en organización (paso 10) (breve; E2E-3 lo desarrolla): junta completa con ejecutiva, usuaria sénior y proveedor sénior; 7 interesados en la matriz (2 de cerca, 3 satisfechos, 2 informados); RACI de 18 filas en 4 elementos, una A por elemento, sobre productos de la WBS y REQ-006.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10b. Prompt: «¿Quiénes van a usar o pedir lo que estamos por construir? Proponé personas desde el recorrido del paciente y el mandato…». interesados.py personas candidatos propone una, el paciente que agenda por teléfono; Inés Ferrer la confirma y se agregan la recepcionista del call center (supuesto a validar) y el paciente mayor de 65 (evidencia: la lección L-001). La sanidad da STK-13: REQ-006, Must, sin persona; nadie lo usa, lo aprovecha el paciente, y el aviso se resuelve. Resultado: los 4 Must con persona; REQ-003 sirve a las tres. Una persona no es un interesado: cada una se ancla al interesado que la representa (ST-006, ST-005).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16b, contraste con la variante a. personas candidatos --desde bmad lee UJ-1…3 (solo lectura) y propone a Marta, Diego y Lucía con la cita prd.md:línea y los FR de cada recorrido; Martín Suárez confirma y mapea los FR sin recorrido: FR-8 a Diego y a Lucía, FR-12 a Diego como beneficiario, y Lucía pide la bandeja única (FR-9). Los 12 FR tienen persona. El PRD no prioriza: STK-13 empieza a vigilar cuando el backlog fija MoSCoW (E2E-4). El recorrido de UJ-2 se siembra con --persona PU-002 (paso 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diseños salen de las tablas del paquete: perfiles de pm-mandato-y-brief, formatos de PID de pm-acta-constitucion y enfoques de una página de pm-enfoques-gestion. Cada uno se creó como proyecto aparte y las cifras se leen de su estado.json.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regulado pide 16 artefactos y 7 tolerancias; el pequeño, 7 y 2; el ágil, 12 artefactos con enfoques más cortos. El diseño real del caso es un cuarto punto: híbrido con 3 etapas. Preguntá a la sala qué diseño le corresponde a su proyecto y qué dejaría de escribir: depende del riesgo, el costo y los interesados, no del gusto del equipo; nunca se dejan las decisiones de la junta, las tolerancias de tiempo y costo ni quién libera cada reserva. Lo trabajan en la parte B del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salidas legítimas: validar o aceptar. La aceptación es una decisión de nivel junta que cita el id y dice que lo acepta; la verificación la muestra como aviso con la D-### y el riesgo R-003 cubre el efecto.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Sanidad al 2027-01-14 en 0 avisos; verificación con 1 bloqueo (L-01: la lista, que se arma en la junta) y la condición P-11. Después del segundo prompt: S-003 validado, D-010 y el aviso P-11 con S-006 (D-010); la puerta queda aprobada (D-011) y el resumen dice Autorizado: sí. Con el tercer prompt, la revisión del enfoque en la puerta: D-021, nivel junta, reemplaza a D-003, y decision.py vigentes --tema «enfoque de entrega» muestra «cadena D-003 → D-021» (también con «delivery approach»): D-003 no se borra, queda como historia.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 263.229 con el presupuesto real (TIR 51,1 %), 4 de 4 supuestos críticos tratados (2 validados, 1 ajustado, 1 aceptado con D-010), presupuesto autorizado 179.340, enfoque híbrido, tolerancia de costo ±10 % y la puerta aprobada el 2027-01-15 con P-11 en aviso. La tarjeta de la puerta sale de puertas.py verificar --json. El tablero de mapas (g5-tablero-mapas.png, paso 14) cierra igual: 0 avisos MAP, la agenda con «inercia → R-001», cada dolor del paciente con su tratamiento y las lecciones L-002 y L-003 en accionada-proyecto entre los vínculos citados.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Prompt: «Corré la sanidad al 2027-02-01. ¿Qué tengo que decidir, escalar y desbloquear hoy? ¿Qué decisiones sobre S-006 siguen vigentes?». DEC-06 y SUP-02 cuentan lo mismo desde dos lados: la aceptación de la junta (D-010) pedía revisarse el 2027-01-29 y el dictamen no llegó; decision.py vigentes --ids S-006 muestra D-010 «VENCIDA: DEC-06». pm-orquestador corre estado.py radar --corte 2027-02-01, de solo lectura: cada ítem con su regla, responsable y siguiente paso, en un orden reproducible. Escalar una excepción no corresponde: nada fuera de tolerancia ni presupuesto agotado; la opción es el highlight. Lo que la junta aceptó sigue bajo control continuo sin que nadie tenga que acordarse.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hoja está en ejercicio.md; al terminar, cada uno autoevalúa con los criterios de la hoja. Si alguien no tiene reserva de gestión, que lo anote: es un hallazgo, no un error del ejercicio. Lo mismo un Must sin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quedó autorizado con presupuestos, tolerancias y autoridad delegada escritos. Lo que sigue es ejecutarlo: E2E-1 para los riesgos etapa por etapa y E2E-4 para la ejecución, la calidad y 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del caso E2E-5: 25 términos, página 1 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del caso E2E-5: 25 términos, página 2 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del caso E2E-5: 25 términos, página 3 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80467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9BB8"/>
                </a:solidFill>
              </a:rPr>
              <a:t>Logo IEEE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2.7.0 · Webinar E2E-5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2.7.0 · Webinar E2E-5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_G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2.7.0 · Webinar E2E-5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_G">
    <p:bg>
      <p:bgPr>
        <a:solidFill>
          <a:srgbClr val="006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2.7.0 · Webinar E2E-5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GUNTA_G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2.7.0 · Webinar E2E-5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2.7.0 · Webinar E2E-5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_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2.7.0 · Webinar E2E-5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_1">
    <p:bg>
      <p:bgPr>
        <a:solidFill>
          <a:srgbClr val="006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2.7.0 · Webinar E2E-5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GUNTA_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2.7.0 · Webinar E2E-5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2.7.0 · Webinar E2E-5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_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2.7.0 · Webinar E2E-5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_2">
    <p:bg>
      <p:bgPr>
        <a:solidFill>
          <a:srgbClr val="006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2.7.0 · Webinar E2E-5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GUNTA_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2.7.0 · Webinar E2E-5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· pm-method 2.7.0 · E2E-5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idea al proyecto diseñado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supuestos, comparar opciones, elegir el enfoque, adaptar la gestión y fijar presupuestos y tolerancias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72744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 · 90 min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5074920"/>
            <a:ext cx="3255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¿Vale la pena?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46177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1728" y="472744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 · 90 min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5074920"/>
            <a:ext cx="3255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el proyecto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 · 90 minutos</a:t>
            </a:r>
            <a:endParaRPr lang="en-US" sz="16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¿Vale la pena?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la clase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91672" cy="772668"/>
          </a:xfrm>
          <a:prstGeom prst="roundRect">
            <a:avLst>
              <a:gd name="adj" fmla="val 11834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1148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779776"/>
            <a:ext cx="10268712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 las lecciones aprobadas de otros proyectos y armar un mapa de supuestos para elegir dónde invertir primero en aprender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43884"/>
            <a:ext cx="11091672" cy="772668"/>
          </a:xfrm>
          <a:prstGeom prst="roundRect">
            <a:avLst>
              <a:gd name="adj" fmla="val 11834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643884"/>
            <a:ext cx="41148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80460"/>
            <a:ext cx="10268712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un experimento barato con criterio previo y llevar el resultado al caso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544568"/>
            <a:ext cx="11091672" cy="772668"/>
          </a:xfrm>
          <a:prstGeom prst="roundRect">
            <a:avLst>
              <a:gd name="adj" fmla="val 11834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544568"/>
            <a:ext cx="41148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81144"/>
            <a:ext cx="10268712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opciones contra no hacer nada con VAN, TIR, repago y punto de equilibrio, y con una matriz de pesos explícitos y su sensibilidad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445252"/>
            <a:ext cx="11091672" cy="772668"/>
          </a:xfrm>
          <a:prstGeom prst="roundRect">
            <a:avLst>
              <a:gd name="adj" fmla="val 11834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445252"/>
            <a:ext cx="41148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481828"/>
            <a:ext cx="10268712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el enfoque de entrega por entregable con criterios y contrastarlo con un mapa de Wardley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</a:t>
            </a:r>
            <a:endParaRPr lang="en-US" sz="18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 · ¿Vale la pena?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tendría que ser cierto para que esta idea valga la pena, y cómo lo sabemos barato?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proyectos se aprueban con un supuesto que nadie verificó?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331720"/>
            <a:ext cx="2035454" cy="2926080"/>
          </a:xfrm>
          <a:prstGeom prst="roundRect">
            <a:avLst>
              <a:gd name="adj" fmla="val 4492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532888"/>
            <a:ext cx="163311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mandato suponía: el recordatorio baja el ausentismo del 18 % al 10 %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66974" y="2331720"/>
            <a:ext cx="2035454" cy="2926080"/>
          </a:xfrm>
          <a:prstGeom prst="roundRect">
            <a:avLst>
              <a:gd name="adj" fmla="val 4492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68142" y="2532888"/>
            <a:ext cx="163311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piloto de 4 semanas lo bajó al 13,5 %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76749" y="2331720"/>
            <a:ext cx="2035454" cy="2926080"/>
          </a:xfrm>
          <a:prstGeom prst="roundRect">
            <a:avLst>
              <a:gd name="adj" fmla="val 4492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77917" y="2532888"/>
            <a:ext cx="163311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solo supuesto inflaba el VAN de cada opción en USD 159.213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86523" y="2331720"/>
            <a:ext cx="2035454" cy="2926080"/>
          </a:xfrm>
          <a:prstGeom prst="roundRect">
            <a:avLst>
              <a:gd name="adj" fmla="val 4492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7691" y="2532888"/>
            <a:ext cx="163311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sobrevive, con otro tamaño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96298" y="2331720"/>
            <a:ext cx="2035454" cy="2926080"/>
          </a:xfrm>
          <a:prstGeom prst="roundRect">
            <a:avLst>
              <a:gd name="adj" fmla="val 4492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97466" y="2532888"/>
            <a:ext cx="163311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junta lo supo antes de invertir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alzada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3131820"/>
            <a:ext cx="1188720" cy="11887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1318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17320"/>
            <a:ext cx="953719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vio aprobar un proyecto con un supuesto que nadie verificó? ¿Cuál era?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caso: turnos sin llamar en 6 policlínicas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240.000 turnos por año; 70 % por teléfono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Ausentismo del 18 %: 43.200 turnos perdidos por año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216.000 de margen no realizado (USD 5 por turno)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Restricción: teléfono y presencial se mantienen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lecciones aprobadas de la red: adopción en mayores de 65, agenda (4 → 14 semanas), línea 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Supuesto, hipótesis y experimento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Supuesto: algo que se da por cierto sin evidencia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Criticidad: si es falso, ¿cuánto cambia el caso?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Certeza: ¿cuánta evidencia hay hoy?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 y sin evidencia = hipótesis: se valida primero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Experimento: barato, con fecha y criterio decidido antes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 · paso 2: el mapa de supuestos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1472184"/>
          </a:xfrm>
          <a:prstGeom prst="roundRect">
            <a:avLst>
              <a:gd name="adj" fmla="val 4969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Listá los supuestos que sostienen la idea en tres familias: deseabilidad (¿lo van a usar?), viabilidad (¿cierra económicamente?) y factibilidad (¿se puede construir y operar?). Empezá por lo que ya dicen el mandato y las lecciones. Calificá criticidad y certeza, registralos con fecha 2026-11-04 y mostrame el mapa.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supuestos críticos sin evidencia</a:t>
            </a:r>
            <a:endParaRPr lang="en-US" sz="2400" dirty="0"/>
          </a:p>
        </p:txBody>
      </p:sp>
      <p:pic>
        <p:nvPicPr>
          <p:cNvPr id="3" name="Image 0" descr="Tres supuestos críticos sin eviden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Experimentos con criterio decidido antes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786068"/>
                <a:gridCol w="4018652"/>
                <a:gridCol w="2009326"/>
                <a:gridCol w="346050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Supuesto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S-001 adopción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 de humo, 3 semanas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1.000 registros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1.840: validado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S-002 ausentismo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Piloto en una policlínica, 4 semanas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12 %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13,5 %: invalidado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S-003 agenda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 técnica de 5 días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de 50 y &lt; 2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credenciales: replanificada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S-006 normativa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a la asesoría legal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dictamen favorable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llega el 2027-01-29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 · paso 3: experimentos y resultados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3472434"/>
          </a:xfrm>
          <a:prstGeom prst="roundRect">
            <a:avLst>
              <a:gd name="adj" fmla="val 2107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supuesto crítico definí el experimento más barato, el criterio para seguir y la fecha límite: - S-001: prueba de humo, un botón "sacá tu turno en línea" en el sitio con registro de interés durante 3 semanas; seguimos con 1.000 registros o más; hasta el 2026-11-27; Inés Ferrer. - S-002: piloto de recordatorio con confirmación en la Policlínica Centro, 4 semanas (2.000 turnos); seguimos si el ausentismo baja a 12 % o menos; hasta el 2026-12-04; Inés Ferrer. - S-003: prueba técnica de 5 días en el entorno de pruebas del proveedor, reservar y cancelar 50 turnos; seguimos con 50 de 50 y respuesta menor a 2 s; hasta el 2026-12-04; Tomás Aguirre. - S-006: consulta formal a la asesoría legal sobre el consentimiento; dictamen hasta el 2027-01-29; Carmen Olivera. Armá la hoja de hipótesis y experimentos para la junta.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piloto bajó el VAN; la opción 2 sigue siendo la mejor</a:t>
            </a:r>
            <a:endParaRPr lang="en-US" sz="2400" dirty="0"/>
          </a:p>
        </p:txBody>
      </p:sp>
      <p:pic>
        <p:nvPicPr>
          <p:cNvPr id="3" name="Image 0" descr="El piloto bajó el VAN; la opción 2 sigue siendo la mej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matriz: la 2 gana salvo que el riesgo pese 49,6</a:t>
            </a:r>
            <a:endParaRPr lang="en-US" sz="2400" dirty="0"/>
          </a:p>
        </p:txBody>
      </p:sp>
      <p:pic>
        <p:nvPicPr>
          <p:cNvPr id="3" name="Image 0" descr="La matriz: la 2 gana salvo que el riesgo pese 49,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3131820"/>
            <a:ext cx="1188720" cy="11887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1318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17320"/>
            <a:ext cx="953719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piloto dio 13,5 % y el criterio era 12 %. ¿Abandonamos, ajustamos o seguimos?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de entrega por entregable: híbrido por construcción</a:t>
            </a:r>
            <a:endParaRPr lang="en-US" sz="2400" dirty="0"/>
          </a:p>
        </p:txBody>
      </p:sp>
      <p:pic>
        <p:nvPicPr>
          <p:cNvPr id="3" name="Image 0" descr="Enfoque de entrega por entregable: híbrido por construc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 · paso 5: elegir el enfoque con criterios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1472184"/>
          </a:xfrm>
          <a:prstGeom prst="roundRect">
            <a:avLst>
              <a:gd name="adj" fmla="val 4969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Puntuá los nueve criterios de selección del enfoque para cada entregable: recordatorios y confirmación, turnos en línea (portal y app) e integración con la agenda clínica. Mostrame la tabla, la lectura de cada uno y tu recomendación para el proyecto. Si Carmen lo aprueba, registralo con fecha 2026-12-09.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valor: qué construir, qué comprar, dónde hay inercia</a:t>
            </a:r>
            <a:endParaRPr lang="en-US" sz="2400" dirty="0"/>
          </a:p>
        </p:txBody>
      </p:sp>
      <p:pic>
        <p:nvPicPr>
          <p:cNvPr id="3" name="Image 0" descr="Mapa de valor: qué construir, qué comprar, dónde hay iner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5514" y="1280160"/>
            <a:ext cx="7757924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215514" y="1280160"/>
            <a:ext cx="7757924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 del paciente: dónde duele hoy</a:t>
            </a:r>
            <a:endParaRPr lang="en-US" sz="2400" dirty="0"/>
          </a:p>
        </p:txBody>
      </p:sp>
      <p:pic>
        <p:nvPicPr>
          <p:cNvPr id="3" name="Image 0" descr="El recorrido del paciente: dónde duele ho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977" y="1280160"/>
            <a:ext cx="6332999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927977" y="1280160"/>
            <a:ext cx="6332999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 o comprar de C2: comprar gana; construir solo con diferenciación ≥ 57,5</a:t>
            </a:r>
            <a:endParaRPr lang="en-US" sz="2400" dirty="0"/>
          </a:p>
        </p:txBody>
      </p:sp>
      <p:pic>
        <p:nvPicPr>
          <p:cNvPr id="3" name="Image 0" descr="Hacer o comprar de C2: comprar gana; construir solo con diferenciación ≥ 57,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con BMAD: qué cambia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813389"/>
                <a:gridCol w="4730581"/>
                <a:gridCol w="473058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b) sin BMAD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a) con BMAD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Origen de los supuestos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 y lecciones: 5 candidatos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brief, PRD y arquitectura: 42 candidatos con cita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requisitos.md (REQ-001…007)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de BMAD (42 ids), solo lectura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base para el VAN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del mandato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hay métricas (brief.md:26): medir primero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componentes y recorrido desde el mandato, supuestos y lecciones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recorrido de UJ-2 con el backstage de UJ-3; mapa desde AD-n y decisiones diferidas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SUP-01/02/03, P-04, P-11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mismos, más P-07 y P-08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parte A (10 minutos)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idea en una frase y la decisión que se espera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07992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supuestos, uno de cada familia como mínimo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56448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7616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Ubicalos en el mapa criticidad × certeza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experimento barato con criterio y fecha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7992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sale mal: qué número cambia y quién decide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llevarse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916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supuestos críticos sin evidencia se validan antes de invertir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resultado negativo ajusta la idea; archivado, la daña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opciones se comparan contra no hacer nada, con la fórmula y los pesos a la vista; la matriz recomienda, la junta decide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enfoque se elige por entregable, con criterios; el mapa muestra qué comprar y dónde hay inercia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clase: diseñar el proyecto y la puerta de la junta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 · 90 minutos</a:t>
            </a:r>
            <a:endParaRPr lang="en-US" sz="16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el proyecto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la clase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779776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beneficios con dueño, línea base y fecha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63747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463747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500323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contingencia, reserva de gestión y presupuesto de cambio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184294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184294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220870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Adaptar la formalidad de la gestión al contexto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904842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04842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941418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cada requisito a la persona de usuario que lo pide, lo usa o lo aprovecha (STK-13)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625389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625389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661965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Llevar el proyecto a autorizar-proyecto sin hipótesis ocultas: validar o aceptar por escrito (P-11), con fecha de revisión (DEC-06)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</a:t>
            </a:r>
            <a:endParaRPr lang="en-US" sz="18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 · Diseñar el proyecto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dejamos el proyecto listo para que la junta delegue con cifras?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puede gastar la reserva en tu proyecto? ¿Está escrito?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331720"/>
            <a:ext cx="2035454" cy="2926080"/>
          </a:xfrm>
          <a:prstGeom prst="roundRect">
            <a:avLst>
              <a:gd name="adj" fmla="val 4492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532888"/>
            <a:ext cx="163311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caso hay tres bolsas con tres dueños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66974" y="2331720"/>
            <a:ext cx="2035454" cy="2926080"/>
          </a:xfrm>
          <a:prstGeom prst="roundRect">
            <a:avLst>
              <a:gd name="adj" fmla="val 4492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68142" y="2532888"/>
            <a:ext cx="163311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Contingencia 28.000 · reserva de gestión 8.540 · cambio 10.000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76749" y="2331720"/>
            <a:ext cx="2035454" cy="2926080"/>
          </a:xfrm>
          <a:prstGeom prst="roundRect">
            <a:avLst>
              <a:gd name="adj" fmla="val 4492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77917" y="2532888"/>
            <a:ext cx="163311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proyecto pide 7 artefactos si es interno y pequeño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86523" y="2331720"/>
            <a:ext cx="2035454" cy="2926080"/>
          </a:xfrm>
          <a:prstGeom prst="roundRect">
            <a:avLst>
              <a:gd name="adj" fmla="val 4492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7691" y="2532888"/>
            <a:ext cx="163311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16 si es regulado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96298" y="2331720"/>
            <a:ext cx="2035454" cy="2926080"/>
          </a:xfrm>
          <a:prstGeom prst="roundRect">
            <a:avLst>
              <a:gd name="adj" fmla="val 4492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97466" y="2532888"/>
            <a:ext cx="163311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le corresponde al tuyo?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con dueño, línea base y fecha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B-01 turnos recuperados: ausentismo 18 % → 13,5 %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B-02 llamadas evitadas: 40 % de turnos en línea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DB-01 des-beneficio: 2 puestos reasignados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Dueña: Inés Ferrer, también después del cierre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enfoque de beneficios, la puerta avisa (P-04)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Retomar la sesión: mandan los registros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iniciación empieza semanas después, en otra sesión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hook de inicio agrega el contexto y la línea del radar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2027-01-08: S-003 y S-006 sin validar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decidir 0 · escalar 0 · desbloquear 0 · vigilar 2 (S-003)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nota de memoria que diga otra cosa está desactualizada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 · paso 7: verificar la puerta antes de tiempo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2043684"/>
          </a:xfrm>
          <a:prstGeom prst="roundRect">
            <a:avLst>
              <a:gd name="adj" fmla="val 3579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Retomemos el proyecto de turnos: ¿dónde quedamos al 2027-01-08? Después pasá el caso de negocio a su versión completa con la cadena de valor, B-01 y B-02 con línea base, meta, dueña y tolerancia, y el des-beneficio. Antes de seguir, verificá qué le falta al proyecto para la puerta autorizar-proyecto. Después armá el enfoque de beneficios: mediciones al fin de cada etapa y a los 6 y 12 meses del cierre, a cargo de la 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temprana de autorizar-proyecto (2027-01-08)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1537439"/>
                <a:gridCol w="785802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Hallazgo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P-01 · L-01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el PID y la lista de control de la junta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enfoque de beneficios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usuaria sénior y proveedor sénior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plan de proyecto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supuestos críticos sin validar: S-003, S-006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P-09 · P-10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interesados ni RACI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bolsas, tres dueños, nada dos veces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Contingencia = Σ EMV 24.000 + respuestas 4.000 = 28.000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= paquetes 142.800 + contingencia = 170.800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gestión 8.540: fuera del BAC, la libera la junta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autorizado = BAC + reserva = 179.340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de cambio 10.000 aparte, tope 3.000 por cambio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 · paso 9: riesgos, reservas y presupuestos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2615184"/>
          </a:xfrm>
          <a:prstGeom prst="roundRect">
            <a:avLst>
              <a:gd name="adj" fmla="val 2797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Registrá tres riesgos con su EMV y revisión el 2027-01-29: la agenda sin interfaz documentada (P3 × I4, USD 30.000; reducir con la prueba técnica), la adopción baja en mayores de 65 (P3 × I3, 12.000; canal asistido por 4.000) y el dictamen legal que exija consentimiento explícito (P2 × I3, 10.000; contingencia). Armá el presupuesto: paquetes base de la WBS, contingencia, BAC, reserva de gestión del 5 % del BAC y un presupuesto de cambio de 10.000 con tope de 3.000 por cambio. Comparalo con el orden de magnitud del brief y recalculá el VAN de la opción 2 con este presupuesto.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junta autoriza USD 179.340</a:t>
            </a:r>
            <a:endParaRPr lang="en-US" sz="2400" dirty="0"/>
          </a:p>
        </p:txBody>
      </p:sp>
      <p:pic>
        <p:nvPicPr>
          <p:cNvPr id="3" name="Image 0" descr="La junta autoriza USD 179.3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Adaptar no es saltearse pasos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Formalidad decidida por enfoque y escrita (D-009)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Riesgos, calidad, cambios y comunicación: una página cada uno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salud dentro del enfoque de calidad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Inés Ferrer: usuaria sénior, PO y autoridad de cambio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aligeran los documentos, no las decisiones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quién es cada requisito: capacidad × persona</a:t>
            </a:r>
            <a:endParaRPr lang="en-US" sz="2400" dirty="0"/>
          </a:p>
        </p:txBody>
      </p:sp>
      <p:pic>
        <p:nvPicPr>
          <p:cNvPr id="3" name="Image 0" descr="Para quién es cada requisito: capacidad × perso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BMAD, las personas salen de los recorridos del PRD</a:t>
            </a:r>
            <a:endParaRPr lang="en-US" sz="2400" dirty="0"/>
          </a:p>
        </p:txBody>
      </p:sp>
      <p:pic>
        <p:nvPicPr>
          <p:cNvPr id="3" name="Image 0" descr="Con BMAD, las personas salen de los recorridos del P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C: el mismo proyecto, tres diseños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254910"/>
                <a:gridCol w="2577040"/>
                <a:gridCol w="3758184"/>
                <a:gridCol w="268441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pequeño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 digital ágil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y PID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mínimo; acta + PID breve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completo; PID índice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ágil mínimo; PID compacto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Enfoque · etapas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predictivo ·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predictivo ·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ágil ·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Tolerancias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(privacidad sin no conformidades)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(fecha fija, MoSCoW)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Artefactos · enfoques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·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· 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· 5 de una página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que cambia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highlight mensual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auditoría de privacidad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y burn-up por sprint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ágil aligera documentos, no puertas</a:t>
            </a:r>
            <a:endParaRPr lang="en-US" sz="2400" dirty="0"/>
          </a:p>
        </p:txBody>
      </p:sp>
      <p:pic>
        <p:nvPicPr>
          <p:cNvPr id="3" name="Image 0" descr="El ágil aligera documentos, no puer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P-11: invertir sobre hipótesis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de autorizar-proyecto, no bloqueo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2027-01-14: S-003 y S-006 sin validar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S-003: prueba técnica 50 de 50, 1,4 s: validado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S-006: la junta lo acepta por escrito (D-010)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P-11 pasa a aviso; S-006 sigue abierto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 · paso 13: PID, P-11 y la puerta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1186434"/>
          </a:xfrm>
          <a:prstGeom prst="roundRect">
            <a:avLst>
              <a:gd name="adj" fmla="val 6166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Ensamblá el PID con los controles y la sección de adaptación, registrá el plan de proyecto dentro del PID y el plan de la etapa 2, corré la sanidad al 2027-01-14 y verificá la puerta autorizar-proyecto.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autorizado: el tablero de una página</a:t>
            </a:r>
            <a:endParaRPr lang="en-US" sz="2400" dirty="0"/>
          </a:p>
        </p:txBody>
      </p:sp>
      <p:pic>
        <p:nvPicPr>
          <p:cNvPr id="3" name="Image 0" descr="Proyecto autorizado: el tablero de una pági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no es olvidar: el radar al 2027-02-01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dictamen de S-006 no llegó el 2027-01-29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Sanidad, 5 avisos: DEC-06 (D-010 sin revisar), SUP-02 (S-006) y REG-09 (R-001 a R-003)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1 decidir · 0 escalar · 0 desbloquear · 4 vigilar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decidir S-006 (Carmen Olivera): confirmar D-010 con otra fecha o reemplazarla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Vigilar: tres revisiones vencidas y 2 bloqueos de autorizar-etapa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parte B (10 minutos)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tres bolsas: monto y quién las libera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07992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tope por cambio de quien aprueba cambios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56448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7616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diseño le corresponde a tu proyecto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decisión de adaptación para el PID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7992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personas de usuario y los Must de cada una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llevarse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916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con dueño, línea base y fecha (P-04)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Contingencia, reserva de gestión y cambio: bolsas y dueños distintos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Adaptar es decidir cuánta formalidad y escribir por qué; cada Must, con su persona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invierte sobre una hipótesis sin saberlo (P-11); lo aceptado tiene fecha de revisión (DEC-06) y el radar dice qué decidir hoy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Siguen E2E-1 (riesgos) y E2E-4 (ejecución con BMAD)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(1/3)</a:t>
            </a:r>
            <a:endParaRPr lang="en-US" sz="2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Adaptación (tailoring)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Decidir y documentar cuánta formalidad necesita cada parte de la gestión según el contexto.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Justificación del proyecto: opciones, beneficios, costos, riesgos y evaluación de la inversión.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de sesión y radar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Resumen de estado.json y los registros que el hook de inicio agrega al abrir Claude Code (manda sobre la memoria), con una línea del radar: qué decidir, escalar, desbloquear y vigilar, con responsable y siguiente paso.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Contingencia y BAC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Contingencia: reserva para riesgos identificados (EMV más costo de las respuestas). BAC, presupuesto a la conclusión: paquetes base más contingencia.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del producto del proyecto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Propósito, productos mayores, criterios de aceptación y tolerancias de calidad del producto final.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Deseabilidad, viabilidad, factibilidad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tres familias de supuestos: ¿lo van a usar?, ¿cierra?, ¿se puede construir y operar?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Enfoque de beneficios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mide cada beneficio, con qué línea base, cuándo y con qué recursos, incluso después del cierre.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Enfoque de entrega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Predictivo, adaptativo o híbrido; se elige por entregable con nueve criterios y se revisa en cada puerta.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forma más barata de obtener evidencia sobre un supuesto, con criterio y fecha decididos antes.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(2/3)</a:t>
            </a:r>
            <a:endParaRPr lang="en-US" sz="2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Iniciación (initiating a project)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Primera etapa: diseña el proyecto (caso, planes, enfoques, controles) hasta la puerta autorizar-proyecto.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Lección previa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Lección aprobada de otro proyecto, buscada en solo lectura e incorporada con su origen; pide un control temprano y se marca accionada-proyecto.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 (project mandate)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Pedido que da origen al proyecto, conservado como llegó, con su autoridad emisora.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Mapa de Wardley y recorrido del cliente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primero ubica los componentes por visibilidad para el usuario y evolución (génesis → commodity) para decidir qué construir o comprar y ver la inercia; el segundo sigue a una persona paso a paso con su emoción y sus dolores.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Opción 0 y punto de equilibrio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Opción 0: no hacer nada distinto, la base de comparación. Punto de equilibrio: cuánto puede caer un beneficio antes de que el VAN llegue a 0.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de magnitud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Estimación inicial con exactitud de −25 % a +75 %; se refina en la iniciación.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P-04 y P-11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 de autorizar-proyecto: criterios de éxito sin enfoque de beneficios; supuestos críticos sin validar (aviso si la junta los acepta por escrito).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de usuario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Arquetipo de quien pide, usa o aprovecha una capacidad; no es un interesado, pero se ancla al interesado que la representa (personas.csv).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(3/3)</a:t>
            </a:r>
            <a:endParaRPr lang="en-US" sz="2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 de inicio del proyecto: el contrato entre el gestor y la junta.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Monto aparte para cambios aprobados por la autoridad de cambio, con un tope por cambio.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Puesta en marcha (starting up a project)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 PRINCE2 previo al proyecto: decide si vale la pena iniciarlo; termina en la puerta autorizar-inicio.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Repago (payback)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hasta que el flujo acumulado de una opción llega a cero.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 de gestión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 para lo no identificado, fuera del BAC; solo la libera la junta.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SUP-01…03, REG-09 y STK-13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 de sanidad: crítico sin experimento o fecha; fecha vencida sin resultado; invalidado sin tratar; riesgo abierto con la revisión vencida; requisito Must sin persona que lo pida, use o aproveche.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Supuesto y mapa de supuestos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Supuesto: algo que se da por cierto sin evidencia, en supuestos.csv con criticidad y certeza. El mapa los ubica en criticidad × certeza: los críticos sin evidencia son hipótesis y se validan primero.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 (NPV) y TIR (IRR)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VAN: suma de los flujos anuales descontados a la tasa de la organización. TIR: la tasa con la que el VAN da 0.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inar pm-method">
  <a:themeElements>
    <a:clrScheme name="Webinar pm-method">
      <a:dk1>
        <a:srgbClr val="272425"/>
      </a:dk1>
      <a:lt1>
        <a:srgbClr val="FFFFFF"/>
      </a:lt1>
      <a:dk2>
        <a:srgbClr val="002855"/>
      </a:dk2>
      <a:lt2>
        <a:srgbClr val="F4F6F8"/>
      </a:lt2>
      <a:accent1>
        <a:srgbClr val="00629B"/>
      </a:accent1>
      <a:accent2>
        <a:srgbClr val="B5651D"/>
      </a:accent2>
      <a:accent3>
        <a:srgbClr val="002855"/>
      </a:accent3>
      <a:accent4>
        <a:srgbClr val="696969"/>
      </a:accent4>
      <a:accent5>
        <a:srgbClr val="272425"/>
      </a:accent5>
      <a:accent6>
        <a:srgbClr val="00629B"/>
      </a:accent6>
      <a:hlink>
        <a:srgbClr val="00629B"/>
      </a:hlink>
      <a:folHlink>
        <a:srgbClr val="002855"/>
      </a:folHlink>
    </a:clrScheme>
    <a:fontScheme name="Webinar pm-metho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Webinar E2E-5 · De la idea al proyecto diseñado</dc:title>
  <dc:subject>pm-method 2.7.0</dc:subject>
  <dc:creator>pm-method</dc:creator>
  <cp:lastModifiedBy>pm-method</cp:lastModifiedBy>
  <cp:revision>1</cp:revision>
  <dcterms:created xsi:type="dcterms:W3CDTF">2026-10-30T05:54:36Z</dcterms:created>
  <dcterms:modified xsi:type="dcterms:W3CDTF">2026-10-30T05:54:36Z</dcterms:modified>
</cp:coreProperties>
</file>