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cha del taller" id="{5123bf57-1113-807b-ac02-4a67f072f646}">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Abrí con una pregunta: ¿a cuántos de tus interesados les cumpliste la frecuencia de contacto que les prometiste este mes? El taller convierte esa promesa en un control. La imagen es real, de la corrida del caso: a las tres semanas del último comunicado, tres de diez interesados vigilados estaban fuera de su cadencia. Cerrá con los objetivos y con para quién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Explicá la división del trabajo: el agente propone, calcula, verifica cifras y prepara mensajes; ningún acuerdo se registra y ningún mensaje sale sin que una persona lo confirme. La primera clase monta el sistema de interesados; la segunda lo opera período a período. Subrayá que no hace falta programar ni instalar nada para las clases.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CHA_PORTAD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03120"/>
          </a:xfrm>
          <a:prstGeom prst="rect">
            <a:avLst/>
          </a:prstGeom>
          <a:solidFill>
            <a:srgbClr val="002855"/>
          </a:solidFill>
          <a:ln w="12700">
            <a:solidFill>
              <a:srgbClr val="002855"/>
            </a:solidFill>
            <a:prstDash val="solid"/>
          </a:ln>
        </p:spPr>
      </p:sp>
      <p:sp>
        <p:nvSpPr>
          <p:cNvPr id="3" name="Shape 1"/>
          <p:cNvSpPr/>
          <p:nvPr/>
        </p:nvSpPr>
        <p:spPr>
          <a:xfrm>
            <a:off x="10268712" y="329184"/>
            <a:ext cx="1463040" cy="713232"/>
          </a:xfrm>
          <a:prstGeom prst="rect">
            <a:avLst/>
          </a:prstGeom>
          <a:solidFill>
            <a:srgbClr val="002855">
              <a:alpha val="0"/>
            </a:srgbClr>
          </a:solidFill>
          <a:ln w="12700">
            <a:solidFill>
              <a:srgbClr val="7F9BB8"/>
            </a:solidFill>
            <a:prstDash val="dash"/>
          </a:ln>
        </p:spPr>
      </p:sp>
      <p:sp>
        <p:nvSpPr>
          <p:cNvPr id="4" name="Text 2"/>
          <p:cNvSpPr/>
          <p:nvPr/>
        </p:nvSpPr>
        <p:spPr>
          <a:xfrm>
            <a:off x="10268712" y="329184"/>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5" name="Text 3"/>
          <p:cNvSpPr/>
          <p:nvPr>
            <p:ph idx="103" type="title" hasCustomPrompt="1"/>
          </p:nvPr>
        </p:nvSpPr>
        <p:spPr>
          <a:xfrm>
            <a:off x="457200" y="658368"/>
            <a:ext cx="9445752" cy="841248"/>
          </a:xfrm>
          <a:prstGeom prst="rect">
            <a:avLst/>
          </a:prstGeom>
          <a:noFill/>
          <a:ln/>
        </p:spPr>
        <p:txBody>
          <a:bodyPr wrap="square" rtlCol="0"/>
          <a:lstStyle>
            <a:lvl1pPr algn="l" indent="0" marL="0">
              <a:buNone/>
              <a:defRPr lang="en-US" sz="3000" b="1" dirty="0">
                <a:solidFill>
                  <a:srgbClr val="FFFFF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2.5.1 · Webinar E2E-3 · Ficha del taller</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ICHA_DETAL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FFFFFF">
              <a:alpha val="0"/>
            </a:srgbClr>
          </a:solidFill>
          <a:ln w="12700">
            <a:solidFill>
              <a:srgbClr val="A9A9A9"/>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A9A9A9"/>
                </a:solidFill>
              </a:rPr>
              <a:t>Logo IEEE</a:t>
            </a:r>
            <a:endParaRPr lang="en-US" sz="1000" dirty="0"/>
          </a:p>
        </p:txBody>
      </p:sp>
      <p:sp>
        <p:nvSpPr>
          <p:cNvPr id="4" name="Shape 2"/>
          <p:cNvSpPr/>
          <p:nvPr/>
        </p:nvSpPr>
        <p:spPr>
          <a:xfrm>
            <a:off x="457200" y="365760"/>
            <a:ext cx="9628632" cy="713232"/>
          </a:xfrm>
          <a:prstGeom prst="rect">
            <a:avLst>
              <a:gd name="adj" fmla="val 12821"/>
            </a:avLst>
          </a:prstGeom>
          <a:solidFill>
            <a:srgbClr val="00629B"/>
          </a:solidFill>
          <a:ln/>
        </p:spPr>
      </p:sp>
      <p:sp>
        <p:nvSpPr>
          <p:cNvPr id="5" name="Text 3"/>
          <p:cNvSpPr/>
          <p:nvPr>
            <p:ph idx="103" type="title" hasCustomPrompt="1"/>
          </p:nvPr>
        </p:nvSpPr>
        <p:spPr>
          <a:xfrm>
            <a:off x="658368" y="365760"/>
            <a:ext cx="9244584" cy="713232"/>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2.5.1 · Webinar E2E-3 · Ficha del taller</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310896"/>
            <a:ext cx="9445752" cy="310896"/>
          </a:xfrm>
          <a:prstGeom prst="rect">
            <a:avLst/>
          </a:prstGeom>
          <a:noFill/>
          <a:ln/>
        </p:spPr>
        <p:txBody>
          <a:bodyPr wrap="square" lIns="0" tIns="0" rIns="0" bIns="0" rtlCol="0" anchor="t"/>
          <a:lstStyle/>
          <a:p>
            <a:pPr indent="0" marL="0">
              <a:buNone/>
            </a:pPr>
            <a:r>
              <a:rPr lang="en-US" sz="1400" b="1" dirty="0">
                <a:solidFill>
                  <a:srgbClr val="9FD0F0"/>
                </a:solidFill>
                <a:latin typeface="Arial" pitchFamily="34" charset="0"/>
                <a:ea typeface="Arial" pitchFamily="34" charset="-122"/>
                <a:cs typeface="Arial" pitchFamily="34" charset="-120"/>
              </a:rPr>
              <a:t>Taller · 2 clases de 90 minutos · Webinar pm-method 2.5.1 · E2E-3</a:t>
            </a:r>
            <a:endParaRPr lang="en-US" sz="1400" dirty="0"/>
          </a:p>
        </p:txBody>
      </p:sp>
      <p:sp>
        <p:nvSpPr>
          <p:cNvPr id="3" name="Text 3"/>
          <p:cNvSpPr/>
          <p:nvPr>
            <p:ph idx="103" type="title" hasCustomPrompt="1"/>
          </p:nvPr>
        </p:nvSpPr>
        <p:spPr>
          <a:xfrm>
            <a:off x="457200" y="658368"/>
            <a:ext cx="9445752" cy="841248"/>
          </a:xfrm>
          <a:prstGeom prst="rect">
            <a:avLst/>
          </a:prstGeom>
          <a:noFill/>
          <a:ln/>
        </p:spPr>
        <p:txBody>
          <a:bodyPr wrap="square" lIns="0" tIns="0" rIns="0" bIns="0" rtlCol="0" anchor="ctr"/>
          <a:lstStyle/>
          <a:p>
            <a:pPr algn="l" indent="0" marL="0">
              <a:buNone/>
            </a:pPr>
            <a:r>
              <a:rPr lang="en-US" sz="2750" b="1" dirty="0">
                <a:solidFill>
                  <a:srgbClr val="FFFFFF"/>
                </a:solidFill>
                <a:latin typeface="Arial" pitchFamily="34" charset="0"/>
                <a:ea typeface="Arial" pitchFamily="34" charset="-122"/>
                <a:cs typeface="Arial" pitchFamily="34" charset="-120"/>
              </a:rPr>
              <a:t>Que lo prometido a cada interesado se cumpla, y se note a tiempo</a:t>
            </a:r>
            <a:endParaRPr lang="en-US" sz="3000" dirty="0"/>
          </a:p>
        </p:txBody>
      </p:sp>
      <p:sp>
        <p:nvSpPr>
          <p:cNvPr id="4" name="Text 2"/>
          <p:cNvSpPr txBox="1"/>
          <p:nvPr/>
        </p:nvSpPr>
        <p:spPr>
          <a:xfrm>
            <a:off x="457200" y="1572768"/>
            <a:ext cx="11274552" cy="475488"/>
          </a:xfrm>
          <a:prstGeom prst="rect">
            <a:avLst/>
          </a:prstGeom>
          <a:noFill/>
          <a:ln/>
        </p:spPr>
        <p:txBody>
          <a:bodyPr wrap="square" lIns="0" tIns="0" rIns="0" bIns="0" rtlCol="0" anchor="t"/>
          <a:lstStyle/>
          <a:p>
            <a:pPr indent="0" marL="0">
              <a:buNone/>
            </a:pPr>
            <a:r>
              <a:rPr lang="en-US" sz="1550" dirty="0">
                <a:solidFill>
                  <a:srgbClr val="D6E4F0"/>
                </a:solidFill>
                <a:latin typeface="Arial" pitchFamily="34" charset="0"/>
                <a:ea typeface="Arial" pitchFamily="34" charset="-122"/>
                <a:cs typeface="Arial" pitchFamily="34" charset="-120"/>
              </a:rPr>
              <a:t>Un solo mapa de interesados, beneficios y OKR con dueño, y un informe para la junta armado desde el dato, con cada envío confirmado por una persona.</a:t>
            </a:r>
            <a:endParaRPr lang="en-US" sz="1600" dirty="0"/>
          </a:p>
        </p:txBody>
      </p:sp>
      <p:sp>
        <p:nvSpPr>
          <p:cNvPr id="5" name="Text 3"/>
          <p:cNvSpPr txBox="1"/>
          <p:nvPr/>
        </p:nvSpPr>
        <p:spPr>
          <a:xfrm>
            <a:off x="457200" y="2304288"/>
            <a:ext cx="6355080" cy="329184"/>
          </a:xfrm>
          <a:prstGeom prst="rect">
            <a:avLst/>
          </a:prstGeom>
          <a:noFill/>
          <a:ln/>
        </p:spPr>
        <p:txBody>
          <a:bodyPr wrap="square" lIns="0" tIns="0" rIns="0" bIns="0" rtlCol="0" anchor="t"/>
          <a:lstStyle/>
          <a:p>
            <a:pPr indent="0" marL="0">
              <a:buNone/>
            </a:pPr>
            <a:r>
              <a:rPr lang="en-US" sz="1600" b="1" dirty="0">
                <a:solidFill>
                  <a:srgbClr val="B5651D"/>
                </a:solidFill>
                <a:latin typeface="Arial" pitchFamily="34" charset="0"/>
                <a:ea typeface="Arial" pitchFamily="34" charset="-122"/>
                <a:cs typeface="Arial" pitchFamily="34" charset="-120"/>
              </a:rPr>
              <a:t>Qué vas a poder hacer</a:t>
            </a:r>
            <a:endParaRPr lang="en-US" sz="1600" dirty="0"/>
          </a:p>
        </p:txBody>
      </p:sp>
      <p:sp>
        <p:nvSpPr>
          <p:cNvPr id="6" name="Shape 4"/>
          <p:cNvSpPr/>
          <p:nvPr/>
        </p:nvSpPr>
        <p:spPr>
          <a:xfrm>
            <a:off x="457200" y="2688336"/>
            <a:ext cx="6355080" cy="373075"/>
          </a:xfrm>
          <a:prstGeom prst="roundRect">
            <a:avLst>
              <a:gd name="adj" fmla="val 14706"/>
            </a:avLst>
          </a:prstGeom>
          <a:solidFill>
            <a:srgbClr val="E9F1F8"/>
          </a:solidFill>
          <a:ln w="12700">
            <a:solidFill>
              <a:srgbClr val="E9F1F8"/>
            </a:solidFill>
            <a:prstDash val="solid"/>
          </a:ln>
        </p:spPr>
      </p:sp>
      <p:sp>
        <p:nvSpPr>
          <p:cNvPr id="7" name="Text 5"/>
          <p:cNvSpPr txBox="1"/>
          <p:nvPr/>
        </p:nvSpPr>
        <p:spPr>
          <a:xfrm>
            <a:off x="548640" y="2688336"/>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005840" y="2715768"/>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Construir un maestro único de interesados con matriz poder/interés y de compromiso</a:t>
            </a:r>
            <a:endParaRPr lang="en-US" sz="1600" dirty="0"/>
          </a:p>
        </p:txBody>
      </p:sp>
      <p:sp>
        <p:nvSpPr>
          <p:cNvPr id="9" name="Shape 7"/>
          <p:cNvSpPr/>
          <p:nvPr/>
        </p:nvSpPr>
        <p:spPr>
          <a:xfrm>
            <a:off x="457200" y="3134563"/>
            <a:ext cx="6355080" cy="373075"/>
          </a:xfrm>
          <a:prstGeom prst="roundRect">
            <a:avLst>
              <a:gd name="adj" fmla="val 14706"/>
            </a:avLst>
          </a:prstGeom>
          <a:solidFill>
            <a:srgbClr val="F4F6F8"/>
          </a:solidFill>
          <a:ln w="12700">
            <a:solidFill>
              <a:srgbClr val="F4F6F8"/>
            </a:solidFill>
            <a:prstDash val="solid"/>
          </a:ln>
        </p:spPr>
      </p:sp>
      <p:sp>
        <p:nvSpPr>
          <p:cNvPr id="10" name="Text 8"/>
          <p:cNvSpPr txBox="1"/>
          <p:nvPr/>
        </p:nvSpPr>
        <p:spPr>
          <a:xfrm>
            <a:off x="548640" y="3134563"/>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2</a:t>
            </a:r>
            <a:endParaRPr lang="en-US" sz="1800" dirty="0"/>
          </a:p>
        </p:txBody>
      </p:sp>
      <p:sp>
        <p:nvSpPr>
          <p:cNvPr id="11" name="Text 9"/>
          <p:cNvSpPr txBox="1"/>
          <p:nvPr/>
        </p:nvSpPr>
        <p:spPr>
          <a:xfrm>
            <a:off x="1005840" y="3161995"/>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Registrar los acuerdos de una reunión desde candidatos con cita, solo con confirmación humana</a:t>
            </a:r>
            <a:endParaRPr lang="en-US" sz="1600" dirty="0"/>
          </a:p>
        </p:txBody>
      </p:sp>
      <p:sp>
        <p:nvSpPr>
          <p:cNvPr id="12" name="Shape 10"/>
          <p:cNvSpPr/>
          <p:nvPr/>
        </p:nvSpPr>
        <p:spPr>
          <a:xfrm>
            <a:off x="457200" y="3580790"/>
            <a:ext cx="6355080" cy="373075"/>
          </a:xfrm>
          <a:prstGeom prst="roundRect">
            <a:avLst>
              <a:gd name="adj" fmla="val 14706"/>
            </a:avLst>
          </a:prstGeom>
          <a:solidFill>
            <a:srgbClr val="E9F1F8"/>
          </a:solidFill>
          <a:ln w="12700">
            <a:solidFill>
              <a:srgbClr val="E9F1F8"/>
            </a:solidFill>
            <a:prstDash val="solid"/>
          </a:ln>
        </p:spPr>
      </p:sp>
      <p:sp>
        <p:nvSpPr>
          <p:cNvPr id="13" name="Text 11"/>
          <p:cNvSpPr txBox="1"/>
          <p:nvPr/>
        </p:nvSpPr>
        <p:spPr>
          <a:xfrm>
            <a:off x="548640" y="3580790"/>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1005840" y="3608222"/>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Distinguir un beneficio de un KR y elegir la meta de un KR con quien decide en la RACI</a:t>
            </a:r>
            <a:endParaRPr lang="en-US" sz="1600" dirty="0"/>
          </a:p>
        </p:txBody>
      </p:sp>
      <p:sp>
        <p:nvSpPr>
          <p:cNvPr id="15" name="Shape 13"/>
          <p:cNvSpPr/>
          <p:nvPr/>
        </p:nvSpPr>
        <p:spPr>
          <a:xfrm>
            <a:off x="457200" y="4027018"/>
            <a:ext cx="6355080" cy="373075"/>
          </a:xfrm>
          <a:prstGeom prst="roundRect">
            <a:avLst>
              <a:gd name="adj" fmla="val 14706"/>
            </a:avLst>
          </a:prstGeom>
          <a:solidFill>
            <a:srgbClr val="F4F6F8"/>
          </a:solidFill>
          <a:ln w="12700">
            <a:solidFill>
              <a:srgbClr val="F4F6F8"/>
            </a:solidFill>
            <a:prstDash val="solid"/>
          </a:ln>
        </p:spPr>
      </p:sp>
      <p:sp>
        <p:nvSpPr>
          <p:cNvPr id="16" name="Text 14"/>
          <p:cNvSpPr txBox="1"/>
          <p:nvPr/>
        </p:nvSpPr>
        <p:spPr>
          <a:xfrm>
            <a:off x="548640" y="4027018"/>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4</a:t>
            </a:r>
            <a:endParaRPr lang="en-US" sz="1800" dirty="0"/>
          </a:p>
        </p:txBody>
      </p:sp>
      <p:sp>
        <p:nvSpPr>
          <p:cNvPr id="17" name="Text 15"/>
          <p:cNvSpPr txBox="1"/>
          <p:nvPr/>
        </p:nvSpPr>
        <p:spPr>
          <a:xfrm>
            <a:off x="1005840" y="4054450"/>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Armar el highlight desde el dato y comprobar sus cifras antes de enviarlo</a:t>
            </a:r>
            <a:endParaRPr lang="en-US" sz="1600" dirty="0"/>
          </a:p>
        </p:txBody>
      </p:sp>
      <p:sp>
        <p:nvSpPr>
          <p:cNvPr id="18" name="Shape 16"/>
          <p:cNvSpPr/>
          <p:nvPr/>
        </p:nvSpPr>
        <p:spPr>
          <a:xfrm>
            <a:off x="457200" y="4473245"/>
            <a:ext cx="6355080" cy="373075"/>
          </a:xfrm>
          <a:prstGeom prst="roundRect">
            <a:avLst>
              <a:gd name="adj" fmla="val 14706"/>
            </a:avLst>
          </a:prstGeom>
          <a:solidFill>
            <a:srgbClr val="E9F1F8"/>
          </a:solidFill>
          <a:ln w="12700">
            <a:solidFill>
              <a:srgbClr val="E9F1F8"/>
            </a:solidFill>
            <a:prstDash val="solid"/>
          </a:ln>
        </p:spPr>
      </p:sp>
      <p:sp>
        <p:nvSpPr>
          <p:cNvPr id="19" name="Text 17"/>
          <p:cNvSpPr txBox="1"/>
          <p:nvPr/>
        </p:nvSpPr>
        <p:spPr>
          <a:xfrm>
            <a:off x="548640" y="4473245"/>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5</a:t>
            </a:r>
            <a:endParaRPr lang="en-US" sz="1800" dirty="0"/>
          </a:p>
        </p:txBody>
      </p:sp>
      <p:sp>
        <p:nvSpPr>
          <p:cNvPr id="20" name="Text 18"/>
          <p:cNvSpPr txBox="1"/>
          <p:nvPr/>
        </p:nvSpPr>
        <p:spPr>
          <a:xfrm>
            <a:off x="1005840" y="4500677"/>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Vigilar la cadencia de contacto prometida y reevaluar la brecha de compromiso</a:t>
            </a:r>
            <a:endParaRPr lang="en-US" sz="1600" dirty="0"/>
          </a:p>
        </p:txBody>
      </p:sp>
      <p:sp>
        <p:nvSpPr>
          <p:cNvPr id="21" name="Text 19"/>
          <p:cNvSpPr txBox="1"/>
          <p:nvPr/>
        </p:nvSpPr>
        <p:spPr>
          <a:xfrm>
            <a:off x="457200" y="4992624"/>
            <a:ext cx="6355080" cy="329184"/>
          </a:xfrm>
          <a:prstGeom prst="rect">
            <a:avLst/>
          </a:prstGeom>
          <a:noFill/>
          <a:ln/>
        </p:spPr>
        <p:txBody>
          <a:bodyPr wrap="square" lIns="0" tIns="0" rIns="0" bIns="0" rtlCol="0" anchor="t"/>
          <a:lstStyle/>
          <a:p>
            <a:pPr indent="0" marL="0">
              <a:buNone/>
            </a:pPr>
            <a:r>
              <a:rPr lang="en-US" sz="1600" b="1" dirty="0">
                <a:solidFill>
                  <a:srgbClr val="B5651D"/>
                </a:solidFill>
                <a:latin typeface="Arial" pitchFamily="34" charset="0"/>
                <a:ea typeface="Arial" pitchFamily="34" charset="-122"/>
                <a:cs typeface="Arial" pitchFamily="34" charset="-120"/>
              </a:rPr>
              <a:t>Para quién es</a:t>
            </a:r>
            <a:endParaRPr lang="en-US" sz="1600" dirty="0"/>
          </a:p>
        </p:txBody>
      </p:sp>
      <p:sp>
        <p:nvSpPr>
          <p:cNvPr id="22" name="Text 20"/>
          <p:cNvSpPr txBox="1"/>
          <p:nvPr/>
        </p:nvSpPr>
        <p:spPr>
          <a:xfrm>
            <a:off x="457200" y="5358384"/>
            <a:ext cx="6355080" cy="905256"/>
          </a:xfrm>
          <a:prstGeom prst="rect">
            <a:avLst/>
          </a:prstGeom>
          <a:noFill/>
          <a:ln/>
        </p:spPr>
        <p:txBody>
          <a:bodyPr wrap="square" lIns="0" tIns="0" rIns="0" bIns="0" rtlCol="0" anchor="t"/>
          <a:lstStyle/>
          <a:p>
            <a:pPr indent="0" marL="0">
              <a:spcAft>
                <a:spcPts val="600"/>
              </a:spcAft>
              <a:buNone/>
            </a:pPr>
            <a:r>
              <a:rPr lang="en-US" sz="1350" b="1" dirty="0">
                <a:solidFill>
                  <a:srgbClr val="00629B"/>
                </a:solidFill>
                <a:latin typeface="Arial" pitchFamily="34" charset="0"/>
                <a:ea typeface="Arial" pitchFamily="34" charset="-122"/>
                <a:cs typeface="Arial" pitchFamily="34" charset="-120"/>
              </a:rPr>
              <a:t>▪  </a:t>
            </a:r>
            <a:pPr indent="0" marL="0">
              <a:spcAft>
                <a:spcPts val="600"/>
              </a:spcAft>
              <a:buNone/>
            </a:pPr>
            <a:r>
              <a:rPr lang="en-US" sz="1350" dirty="0">
                <a:solidFill>
                  <a:srgbClr val="272425"/>
                </a:solidFill>
                <a:latin typeface="Arial" pitchFamily="34" charset="0"/>
                <a:ea typeface="Arial" pitchFamily="34" charset="-122"/>
                <a:cs typeface="Arial" pitchFamily="34" charset="-120"/>
              </a:rPr>
              <a:t>Gestores de proyecto que reportan a una junta y coordinan muchos interesados</a:t>
            </a:r>
            <a:endParaRPr lang="en-US" sz="1600" dirty="0"/>
          </a:p>
          <a:p>
            <a:pPr indent="0" marL="0">
              <a:spcAft>
                <a:spcPts val="600"/>
              </a:spcAft>
              <a:buNone/>
            </a:pPr>
            <a:r>
              <a:rPr lang="en-US" sz="1350" b="1" dirty="0">
                <a:solidFill>
                  <a:srgbClr val="00629B"/>
                </a:solidFill>
                <a:latin typeface="Arial" pitchFamily="34" charset="0"/>
                <a:ea typeface="Arial" pitchFamily="34" charset="-122"/>
                <a:cs typeface="Arial" pitchFamily="34" charset="-120"/>
              </a:rPr>
              <a:t>▪  </a:t>
            </a:r>
            <a:pPr indent="0" marL="0">
              <a:spcAft>
                <a:spcPts val="600"/>
              </a:spcAft>
              <a:buNone/>
            </a:pPr>
            <a:r>
              <a:rPr lang="en-US" sz="1350" dirty="0">
                <a:solidFill>
                  <a:srgbClr val="272425"/>
                </a:solidFill>
                <a:latin typeface="Arial" pitchFamily="34" charset="0"/>
                <a:ea typeface="Arial" pitchFamily="34" charset="-122"/>
                <a:cs typeface="Arial" pitchFamily="34" charset="-120"/>
              </a:rPr>
              <a:t>Responsables de comunicación, gestión del cambio o PMO</a:t>
            </a:r>
            <a:endParaRPr lang="en-US" sz="1600" dirty="0"/>
          </a:p>
          <a:p>
            <a:pPr indent="0" marL="0">
              <a:spcAft>
                <a:spcPts val="600"/>
              </a:spcAft>
              <a:buNone/>
            </a:pPr>
            <a:r>
              <a:rPr lang="en-US" sz="1350" b="1" dirty="0">
                <a:solidFill>
                  <a:srgbClr val="00629B"/>
                </a:solidFill>
                <a:latin typeface="Arial" pitchFamily="34" charset="0"/>
                <a:ea typeface="Arial" pitchFamily="34" charset="-122"/>
                <a:cs typeface="Arial" pitchFamily="34" charset="-120"/>
              </a:rPr>
              <a:t>▪  </a:t>
            </a:r>
            <a:pPr indent="0" marL="0">
              <a:spcAft>
                <a:spcPts val="600"/>
              </a:spcAft>
              <a:buNone/>
            </a:pPr>
            <a:r>
              <a:rPr lang="en-US" sz="1350" dirty="0">
                <a:solidFill>
                  <a:srgbClr val="272425"/>
                </a:solidFill>
                <a:latin typeface="Arial" pitchFamily="34" charset="0"/>
                <a:ea typeface="Arial" pitchFamily="34" charset="-122"/>
                <a:cs typeface="Arial" pitchFamily="34" charset="-120"/>
              </a:rPr>
              <a:t>Líderes de negocio que siguen OKR y beneficios</a:t>
            </a:r>
            <a:endParaRPr lang="en-US" sz="1600" dirty="0"/>
          </a:p>
        </p:txBody>
      </p:sp>
      <p:pic>
        <p:nvPicPr>
          <p:cNvPr id="23" name="Image 0" descr="Del caso: al 5/2, 3 de 10 interesados vigilados están fuera de su cadencia de contacto.">    </p:cNvPr>
          <p:cNvPicPr>
            <a:picLocks noChangeAspect="1"/>
          </p:cNvPicPr>
          <p:nvPr/>
        </p:nvPicPr>
        <p:blipFill>
          <a:blip r:embed="rId1"/>
          <a:stretch>
            <a:fillRect/>
          </a:stretch>
        </p:blipFill>
        <p:spPr>
          <a:xfrm>
            <a:off x="7132320" y="2304288"/>
            <a:ext cx="4599432" cy="2587181"/>
          </a:xfrm>
          <a:prstGeom prst="rect">
            <a:avLst/>
          </a:prstGeom>
        </p:spPr>
      </p:pic>
      <p:sp>
        <p:nvSpPr>
          <p:cNvPr id="24" name="Shape 21"/>
          <p:cNvSpPr/>
          <p:nvPr/>
        </p:nvSpPr>
        <p:spPr>
          <a:xfrm>
            <a:off x="7132320" y="2304288"/>
            <a:ext cx="4599432" cy="2587181"/>
          </a:xfrm>
          <a:prstGeom prst="rect">
            <a:avLst/>
          </a:prstGeom>
          <a:solidFill>
            <a:srgbClr val="FFFFFF">
              <a:alpha val="0"/>
            </a:srgbClr>
          </a:solidFill>
          <a:ln w="9525">
            <a:solidFill>
              <a:srgbClr val="E2E2E6"/>
            </a:solidFill>
            <a:prstDash val="solid"/>
          </a:ln>
        </p:spPr>
      </p:sp>
      <p:sp>
        <p:nvSpPr>
          <p:cNvPr id="25" name="Text 22"/>
          <p:cNvSpPr txBox="1"/>
          <p:nvPr/>
        </p:nvSpPr>
        <p:spPr>
          <a:xfrm>
            <a:off x="7132320" y="4946333"/>
            <a:ext cx="4599432" cy="420624"/>
          </a:xfrm>
          <a:prstGeom prst="rect">
            <a:avLst/>
          </a:prstGeom>
          <a:noFill/>
          <a:ln/>
        </p:spPr>
        <p:txBody>
          <a:bodyPr wrap="square" lIns="0" tIns="0" rIns="0" bIns="0" rtlCol="0" anchor="t"/>
          <a:lstStyle/>
          <a:p>
            <a:pPr indent="0" marL="0">
              <a:buNone/>
            </a:pPr>
            <a:r>
              <a:rPr lang="en-US" sz="1200" i="1" dirty="0">
                <a:solidFill>
                  <a:srgbClr val="696969"/>
                </a:solidFill>
                <a:latin typeface="Arial" pitchFamily="34" charset="0"/>
                <a:ea typeface="Arial" pitchFamily="34" charset="-122"/>
                <a:cs typeface="Arial" pitchFamily="34" charset="-120"/>
              </a:rPr>
              <a:t>Del caso: al 5/2, 3 de 10 interesados vigilados están fuera de su cadencia de contacto.</a:t>
            </a:r>
            <a:endParaRPr lang="en-US" sz="1600" dirty="0"/>
          </a:p>
        </p:txBody>
      </p:sp>
      <p:sp>
        <p:nvSpPr>
          <p:cNvPr id="26" name="Shape 23"/>
          <p:cNvSpPr/>
          <p:nvPr/>
        </p:nvSpPr>
        <p:spPr>
          <a:xfrm>
            <a:off x="7132320" y="5458396"/>
            <a:ext cx="4599432" cy="805244"/>
          </a:xfrm>
          <a:prstGeom prst="roundRect">
            <a:avLst>
              <a:gd name="adj" fmla="val 9084"/>
            </a:avLst>
          </a:prstGeom>
          <a:solidFill>
            <a:srgbClr val="002855"/>
          </a:solidFill>
          <a:ln w="12700">
            <a:solidFill>
              <a:srgbClr val="002855"/>
            </a:solidFill>
            <a:prstDash val="solid"/>
          </a:ln>
        </p:spPr>
      </p:sp>
      <p:sp>
        <p:nvSpPr>
          <p:cNvPr id="27" name="Text 24"/>
          <p:cNvSpPr txBox="1"/>
          <p:nvPr/>
        </p:nvSpPr>
        <p:spPr>
          <a:xfrm>
            <a:off x="7315200" y="5549836"/>
            <a:ext cx="4233672" cy="310896"/>
          </a:xfrm>
          <a:prstGeom prst="rect">
            <a:avLst/>
          </a:prstGeom>
          <a:noFill/>
          <a:ln/>
        </p:spPr>
        <p:txBody>
          <a:bodyPr wrap="square" lIns="0" tIns="0" rIns="0" bIns="0" rtlCol="0" anchor="t"/>
          <a:lstStyle/>
          <a:p>
            <a:pPr indent="0" marL="0">
              <a:buNone/>
            </a:pPr>
            <a:r>
              <a:rPr lang="en-US" sz="1600" b="1" dirty="0">
                <a:solidFill>
                  <a:srgbClr val="9FD0F0"/>
                </a:solidFill>
                <a:latin typeface="Arial" pitchFamily="34" charset="0"/>
                <a:ea typeface="Arial" pitchFamily="34" charset="-122"/>
                <a:cs typeface="Arial" pitchFamily="34" charset="-120"/>
              </a:rPr>
              <a:t>3 h en total · 2 clases de 90 minutos</a:t>
            </a:r>
            <a:endParaRPr lang="en-US" sz="1600" dirty="0"/>
          </a:p>
        </p:txBody>
      </p:sp>
      <p:sp>
        <p:nvSpPr>
          <p:cNvPr id="28" name="Text 25"/>
          <p:cNvSpPr txBox="1"/>
          <p:nvPr/>
        </p:nvSpPr>
        <p:spPr>
          <a:xfrm>
            <a:off x="7315200" y="5860733"/>
            <a:ext cx="4233672" cy="329756"/>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Fecha, horario, lugar o enlace e inscripción: a completar por quien organiza.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Cómo es el taller y qué te llevás</a:t>
            </a:r>
            <a:endParaRPr lang="en-US" sz="2400" dirty="0"/>
          </a:p>
        </p:txBody>
      </p:sp>
      <p:sp>
        <p:nvSpPr>
          <p:cNvPr id="3" name="Text 1"/>
          <p:cNvSpPr txBox="1"/>
          <p:nvPr/>
        </p:nvSpPr>
        <p:spPr>
          <a:xfrm>
            <a:off x="457200" y="1207008"/>
            <a:ext cx="5500116" cy="292608"/>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Cómo trabajás con el agente</a:t>
            </a:r>
            <a:endParaRPr lang="en-US" sz="1600" dirty="0"/>
          </a:p>
        </p:txBody>
      </p:sp>
      <p:sp>
        <p:nvSpPr>
          <p:cNvPr id="4" name="Shape 2"/>
          <p:cNvSpPr/>
          <p:nvPr/>
        </p:nvSpPr>
        <p:spPr>
          <a:xfrm>
            <a:off x="457200" y="1600200"/>
            <a:ext cx="5500116" cy="1043559"/>
          </a:xfrm>
          <a:prstGeom prst="roundRect">
            <a:avLst>
              <a:gd name="adj" fmla="val 7010"/>
            </a:avLst>
          </a:prstGeom>
          <a:solidFill>
            <a:srgbClr val="E9F1F8"/>
          </a:solidFill>
          <a:ln w="12700">
            <a:solidFill>
              <a:srgbClr val="E9F1F8"/>
            </a:solidFill>
            <a:prstDash val="solid"/>
          </a:ln>
        </p:spPr>
      </p:sp>
      <p:sp>
        <p:nvSpPr>
          <p:cNvPr id="5" name="Text 3"/>
          <p:cNvSpPr txBox="1"/>
          <p:nvPr/>
        </p:nvSpPr>
        <p:spPr>
          <a:xfrm>
            <a:off x="557784" y="1700784"/>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Lo hace el agente (Claude Code con pm-method)</a:t>
            </a:r>
            <a:endParaRPr lang="en-US" sz="1050" dirty="0"/>
          </a:p>
        </p:txBody>
      </p:sp>
      <p:sp>
        <p:nvSpPr>
          <p:cNvPr id="6" name="Text 4"/>
          <p:cNvSpPr txBox="1"/>
          <p:nvPr/>
        </p:nvSpPr>
        <p:spPr>
          <a:xfrm>
            <a:off x="557784" y="1874139"/>
            <a:ext cx="5298948" cy="71475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Propone acuerdos de una transcripción y alternativas de una meta, con cita y fuente</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Arma el highlight y el tablero con un solo cálculo y verifica cada cifra</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Prepara mensajes por perfil y avisa quién está fuera de su cadencia de contacto</a:t>
            </a:r>
            <a:endParaRPr lang="en-US" sz="1600" dirty="0"/>
          </a:p>
        </p:txBody>
      </p:sp>
      <p:sp>
        <p:nvSpPr>
          <p:cNvPr id="7" name="Shape 5"/>
          <p:cNvSpPr/>
          <p:nvPr/>
        </p:nvSpPr>
        <p:spPr>
          <a:xfrm>
            <a:off x="457200" y="2707767"/>
            <a:ext cx="5500116" cy="1043559"/>
          </a:xfrm>
          <a:prstGeom prst="roundRect">
            <a:avLst>
              <a:gd name="adj" fmla="val 7010"/>
            </a:avLst>
          </a:prstGeom>
          <a:solidFill>
            <a:srgbClr val="FBF1E6"/>
          </a:solidFill>
          <a:ln w="12700">
            <a:solidFill>
              <a:srgbClr val="FBF1E6"/>
            </a:solidFill>
            <a:prstDash val="solid"/>
          </a:ln>
        </p:spPr>
      </p:sp>
      <p:sp>
        <p:nvSpPr>
          <p:cNvPr id="8" name="Text 6"/>
          <p:cNvSpPr txBox="1"/>
          <p:nvPr/>
        </p:nvSpPr>
        <p:spPr>
          <a:xfrm>
            <a:off x="557784" y="2808351"/>
            <a:ext cx="5298948" cy="173355"/>
          </a:xfrm>
          <a:prstGeom prst="rect">
            <a:avLst/>
          </a:prstGeom>
          <a:noFill/>
          <a:ln/>
        </p:spPr>
        <p:txBody>
          <a:bodyPr wrap="square" lIns="0" tIns="0" rIns="0" bIns="0" rtlCol="0" anchor="t"/>
          <a:lstStyle/>
          <a:p>
            <a:pPr indent="0" marL="0">
              <a:buNone/>
            </a:pPr>
            <a:r>
              <a:rPr lang="en-US" sz="1050" b="1" dirty="0">
                <a:solidFill>
                  <a:srgbClr val="B5651D"/>
                </a:solidFill>
                <a:latin typeface="Arial" pitchFamily="34" charset="0"/>
                <a:ea typeface="Arial" pitchFamily="34" charset="-122"/>
                <a:cs typeface="Arial" pitchFamily="34" charset="-120"/>
              </a:rPr>
              <a:t>Lo decidís vos</a:t>
            </a:r>
            <a:endParaRPr lang="en-US" sz="1050" dirty="0"/>
          </a:p>
        </p:txBody>
      </p:sp>
      <p:sp>
        <p:nvSpPr>
          <p:cNvPr id="9" name="Text 7"/>
          <p:cNvSpPr txBox="1"/>
          <p:nvPr/>
        </p:nvSpPr>
        <p:spPr>
          <a:xfrm>
            <a:off x="557784" y="2981706"/>
            <a:ext cx="5298948" cy="714756"/>
          </a:xfrm>
          <a:prstGeom prst="rect">
            <a:avLst/>
          </a:prstGeom>
          <a:noFill/>
          <a:ln/>
        </p:spPr>
        <p:txBody>
          <a:bodyPr wrap="square" lIns="0" tIns="0" rIns="0" bIns="0" rtlCol="0" anchor="t"/>
          <a:lstStyle/>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Quien presidió confirma los acuerdos; la A de la RACI elige la meta de un KR</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Una persona aprueba cada comunicado y confirma cada envío</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El gestor decide la acción correctiva con cada interesado</a:t>
            </a:r>
            <a:endParaRPr lang="en-US" sz="1600" dirty="0"/>
          </a:p>
        </p:txBody>
      </p:sp>
      <p:sp>
        <p:nvSpPr>
          <p:cNvPr id="10" name="Shape 8"/>
          <p:cNvSpPr/>
          <p:nvPr/>
        </p:nvSpPr>
        <p:spPr>
          <a:xfrm>
            <a:off x="457200" y="3815334"/>
            <a:ext cx="5500116" cy="576072"/>
          </a:xfrm>
          <a:prstGeom prst="roundRect">
            <a:avLst>
              <a:gd name="adj" fmla="val 12698"/>
            </a:avLst>
          </a:prstGeom>
          <a:solidFill>
            <a:srgbClr val="002855"/>
          </a:solidFill>
          <a:ln w="12700">
            <a:solidFill>
              <a:srgbClr val="002855"/>
            </a:solidFill>
            <a:prstDash val="solid"/>
          </a:ln>
        </p:spPr>
      </p:sp>
      <p:sp>
        <p:nvSpPr>
          <p:cNvPr id="11" name="Text 9"/>
          <p:cNvSpPr txBox="1"/>
          <p:nvPr/>
        </p:nvSpPr>
        <p:spPr>
          <a:xfrm>
            <a:off x="557784" y="3915918"/>
            <a:ext cx="5298948" cy="374904"/>
          </a:xfrm>
          <a:prstGeom prst="rect">
            <a:avLst/>
          </a:prstGeom>
          <a:noFill/>
          <a:ln/>
        </p:spPr>
        <p:txBody>
          <a:bodyPr wrap="square" lIns="0" tIns="0" rIns="0" bIns="0" rtlCol="0" anchor="t"/>
          <a:lstStyle/>
          <a:p>
            <a:pPr indent="0" marL="0">
              <a:buNone/>
            </a:pPr>
            <a:r>
              <a:rPr lang="en-US" sz="1050" b="1" dirty="0">
                <a:solidFill>
                  <a:srgbClr val="9FD0F0"/>
                </a:solidFill>
                <a:latin typeface="Arial" pitchFamily="34" charset="0"/>
                <a:ea typeface="Arial" pitchFamily="34" charset="-122"/>
                <a:cs typeface="Arial" pitchFamily="34" charset="-120"/>
              </a:rPr>
              <a:t>Control humano: </a:t>
            </a:r>
            <a:pPr indent="0" marL="0">
              <a:buNone/>
            </a:pPr>
            <a:r>
              <a:rPr lang="en-US" sz="1050" dirty="0">
                <a:solidFill>
                  <a:srgbClr val="FFFFFF"/>
                </a:solidFill>
                <a:latin typeface="Arial" pitchFamily="34" charset="0"/>
                <a:ea typeface="Arial" pitchFamily="34" charset="-122"/>
                <a:cs typeface="Arial" pitchFamily="34" charset="-120"/>
              </a:rPr>
              <a:t>Nada se registra ni se envía sin la confirmación de una persona; una instrucción escondida en una transcripción no se ejecuta.</a:t>
            </a:r>
            <a:endParaRPr lang="en-US" sz="1600" dirty="0"/>
          </a:p>
        </p:txBody>
      </p:sp>
      <p:sp>
        <p:nvSpPr>
          <p:cNvPr id="12" name="Shape 10"/>
          <p:cNvSpPr/>
          <p:nvPr/>
        </p:nvSpPr>
        <p:spPr>
          <a:xfrm>
            <a:off x="457200" y="4455414"/>
            <a:ext cx="5500116" cy="1418463"/>
          </a:xfrm>
          <a:prstGeom prst="roundRect">
            <a:avLst>
              <a:gd name="adj" fmla="val 5157"/>
            </a:avLst>
          </a:prstGeom>
          <a:solidFill>
            <a:srgbClr val="F4F6F8"/>
          </a:solidFill>
          <a:ln w="12700">
            <a:solidFill>
              <a:srgbClr val="F4F6F8"/>
            </a:solidFill>
            <a:prstDash val="solid"/>
          </a:ln>
        </p:spPr>
      </p:sp>
      <p:sp>
        <p:nvSpPr>
          <p:cNvPr id="13" name="Text 11"/>
          <p:cNvSpPr txBox="1"/>
          <p:nvPr/>
        </p:nvSpPr>
        <p:spPr>
          <a:xfrm>
            <a:off x="557784" y="4555998"/>
            <a:ext cx="5298948" cy="173355"/>
          </a:xfrm>
          <a:prstGeom prst="rect">
            <a:avLst/>
          </a:prstGeom>
          <a:noFill/>
          <a:ln/>
        </p:spPr>
        <p:txBody>
          <a:bodyPr wrap="square" lIns="0" tIns="0" rIns="0" bIns="0" rtlCol="0" anchor="t"/>
          <a:lstStyle/>
          <a:p>
            <a:pPr indent="0" marL="0">
              <a:buNone/>
            </a:pPr>
            <a:r>
              <a:rPr lang="en-US" sz="1050" b="1" dirty="0">
                <a:solidFill>
                  <a:srgbClr val="B5651D"/>
                </a:solidFill>
                <a:latin typeface="Arial" pitchFamily="34" charset="0"/>
                <a:ea typeface="Arial" pitchFamily="34" charset="-122"/>
                <a:cs typeface="Arial" pitchFamily="34" charset="-120"/>
              </a:rPr>
              <a:t>Antes de inscribirte</a:t>
            </a:r>
            <a:endParaRPr lang="en-US" sz="1050" dirty="0"/>
          </a:p>
        </p:txBody>
      </p:sp>
      <p:sp>
        <p:nvSpPr>
          <p:cNvPr id="14" name="Text 12"/>
          <p:cNvSpPr txBox="1"/>
          <p:nvPr/>
        </p:nvSpPr>
        <p:spPr>
          <a:xfrm>
            <a:off x="557784" y="4729353"/>
            <a:ext cx="5298948" cy="714756"/>
          </a:xfrm>
          <a:prstGeom prst="rect">
            <a:avLst/>
          </a:prstGeom>
          <a:noFill/>
          <a:ln/>
        </p:spPr>
        <p:txBody>
          <a:bodyPr wrap="square" lIns="0" tIns="0" rIns="0" bIns="0" rtlCol="0" anchor="t"/>
          <a:lstStyle/>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Saber qué es un interesado, un plan de comunicaciones y un informe de avance</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Un proyecto propio con cinco interesados o más, o el escenario del caso</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Nada que instalar ni programar; para practicar después, Claude Code con pm-method</a:t>
            </a:r>
            <a:endParaRPr lang="en-US" sz="1600" dirty="0"/>
          </a:p>
        </p:txBody>
      </p:sp>
      <p:sp>
        <p:nvSpPr>
          <p:cNvPr id="15" name="Text 13"/>
          <p:cNvSpPr txBox="1"/>
          <p:nvPr/>
        </p:nvSpPr>
        <p:spPr>
          <a:xfrm>
            <a:off x="557784" y="5398389"/>
            <a:ext cx="5298948" cy="374904"/>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Modalidad: </a:t>
            </a:r>
            <a:pPr indent="0" marL="0">
              <a:buNone/>
            </a:pPr>
            <a:r>
              <a:rPr lang="en-US" sz="1050" dirty="0">
                <a:solidFill>
                  <a:srgbClr val="272425"/>
                </a:solidFill>
                <a:latin typeface="Arial" pitchFamily="34" charset="0"/>
                <a:ea typeface="Arial" pitchFamily="34" charset="-122"/>
                <a:cs typeface="Arial" pitchFamily="34" charset="-120"/>
              </a:rPr>
              <a:t>Dos clases en vivo de 90 minutos: demostración sobre un caso real y ejercicio de 10 minutos al cierre de cada una.</a:t>
            </a:r>
            <a:endParaRPr lang="en-US" sz="1600" dirty="0"/>
          </a:p>
        </p:txBody>
      </p:sp>
      <p:sp>
        <p:nvSpPr>
          <p:cNvPr id="16" name="Text 14"/>
          <p:cNvSpPr txBox="1"/>
          <p:nvPr/>
        </p:nvSpPr>
        <p:spPr>
          <a:xfrm>
            <a:off x="6231636" y="1207008"/>
            <a:ext cx="5500116" cy="292608"/>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Contenidos</a:t>
            </a:r>
            <a:endParaRPr lang="en-US" sz="1600" dirty="0"/>
          </a:p>
        </p:txBody>
      </p:sp>
      <p:sp>
        <p:nvSpPr>
          <p:cNvPr id="17" name="Shape 15"/>
          <p:cNvSpPr/>
          <p:nvPr/>
        </p:nvSpPr>
        <p:spPr>
          <a:xfrm>
            <a:off x="6231636" y="1600200"/>
            <a:ext cx="5500116" cy="1254379"/>
          </a:xfrm>
          <a:prstGeom prst="roundRect">
            <a:avLst>
              <a:gd name="adj" fmla="val 5832"/>
            </a:avLst>
          </a:prstGeom>
          <a:solidFill>
            <a:srgbClr val="F4F6F8"/>
          </a:solidFill>
          <a:ln w="12700">
            <a:solidFill>
              <a:srgbClr val="F4F6F8"/>
            </a:solidFill>
            <a:prstDash val="solid"/>
          </a:ln>
        </p:spPr>
      </p:sp>
      <p:sp>
        <p:nvSpPr>
          <p:cNvPr id="18" name="Text 16"/>
          <p:cNvSpPr txBox="1"/>
          <p:nvPr/>
        </p:nvSpPr>
        <p:spPr>
          <a:xfrm>
            <a:off x="6332220" y="1700784"/>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Clase 1 · 90 min · Del mapa de interesados al plan de compromiso</a:t>
            </a:r>
            <a:endParaRPr lang="en-US" sz="1050" dirty="0"/>
          </a:p>
        </p:txBody>
      </p:sp>
      <p:sp>
        <p:nvSpPr>
          <p:cNvPr id="19" name="Text 17"/>
          <p:cNvSpPr txBox="1"/>
          <p:nvPr/>
        </p:nvSpPr>
        <p:spPr>
          <a:xfrm>
            <a:off x="6332220" y="1874139"/>
            <a:ext cx="5298948" cy="92557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Junta y maestro único de interesados</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Matriz poder/interés, estereotipos y preferencias</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Beneficios, OKR, RACI y quién decide la meta de un KR</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Taller → acuerdos con cita, confirmación y acta</a:t>
            </a:r>
            <a:endParaRPr lang="en-US" sz="1600" dirty="0"/>
          </a:p>
        </p:txBody>
      </p:sp>
      <p:sp>
        <p:nvSpPr>
          <p:cNvPr id="20" name="Shape 18"/>
          <p:cNvSpPr/>
          <p:nvPr/>
        </p:nvSpPr>
        <p:spPr>
          <a:xfrm>
            <a:off x="6231636" y="2918587"/>
            <a:ext cx="5500116" cy="1254379"/>
          </a:xfrm>
          <a:prstGeom prst="roundRect">
            <a:avLst>
              <a:gd name="adj" fmla="val 5832"/>
            </a:avLst>
          </a:prstGeom>
          <a:solidFill>
            <a:srgbClr val="F4F6F8"/>
          </a:solidFill>
          <a:ln w="12700">
            <a:solidFill>
              <a:srgbClr val="F4F6F8"/>
            </a:solidFill>
            <a:prstDash val="solid"/>
          </a:ln>
        </p:spPr>
      </p:sp>
      <p:sp>
        <p:nvSpPr>
          <p:cNvPr id="21" name="Text 19"/>
          <p:cNvSpPr txBox="1"/>
          <p:nvPr/>
        </p:nvSpPr>
        <p:spPr>
          <a:xfrm>
            <a:off x="6332220" y="3019171"/>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Clase 2 · 90 min · Del dato al reporte y al compromiso sostenido</a:t>
            </a:r>
            <a:endParaRPr lang="en-US" sz="1050" dirty="0"/>
          </a:p>
        </p:txBody>
      </p:sp>
      <p:sp>
        <p:nvSpPr>
          <p:cNvPr id="22" name="Text 20"/>
          <p:cNvSpPr txBox="1"/>
          <p:nvPr/>
        </p:nvSpPr>
        <p:spPr>
          <a:xfrm>
            <a:off x="6332220" y="3192526"/>
            <a:ext cx="5298948" cy="92557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Avance con valor ganado, BMAD y check-ins de OKR</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Radar y briefing al retomar la sesión</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Highlight desde el dato y envío con confirmación</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Cadencia de contacto y revisión de la brecha</a:t>
            </a:r>
            <a:endParaRPr lang="en-US" sz="1600" dirty="0"/>
          </a:p>
        </p:txBody>
      </p:sp>
      <p:sp>
        <p:nvSpPr>
          <p:cNvPr id="23" name="Text 21"/>
          <p:cNvSpPr txBox="1"/>
          <p:nvPr/>
        </p:nvSpPr>
        <p:spPr>
          <a:xfrm>
            <a:off x="6231636" y="4282694"/>
            <a:ext cx="5500116" cy="292608"/>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te llevás</a:t>
            </a:r>
            <a:endParaRPr lang="en-US" sz="1600" dirty="0"/>
          </a:p>
        </p:txBody>
      </p:sp>
      <p:sp>
        <p:nvSpPr>
          <p:cNvPr id="24" name="Shape 22"/>
          <p:cNvSpPr/>
          <p:nvPr/>
        </p:nvSpPr>
        <p:spPr>
          <a:xfrm>
            <a:off x="6231636" y="4675886"/>
            <a:ext cx="5500116" cy="1624330"/>
          </a:xfrm>
          <a:prstGeom prst="roundRect">
            <a:avLst>
              <a:gd name="adj" fmla="val 4504"/>
            </a:avLst>
          </a:prstGeom>
          <a:solidFill>
            <a:srgbClr val="E9F1F8"/>
          </a:solidFill>
          <a:ln w="12700">
            <a:solidFill>
              <a:srgbClr val="E9F1F8"/>
            </a:solidFill>
            <a:prstDash val="solid"/>
          </a:ln>
        </p:spPr>
      </p:sp>
      <p:sp>
        <p:nvSpPr>
          <p:cNvPr id="25" name="Text 23"/>
          <p:cNvSpPr txBox="1"/>
          <p:nvPr/>
        </p:nvSpPr>
        <p:spPr>
          <a:xfrm>
            <a:off x="6332220" y="4776470"/>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Para vos</a:t>
            </a:r>
            <a:endParaRPr lang="en-US" sz="1050" dirty="0"/>
          </a:p>
        </p:txBody>
      </p:sp>
      <p:sp>
        <p:nvSpPr>
          <p:cNvPr id="26" name="Text 24"/>
          <p:cNvSpPr txBox="1"/>
          <p:nvPr/>
        </p:nvSpPr>
        <p:spPr>
          <a:xfrm>
            <a:off x="6332220" y="4949825"/>
            <a:ext cx="5298948" cy="50393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Un informe de avance que no tenés que copiar a mano</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Una forma rápida de ver a quién le estás fallando con lo prometido</a:t>
            </a:r>
            <a:endParaRPr lang="en-US" sz="1600" dirty="0"/>
          </a:p>
        </p:txBody>
      </p:sp>
      <p:sp>
        <p:nvSpPr>
          <p:cNvPr id="27" name="Text 25"/>
          <p:cNvSpPr txBox="1"/>
          <p:nvPr/>
        </p:nvSpPr>
        <p:spPr>
          <a:xfrm>
            <a:off x="6332220" y="5408041"/>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Para tu organización</a:t>
            </a:r>
            <a:endParaRPr lang="en-US" sz="1050" dirty="0"/>
          </a:p>
        </p:txBody>
      </p:sp>
      <p:sp>
        <p:nvSpPr>
          <p:cNvPr id="28" name="Text 26"/>
          <p:cNvSpPr txBox="1"/>
          <p:nvPr/>
        </p:nvSpPr>
        <p:spPr>
          <a:xfrm>
            <a:off x="6332220" y="5581396"/>
            <a:ext cx="5298948" cy="66395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Las mismas cifras en el informe, el tablero y el correo, comprobadas antes de enviar</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Desenganche visible a tiempo: en el caso, 3 de 10 interesados fuera de su cadencia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Webinar pm-method">
  <a:themeElements>
    <a:clrScheme name="Webinar pm-method">
      <a:dk1>
        <a:srgbClr val="272425"/>
      </a:dk1>
      <a:lt1>
        <a:srgbClr val="FFFFFF"/>
      </a:lt1>
      <a:dk2>
        <a:srgbClr val="002855"/>
      </a:dk2>
      <a:lt2>
        <a:srgbClr val="F4F6F8"/>
      </a:lt2>
      <a:accent1>
        <a:srgbClr val="00629B"/>
      </a:accent1>
      <a:accent2>
        <a:srgbClr val="B5651D"/>
      </a:accent2>
      <a:accent3>
        <a:srgbClr val="002855"/>
      </a:accent3>
      <a:accent4>
        <a:srgbClr val="696969"/>
      </a:accent4>
      <a:accent5>
        <a:srgbClr val="272425"/>
      </a:accent5>
      <a:accent6>
        <a:srgbClr val="00629B"/>
      </a:accent6>
      <a:hlink>
        <a:srgbClr val="00629B"/>
      </a:hlink>
      <a:folHlink>
        <a:srgbClr val="002855"/>
      </a:folHlink>
    </a:clrScheme>
    <a:fontScheme name="Webinar pm-metho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Ficha del taller E2E-3 · Que lo prometido a cada interesado se cumpla, y se note a tiempo</dc:title>
  <dc:subject>pm-method 2.5.1</dc:subject>
  <dc:creator>pm-method</dc:creator>
  <cp:lastModifiedBy>pm-method</cp:lastModifiedBy>
  <cp:revision>1</cp:revision>
  <dcterms:created xsi:type="dcterms:W3CDTF">2026-10-29T00:17:12Z</dcterms:created>
  <dcterms:modified xsi:type="dcterms:W3CDTF">2026-10-29T00:17:12Z</dcterms:modified>
</cp:coreProperties>
</file>