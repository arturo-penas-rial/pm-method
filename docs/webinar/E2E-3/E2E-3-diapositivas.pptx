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adc9ceca-2fc5-7698-852a-b401d1485b9e}">
          <p14:sldIdLst>
            <p14:sldId id="256"/>
          </p14:sldIdLst>
        </p14:section>
        <p14:section name="Clase 1 · Del mapa de interesados al plan de compromiso" id="{66b8613e-f34c-78ae-a3a9-90f7a7aa7934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Clase 2 · Del dato al reporte y al compromiso sostenido" id="{5a4fa07c-c73a-1997-ce8f-cba6a9d91cb7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Glosario" id="{7eb0be2f-a3dc-45af-8acb-b6c5c0ce2928}">
          <p14:sldIdLst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E2E-3: Interesados, comunicaciones, OKR y reporte de avance. 2 clases de 90 minutos. Presentá el problema que resuelve el caso y qué se van a llevar los asistentes.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1 (90 minutos): Del mapa de interesados al plan de compromiso. Objetivos: Construir un maestro único de interesados con matriz poder/interés y de compromiso; Distinguir preferencias declaradas de inferidas y leer un perfil de comunicación; Separar beneficios del business case de OKR y explicar P-04; Armar una RACI con un solo aprobador por elemento.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Presentá el escenario: un portal de autoservicio para los socios de una cooperativa, con diez interesados. Hoy montamos el sistema: quiénes son, qué se les promete y cómo se mide el éxito. La próxima clase lo operamos período a período.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Contá la historia al revés: primero el resultado, después la pregunta. No expliques todavía cómo se detectó: es el corazón de la clase 2. El dato sale de la sanidad del 5/2 (paso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Esperá pocas manos. Respuesta esperada: el plan de comunicaciones se escribe una vez y nadie lo controla. En los pasos 13 y 14 vamos a ver que se puede verificar solo, en cada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tesis del caso: actividades que hoy se hacen una vez, a mano o nunca, pasan a ser controles que corren solos. Las tres primeras filas son la clase 2; las tres últimas, la de hoy.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maestro es la única fuente de personas del ecosistema. Si la misma persona aparece con dos nombres en dos planillas, ningún control la puede seguir. Paso 2 de la guía.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◇ es frontera: tienen un valor medio y la convención del paquete los ubica del lado alto. Cinco de los siete de arriba son frontera; con --medio bajo, el Consejo y TI pasan a mantener satisfecho. Paso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Así se ve en el reporte HTML del paso 12, con las fronteras marcadas y la estrategia de cada cuadrante. Es el mismo maestro: no hay una segunda planilla.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Técnica del PMBOK. La brecha de partida es la línea de base de los pasos 13 y 14: vamos a medirla de nuevo el 15/1, el 5/2 y el 19/2. Paso 5 para las acciones.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valor dice de dónde sale. Las preferencias se declaran con cita y se confirman (Martín Suárez); nada inferido se aplica sin confirmar. Precedencia: cuadrante, idioma, estereotipo, matriz y preferencias confirmadas. Paso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 si Laura aceptó: «Sí, aceptó; confirmalas como Martín Suárez, gestor». Mostrá el perfil resultante y señalá la columna de procedencia.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beneficio es el compromiso con la junta: dueña Sofía, tolerancia y revisión después del cierre. Los KR son metas de ciclo y pueden apuntar más alto sin mover el compromiso. Paso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P-04 es un control de la verificación de autorizar-proyecto. El enfoque de beneficios dice cómo, cuándo y quién mide cada beneficio, incluso después del proyecto. Pasos 6 y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registro rechaza el segundo A en E-1: «elemento E-1 ya tiene un 'A'». Si pregunta si reemplaza a Sofía: «No, dejá a Sofía». Los títulos salen de su fuente: BMAD, la WBS y okr.csv.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elementos: dos épicas, un requisito, un paquete de la WBS y dos KR. Debajo, el perfil resuelto de cada interesado con su procedencia.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se infieren emociones ni rasgos: la preocupación del delegado queda en el acta y se responde con una decisión, no va a su perfil. La frecuencia que pidió (quincenal) difiere de la matriz y se actualiza. Paso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no. Los KR son metas de ciclo, a veces aspiracionales; el beneficio tiene dueña, tolerancia de −10 % y revisión después del cierre. Por eso KR-1.1 apunta a 30 % y B-02 a 25 %.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Hoja en docs/webinar/E2E-3/ejercicio.md, parte A. Pedí que marquen qué frecuencias pidió la persona y cuáles supusieron ellos. El ejemplo resuelto, plegado al final de la hoja, usa el escenario del caso: mostralo al terminar.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Cerrá con la pregunta de la clase 2. Pedí que traigan la fecha del último contacto con sus cinco interesados y su último informe de avance: los vamos a usar en la parte B del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2 (90 minutos): Del dato al reporte y al compromiso sostenido. Objetivos: Retomar la sesión desde el contexto derivado de los registros; Armar un highlight report desde las salidas de los scripts y comprobar la cadena de reporte hasta el correo; Explicar por qué aprobar y enviar exigen confirmación humana; Leer la salud de un KR contra su avance esperado; Vigilar la cadencia de contacto (STK-12) y reevaluar la brecha en cada período.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Repasá en un minuto la clase 1: maestro, frecuencias prometidas, beneficios con tolerancia. Hoy operamos el sistema durante tres meses de proyecto, del 11/12 al 19/2.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Preguntá cuántos recibieron alguna vez una corrección de la junta por un número que no coincidía. El caso muestra la cadena de reporte del paso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seis tarjetas salen de evm-2027-01-08.json, avance-bmad.csv, okr.py y registro.py resumen. Ninguna se tipea. Paso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hook de inicio corre estado.py contexto: conteos, ids vencidos y condiciones, a lo sumo 2.000 caracteres y sin texto libre. Dos cosas que el highlight tiene que contar aparecen antes de preguntar. Si una nota de memoria dijera «prototipo entregado», manda el registro. Paso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pieza central de la gestión por excepción: la junta no se reúne a ver avance, lee el highlight y decide solo lo que excede la autoridad delegada. Reglas de pm-progreso-reportes.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único que escribe el gestor es el juicio: el pronóstico de alcance y de beneficios. Queda marcado como tal y cita las cifras en que se apoya.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Margen frente al avance esperado. KR-2.3 estaba desviado el 11/12, se recupera con IN-1 el 23/12 y vuelve a caer: −19 pp el 8/1. Un 0,33 se lee distinto según la fecha. Paso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el campo fuentes del frontmatter y las filas marcadas como pronóstico del gestor. Si avisa por la condición de la etapa (G-01): «Lucía ya planificó la prueba de carga de NFR-3 en el sprint 5; Laura Méndez, ejecutiva, la da por cumplida».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Estado general ámbar. Los beneficios se pronostican contra los B-n y su tolerancia, no contra los KR: B-01 y B-02 siguen en meta; B-03 depende del KR en riesgo. El corte de EVM del 8/1 (SPI 0,933, CPI 0,942, EAC USD 131.676) queda guardado y la sanidad lo vigila en cada sesión: TOL-02 en ámbar y TOL-03 si pasan más de 31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 12 de pm-progreso-reportes: mismas cifras en el highlight, el tablero y los comunicados. En la corrida de referencia la comprobación la hace el script de la guía y se detiene si una cifra no tiene respaldo. Paso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hook guardian.py responde «ask»: Claude Code detiene el comando y muestra el motivo; una persona dice sí o no. Una instrucción escondida en una transcripción no alcanza para que salga un correo. Quién aprobó queda en el mensaje (aprobado_por) y en envios.csv. Paso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Correo, chat, reunión o llamada cuentan si quedan registrados. Sin contacto propio, cuenta desde el primer envío del proyecto. Una frecuencia por hito se revisa en cada puerta. Paso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Deberían salir tres STK-12: TI 18 de 10 días, Martín 21 de 10 y Lucía 21 de 2. La sanidad: 0 ERROR · 3 AVISO · 1 INFO. Si pregunta si registra algo: «Todavía no; primero mostrame quién está atrasado».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Días desde el último contacto como porcentaje del máximo. Laura, Sofía y el sindicato están en 21 de 21: al día siguiente STK-12 los marcaría.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control obliga a revisar la frecuencia acordada, no solo a contactar. La retroalimentación de TI queda en la columna notas del contacto y cambia el plan de compromiso.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Brecha por interesado al inicio, al 5/2 y al 19/2. El sindicato y los socios cierran su brecha; TI muestra que el compromiso también retrocede, y se recupera con contacto sostenido. Paso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TOL-03 es el mismo patrón del caso, del lado del avance: el highlight dejó de salir con un corte nuevo y el control lo recuerda en cada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sí, contactarlos ahora; al día siguiente STK-12 los marcaría. En el paso 14 el resumen quincenal sale el 5/2 por el canal de cada uno y el próximo vence el 26/2.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Hoja en docs/webinar/E2E-3/ejercicio.md, parte B. Lo habitual es descubrir un contacto que ocurrió y no quedó registrado, y una cifra copiada 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Puente a E2E-4: aquí preparamos las puertas con un atajo y dejamos los beneficios con dueño y tolerancia. En E2E-4 se recorre el ciclo completo, se cierra la condición formal, se controla la calidad a volumen y se hace la primera revisión de beneficios.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E2E-3: 25 términos, página 1 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E2E-3: 25 términos, página 2 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9BB8"/>
                </a:solidFill>
              </a:rPr>
              <a:t>Logo IEEE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2.3.0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G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2.3.0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1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2.3.0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2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· pm-method 2.3.0 · E2E-3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Interesados, comunicaciones, OKR y reporte de avance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mapa de interesados al compromiso sostenido, con el highlight armado desde el dato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mapa de interesados al plan de compromiso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172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dato al reporte y al compromiso sostenido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mapa de interesados al plan de compromiso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un maestro único de interesados con matriz poder/interés y de compromiso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3884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3884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0460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preferencias declaradas de inferidas y leer un perfil de comunicación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44568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44568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81144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beneficios del business case de OKR y explicar P-04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445252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5445252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481828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una RACI con un solo aprobador por elemento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Del mapa de interesados al plan de compromiso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¿A quién le prometimos qué, y quién responde por cada resultado?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pasó de neutral a resistente y nadie lo notó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prometimos una reunión técnica semanal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5/2 llevaba 18 días sin contacto (máximo 10)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9 interesados vigilados, fuera de cadencia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 habrías visto a tiempo en tu proyecto?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alzada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verificaron este mes que cada interesado recibió el contacto que le prometieron?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uso único al control continuo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3188762"/>
                <a:gridCol w="2277687"/>
                <a:gridCol w="2960993"/>
                <a:gridCol w="284710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pm-method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Contacto prometido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escrito una vez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STK-12 en cada sesión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de 9 fuera al 5/2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Compromiso actual vs deseado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Taller de inicio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Revisión por período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Brecha 7 → 3 niveles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Highlight report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Redactado a mano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Desde el dato + cadena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cifras, 0 sin respaldo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 final del ciclo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Salud en cada check-in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KR-2.3 a −19 pp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Criterios de éxito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 en la puerta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B-01…B-03 con dueña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Aprobadores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Dos o ninguno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A por elemento (STK-02)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elementos RACI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maestro de interesados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Diez interesados, ST-001…ST-010, en stakeholders.csv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OKR, RACI, preferencias y envíos los citan por id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Poder, interés, actitud y compromiso: valoraciones restringidas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sindicato, marcado como confidencial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alguien no está en el maestro, STK-08 lo avisa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poder/interés: una estrategia por cuadrante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920850"/>
                <a:gridCol w="5010912"/>
                <a:gridCol w="434279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Cuadrante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Estrategia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Gestionar de cerca (7)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Laura, Consejo ◇, Sofía, Sindicato ◇, TI ◇, Diego ◇, Martín ◇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Comunicación constante y participación en decisiones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Mantener satisfecho (1)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 de cumplimiento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Reportes ejecutivos, sin abrumar con detalle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Mantener informado (2)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Socios piloto, 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Canales claros y escucha de su retroalimentación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Monitorear (0)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Esfuerzo mínimo, salvo que cambien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matriz en el reporte de interesados</a:t>
            </a:r>
            <a:endParaRPr lang="en-US" sz="2400" dirty="0"/>
          </a:p>
        </p:txBody>
      </p:sp>
      <p:pic>
        <p:nvPicPr>
          <p:cNvPr id="3" name="Image 0" descr="La matriz en el reporte de interes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74884" y="1280160"/>
            <a:ext cx="5439185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374884" y="1280160"/>
            <a:ext cx="5439185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evaluación del compromiso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niveles: desconocedor, resistente, neutral, partidario, líder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y deseado por interesado, en el maestro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Brecha = niveles que faltan para el deseado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inicio: 7 niveles (los socios piloto, 3)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brecha, con una acción: A-001, A-002, A-003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Preferencias declaradas: el perfil de Laura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3110221"/>
                <a:gridCol w="3498999"/>
                <a:gridCol w="46653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dónde sale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PF-001 (declarado, 3/11)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conclusión primero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de detalle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Frecuencia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quincenal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comunicaciones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 de las 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estereotipos y preferencias (paso 4)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329434"/>
          </a:xfrm>
          <a:prstGeom prst="roundRect">
            <a:avLst>
              <a:gd name="adj" fmla="val 3140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Cargá los estereotipos de audiencia y asigná: Laura y el Consejo a dirección-patrocinador, Sofía a product owner y usuarios clave, el panel a cliente-usuario, cumplimiento a regulador-comunidad, Diego a proveedores, Martín y Lucía a equipo. Después entrevisté a Laura (3/11): "Prefiero que el avance me llegue por correo, no por chat", "Una página, con la conclusión y lo que tengo que decidir arriba", "Los lunes antes de las 9 lo leo con calma". Registrá sus preferencias y mostrame su perfil de comunicación.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del business case y KR que los complementan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818638"/>
                <a:gridCol w="3640741"/>
                <a:gridCol w="2113979"/>
                <a:gridCol w="27011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(−10 %)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B-01 desvío de consultas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→ 4.000/mes al 31/12/2027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900 desviadas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KR-1.2 (aspira a 3.500)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B-02 adopción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 de socios activos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22,5 %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KR-1.1 (aspira a 30 %)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B-03 préstamos &lt; 48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 h → 48 h al 30/6/2027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52,8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KR-2.1, KR-2.2, KR-2.3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P-04: criterios de éxito con dueño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5773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77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Condición si los criterios de éxito están solo en OKR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78024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7752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7752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si hay B-n sin enfoque de beneficios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675888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9730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9730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30752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enfoque: autorizar-proyecto sin P-04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873752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51709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928616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Puerta: 1 bloqueo (la lista de la junta), 0 condiciones, 0 avisos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RACI con un solo aprobador (paso 7)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043684"/>
          </a:xfrm>
          <a:prstGeom prst="roundRect">
            <a:avLst>
              <a:gd name="adj" fmla="val 357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Armá la RACI: épica E-1 (A Sofía, R Lucía, C TI, I Laura); épica E-3 (A Sofía, R Lucía, C sindicato y Diego); NFR-1 protección de datos (A cumplimiento, R Lucía, C Sofía); paquete 3.1 de la WBS (A Martín, R Lucía, I Sofía); KR-1.1 (A Laura, R Sofía, C panel de socios, I Consejo) y KR-2.2 (A Laura, R Sofía, I Consejo). Después intentá poner a Laura también como A de E-1. Mostrame quién participa en E-3 y verificá la integridad.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 y perfiles resueltos</a:t>
            </a:r>
            <a:endParaRPr lang="en-US" sz="2400" dirty="0"/>
          </a:p>
        </p:txBody>
      </p:sp>
      <p:pic>
        <p:nvPicPr>
          <p:cNvPr id="3" name="Image 0" descr="RACI y perfiles resuel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7975" y="1280160"/>
            <a:ext cx="3933001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27975" y="1280160"/>
            <a:ext cx="3933001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taller al acta y al perfil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Transcripción VTT: 5 intervenciones de 4 hablantes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D-006: métricas de equipo, no individuales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Acción A-004: prototipo de Lucía para el 11/12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PF-005…PF-008: solo frases en primera persona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sindicato pasa de resistente a neutral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¿Los OKR pueden reemplazar a los beneficios del business case?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A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500116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50977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interesados de tu proyecto: poder, interés y cuadrante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31636" y="1280160"/>
            <a:ext cx="5500116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32804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32804" y="1847088"/>
            <a:ext cx="50977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 actual y deseado, y su brecha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886200"/>
            <a:ext cx="5500116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4453128"/>
            <a:ext cx="50977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y frecuencia que les prometiste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31636" y="3886200"/>
            <a:ext cx="5500116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2804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32804" y="4453128"/>
            <a:ext cx="50977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criterio de éxito: ¿beneficio o KR?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nos llevamos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maestro único: una persona, un id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Preferencias declaradas y confirmadas, nunca inferidas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 dueño y tolerancia; los OKR los complementan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clase: ¿estamos cumpliendo lo que prometimos?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dato al reporte y al compromiso sostenido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Retomar la sesión desde el contexto derivado de los registros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63747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63747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500323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un highlight report desde las salidas de los scripts y comprobar la cadena de reporte hasta el correo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184294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184294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220870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por qué aprobar y enviar exigen confirmación humana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904842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904842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941418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la salud de un KR contra su avance esperado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625389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5625389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661965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Vigilar la cadencia de contacto (STK-12) y reevaluar la brecha en cada período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Del dato al reporte y al compromiso sostenido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¿Estamos cumpliendo lo que prometimos, y cómo nos enteramos a tiempo?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¿El número del informe coincide con el del correo?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highlight se arma copiando cifras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tablero dice una cosa y el correo otra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compara después de enviar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Aquí: 12 cifras comprobadas antes de enviar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Highlight al 8/1: cada tarjeta sale de un script</a:t>
            </a:r>
            <a:endParaRPr lang="en-US" sz="2400" dirty="0"/>
          </a:p>
        </p:txBody>
      </p:sp>
      <p:pic>
        <p:nvPicPr>
          <p:cNvPr id="3" name="Image 0" descr="Highlight al 8/1: cada tarjeta sale de un scr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38230"/>
            <a:ext cx="6793992" cy="382162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838230"/>
            <a:ext cx="6793992" cy="38216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5512" y="1280160"/>
            <a:ext cx="4206240" cy="4937760"/>
          </a:xfrm>
          <a:prstGeom prst="roundRect">
            <a:avLst>
              <a:gd name="adj" fmla="val 217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426464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leerlo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1847088"/>
            <a:ext cx="3803904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 0,933 y CPI 0,942: ámbar dentro de la tolerancia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de 68 puntos terminados (38,2 %)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compromiso vencido: A-004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retomar la sesión el 8/1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Claude ya sabe antes de que escribas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792224"/>
            <a:ext cx="11274552" cy="768096"/>
          </a:xfrm>
          <a:prstGeom prst="roundRect">
            <a:avLst>
              <a:gd name="adj" fmla="val 11905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9476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847088"/>
            <a:ext cx="10222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derivado de los registros, en cada inicio de sesión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706624"/>
            <a:ext cx="11274552" cy="768096"/>
          </a:xfrm>
          <a:prstGeom prst="roundRect">
            <a:avLst>
              <a:gd name="adj" fmla="val 11905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8620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761488"/>
            <a:ext cx="10222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Acción vencida: A-004 (Lucía Benítez, 11/12)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621024"/>
            <a:ext cx="11274552" cy="768096"/>
          </a:xfrm>
          <a:prstGeom prst="roundRect">
            <a:avLst>
              <a:gd name="adj" fmla="val 11905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" y="37764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776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75888"/>
            <a:ext cx="10222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Condición abierta: autorizar-etapa (27/11)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4535424"/>
            <a:ext cx="11274552" cy="768096"/>
          </a:xfrm>
          <a:prstGeom prst="roundRect">
            <a:avLst>
              <a:gd name="adj" fmla="val 11905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" y="46908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590288"/>
            <a:ext cx="10222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puerta: autorizar-etapa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" y="5449824"/>
            <a:ext cx="11274552" cy="768096"/>
          </a:xfrm>
          <a:prstGeom prst="roundRect">
            <a:avLst>
              <a:gd name="adj" fmla="val 11905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" y="5605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504688"/>
            <a:ext cx="10222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registros mandan sobre cualquier nota de memoria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de aspectos destacados (highlight report)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periódico del gestor a la junta (PRINCE2)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Pronóstico contra la tolerancia, no el acumulado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Siete objetivos, cada semáforo con cifra y umbral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Decisiones que se piden a la junta, con fecha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página; el detalle, en anexos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sección del highlight, su fuente</a:t>
            </a:r>
            <a:endParaRPr lang="en-US" sz="2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6372573"/>
                <a:gridCol w="490197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y costo: SPI, CPI, EAC, semáforo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evm-2027-01-08.json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Calidad, riesgos, acciones vencidas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resumen --json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Puntaje y salud de los 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okr.py --corte --json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Puertas y condiciones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puertas.py estado --markdown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Burn-up y puntos terminados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avance-bmad.csv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y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pronóstico del gestor, marcado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bandeja (KR-2.3) cae a «en riesgo»</a:t>
            </a:r>
            <a:endParaRPr lang="en-US" sz="2400" dirty="0"/>
          </a:p>
        </p:txBody>
      </p:sp>
      <p:pic>
        <p:nvPicPr>
          <p:cNvPr id="3" name="Image 0" descr="La bandeja (KR-2.3) cae a «en riesgo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highlight desde el dato (paso 10)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615184"/>
          </a:xfrm>
          <a:prstGeom prst="roundRect">
            <a:avLst>
              <a:gd name="adj" fmla="val 2797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Armá el highlight report del período 24/12 al 8/1 para la junta desde los datos: el corte de EVM guardado, los OKR al 8/1, el resumen de registros, las puertas con sus condiciones y el avance de BMAD. Cada cifra con su fuente; marcá lo que sea pronóstico tuyo. En la fila de beneficios pronosticá B-01…B-03 contra su meta y la tolerancia de −10 % del enfoque de beneficios; los OKR van como complemento. Decisión pendiente para la junta: aprobar USD 4.000 de contingencia para el incentivo del panel. Decime qué check-ins habría que publicar en Tability y mostrame el tablero y la vista de Sofía.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Semáforo del highlight al 8/1</a:t>
            </a:r>
            <a:endParaRPr lang="en-US" sz="2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977992"/>
                <a:gridCol w="1582393"/>
                <a:gridCol w="771416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Cifra y umbral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 0,933; desvío 6,7 % contra 10 %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CPI 0,942; sobrecosto 6,2 % contra 10 %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en R1 (pronóstico del gestor)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revisiones aprobadas, 0 abiertas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B-03 depende de la bandeja; hoy 80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Riesgo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abierto, 0 altos, 0 sin respuesta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 de reporte antes de enviar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5773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77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Comunicado y mensaje ejecutivo: 4 cifras cada uno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78024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7752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7752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de Sofía: 8 cifras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675888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9730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9730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30752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sin respaldo en el highlight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873752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51709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928616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destinatarios, 5 borradores por perfil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correo sale sin una persona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envios.py aprobar → pedido de permiso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--confirmar → pedido de permiso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simulación y registrar no lo piden: no envían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También para pm-director y con Bash preaprobado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Enviados y registrados: EN-001…EN-007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STK-12: la frecuencia prometida, como control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Gestionar de cerca, mantener satisfecho e informado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contacto enviado en envios.csv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Frecuencia del perfil: diaria 1 … trimestral 92 días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Tolerancia de 1,5 × el período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en cada sesión, con la sanidad del hook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¿a quién descuidamos? (paso 13)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900684"/>
          </a:xfrm>
          <a:prstGeom prst="roundRect">
            <a:avLst>
              <a:gd name="adj" fmla="val 8122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 5/2. Verificá la integridad y la sanidad al 5/2: ¿a quién no estamos contactando con la frecuencia que le prometimos?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5/2, 3 de 9 interesados fuera de su cadencia</a:t>
            </a:r>
            <a:endParaRPr lang="en-US" sz="2400" dirty="0"/>
          </a:p>
        </p:txBody>
      </p:sp>
      <p:pic>
        <p:nvPicPr>
          <p:cNvPr id="3" name="Image 0" descr="Al 5/2, 3 de 9 interesados fuera de su cade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problemas distintos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TI: el contacto no ocurrió (18 días)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Martín y Lucía: el checkpoint ocurre y no se registra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«daily» no es un compromiso con un interesado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Corrección: EN-008…EN-010 y acción A-005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Reevaluación: TI pasa a resistente (brecha +2)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brecha baja de 7 a 3 niveles; TI cae y repunta</a:t>
            </a:r>
            <a:endParaRPr lang="en-US" sz="2400" dirty="0"/>
          </a:p>
        </p:txBody>
      </p:sp>
      <p:pic>
        <p:nvPicPr>
          <p:cNvPr id="3" name="Image 0" descr="La brecha baja de 7 a 3 niveles; TI cae y repun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periódica al 19/2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quincenal del 5/2: EN-011…EN-013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Reuniones con TI del 12/2 y del 19/2; A-005 cumplida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STK-12 limpio; brecha total en 3 niveles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TOL-03: el último corte de EVM es del 8/1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resumen quincenal: vence el 26/2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Laura, Sofía y el sindicato están en 21 de 21 días. ¿Hay que hacer algo?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B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500116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50977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contacto con tus cinco interesados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31636" y="1280160"/>
            <a:ext cx="5500116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32804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32804" y="1847088"/>
            <a:ext cx="50977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Días contra el máximo (frecuencia × 1,5)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886200"/>
            <a:ext cx="5500116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4453128"/>
            <a:ext cx="50977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cifras de tu último informe y su fuente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31636" y="3886200"/>
            <a:ext cx="5500116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2804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32804" y="4453128"/>
            <a:ext cx="50977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¿Coinciden en el informe, el tablero y el correo?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nos llevamos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highlight sale del dato; el juicio, marcado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KR se lee contra su avance esperado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frecuencia prometida se vigila sola (STK-12)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brecha de compromiso se mide en cada período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caso: E2E-4, de la idea al cierre con BMAD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(1/2)</a:t>
            </a:r>
            <a:endParaRPr lang="en-US" sz="24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 (B-n)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Mejora medible comprometida en el business case, con dueño, línea base, meta, fecha y tolerancia.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Brecha de compromiso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Niveles que faltan entre el compromiso actual y el deseado (desconocedor, resistente, neutral, partidario, líder).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Cadena de reporte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Comprobación de que las mismas cifras aparecen en el highlight, el tablero y los comunicados.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 de canales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Envía y registra comunicaciones aprobadas por correo, Teams, Slack, .eml o un conector MCP (envios.py).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Confirmación humana (pedido de permiso)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 de envios.py aprobar y enviar --confirmar, Claude Code se detiene y una persona confirma o rechaza (hook guardian.py).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de sesión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Resumen derivado de estado.json y los registros que el hook de inicio agrega en cada sesión; prevalece sobre la memoria.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de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Cómo, cuándo y quién mide cada beneficio, incluso después del cierre del 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Estereotipo de audiencia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tipo (por ejemplo, dirección-patrocinador) con canal, formato y frecuencia por defecto.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 de aspectos destacados (highlight report)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 periódico del gestor a la junta: pronóstico contra tolerancias, decisiones que se piden y puertas.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Interesado (stakeholder)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o grupo que puede afectar al proyecto o verse afectado por él.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Junta del proyecto (project board)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Ejecutiva, usuaria sénior y proveedor sénior: autoriza las puertas y decide las excepciones.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Maestro de interesados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único de interesados (stakeholders.csv) que citan por id los OKR, la RACI, las preferencias y los envíos.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evaluación del compromiso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Técnica del PMBOK que compara el compromiso actual y el deseado de cada interesado.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(2/2)</a:t>
            </a:r>
            <a:endParaRPr lang="en-US" sz="24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poder/interés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Ubica a cada interesado en un cuadrante según su poder y su interés, y le asigna una estrategia. Un valor «medio» es frontera: la convención del paquete lo ubica del lado alto.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RACI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es responsable (R), aprobador (A), consultado (C) e informado (I) en cada elemento; un solo 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Objetivos y resultados clave: metas de ciclo que complementan los beneficios y se siguen con check-ins (mediciones fechadas con su confianza).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de la puerta autorizar-proyecto: criterios de éxito solo en OKR o beneficios sin enfoque.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de comunicación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Canal, formato, detalle, frecuencia y horario resueltos para un interesado, con la procedencia de cada valor.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de compromiso de los interesados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Acciones con dueño y fecha para cerrar cada brecha de compromiso.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Preferencia declarada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 que la persona pidió en primera persona, con cita y fuente, confirmado por el gestor.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Salud de un 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Puntaje frente al avance esperado a la fecha: en camino, en riesgo o desviado.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STK-12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de cadencia de contacto: avisa si un interesado lleva más de 1,5 × su frecuencia sin contacto registrado.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TOL-03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 de sanidad: etapa de entrega sin corte de EVM guardado o con el último de más de 31 días.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Desvío permitido sobre un objetivo antes de escalar a la junta (gestión por excepción).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ganado (EVM)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Mide avance y costo con PV, EV y AC; de ahí SPI, CPI y el pronóstico EAC.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Webinar E2E-3 · Interesados, comunicaciones, OKR y reporte de avance</dc:title>
  <dc:subject>pm-method 2.3.0</dc:subject>
  <dc:creator>pm-method</dc:creator>
  <cp:lastModifiedBy>pm-method</cp:lastModifiedBy>
  <cp:revision>1</cp:revision>
  <dcterms:created xsi:type="dcterms:W3CDTF">2026-10-20T19:31:31Z</dcterms:created>
  <dcterms:modified xsi:type="dcterms:W3CDTF">2026-10-20T19:31:31Z</dcterms:modified>
</cp:coreProperties>
</file>