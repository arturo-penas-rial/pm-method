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410ddec0-659b-5cc7-0820-3d74115b2e77}">
          <p14:sldIdLst>
            <p14:sldId id="256"/>
          </p14:sldIdLst>
        </p14:section>
        <p14:section name="Clase 1 · Gobernar la construcción con BMAD" id="{1a497516-c9dc-2673-220a-54591ec0f043}">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Clase 2 · Recorrido, lecciones, cierre y beneficios" id="{ced754f9-baee-1733-52ef-acaa8b7fac4a}">
          <p14:sldIdLst>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 name="Glosario" id="{cbc41ba7-a84a-3b80-24da-0349d3de04b6}">
          <p14:sldIdLst>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E2E-4: Producto con BMAD gobernado con PRINCE2. 2 clases de 90 minutos. Presentá el problema que resuelve el caso y qué se van a llevar los asistentes.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Clase 1 (90 minutos): Gobernar la construcción con BMAD. Objetivos: Separar especificación (BMAD) y gobierno (pm-method); Convertir un CONCERNS en condición formal con seguimiento; Controlar un cambio con costo y presupuesto de la junta; Guardar el valor ganado y registrar la calidad por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Pedí a la audiencia que piense en la última puerta o comité aprobado con condiciones. ¿Quién verificó que se cumplieron y dónde quedó escrito? Esa es la pregunta que responde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tablero de la puerta de cierre del caso: 11 de 11 productos aceptados y ningún Must sin aceptar, CPI 0,977, 40 % del presupuesto de cambio y 0 condiciones abiertas. Hoy vemos cómo se construye la mitad de este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 oro: una sola fuente por dato. El PRD vive en BMAD; pm-method fija líneas base, detecta desvíos y devuelve decisiones. Así no hay dos versiones de la especificación.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repetimos el diseño: E2E-5 lo cubre. Lo importante es qué quedó listo para ejecutar: backlog con columnas de gobierno, enfoque de calidad, enfoque de beneficios, presupuesto de cambio y líneas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fila es algo que en la práctica se hace una vez o nunca. La columna Control dice qué código lo detecta sin que nadie tenga que acordarse.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en vivo con los prompts de la guía; si algo falla, seguimos con la evidencia ya corrida.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Mostrá la línea 'Condiciones agregadas desde la verificación'. La condición no depende de la memoria de nadie: aparece en cada sanidad hasta que alguien con rol la cumpla.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informe de punto de control cuenta como completado solo lo que tiene revisión aprobada. La 1.3 está en review y no cuenta. El gestor acepta el paquete después de mirar la sanidad.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no está en el cálculo sino en que el corte queda guardado: la sanidad avisa si el pronóstico sale de tolerancia o si el último corte tiene más de 31 días. Las tres condiciones de la próxima puerta son G-01, E-05 y E-10; puertas.py verificar las muestra con su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cambio entró por correct-course sin pasar por la autoridad de cambio. La sanidad lo detecta como ERROR y bloquea la próxima puerta hasta tramitarlo.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CAM-03 informa el consumo en cada sanidad. Si un cambio superara el límite de USD 8.000 de Sofía, CAM-04 avisaría que debe decidir la junta.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pasa de 68 a 76 puntos el 20/1. El corte del 22/3 (sprint 5) marca 55 puntos y los 76 quedan terminados el 12/5, antes del fin previsto.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Pasaron seis semanas desde el cambio. Antes de pedir nada, el gestor ve el resumen derivado de los registros (estado.py contexto) y la línea del radar. A la pregunta «¿Qué tengo que decidir, escalar y desbloquear hoy?», el radar completo suma en vigilar RAD-07 (faltan el plan de la etapa 3 y el informe de fin de la etapa 2: E-01 y E-04) y TOL-03 (último EVM del 8/1), cada ítem con responsable y siguiente paso. Escalar: nada, ningún pronóstico fuera de tolerancia. Las historias terminadas sin revisión no están en el radar: las lista la sanidad del paso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Mostrá los cinco QUA-01, uno por historia. Después del registro en lote desaparecen y quedan QUA-02 y EST-12, que se resuelven en el paso 7. El estado de productos (estado.py productos --alcance R1) muestra lo mismo por producto, cada diferencia con su control, y nada aceptado todavía: aprobado no es aceptado.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cortes, cada uno con el estado de productos que deriva estado.py productos: el 26/2 había 5 de 7 historias sin revisión y el 7/5 una rechazada. Las dos brechas se cerraron antes de la puerta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registro de calidad (quality register) nace con el enfoque de calidad. La sanidad cruza el backlog con calidad.csv en cada corrida: no hace falta acordarse de revisar. El estado de productos (product status account) se deriva de esos registros, de las aceptaciones y de los paquetes: es el registro de productos de PRINCE2 sin una planilla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sí, su límite como autoridad de cambio es USD 8.000 por cambio. Con 9.000 decide la junta; CAM-04 lo avisaría si lo decidiera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Repasá los cuatro mensajes y conectalos con la tabla del uso único al control continuo.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Hoja en docs/webinar/E2E-4/ejercicio.md. Al terminar mostrá el ejemplo resuelto de la hoja: la condición de NFR-3, C-001 y la foto de calidad del 26/2.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Adelantá la pregunta de la clase 2: ¿cuántas lecciones de tu último proyecto cambiaron algo en el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Clase 2 (90 minutos): Recorrido, lecciones, cierre y beneficios. Objetivos: Dar a cada dolor del recorrido un tratamiento con id; Llevar una lección de la retrospectiva hasta el cambio verificado; Cerrar verificado por id (C-03, C-07), con informe de lecciones y expediente con bitácora; Leer beneficios con puntaje, salud y tolerancia.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Pedí que piensen en la última planilla de lecciones aprendidas que llenaron. ¿Alguien la consultó al arrancar el proyecto siguiente? ¿Alguna lección tenía fecha para comprobar que la acción sirvió? En el caso, la retro del sprint 4 dice «otra vez llegaron historias a done sin la revisión registrada»: el problema ya había pasado antes y nadie lo había convertido en un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ciclo completo con los datos de la corrida: 3 lecciones con cita de la retrospectiva del sprint 4 y 0 decisiones de gobierno; 1 de impacto alto (L-003) que cambia el plan de la etapa 3; la acción de L-002 (A-001) verificada el 22/3 y la de L-003 (A-002) el 12/5; 2 de 2 acciones verificadas y 3 lecciones en el índice de la organización, donde el proyecto siguiente encuentra L-001.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de recorrido (customer journey map) mira lo entregado desde la persona, no historia por historia. La semilla sale de BMAD; la emoción de cada paso lleva su fuente, y cada dolor necesita un id que lo 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PRINCE2 7 lo llama aprender de la experiencia: una lección identificada no es aprendida hasta que cambia algo. La técnica (retrospectiva, reseña posterior a la acción) la aporta PMBOK 8. La planificación del sprint siguiente es otra reunión: de ella salen compromisos y decisiones, no lecciones; en el paso 8 se ve el contraste con la misma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Alto: afecta o puede afectar una tolerancia, un beneficio o un riesgo alto, o bloqueó una puerta. Medio: consumió margen u obligó a retrabajo sin salir de tolerancia. Bajo: efecto local. El ámbito dice en qué proceso se usa la lección: ideación, descubrimiento, planificación o seguimiento.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lecturas distintas del mismo dato. Confundirlas lleva a falsas alarmas o a desvíos que nadie 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mira lo entregado desde la persona; las tres filas del medio son el ciclo de las lecciones (capturar, llevar al plan, verificar); el expediente sale de los registros cuando la auditoría lo pide y lleva la bitácora, que dice si un cambio salió de los scripts; la última es la responsabilidad de los beneficios, que se exige desde la puerta de proyecto con P-04.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6b, 6c, 7 y 8 en vivo; el 9, el 9b y el 9c con la evidencia; el 10 en vivo y el 11 con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propone tratar los dos dolores como requisitos; la persona decide. El resumen ya lo cubre NFR-3 con su prueba de carga. El primer ingreso no justifica alcance nuevo a una etapa del cierre, pero amenaza la adopción: se registra R-001 con respuesta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Mostrá la línea «Retrospectiva: se detectaron 3 lecciones candidatas, 2 acciones de mejora…» y la cita de CL-02 con su hora. Nada se registra hasta que Martín confirma los ids. Después del registro, el gestor clasifica cada lección y la sanidad empieza a recordar la de impacto alto hasta que tenga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verificación de la puerta avisa E-11 hasta que el plan de la etapa 3 incorpora L-003 con su acción y fecha de verificación (12/5); el informe de lecciones de la etapa 2 sale del registro. La condición tampoco se cierra sola: alguien con rol la verifica y queda en decisiones.csv. Antes de la puerta, el PASS se marca como reemplazo del CONCERNS (mismo nivel) y decision.py vigentes --tema BMAD muestra lo que rige: D-013 condicionada, las líneas base 1.1 (cadenas D-010 → D-016 y D-011 → D-017, marcadas solas al aprobarlas) y D-018 con la cadena D-012 → D-018. El tablero del 5/3 muestra el recorrido de la socia en su sección de mapas (g4-tablero-mapas-169.png en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el contraste: la misma herramienta sobre la planificación del sprint 5 propone 1 compromiso y 1 decisión y ninguna lección. Al 22/3 vence la verificación de L-002 y la sanidad y el radar la muestran; con la evidencia del sprint 5 queda verificada. Después, el rechazo de la 2-4: PRINCE2 admite corregir o conceder; la matriz de pm-direccion-decisiones las compara (impacto 40, tolerancias 35, autoridad 25, cada puntaje con su fuente), recomienda corregir con 81,2 contra 63,7 (conceder ganaría solo si el peso del impacto bajara a 7,7) y Sofía, autoridad de cambio, elige: D-022. Se corrige con I-002 y Q-013; al cerrar el Release 2, L-003 se verifica con esa misma evidencia: el rechazo entró como issue sin tocar la especificación.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verificación previa dice qué falta por id: R-001 sin recomendación de seguimiento (C-03, bloqueo) y los requisitos e historias Must sin aceptar (C-07, condición). Con las recomendaciones que nombran a R-001 con su responsable y la aceptación del 12/5, las dos quedan en cero. El informe de lecciones sale del registro; el índice es del mismo tipo que el que consulta E2E-5 en su paso 1. El resto del cierre (traspaso, paquete) está en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9: verificación de cierre solo con L-01, la lista de la junta (sin G-01 ni C-03: R-001 pasó al negocio en las recomendaciones de seguimiento), paquete de cierre completo con la línea base del PRD y D-028, que traspasa los beneficios al negocio. Paso 9b: Andrea Costa, de aseguramiento, pide el expediente para la auditoría externa con la bitácora de escrituras: 42 eventos en la cronología, 16 copias congeladas, 8 registros sin el de interesados (--externo), 132 escrituras en la bitácora e INTEGRIDAD: OK con 44 archivos. En la copia que recibió la auditoría, D-013 dice «aprobado» en lugar de «condicionado»: la verificación falla en decisiones.csv y explica que la última escritura anotada dejó otra versión: el cambio no salió de los scripts. registro.py historial D-013 muestra una sola escritura, la de la puerta, con «condicionado». Preguntá: ¿cómo probarían hoy quién escribió cada fila de la evidencia que entregaron?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requiere pm-kb (INSTALACION-WSL2.md §8 o INSTALACION-DOCKER.md §8). Con evidencia: pm-kb versiones business-case muestra v1.0 (27/11), v1.1 (5/3) y v1.2 (14/5) con quién aprobó y su copia congelada; pm-kb cambios business-case compara por secciones, y como el título cambió, la sección vieja figura quitada y la nueva agregada. La misma búsqueda por defecto, con --aprobado y con --historia: solo la última trae la 1.1, marcada «versión anterior», con el veredicto de la etapa 2. pm-kb ficha D-013 --historia muestra la misma escritura que registro.py historial en el paso 9b. Si la última versión de un documento estuviera en revisión, la búsqueda por defecto avisaría «hay una vX aprobada».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miráramos solo el semáforo del OKR, alguien declararía fracasado el portal a seis semanas de salir. Comparado con la trayectoria, va en camino. Los check-ins solo se agregan: queda la historia de cada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mostrar la imagen, preguntá: «Al 31/12 el objetivo O-1 sale 0,91 en verde. ¿Está todo bien?». Respuesta esperada: no; el promedio esconde un beneficio fuera de tolerancia, y por eso el criterio del plan se aplica beneficio por beneficio. Revisión final: B-02 llega a 83 % de la meta, por debajo del 90 % que admite la tolerancia de −10 %. B-01 (93 %) y B-03 (96 %) quedan dentro. D-030 informa a la ejecutiva y dice por dónde empezar: R-001, el dolor del primer ingreso que dejó el mapa del paso 6b.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Cerrá con la idea central: lo que en la práctica se hace una vez o nunca se controla en cada sanidad o en cada revisión. Y se decide con lo vigente: lo reemplazado queda en la historia, no en la mesa.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Hoja en docs/webinar/E2E-4/ejercicio.md. El ejemplo resuelto usa el recorrido de UJ-1, la lección L-003 y los beneficios B-02 y B-01 del caso; mostralo al terminar.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E2E-4 arranca donde termina E2E-5 y le devuelve algo: las lecciones aprobadas en el índice de la organización son las que E2E-5 busca en la ideación y el descubrimiento. Para profundizar en riesgos, la ruta de excepción o los informes a interesados, seguir con E2E-1, E2E-2 y E2E-3.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del caso E2E-4: 25 términos, página 1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del caso E2E-4: 25 términos, página 2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del caso E2E-4: 25 términos, página 3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548640" y="457200"/>
            <a:ext cx="2011680" cy="804672"/>
          </a:xfrm>
          <a:prstGeom prst="rect">
            <a:avLst/>
          </a:prstGeom>
          <a:solidFill>
            <a:srgbClr val="002855">
              <a:alpha val="0"/>
            </a:srgbClr>
          </a:solidFill>
          <a:ln w="12700">
            <a:solidFill>
              <a:srgbClr val="7F9BB8"/>
            </a:solidFill>
            <a:prstDash val="dash"/>
          </a:ln>
        </p:spPr>
      </p:sp>
      <p:sp>
        <p:nvSpPr>
          <p:cNvPr id="3" name="Text 1"/>
          <p:cNvSpPr/>
          <p:nvPr/>
        </p:nvSpPr>
        <p:spPr>
          <a:xfrm>
            <a:off x="548640" y="457200"/>
            <a:ext cx="2011680" cy="804672"/>
          </a:xfrm>
          <a:prstGeom prst="rect">
            <a:avLst/>
          </a:prstGeom>
          <a:noFill/>
          <a:ln/>
        </p:spPr>
        <p:txBody>
          <a:bodyPr wrap="square" lIns="0" tIns="0" rIns="0" bIns="0" rtlCol="0" anchor="ctr"/>
          <a:lstStyle/>
          <a:p>
            <a:pPr algn="ctr" indent="0" marL="0">
              <a:buNone/>
            </a:pPr>
            <a:r>
              <a:rPr lang="en-US" sz="1200" dirty="0">
                <a:solidFill>
                  <a:srgbClr val="7F9BB8"/>
                </a:solidFill>
              </a:rPr>
              <a:t>Logo IEEE</a:t>
            </a:r>
            <a:endParaRPr lang="en-US" sz="1200" dirty="0"/>
          </a:p>
        </p:txBody>
      </p:sp>
      <p:sp>
        <p:nvSpPr>
          <p:cNvPr id="4" name="Text 2"/>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D6E4F0"/>
                </a:solidFill>
              </a:rPr>
              <a:t>pm-method 2.7.0 · Webinar E2E-4</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_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2.7.0 · Webinar E2E-4</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_G">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1143000"/>
            <a:ext cx="11091672" cy="91440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CION_G">
    <p:bg>
      <p:bgPr>
        <a:solidFill>
          <a:srgbClr val="00629B"/>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2148840"/>
            <a:ext cx="11091672"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REGUNTA_G">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365760"/>
            <a:ext cx="9445752" cy="713232"/>
          </a:xfrm>
          <a:prstGeom prst="rect">
            <a:avLst/>
          </a:prstGeom>
          <a:noFill/>
          <a:ln/>
        </p:spPr>
        <p:txBody>
          <a:bodyPr wrap="square" rtlCol="0"/>
          <a:lstStyle>
            <a:lvl1pPr algn="l" indent="0" marL="0">
              <a:buNone/>
              <a:defRPr lang="en-US" sz="2200" b="1" dirty="0">
                <a:solidFill>
                  <a:srgbClr val="9FD0F0"/>
                </a:solidFill>
                <a:latin typeface="Arial" pitchFamily="34" charset="0"/>
                <a:ea typeface="Arial" pitchFamily="34" charset="-122"/>
                <a:cs typeface="Arial" pitchFamily="34" charset="-120"/>
              </a:defRPr>
            </a:lvl1pPr>
          </a:lstStyle>
          <a:p>
            <a:pPr algn="l" indent="0" marL="0">
              <a:buNone/>
            </a:pPr>
            <a:endParaRPr lang="en-US" sz="22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IDO_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2.7.0 · Webinar E2E-4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SCURO_1">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1143000"/>
            <a:ext cx="11091672" cy="91440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CION_1">
    <p:bg>
      <p:bgPr>
        <a:solidFill>
          <a:srgbClr val="00629B"/>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2148840"/>
            <a:ext cx="11091672"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REGUNTA_1">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365760"/>
            <a:ext cx="9445752" cy="713232"/>
          </a:xfrm>
          <a:prstGeom prst="rect">
            <a:avLst/>
          </a:prstGeom>
          <a:noFill/>
          <a:ln/>
        </p:spPr>
        <p:txBody>
          <a:bodyPr wrap="square" rtlCol="0"/>
          <a:lstStyle>
            <a:lvl1pPr algn="l" indent="0" marL="0">
              <a:buNone/>
              <a:defRPr lang="en-US" sz="2200" b="1" dirty="0">
                <a:solidFill>
                  <a:srgbClr val="9FD0F0"/>
                </a:solidFill>
                <a:latin typeface="Arial" pitchFamily="34" charset="0"/>
                <a:ea typeface="Arial" pitchFamily="34" charset="-122"/>
                <a:cs typeface="Arial" pitchFamily="34" charset="-120"/>
              </a:defRPr>
            </a:lvl1pPr>
          </a:lstStyle>
          <a:p>
            <a:pPr algn="l" indent="0" marL="0">
              <a:buNone/>
            </a:pPr>
            <a:endParaRPr lang="en-US" sz="22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IDO_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2.7.0 · Webinar E2E-4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SCURO_2">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1143000"/>
            <a:ext cx="11091672" cy="91440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CION_2">
    <p:bg>
      <p:bgPr>
        <a:solidFill>
          <a:srgbClr val="00629B"/>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2148840"/>
            <a:ext cx="11091672"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REGUNTA_2">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365760"/>
            <a:ext cx="9445752" cy="713232"/>
          </a:xfrm>
          <a:prstGeom prst="rect">
            <a:avLst/>
          </a:prstGeom>
          <a:noFill/>
          <a:ln/>
        </p:spPr>
        <p:txBody>
          <a:bodyPr wrap="square" rtlCol="0"/>
          <a:lstStyle>
            <a:lvl1pPr algn="l" indent="0" marL="0">
              <a:buNone/>
              <a:defRPr lang="en-US" sz="2200" b="1" dirty="0">
                <a:solidFill>
                  <a:srgbClr val="9FD0F0"/>
                </a:solidFill>
                <a:latin typeface="Arial" pitchFamily="34" charset="0"/>
                <a:ea typeface="Arial" pitchFamily="34" charset="-122"/>
                <a:cs typeface="Arial" pitchFamily="34" charset="-120"/>
              </a:defRPr>
            </a:lvl1pPr>
          </a:lstStyle>
          <a:p>
            <a:pPr algn="l" indent="0" marL="0">
              <a:buNone/>
            </a:pPr>
            <a:endParaRPr lang="en-US" sz="22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2.7.0 · Webinar E2E-4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7.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8229600" cy="365760"/>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Webinar · pm-method 2.7.0 · E2E-4</a:t>
            </a:r>
            <a:endParaRPr lang="en-US" sz="1600" dirty="0"/>
          </a:p>
        </p:txBody>
      </p:sp>
      <p:sp>
        <p:nvSpPr>
          <p:cNvPr id="3" name="Text 1"/>
          <p:cNvSpPr txBox="1"/>
          <p:nvPr/>
        </p:nvSpPr>
        <p:spPr>
          <a:xfrm>
            <a:off x="548640" y="2057400"/>
            <a:ext cx="10789920" cy="13716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Producto con BMAD gobernado con PRINCE2</a:t>
            </a:r>
            <a:endParaRPr lang="en-US" sz="4000" dirty="0"/>
          </a:p>
        </p:txBody>
      </p:sp>
      <p:sp>
        <p:nvSpPr>
          <p:cNvPr id="4" name="Text 2"/>
          <p:cNvSpPr txBox="1"/>
          <p:nvPr/>
        </p:nvSpPr>
        <p:spPr>
          <a:xfrm>
            <a:off x="548640" y="3520440"/>
            <a:ext cx="10789920" cy="868680"/>
          </a:xfrm>
          <a:prstGeom prst="rect">
            <a:avLst/>
          </a:prstGeom>
          <a:noFill/>
          <a:ln/>
        </p:spPr>
        <p:txBody>
          <a:bodyPr wrap="square" lIns="0" tIns="0" rIns="0" bIns="0" rtlCol="0" anchor="t"/>
          <a:lstStyle/>
          <a:p>
            <a:pPr indent="0" marL="0">
              <a:buNone/>
            </a:pPr>
            <a:r>
              <a:rPr lang="en-US" sz="2000" dirty="0">
                <a:solidFill>
                  <a:srgbClr val="D6E4F0"/>
                </a:solidFill>
                <a:latin typeface="Arial" pitchFamily="34" charset="0"/>
                <a:ea typeface="Arial" pitchFamily="34" charset="-122"/>
                <a:cs typeface="Arial" pitchFamily="34" charset="-120"/>
              </a:rPr>
              <a:t>Del done al beneficio medido: condiciones, cambios, calidad a volumen, recorrido del cliente, lecciones aprendidas, cierre y beneficios</a:t>
            </a:r>
            <a:endParaRPr lang="en-US" sz="1600" dirty="0"/>
          </a:p>
        </p:txBody>
      </p:sp>
      <p:sp>
        <p:nvSpPr>
          <p:cNvPr id="5" name="Shape 3"/>
          <p:cNvSpPr/>
          <p:nvPr/>
        </p:nvSpPr>
        <p:spPr>
          <a:xfrm>
            <a:off x="548640" y="4617720"/>
            <a:ext cx="3657600" cy="1325880"/>
          </a:xfrm>
          <a:prstGeom prst="roundRect">
            <a:avLst>
              <a:gd name="adj" fmla="val 6897"/>
            </a:avLst>
          </a:prstGeom>
          <a:solidFill>
            <a:srgbClr val="173D66"/>
          </a:solidFill>
          <a:ln w="12700">
            <a:solidFill>
              <a:srgbClr val="173D66"/>
            </a:solidFill>
            <a:prstDash val="solid"/>
          </a:ln>
        </p:spPr>
      </p:sp>
      <p:sp>
        <p:nvSpPr>
          <p:cNvPr id="6" name="Text 4"/>
          <p:cNvSpPr txBox="1"/>
          <p:nvPr/>
        </p:nvSpPr>
        <p:spPr>
          <a:xfrm>
            <a:off x="749808" y="4727448"/>
            <a:ext cx="3255264"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Clase 1 · 90 min</a:t>
            </a:r>
            <a:endParaRPr lang="en-US" sz="1400" dirty="0"/>
          </a:p>
        </p:txBody>
      </p:sp>
      <p:sp>
        <p:nvSpPr>
          <p:cNvPr id="7" name="Text 5"/>
          <p:cNvSpPr txBox="1"/>
          <p:nvPr/>
        </p:nvSpPr>
        <p:spPr>
          <a:xfrm>
            <a:off x="749808" y="5074920"/>
            <a:ext cx="3255264"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Gobernar la construcción con BMAD</a:t>
            </a:r>
            <a:endParaRPr lang="en-US" sz="1600" dirty="0"/>
          </a:p>
        </p:txBody>
      </p:sp>
      <p:sp>
        <p:nvSpPr>
          <p:cNvPr id="8" name="Shape 6"/>
          <p:cNvSpPr/>
          <p:nvPr/>
        </p:nvSpPr>
        <p:spPr>
          <a:xfrm>
            <a:off x="4480560" y="4617720"/>
            <a:ext cx="3657600" cy="1325880"/>
          </a:xfrm>
          <a:prstGeom prst="roundRect">
            <a:avLst>
              <a:gd name="adj" fmla="val 6897"/>
            </a:avLst>
          </a:prstGeom>
          <a:solidFill>
            <a:srgbClr val="173D66"/>
          </a:solidFill>
          <a:ln w="12700">
            <a:solidFill>
              <a:srgbClr val="173D66"/>
            </a:solidFill>
            <a:prstDash val="solid"/>
          </a:ln>
        </p:spPr>
      </p:sp>
      <p:sp>
        <p:nvSpPr>
          <p:cNvPr id="9" name="Text 7"/>
          <p:cNvSpPr txBox="1"/>
          <p:nvPr/>
        </p:nvSpPr>
        <p:spPr>
          <a:xfrm>
            <a:off x="4681728" y="4727448"/>
            <a:ext cx="3255264"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Clase 2 · 90 min</a:t>
            </a:r>
            <a:endParaRPr lang="en-US" sz="1400" dirty="0"/>
          </a:p>
        </p:txBody>
      </p:sp>
      <p:sp>
        <p:nvSpPr>
          <p:cNvPr id="10" name="Text 8"/>
          <p:cNvSpPr txBox="1"/>
          <p:nvPr/>
        </p:nvSpPr>
        <p:spPr>
          <a:xfrm>
            <a:off x="4681728" y="5074920"/>
            <a:ext cx="3255264"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Recorrido, lecciones, cierre y beneficios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640080"/>
            <a:ext cx="7315200" cy="365760"/>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Clase 1 · 90 minutos</a:t>
            </a:r>
            <a:endParaRPr lang="en-US" sz="1600" dirty="0"/>
          </a:p>
        </p:txBody>
      </p:sp>
      <p:sp>
        <p:nvSpPr>
          <p:cNvPr id="3"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Gobernar la construcción con BMAD</a:t>
            </a:r>
            <a:endParaRPr lang="en-US" sz="3600" dirty="0"/>
          </a:p>
        </p:txBody>
      </p:sp>
      <p:sp>
        <p:nvSpPr>
          <p:cNvPr id="4" name="Text 2"/>
          <p:cNvSpPr txBox="1"/>
          <p:nvPr/>
        </p:nvSpPr>
        <p:spPr>
          <a:xfrm>
            <a:off x="548640" y="22402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Objetivos de la clase</a:t>
            </a:r>
            <a:endParaRPr lang="en-US" sz="1800" dirty="0"/>
          </a:p>
        </p:txBody>
      </p:sp>
      <p:sp>
        <p:nvSpPr>
          <p:cNvPr id="5" name="Shape 3"/>
          <p:cNvSpPr/>
          <p:nvPr/>
        </p:nvSpPr>
        <p:spPr>
          <a:xfrm>
            <a:off x="548640" y="2743200"/>
            <a:ext cx="11091672" cy="772668"/>
          </a:xfrm>
          <a:prstGeom prst="roundRect">
            <a:avLst>
              <a:gd name="adj" fmla="val 11834"/>
            </a:avLst>
          </a:prstGeom>
          <a:solidFill>
            <a:srgbClr val="173D66"/>
          </a:solidFill>
          <a:ln w="12700">
            <a:solidFill>
              <a:srgbClr val="173D66"/>
            </a:solidFill>
            <a:prstDash val="solid"/>
          </a:ln>
        </p:spPr>
      </p:sp>
      <p:sp>
        <p:nvSpPr>
          <p:cNvPr id="6" name="Text 4"/>
          <p:cNvSpPr txBox="1"/>
          <p:nvPr/>
        </p:nvSpPr>
        <p:spPr>
          <a:xfrm>
            <a:off x="685800" y="2743200"/>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1234440" y="2779776"/>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Separar especificación (BMAD) y gobierno (pm-method)</a:t>
            </a:r>
            <a:endParaRPr lang="en-US" sz="1600" dirty="0"/>
          </a:p>
        </p:txBody>
      </p:sp>
      <p:sp>
        <p:nvSpPr>
          <p:cNvPr id="8" name="Shape 6"/>
          <p:cNvSpPr/>
          <p:nvPr/>
        </p:nvSpPr>
        <p:spPr>
          <a:xfrm>
            <a:off x="548640" y="3643884"/>
            <a:ext cx="11091672" cy="772668"/>
          </a:xfrm>
          <a:prstGeom prst="roundRect">
            <a:avLst>
              <a:gd name="adj" fmla="val 11834"/>
            </a:avLst>
          </a:prstGeom>
          <a:solidFill>
            <a:srgbClr val="173D66"/>
          </a:solidFill>
          <a:ln w="12700">
            <a:solidFill>
              <a:srgbClr val="173D66"/>
            </a:solidFill>
            <a:prstDash val="solid"/>
          </a:ln>
        </p:spPr>
      </p:sp>
      <p:sp>
        <p:nvSpPr>
          <p:cNvPr id="9" name="Text 7"/>
          <p:cNvSpPr txBox="1"/>
          <p:nvPr/>
        </p:nvSpPr>
        <p:spPr>
          <a:xfrm>
            <a:off x="685800" y="3643884"/>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234440" y="3680460"/>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Convertir un CONCERNS en condición formal con seguimiento</a:t>
            </a:r>
            <a:endParaRPr lang="en-US" sz="1600" dirty="0"/>
          </a:p>
        </p:txBody>
      </p:sp>
      <p:sp>
        <p:nvSpPr>
          <p:cNvPr id="11" name="Shape 9"/>
          <p:cNvSpPr/>
          <p:nvPr/>
        </p:nvSpPr>
        <p:spPr>
          <a:xfrm>
            <a:off x="548640" y="4544568"/>
            <a:ext cx="11091672" cy="772668"/>
          </a:xfrm>
          <a:prstGeom prst="roundRect">
            <a:avLst>
              <a:gd name="adj" fmla="val 11834"/>
            </a:avLst>
          </a:prstGeom>
          <a:solidFill>
            <a:srgbClr val="173D66"/>
          </a:solidFill>
          <a:ln w="12700">
            <a:solidFill>
              <a:srgbClr val="173D66"/>
            </a:solidFill>
            <a:prstDash val="solid"/>
          </a:ln>
        </p:spPr>
      </p:sp>
      <p:sp>
        <p:nvSpPr>
          <p:cNvPr id="12" name="Text 10"/>
          <p:cNvSpPr txBox="1"/>
          <p:nvPr/>
        </p:nvSpPr>
        <p:spPr>
          <a:xfrm>
            <a:off x="685800" y="4544568"/>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234440" y="4581144"/>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Controlar un cambio con costo y presupuesto de la junta</a:t>
            </a:r>
            <a:endParaRPr lang="en-US" sz="1600" dirty="0"/>
          </a:p>
        </p:txBody>
      </p:sp>
      <p:sp>
        <p:nvSpPr>
          <p:cNvPr id="14" name="Shape 12"/>
          <p:cNvSpPr/>
          <p:nvPr/>
        </p:nvSpPr>
        <p:spPr>
          <a:xfrm>
            <a:off x="548640" y="5445252"/>
            <a:ext cx="11091672" cy="772668"/>
          </a:xfrm>
          <a:prstGeom prst="roundRect">
            <a:avLst>
              <a:gd name="adj" fmla="val 11834"/>
            </a:avLst>
          </a:prstGeom>
          <a:solidFill>
            <a:srgbClr val="173D66"/>
          </a:solidFill>
          <a:ln w="12700">
            <a:solidFill>
              <a:srgbClr val="173D66"/>
            </a:solidFill>
            <a:prstDash val="solid"/>
          </a:ln>
        </p:spPr>
      </p:sp>
      <p:sp>
        <p:nvSpPr>
          <p:cNvPr id="15" name="Text 13"/>
          <p:cNvSpPr txBox="1"/>
          <p:nvPr/>
        </p:nvSpPr>
        <p:spPr>
          <a:xfrm>
            <a:off x="685800" y="5445252"/>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4</a:t>
            </a:r>
            <a:endParaRPr lang="en-US" sz="2000" dirty="0"/>
          </a:p>
        </p:txBody>
      </p:sp>
      <p:sp>
        <p:nvSpPr>
          <p:cNvPr id="16" name="Text 14"/>
          <p:cNvSpPr txBox="1"/>
          <p:nvPr/>
        </p:nvSpPr>
        <p:spPr>
          <a:xfrm>
            <a:off x="1234440" y="5481828"/>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Guardar el valor ganado y registrar la calidad por entrega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¿Cuántas condiciones de tus actas se verificaron?</a:t>
            </a:r>
            <a:endParaRPr lang="en-US" sz="2400" dirty="0"/>
          </a:p>
        </p:txBody>
      </p:sp>
      <p:sp>
        <p:nvSpPr>
          <p:cNvPr id="3" name="Shape 1"/>
          <p:cNvSpPr/>
          <p:nvPr/>
        </p:nvSpPr>
        <p:spPr>
          <a:xfrm>
            <a:off x="457200" y="2331720"/>
            <a:ext cx="3575304" cy="2926080"/>
          </a:xfrm>
          <a:prstGeom prst="roundRect">
            <a:avLst>
              <a:gd name="adj" fmla="val 3125"/>
            </a:avLst>
          </a:prstGeom>
          <a:solidFill>
            <a:srgbClr val="002855"/>
          </a:solidFill>
          <a:ln w="12700">
            <a:solidFill>
              <a:srgbClr val="002855"/>
            </a:solidFill>
            <a:prstDash val="solid"/>
          </a:ln>
        </p:spPr>
      </p:sp>
      <p:sp>
        <p:nvSpPr>
          <p:cNvPr id="4" name="Text 2"/>
          <p:cNvSpPr txBox="1"/>
          <p:nvPr/>
        </p:nvSpPr>
        <p:spPr>
          <a:xfrm>
            <a:off x="658368" y="2532888"/>
            <a:ext cx="3172968" cy="2542032"/>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"Aprobado con condiciones" suele quedar en el acta</a:t>
            </a:r>
            <a:endParaRPr lang="en-US" sz="1600" dirty="0"/>
          </a:p>
        </p:txBody>
      </p:sp>
      <p:sp>
        <p:nvSpPr>
          <p:cNvPr id="5" name="Shape 3"/>
          <p:cNvSpPr/>
          <p:nvPr/>
        </p:nvSpPr>
        <p:spPr>
          <a:xfrm>
            <a:off x="4306824" y="2331720"/>
            <a:ext cx="3575304" cy="2926080"/>
          </a:xfrm>
          <a:prstGeom prst="roundRect">
            <a:avLst>
              <a:gd name="adj" fmla="val 3125"/>
            </a:avLst>
          </a:prstGeom>
          <a:solidFill>
            <a:srgbClr val="E9F1F8"/>
          </a:solidFill>
          <a:ln w="12700">
            <a:solidFill>
              <a:srgbClr val="E9F1F8"/>
            </a:solidFill>
            <a:prstDash val="solid"/>
          </a:ln>
        </p:spPr>
      </p:sp>
      <p:sp>
        <p:nvSpPr>
          <p:cNvPr id="6" name="Text 4"/>
          <p:cNvSpPr txBox="1"/>
          <p:nvPr/>
        </p:nvSpPr>
        <p:spPr>
          <a:xfrm>
            <a:off x="4507992" y="2532888"/>
            <a:ext cx="3172968"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Nadie vuelve a mirarla hasta que el problema aparece</a:t>
            </a:r>
            <a:endParaRPr lang="en-US" sz="1600" dirty="0"/>
          </a:p>
        </p:txBody>
      </p:sp>
      <p:sp>
        <p:nvSpPr>
          <p:cNvPr id="7" name="Shape 5"/>
          <p:cNvSpPr/>
          <p:nvPr/>
        </p:nvSpPr>
        <p:spPr>
          <a:xfrm>
            <a:off x="8156448" y="2331720"/>
            <a:ext cx="3575304" cy="2926080"/>
          </a:xfrm>
          <a:prstGeom prst="roundRect">
            <a:avLst>
              <a:gd name="adj" fmla="val 3125"/>
            </a:avLst>
          </a:prstGeom>
          <a:solidFill>
            <a:srgbClr val="E9F1F8"/>
          </a:solidFill>
          <a:ln w="12700">
            <a:solidFill>
              <a:srgbClr val="E9F1F8"/>
            </a:solidFill>
            <a:prstDash val="solid"/>
          </a:ln>
        </p:spPr>
      </p:sp>
      <p:sp>
        <p:nvSpPr>
          <p:cNvPr id="8" name="Text 6"/>
          <p:cNvSpPr txBox="1"/>
          <p:nvPr/>
        </p:nvSpPr>
        <p:spPr>
          <a:xfrm>
            <a:off x="8357616" y="2532888"/>
            <a:ext cx="3172968"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Hoy: la condición como registro con dueño y bloqueo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Adónde llegamos: cierre sin condiciones abiertas</a:t>
            </a:r>
            <a:endParaRPr lang="en-US" sz="2400" dirty="0"/>
          </a:p>
        </p:txBody>
      </p:sp>
      <p:pic>
        <p:nvPicPr>
          <p:cNvPr id="3" name="Image 0" descr="Adónde llegamos: cierre sin condiciones abiertas">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Dos capas: BMAD especifica, pm-method gobierna</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BMAD: brief, PRD, arquitectura, épicas e historias</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pm-method lee por la fachada y no copia</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Decisiones de vuelta por traspaso (handoff)</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Nada se escribe en _bmad-output/</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PRINCE2 7 manda; PMBOK 8 aporta técnicas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1 en resumen: lo que queda listo</a:t>
            </a:r>
            <a:endParaRPr lang="en-US" sz="2400" dirty="0"/>
          </a:p>
        </p:txBody>
      </p:sp>
      <p:sp>
        <p:nvSpPr>
          <p:cNvPr id="3" name="Text 1"/>
          <p:cNvSpPr txBox="1"/>
          <p:nvPr/>
        </p:nvSpPr>
        <p:spPr>
          <a:xfrm>
            <a:off x="457200" y="1280160"/>
            <a:ext cx="11274552" cy="329184"/>
          </a:xfrm>
          <a:prstGeom prst="rect">
            <a:avLst/>
          </a:prstGeom>
          <a:noFill/>
          <a:ln/>
        </p:spPr>
        <p:txBody>
          <a:bodyPr wrap="square" lIns="0" tIns="0" rIns="0" bIns="0" rtlCol="0" anchor="t"/>
          <a:lstStyle/>
          <a:p>
            <a:pPr indent="0" marL="0">
              <a:buNone/>
            </a:pPr>
            <a:r>
              <a:rPr lang="en-US" sz="1800" b="1" dirty="0">
                <a:solidFill>
                  <a:srgbClr val="B5651D"/>
                </a:solidFill>
                <a:latin typeface="Arial" pitchFamily="34" charset="0"/>
                <a:ea typeface="Arial" pitchFamily="34" charset="-122"/>
                <a:cs typeface="Arial" pitchFamily="34" charset="-120"/>
              </a:rPr>
              <a:t>La idea y el diseño, a fondo en E2E-5</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92224"/>
          <a:ext cx="11274552" cy="914400"/>
        </p:xfrm>
        <a:graphic>
          <a:graphicData uri="http://schemas.openxmlformats.org/drawingml/2006/table">
            <a:tbl>
              <a:tblPr/>
              <a:tblGrid>
                <a:gridCol w="1463040"/>
                <a:gridCol w="5606578"/>
                <a:gridCol w="4204934"/>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Sub-paso</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Qué se hace</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Qué se ve</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1a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Proyecto y detección de BMAD</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6.12.4 · soportada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1d</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Requisitos desde el PRD</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42 identificadores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1e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WBS y trazabilidad</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18 requisitos trazados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1f</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Backlog con gobierno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68 puntos: R1 47 y R2 21</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1g</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Enfoques y presupuesto de cambio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15.000 · límite 8.000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1g</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Puerta y líneas base 1.0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PRD sha bc048f7f59a3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Del uso único al control continuo</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627080"/>
                <a:gridCol w="2408157"/>
                <a:gridCol w="4597390"/>
                <a:gridCol w="1641925"/>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Actividad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Hoy</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Con pm-method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Condición de puerta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queda en el acta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aviso en cada sanidad y bloqueo del cierre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EST-12 · G-01</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Cambio y su costo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contra la contingencia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costo y cargo contra el presupuesto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CAM-01 · CAM-03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Cambios en el PRD</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se ven en la demo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contra la línea base en cada sanidad</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ESP-10 · ESP-03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Valor ganado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para el informe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corte guardado y vigilado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TOL-03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Calidad de cada historia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al final o nunca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en cada sanidad, por entrega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QUA-01</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Revisión prometida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se recuerda vencida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fecha prevista vigilada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QUA-02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1</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Demostración: pasos 2 a 6</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Construcción del Release 1</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2 · El CONCERNS pasa a condición formal</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757934"/>
          </a:xfrm>
          <a:prstGeom prst="roundRect">
            <a:avLst>
              <a:gd name="adj" fmla="val 4161"/>
            </a:avLst>
          </a:prstGeom>
          <a:solidFill>
            <a:srgbClr val="0F2238"/>
          </a:solidFill>
          <a:ln w="12700">
            <a:solidFill>
              <a:srgbClr val="0F2238"/>
            </a:solidFill>
            <a:prstDash val="solid"/>
          </a:ln>
        </p:spPr>
      </p:sp>
      <p:sp>
        <p:nvSpPr>
          <p:cNvPr id="5" name="Text 3"/>
          <p:cNvSpPr txBox="1"/>
          <p:nvPr/>
        </p:nvSpPr>
        <p:spPr>
          <a:xfrm>
            <a:off x="685800" y="1792224"/>
            <a:ext cx="10817352" cy="14287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El gate de preparación de BMAD dio CONCERNS el 26/11 (lo informa Diego Ferreira, arquitecto): NFR-3 sin prueba de carga planificada. Registralo, armá el plan de la etapa 2 con tolerancias de ±10 % en tiempo y costo y preparame la puerta. Si se condiciona, planificá la prueba de carga como revisión de calidad para el 19/2 y mostrame cómo queda el seguimiento.</a:t>
            </a:r>
            <a:endParaRPr lang="en-US" sz="1800" dirty="0"/>
          </a:p>
        </p:txBody>
      </p:sp>
      <p:sp>
        <p:nvSpPr>
          <p:cNvPr id="6" name="Shape 4"/>
          <p:cNvSpPr/>
          <p:nvPr/>
        </p:nvSpPr>
        <p:spPr>
          <a:xfrm>
            <a:off x="457200" y="3659886"/>
            <a:ext cx="11274552" cy="2558034"/>
          </a:xfrm>
          <a:prstGeom prst="roundRect">
            <a:avLst>
              <a:gd name="adj" fmla="val 3575"/>
            </a:avLst>
          </a:prstGeom>
          <a:solidFill>
            <a:srgbClr val="F4F6F8"/>
          </a:solidFill>
          <a:ln w="12700">
            <a:solidFill>
              <a:srgbClr val="F4F6F8"/>
            </a:solidFill>
            <a:prstDash val="solid"/>
          </a:ln>
        </p:spPr>
      </p:sp>
      <p:sp>
        <p:nvSpPr>
          <p:cNvPr id="7" name="Text 5"/>
          <p:cNvSpPr txBox="1"/>
          <p:nvPr/>
        </p:nvSpPr>
        <p:spPr>
          <a:xfrm>
            <a:off x="685800" y="37879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4190238"/>
            <a:ext cx="10817352" cy="19179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Verificación: L-01 y E-10</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Decisión: condicionado</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Q-001 planificada para el 19/2</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Sanidad: EST-12 recuerda la condición</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3 · Sprint como paquete de trabajo</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472184"/>
          </a:xfrm>
          <a:prstGeom prst="roundRect">
            <a:avLst>
              <a:gd name="adj" fmla="val 4969"/>
            </a:avLst>
          </a:prstGeom>
          <a:solidFill>
            <a:srgbClr val="0F2238"/>
          </a:solidFill>
          <a:ln w="12700">
            <a:solidFill>
              <a:srgbClr val="0F2238"/>
            </a:solidFill>
            <a:prstDash val="solid"/>
          </a:ln>
        </p:spPr>
      </p:sp>
      <p:sp>
        <p:nvSpPr>
          <p:cNvPr id="5" name="Text 3"/>
          <p:cNvSpPr txBox="1"/>
          <p:nvPr/>
        </p:nvSpPr>
        <p:spPr>
          <a:xfrm>
            <a:off x="685800" y="1792224"/>
            <a:ext cx="10817352" cy="11430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Traé el avance de BMAD al 23/12 y sincronizá el backlog. Lucía (jefa de equipo) informa que la 1.1 y la 1.2 pasaron sus pruebas el 21 y el 22/12 (revisó Andrea, aprobó Sofía): registrá las revisiones y armá su informe de punto de control. Si la sanidad no marca historias terminadas sin revisión, aceptá el paquete.</a:t>
            </a:r>
            <a:endParaRPr lang="en-US" sz="1800" dirty="0"/>
          </a:p>
        </p:txBody>
      </p:sp>
      <p:sp>
        <p:nvSpPr>
          <p:cNvPr id="6" name="Shape 4"/>
          <p:cNvSpPr/>
          <p:nvPr/>
        </p:nvSpPr>
        <p:spPr>
          <a:xfrm>
            <a:off x="457200" y="3374136"/>
            <a:ext cx="11274552" cy="2843784"/>
          </a:xfrm>
          <a:prstGeom prst="roundRect">
            <a:avLst>
              <a:gd name="adj" fmla="val 3215"/>
            </a:avLst>
          </a:prstGeom>
          <a:solidFill>
            <a:srgbClr val="F4F6F8"/>
          </a:solidFill>
          <a:ln w="12700">
            <a:solidFill>
              <a:srgbClr val="F4F6F8"/>
            </a:solidFill>
            <a:prstDash val="solid"/>
          </a:ln>
        </p:spPr>
      </p:sp>
      <p:sp>
        <p:nvSpPr>
          <p:cNvPr id="7" name="Text 5"/>
          <p:cNvSpPr txBox="1"/>
          <p:nvPr/>
        </p:nvSpPr>
        <p:spPr>
          <a:xfrm>
            <a:off x="685800" y="350215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904488"/>
            <a:ext cx="10817352" cy="220370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Checkpoint: completados solo con revisión</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Q-002 y Q-003 aprobadas</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Sanidad sin QUA-01</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Aceptación del gestor: D-015</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4 · Valor ganado con corte guardado</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186434"/>
          </a:xfrm>
          <a:prstGeom prst="roundRect">
            <a:avLst>
              <a:gd name="adj" fmla="val 6166"/>
            </a:avLst>
          </a:prstGeom>
          <a:solidFill>
            <a:srgbClr val="0F2238"/>
          </a:solidFill>
          <a:ln w="12700">
            <a:solidFill>
              <a:srgbClr val="0F2238"/>
            </a:solidFill>
            <a:prstDash val="solid"/>
          </a:ln>
        </p:spPr>
      </p:sp>
      <p:sp>
        <p:nvSpPr>
          <p:cNvPr id="5" name="Text 3"/>
          <p:cNvSpPr txBox="1"/>
          <p:nvPr/>
        </p:nvSpPr>
        <p:spPr>
          <a:xfrm>
            <a:off x="685800" y="1792224"/>
            <a:ext cx="10817352" cy="857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Highlight del sprint 2 al 8/1: PV 41.000, EV 38.000, AC 40.500, BAC 124.000; leelo en modo ágil con 20 % de alcance Should/Could y guardá el corte. Incluí las puertas y sus condiciones.</a:t>
            </a:r>
            <a:endParaRPr lang="en-US" sz="1800" dirty="0"/>
          </a:p>
        </p:txBody>
      </p:sp>
      <p:sp>
        <p:nvSpPr>
          <p:cNvPr id="6" name="Shape 4"/>
          <p:cNvSpPr/>
          <p:nvPr/>
        </p:nvSpPr>
        <p:spPr>
          <a:xfrm>
            <a:off x="457200" y="3088386"/>
            <a:ext cx="11274552" cy="3129534"/>
          </a:xfrm>
          <a:prstGeom prst="roundRect">
            <a:avLst>
              <a:gd name="adj" fmla="val 2922"/>
            </a:avLst>
          </a:prstGeom>
          <a:solidFill>
            <a:srgbClr val="F4F6F8"/>
          </a:solidFill>
          <a:ln w="12700">
            <a:solidFill>
              <a:srgbClr val="F4F6F8"/>
            </a:solidFill>
            <a:prstDash val="solid"/>
          </a:ln>
        </p:spPr>
      </p:sp>
      <p:sp>
        <p:nvSpPr>
          <p:cNvPr id="7" name="Text 5"/>
          <p:cNvSpPr txBox="1"/>
          <p:nvPr/>
        </p:nvSpPr>
        <p:spPr>
          <a:xfrm>
            <a:off x="685800" y="32164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618738"/>
            <a:ext cx="10817352" cy="24894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SPI 0,927 · CPI 0,938</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Alcance no entregable 6,2 %: verde</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Corte guardado y vigilado</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Próxima puerta: G-01, E-05 y E-10</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5 · Cambio de rumbo con presupuesto</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757934"/>
          </a:xfrm>
          <a:prstGeom prst="roundRect">
            <a:avLst>
              <a:gd name="adj" fmla="val 4161"/>
            </a:avLst>
          </a:prstGeom>
          <a:solidFill>
            <a:srgbClr val="0F2238"/>
          </a:solidFill>
          <a:ln w="12700">
            <a:solidFill>
              <a:srgbClr val="0F2238"/>
            </a:solidFill>
            <a:prstDash val="solid"/>
          </a:ln>
        </p:spPr>
      </p:sp>
      <p:sp>
        <p:nvSpPr>
          <p:cNvPr id="5" name="Text 3"/>
          <p:cNvSpPr txBox="1"/>
          <p:nvPr/>
        </p:nvSpPr>
        <p:spPr>
          <a:xfrm>
            <a:off x="685800" y="1792224"/>
            <a:ext cx="10817352" cy="14287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Verificá la especificación contra la línea base y corré la sanidad al 12/1. Si hay cambios no controlados, registrá el issue y la solicitud de cambio con su impacto (historia nueva de 8 puntos, un sprint más en la etapa 3, costo USD 6.000 contra el presupuesto de cambio, refuerza B-01) y pedile la decisión a Sofía. Si se aprueba, emití el traspaso para el equipo BMAD.</a:t>
            </a:r>
            <a:endParaRPr lang="en-US" sz="1800" dirty="0"/>
          </a:p>
        </p:txBody>
      </p:sp>
      <p:sp>
        <p:nvSpPr>
          <p:cNvPr id="6" name="Shape 4"/>
          <p:cNvSpPr/>
          <p:nvPr/>
        </p:nvSpPr>
        <p:spPr>
          <a:xfrm>
            <a:off x="457200" y="3659886"/>
            <a:ext cx="11274552" cy="2558034"/>
          </a:xfrm>
          <a:prstGeom prst="roundRect">
            <a:avLst>
              <a:gd name="adj" fmla="val 3575"/>
            </a:avLst>
          </a:prstGeom>
          <a:solidFill>
            <a:srgbClr val="F4F6F8"/>
          </a:solidFill>
          <a:ln w="12700">
            <a:solidFill>
              <a:srgbClr val="F4F6F8"/>
            </a:solidFill>
            <a:prstDash val="solid"/>
          </a:ln>
        </p:spPr>
      </p:sp>
      <p:sp>
        <p:nvSpPr>
          <p:cNvPr id="7" name="Text 5"/>
          <p:cNvSpPr txBox="1"/>
          <p:nvPr/>
        </p:nvSpPr>
        <p:spPr>
          <a:xfrm>
            <a:off x="685800" y="37879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4190238"/>
            <a:ext cx="10817352" cy="19179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BMAD agrega FR-13 al PRD</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Sanidad: 2 ERROR (ESP-10, ESP-03)</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I-001 y C-001 con costo 6.000</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Traspaso al equipo BMAD</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El cambio, en números</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C-001: costo 6.000, cargo presupuesto de cambio</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Consumo: 6.000 de 15.000 (40 %)</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Líneas base PRD y épicas 1.1</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Verificación final: sin desvíos</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La retro del sprint 4 lo vuelve lección (clase 2)</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C-001 sumó 8 puntos y aun así se terminó a tiempo</a:t>
            </a:r>
            <a:endParaRPr lang="en-US" sz="2400" dirty="0"/>
          </a:p>
        </p:txBody>
      </p:sp>
      <p:pic>
        <p:nvPicPr>
          <p:cNvPr id="3" name="Image 0" descr="C-001 sumó 8 puntos y aun así se terminó a tiempo">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Al abrir la sesión el 26/2</a:t>
            </a:r>
            <a:endParaRPr lang="en-US" sz="2400" dirty="0"/>
          </a:p>
        </p:txBody>
      </p:sp>
      <p:sp>
        <p:nvSpPr>
          <p:cNvPr id="3" name="Text 1"/>
          <p:cNvSpPr txBox="1"/>
          <p:nvPr/>
        </p:nvSpPr>
        <p:spPr>
          <a:xfrm>
            <a:off x="457200" y="1280160"/>
            <a:ext cx="11274552" cy="329184"/>
          </a:xfrm>
          <a:prstGeom prst="rect">
            <a:avLst/>
          </a:prstGeom>
          <a:noFill/>
          <a:ln/>
        </p:spPr>
        <p:txBody>
          <a:bodyPr wrap="square" lIns="0" tIns="0" rIns="0" bIns="0" rtlCol="0" anchor="t"/>
          <a:lstStyle/>
          <a:p>
            <a:pPr indent="0" marL="0">
              <a:buNone/>
            </a:pPr>
            <a:r>
              <a:rPr lang="en-US" sz="1800" b="1" dirty="0">
                <a:solidFill>
                  <a:srgbClr val="B5651D"/>
                </a:solidFill>
                <a:latin typeface="Arial" pitchFamily="34" charset="0"/>
                <a:ea typeface="Arial" pitchFamily="34" charset="-122"/>
                <a:cs typeface="Arial" pitchFamily="34" charset="-120"/>
              </a:rPr>
              <a:t>Lo que el hook de inicio le muestra al gestor</a:t>
            </a:r>
            <a:endParaRPr lang="en-US" sz="1600" dirty="0"/>
          </a:p>
        </p:txBody>
      </p:sp>
      <p:sp>
        <p:nvSpPr>
          <p:cNvPr id="4" name="Shape 2"/>
          <p:cNvSpPr/>
          <p:nvPr/>
        </p:nvSpPr>
        <p:spPr>
          <a:xfrm>
            <a:off x="457200" y="1792224"/>
            <a:ext cx="11274552" cy="768096"/>
          </a:xfrm>
          <a:prstGeom prst="roundRect">
            <a:avLst>
              <a:gd name="adj" fmla="val 11905"/>
            </a:avLst>
          </a:prstGeom>
          <a:solidFill>
            <a:srgbClr val="E9F1F8"/>
          </a:solidFill>
          <a:ln w="12700">
            <a:solidFill>
              <a:srgbClr val="E9F1F8"/>
            </a:solidFill>
            <a:prstDash val="solid"/>
          </a:ln>
        </p:spPr>
      </p:sp>
      <p:sp>
        <p:nvSpPr>
          <p:cNvPr id="5" name="Shape 3"/>
          <p:cNvSpPr/>
          <p:nvPr/>
        </p:nvSpPr>
        <p:spPr>
          <a:xfrm>
            <a:off x="621792" y="1947672"/>
            <a:ext cx="457200" cy="457200"/>
          </a:xfrm>
          <a:prstGeom prst="roundRect">
            <a:avLst>
              <a:gd name="adj" fmla="val 16000"/>
            </a:avLst>
          </a:prstGeom>
          <a:solidFill>
            <a:srgbClr val="00629B"/>
          </a:solidFill>
          <a:ln w="12700">
            <a:solidFill>
              <a:srgbClr val="00629B"/>
            </a:solidFill>
            <a:prstDash val="solid"/>
          </a:ln>
        </p:spPr>
      </p:sp>
      <p:sp>
        <p:nvSpPr>
          <p:cNvPr id="6" name="Text 4"/>
          <p:cNvSpPr txBox="1"/>
          <p:nvPr/>
        </p:nvSpPr>
        <p:spPr>
          <a:xfrm>
            <a:off x="621792" y="19476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280160" y="1847088"/>
            <a:ext cx="10222992" cy="658368"/>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Contexto: revisiones de calidad 1; condición abierta de autorizar-etapa (27/11)</a:t>
            </a:r>
            <a:endParaRPr lang="en-US" sz="1600" dirty="0"/>
          </a:p>
        </p:txBody>
      </p:sp>
      <p:sp>
        <p:nvSpPr>
          <p:cNvPr id="8" name="Shape 6"/>
          <p:cNvSpPr/>
          <p:nvPr/>
        </p:nvSpPr>
        <p:spPr>
          <a:xfrm>
            <a:off x="457200" y="2706624"/>
            <a:ext cx="11274552" cy="768096"/>
          </a:xfrm>
          <a:prstGeom prst="roundRect">
            <a:avLst>
              <a:gd name="adj" fmla="val 11905"/>
            </a:avLst>
          </a:prstGeom>
          <a:solidFill>
            <a:srgbClr val="F4F6F8"/>
          </a:solidFill>
          <a:ln w="12700">
            <a:solidFill>
              <a:srgbClr val="F4F6F8"/>
            </a:solidFill>
            <a:prstDash val="solid"/>
          </a:ln>
        </p:spPr>
      </p:sp>
      <p:sp>
        <p:nvSpPr>
          <p:cNvPr id="9" name="Shape 7"/>
          <p:cNvSpPr/>
          <p:nvPr/>
        </p:nvSpPr>
        <p:spPr>
          <a:xfrm>
            <a:off x="621792" y="2862072"/>
            <a:ext cx="457200" cy="457200"/>
          </a:xfrm>
          <a:prstGeom prst="roundRect">
            <a:avLst>
              <a:gd name="adj" fmla="val 16000"/>
            </a:avLst>
          </a:prstGeom>
          <a:solidFill>
            <a:srgbClr val="00629B"/>
          </a:solidFill>
          <a:ln w="12700">
            <a:solidFill>
              <a:srgbClr val="00629B"/>
            </a:solidFill>
            <a:prstDash val="solid"/>
          </a:ln>
        </p:spPr>
      </p:sp>
      <p:sp>
        <p:nvSpPr>
          <p:cNvPr id="10" name="Text 8"/>
          <p:cNvSpPr txBox="1"/>
          <p:nvPr/>
        </p:nvSpPr>
        <p:spPr>
          <a:xfrm>
            <a:off x="621792"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1280160" y="2761488"/>
            <a:ext cx="10222992" cy="658368"/>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Radar: decidir 1 · escalar 0 · desbloquear 1 · vigilar 1</a:t>
            </a:r>
            <a:endParaRPr lang="en-US" sz="1600" dirty="0"/>
          </a:p>
        </p:txBody>
      </p:sp>
      <p:sp>
        <p:nvSpPr>
          <p:cNvPr id="12" name="Shape 10"/>
          <p:cNvSpPr/>
          <p:nvPr/>
        </p:nvSpPr>
        <p:spPr>
          <a:xfrm>
            <a:off x="457200" y="3621024"/>
            <a:ext cx="11274552" cy="768096"/>
          </a:xfrm>
          <a:prstGeom prst="roundRect">
            <a:avLst>
              <a:gd name="adj" fmla="val 11905"/>
            </a:avLst>
          </a:prstGeom>
          <a:solidFill>
            <a:srgbClr val="E9F1F8"/>
          </a:solidFill>
          <a:ln w="12700">
            <a:solidFill>
              <a:srgbClr val="E9F1F8"/>
            </a:solidFill>
            <a:prstDash val="solid"/>
          </a:ln>
        </p:spPr>
      </p:sp>
      <p:sp>
        <p:nvSpPr>
          <p:cNvPr id="13" name="Shape 11"/>
          <p:cNvSpPr/>
          <p:nvPr/>
        </p:nvSpPr>
        <p:spPr>
          <a:xfrm>
            <a:off x="621792" y="3776472"/>
            <a:ext cx="457200" cy="457200"/>
          </a:xfrm>
          <a:prstGeom prst="roundRect">
            <a:avLst>
              <a:gd name="adj" fmla="val 16000"/>
            </a:avLst>
          </a:prstGeom>
          <a:solidFill>
            <a:srgbClr val="00629B"/>
          </a:solidFill>
          <a:ln w="12700">
            <a:solidFill>
              <a:srgbClr val="00629B"/>
            </a:solidFill>
            <a:prstDash val="solid"/>
          </a:ln>
        </p:spPr>
      </p:sp>
      <p:sp>
        <p:nvSpPr>
          <p:cNvPr id="14" name="Text 12"/>
          <p:cNvSpPr txBox="1"/>
          <p:nvPr/>
        </p:nvSpPr>
        <p:spPr>
          <a:xfrm>
            <a:off x="621792" y="3776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5" name="Text 13"/>
          <p:cNvSpPr txBox="1"/>
          <p:nvPr/>
        </p:nvSpPr>
        <p:spPr>
          <a:xfrm>
            <a:off x="1280160" y="3675888"/>
            <a:ext cx="10222992" cy="658368"/>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Decidir: EST-12, la condición de la etapa 2 (junta, Laura Méndez)</a:t>
            </a:r>
            <a:endParaRPr lang="en-US" sz="1600" dirty="0"/>
          </a:p>
        </p:txBody>
      </p:sp>
      <p:sp>
        <p:nvSpPr>
          <p:cNvPr id="16" name="Shape 14"/>
          <p:cNvSpPr/>
          <p:nvPr/>
        </p:nvSpPr>
        <p:spPr>
          <a:xfrm>
            <a:off x="457200" y="4535424"/>
            <a:ext cx="11274552" cy="768096"/>
          </a:xfrm>
          <a:prstGeom prst="roundRect">
            <a:avLst>
              <a:gd name="adj" fmla="val 11905"/>
            </a:avLst>
          </a:prstGeom>
          <a:solidFill>
            <a:srgbClr val="F4F6F8"/>
          </a:solidFill>
          <a:ln w="12700">
            <a:solidFill>
              <a:srgbClr val="F4F6F8"/>
            </a:solidFill>
            <a:prstDash val="solid"/>
          </a:ln>
        </p:spPr>
      </p:sp>
      <p:sp>
        <p:nvSpPr>
          <p:cNvPr id="17" name="Shape 15"/>
          <p:cNvSpPr/>
          <p:nvPr/>
        </p:nvSpPr>
        <p:spPr>
          <a:xfrm>
            <a:off x="621792" y="4690872"/>
            <a:ext cx="457200" cy="457200"/>
          </a:xfrm>
          <a:prstGeom prst="roundRect">
            <a:avLst>
              <a:gd name="adj" fmla="val 16000"/>
            </a:avLst>
          </a:prstGeom>
          <a:solidFill>
            <a:srgbClr val="00629B"/>
          </a:solidFill>
          <a:ln w="12700">
            <a:solidFill>
              <a:srgbClr val="00629B"/>
            </a:solidFill>
            <a:prstDash val="solid"/>
          </a:ln>
        </p:spPr>
      </p:sp>
      <p:sp>
        <p:nvSpPr>
          <p:cNvPr id="18" name="Text 16"/>
          <p:cNvSpPr txBox="1"/>
          <p:nvPr/>
        </p:nvSpPr>
        <p:spPr>
          <a:xfrm>
            <a:off x="621792" y="46908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txBox="1"/>
          <p:nvPr/>
        </p:nvSpPr>
        <p:spPr>
          <a:xfrm>
            <a:off x="1280160" y="4590288"/>
            <a:ext cx="10222992" cy="658368"/>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Desbloquear: QUA-02, Q-001 vencida el 19/2 (Lucía Benítez)</a:t>
            </a:r>
            <a:endParaRPr lang="en-US" sz="1600" dirty="0"/>
          </a:p>
        </p:txBody>
      </p:sp>
      <p:sp>
        <p:nvSpPr>
          <p:cNvPr id="20" name="Shape 18"/>
          <p:cNvSpPr/>
          <p:nvPr/>
        </p:nvSpPr>
        <p:spPr>
          <a:xfrm>
            <a:off x="457200" y="5449824"/>
            <a:ext cx="11274552" cy="768096"/>
          </a:xfrm>
          <a:prstGeom prst="roundRect">
            <a:avLst>
              <a:gd name="adj" fmla="val 11905"/>
            </a:avLst>
          </a:prstGeom>
          <a:solidFill>
            <a:srgbClr val="E9F1F8"/>
          </a:solidFill>
          <a:ln w="12700">
            <a:solidFill>
              <a:srgbClr val="E9F1F8"/>
            </a:solidFill>
            <a:prstDash val="solid"/>
          </a:ln>
        </p:spPr>
      </p:sp>
      <p:sp>
        <p:nvSpPr>
          <p:cNvPr id="21" name="Shape 19"/>
          <p:cNvSpPr/>
          <p:nvPr/>
        </p:nvSpPr>
        <p:spPr>
          <a:xfrm>
            <a:off x="621792" y="5605272"/>
            <a:ext cx="457200" cy="457200"/>
          </a:xfrm>
          <a:prstGeom prst="roundRect">
            <a:avLst>
              <a:gd name="adj" fmla="val 16000"/>
            </a:avLst>
          </a:prstGeom>
          <a:solidFill>
            <a:srgbClr val="00629B"/>
          </a:solidFill>
          <a:ln w="12700">
            <a:solidFill>
              <a:srgbClr val="00629B"/>
            </a:solidFill>
            <a:prstDash val="solid"/>
          </a:ln>
        </p:spPr>
      </p:sp>
      <p:sp>
        <p:nvSpPr>
          <p:cNvPr id="22" name="Text 20"/>
          <p:cNvSpPr txBox="1"/>
          <p:nvPr/>
        </p:nvSpPr>
        <p:spPr>
          <a:xfrm>
            <a:off x="621792" y="56052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3" name="Text 21"/>
          <p:cNvSpPr txBox="1"/>
          <p:nvPr/>
        </p:nvSpPr>
        <p:spPr>
          <a:xfrm>
            <a:off x="1280160" y="5504688"/>
            <a:ext cx="10222992" cy="658368"/>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Los registros mandan sobre la memoria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6 · Calidad a volumen en el Release 1</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472184"/>
          </a:xfrm>
          <a:prstGeom prst="roundRect">
            <a:avLst>
              <a:gd name="adj" fmla="val 4969"/>
            </a:avLst>
          </a:prstGeom>
          <a:solidFill>
            <a:srgbClr val="0F2238"/>
          </a:solidFill>
          <a:ln w="12700">
            <a:solidFill>
              <a:srgbClr val="0F2238"/>
            </a:solidFill>
            <a:prstDash val="solid"/>
          </a:ln>
        </p:spPr>
      </p:sp>
      <p:sp>
        <p:nvSpPr>
          <p:cNvPr id="5" name="Text 3"/>
          <p:cNvSpPr txBox="1"/>
          <p:nvPr/>
        </p:nvSpPr>
        <p:spPr>
          <a:xfrm>
            <a:off x="685800" y="1792224"/>
            <a:ext cx="10817352" cy="11430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Al 26/2 el equipo terminó las historias 1.3, 1.4, 3.1, 3.2 y 3.3. Sincronizá el backlog y corré la sanidad: ¿qué historias terminadas no tienen revisión de calidad y qué revisiones vencieron? Mostrame el estado de los productos del Release 1.</a:t>
            </a:r>
            <a:endParaRPr lang="en-US" sz="1800" dirty="0"/>
          </a:p>
        </p:txBody>
      </p:sp>
      <p:sp>
        <p:nvSpPr>
          <p:cNvPr id="6" name="Shape 4"/>
          <p:cNvSpPr/>
          <p:nvPr/>
        </p:nvSpPr>
        <p:spPr>
          <a:xfrm>
            <a:off x="457200" y="3374136"/>
            <a:ext cx="11274552" cy="2843784"/>
          </a:xfrm>
          <a:prstGeom prst="roundRect">
            <a:avLst>
              <a:gd name="adj" fmla="val 3215"/>
            </a:avLst>
          </a:prstGeom>
          <a:solidFill>
            <a:srgbClr val="F4F6F8"/>
          </a:solidFill>
          <a:ln w="12700">
            <a:solidFill>
              <a:srgbClr val="F4F6F8"/>
            </a:solidFill>
            <a:prstDash val="solid"/>
          </a:ln>
        </p:spPr>
      </p:sp>
      <p:sp>
        <p:nvSpPr>
          <p:cNvPr id="7" name="Text 5"/>
          <p:cNvSpPr txBox="1"/>
          <p:nvPr/>
        </p:nvSpPr>
        <p:spPr>
          <a:xfrm>
            <a:off x="685800" y="350215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904488"/>
            <a:ext cx="10817352" cy="220370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Sanidad: 0 ERROR · 7 AVISO · 3 INFO</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Cinco QUA-01 y QUA-02 de Q-001</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Productos R1: 5 en revisión, 2 aprobados, 0 aceptados</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Lote Q-004 a Q-008</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Después: 0 ERROR · 2 AVISO · 2 INFO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Ninguna entrega pasó la puerta con historias sin revisión</a:t>
            </a:r>
            <a:endParaRPr lang="en-US" sz="2400" dirty="0"/>
          </a:p>
        </p:txBody>
      </p:sp>
      <p:pic>
        <p:nvPicPr>
          <p:cNvPr id="3" name="Image 0" descr="Ninguna entrega pasó la puerta con historias sin revisión">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Calidad por entrega y estado de productos</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Una revisión por historia que la cita</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QUA-01: terminado sin revisión aprobada</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QUA-02 vencida · QUA-03 rechazo sin tratar</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Registro en lote por entrega</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Estado de productos derivado: estado.py productos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5752" cy="713232"/>
          </a:xfrm>
          <a:prstGeom prst="rect">
            <a:avLst/>
          </a:prstGeom>
          <a:noFill/>
          <a:ln/>
        </p:spPr>
        <p:txBody>
          <a:bodyPr wrap="square" lIns="0" tIns="0" rIns="0" bIns="0" rtlCol="0" anchor="ctr"/>
          <a:lstStyle/>
          <a:p>
            <a:pPr algn="l" indent="0" marL="0">
              <a:buNone/>
            </a:pPr>
            <a:r>
              <a:rPr lang="en-US" sz="2200" b="1" dirty="0">
                <a:solidFill>
                  <a:srgbClr val="9FD0F0"/>
                </a:solidFill>
                <a:latin typeface="Arial" pitchFamily="34" charset="0"/>
                <a:ea typeface="Arial" pitchFamily="34" charset="-122"/>
                <a:cs typeface="Arial" pitchFamily="34" charset="-120"/>
              </a:rPr>
              <a:t>¿Quién decide?</a:t>
            </a:r>
            <a:endParaRPr lang="en-US" sz="2200" dirty="0"/>
          </a:p>
        </p:txBody>
      </p:sp>
      <p:sp>
        <p:nvSpPr>
          <p:cNvPr id="3" name="Shape 1"/>
          <p:cNvSpPr/>
          <p:nvPr/>
        </p:nvSpPr>
        <p:spPr>
          <a:xfrm>
            <a:off x="548640" y="3131820"/>
            <a:ext cx="1188720" cy="1188720"/>
          </a:xfrm>
          <a:prstGeom prst="ellipse">
            <a:avLst/>
          </a:prstGeom>
          <a:solidFill>
            <a:srgbClr val="B5651D"/>
          </a:solidFill>
          <a:ln w="12700">
            <a:solidFill>
              <a:srgbClr val="B5651D"/>
            </a:solidFill>
            <a:prstDash val="solid"/>
          </a:ln>
        </p:spPr>
      </p:sp>
      <p:sp>
        <p:nvSpPr>
          <p:cNvPr id="4" name="Text 2"/>
          <p:cNvSpPr txBox="1"/>
          <p:nvPr/>
        </p:nvSpPr>
        <p:spPr>
          <a:xfrm>
            <a:off x="548640" y="313182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a:t>
            </a:r>
            <a:endParaRPr lang="en-US" sz="5400" dirty="0"/>
          </a:p>
        </p:txBody>
      </p:sp>
      <p:sp>
        <p:nvSpPr>
          <p:cNvPr id="5" name="Text 3"/>
          <p:cNvSpPr txBox="1"/>
          <p:nvPr/>
        </p:nvSpPr>
        <p:spPr>
          <a:xfrm>
            <a:off x="2103120" y="1417320"/>
            <a:ext cx="9537192" cy="46177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Sofía aprobó C-001 por USD 6.000. ¿Podía? ¿Y si hubiera costado USD 9.000?</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Mensajes clave de la clase 1</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Una sola fuente por dato: BMAD</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La condición es un registro con dueño</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Sin monto no hay cambio controlado</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El valor ganado se guarda y se vigila</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Calidad por entrega, no al final</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Ejercicio · Parte A</a:t>
            </a:r>
            <a:endParaRPr lang="en-US" sz="2400" dirty="0"/>
          </a:p>
        </p:txBody>
      </p:sp>
      <p:sp>
        <p:nvSpPr>
          <p:cNvPr id="3" name="Text 1"/>
          <p:cNvSpPr txBox="1"/>
          <p:nvPr/>
        </p:nvSpPr>
        <p:spPr>
          <a:xfrm>
            <a:off x="457200" y="1280160"/>
            <a:ext cx="11274552" cy="329184"/>
          </a:xfrm>
          <a:prstGeom prst="rect">
            <a:avLst/>
          </a:prstGeom>
          <a:noFill/>
          <a:ln/>
        </p:spPr>
        <p:txBody>
          <a:bodyPr wrap="square" lIns="0" tIns="0" rIns="0" bIns="0" rtlCol="0" anchor="t"/>
          <a:lstStyle/>
          <a:p>
            <a:pPr indent="0" marL="0">
              <a:buNone/>
            </a:pPr>
            <a:r>
              <a:rPr lang="en-US" sz="1800" b="1" dirty="0">
                <a:solidFill>
                  <a:srgbClr val="B5651D"/>
                </a:solidFill>
                <a:latin typeface="Arial" pitchFamily="34" charset="0"/>
                <a:ea typeface="Arial" pitchFamily="34" charset="-122"/>
                <a:cs typeface="Arial" pitchFamily="34" charset="-120"/>
              </a:rPr>
              <a:t>10 minutos</a:t>
            </a:r>
            <a:endParaRPr lang="en-US" sz="1600" dirty="0"/>
          </a:p>
        </p:txBody>
      </p:sp>
      <p:sp>
        <p:nvSpPr>
          <p:cNvPr id="4" name="Shape 2"/>
          <p:cNvSpPr/>
          <p:nvPr/>
        </p:nvSpPr>
        <p:spPr>
          <a:xfrm>
            <a:off x="457200" y="1792224"/>
            <a:ext cx="3575304" cy="2075688"/>
          </a:xfrm>
          <a:prstGeom prst="roundRect">
            <a:avLst>
              <a:gd name="adj" fmla="val 4405"/>
            </a:avLst>
          </a:prstGeom>
          <a:solidFill>
            <a:srgbClr val="FBF1E6"/>
          </a:solidFill>
          <a:ln w="12700">
            <a:solidFill>
              <a:srgbClr val="FBF1E6"/>
            </a:solidFill>
            <a:prstDash val="solid"/>
          </a:ln>
        </p:spPr>
      </p:sp>
      <p:sp>
        <p:nvSpPr>
          <p:cNvPr id="5" name="Text 3"/>
          <p:cNvSpPr txBox="1"/>
          <p:nvPr/>
        </p:nvSpPr>
        <p:spPr>
          <a:xfrm>
            <a:off x="658368" y="1901952"/>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1</a:t>
            </a:r>
            <a:endParaRPr lang="en-US" sz="2600" dirty="0"/>
          </a:p>
        </p:txBody>
      </p:sp>
      <p:sp>
        <p:nvSpPr>
          <p:cNvPr id="6" name="Text 4"/>
          <p:cNvSpPr txBox="1"/>
          <p:nvPr/>
        </p:nvSpPr>
        <p:spPr>
          <a:xfrm>
            <a:off x="658368" y="2359152"/>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A1: una condición de tu proyecto</a:t>
            </a:r>
            <a:endParaRPr lang="en-US" sz="1600" dirty="0"/>
          </a:p>
        </p:txBody>
      </p:sp>
      <p:sp>
        <p:nvSpPr>
          <p:cNvPr id="7" name="Shape 5"/>
          <p:cNvSpPr/>
          <p:nvPr/>
        </p:nvSpPr>
        <p:spPr>
          <a:xfrm>
            <a:off x="4306824" y="1792224"/>
            <a:ext cx="3575304" cy="2075688"/>
          </a:xfrm>
          <a:prstGeom prst="roundRect">
            <a:avLst>
              <a:gd name="adj" fmla="val 4405"/>
            </a:avLst>
          </a:prstGeom>
          <a:solidFill>
            <a:srgbClr val="FBF1E6"/>
          </a:solidFill>
          <a:ln w="12700">
            <a:solidFill>
              <a:srgbClr val="FBF1E6"/>
            </a:solidFill>
            <a:prstDash val="solid"/>
          </a:ln>
        </p:spPr>
      </p:sp>
      <p:sp>
        <p:nvSpPr>
          <p:cNvPr id="8" name="Text 6"/>
          <p:cNvSpPr txBox="1"/>
          <p:nvPr/>
        </p:nvSpPr>
        <p:spPr>
          <a:xfrm>
            <a:off x="4507992" y="1901952"/>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2</a:t>
            </a:r>
            <a:endParaRPr lang="en-US" sz="2600" dirty="0"/>
          </a:p>
        </p:txBody>
      </p:sp>
      <p:sp>
        <p:nvSpPr>
          <p:cNvPr id="9" name="Text 7"/>
          <p:cNvSpPr txBox="1"/>
          <p:nvPr/>
        </p:nvSpPr>
        <p:spPr>
          <a:xfrm>
            <a:off x="4507992" y="2359152"/>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Quién la verifica y con qué evidencia</a:t>
            </a:r>
            <a:endParaRPr lang="en-US" sz="1600" dirty="0"/>
          </a:p>
        </p:txBody>
      </p:sp>
      <p:sp>
        <p:nvSpPr>
          <p:cNvPr id="10" name="Shape 8"/>
          <p:cNvSpPr/>
          <p:nvPr/>
        </p:nvSpPr>
        <p:spPr>
          <a:xfrm>
            <a:off x="8156448" y="1792224"/>
            <a:ext cx="3575304" cy="2075688"/>
          </a:xfrm>
          <a:prstGeom prst="roundRect">
            <a:avLst>
              <a:gd name="adj" fmla="val 4405"/>
            </a:avLst>
          </a:prstGeom>
          <a:solidFill>
            <a:srgbClr val="FBF1E6"/>
          </a:solidFill>
          <a:ln w="12700">
            <a:solidFill>
              <a:srgbClr val="FBF1E6"/>
            </a:solidFill>
            <a:prstDash val="solid"/>
          </a:ln>
        </p:spPr>
      </p:sp>
      <p:sp>
        <p:nvSpPr>
          <p:cNvPr id="11" name="Text 9"/>
          <p:cNvSpPr txBox="1"/>
          <p:nvPr/>
        </p:nvSpPr>
        <p:spPr>
          <a:xfrm>
            <a:off x="8357616" y="1901952"/>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3</a:t>
            </a:r>
            <a:endParaRPr lang="en-US" sz="2600" dirty="0"/>
          </a:p>
        </p:txBody>
      </p:sp>
      <p:sp>
        <p:nvSpPr>
          <p:cNvPr id="12" name="Text 10"/>
          <p:cNvSpPr txBox="1"/>
          <p:nvPr/>
        </p:nvSpPr>
        <p:spPr>
          <a:xfrm>
            <a:off x="8357616" y="2359152"/>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A2: presupuesto y límite de cambio</a:t>
            </a:r>
            <a:endParaRPr lang="en-US" sz="1600" dirty="0"/>
          </a:p>
        </p:txBody>
      </p:sp>
      <p:sp>
        <p:nvSpPr>
          <p:cNvPr id="13" name="Shape 11"/>
          <p:cNvSpPr/>
          <p:nvPr/>
        </p:nvSpPr>
        <p:spPr>
          <a:xfrm>
            <a:off x="457200" y="4142232"/>
            <a:ext cx="3575304" cy="2075688"/>
          </a:xfrm>
          <a:prstGeom prst="roundRect">
            <a:avLst>
              <a:gd name="adj" fmla="val 4405"/>
            </a:avLst>
          </a:prstGeom>
          <a:solidFill>
            <a:srgbClr val="FBF1E6"/>
          </a:solidFill>
          <a:ln w="12700">
            <a:solidFill>
              <a:srgbClr val="FBF1E6"/>
            </a:solidFill>
            <a:prstDash val="solid"/>
          </a:ln>
        </p:spPr>
      </p:sp>
      <p:sp>
        <p:nvSpPr>
          <p:cNvPr id="14" name="Text 12"/>
          <p:cNvSpPr txBox="1"/>
          <p:nvPr/>
        </p:nvSpPr>
        <p:spPr>
          <a:xfrm>
            <a:off x="658368" y="4251960"/>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4</a:t>
            </a:r>
            <a:endParaRPr lang="en-US" sz="2600" dirty="0"/>
          </a:p>
        </p:txBody>
      </p:sp>
      <p:sp>
        <p:nvSpPr>
          <p:cNvPr id="15" name="Text 13"/>
          <p:cNvSpPr txBox="1"/>
          <p:nvPr/>
        </p:nvSpPr>
        <p:spPr>
          <a:xfrm>
            <a:off x="658368" y="4709160"/>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A3: la calidad de tu última entrega</a:t>
            </a:r>
            <a:endParaRPr lang="en-US" sz="1600" dirty="0"/>
          </a:p>
        </p:txBody>
      </p:sp>
      <p:sp>
        <p:nvSpPr>
          <p:cNvPr id="16" name="Shape 14"/>
          <p:cNvSpPr/>
          <p:nvPr/>
        </p:nvSpPr>
        <p:spPr>
          <a:xfrm>
            <a:off x="4306824" y="4142232"/>
            <a:ext cx="3575304" cy="2075688"/>
          </a:xfrm>
          <a:prstGeom prst="roundRect">
            <a:avLst>
              <a:gd name="adj" fmla="val 4405"/>
            </a:avLst>
          </a:prstGeom>
          <a:solidFill>
            <a:srgbClr val="FBF1E6"/>
          </a:solidFill>
          <a:ln w="12700">
            <a:solidFill>
              <a:srgbClr val="FBF1E6"/>
            </a:solidFill>
            <a:prstDash val="solid"/>
          </a:ln>
        </p:spPr>
      </p:sp>
      <p:sp>
        <p:nvSpPr>
          <p:cNvPr id="17" name="Text 15"/>
          <p:cNvSpPr txBox="1"/>
          <p:nvPr/>
        </p:nvSpPr>
        <p:spPr>
          <a:xfrm>
            <a:off x="4507992" y="4251960"/>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5</a:t>
            </a:r>
            <a:endParaRPr lang="en-US" sz="2600" dirty="0"/>
          </a:p>
        </p:txBody>
      </p:sp>
      <p:sp>
        <p:nvSpPr>
          <p:cNvPr id="18" name="Text 16"/>
          <p:cNvSpPr txBox="1"/>
          <p:nvPr/>
        </p:nvSpPr>
        <p:spPr>
          <a:xfrm>
            <a:off x="4507992" y="4709160"/>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Autoevaluación con la lista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Próxima clase: recorrido, lecciones, cierre y beneficios</a:t>
            </a:r>
            <a:endParaRPr lang="en-US" sz="3600" dirty="0"/>
          </a:p>
        </p:txBody>
      </p:sp>
      <p:sp>
        <p:nvSpPr>
          <p:cNvPr id="3" name="Text 1"/>
          <p:cNvSpPr txBox="1"/>
          <p:nvPr/>
        </p:nvSpPr>
        <p:spPr>
          <a:xfrm>
            <a:off x="548640" y="2194560"/>
            <a:ext cx="11091672" cy="4023360"/>
          </a:xfrm>
          <a:prstGeom prst="rect">
            <a:avLst/>
          </a:prstGeom>
          <a:noFill/>
          <a:ln/>
        </p:spPr>
        <p:txBody>
          <a:bodyPr wrap="square" lIns="0" tIns="0" rIns="0" bIns="0" rtlCol="0" anchor="t"/>
          <a:lstStyle/>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El recorrido de la socia sobre lo entregado</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De la retrospectiva a la lección verificada</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Cierre con expediente verificable</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Beneficios medidos después del cierre</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640080"/>
            <a:ext cx="7315200" cy="365760"/>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Clase 2 · 90 minutos</a:t>
            </a:r>
            <a:endParaRPr lang="en-US" sz="1600" dirty="0"/>
          </a:p>
        </p:txBody>
      </p:sp>
      <p:sp>
        <p:nvSpPr>
          <p:cNvPr id="3"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Recorrido, lecciones, cierre y beneficios</a:t>
            </a:r>
            <a:endParaRPr lang="en-US" sz="3600" dirty="0"/>
          </a:p>
        </p:txBody>
      </p:sp>
      <p:sp>
        <p:nvSpPr>
          <p:cNvPr id="4" name="Text 2"/>
          <p:cNvSpPr txBox="1"/>
          <p:nvPr/>
        </p:nvSpPr>
        <p:spPr>
          <a:xfrm>
            <a:off x="548640" y="22402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Objetivos de la clase</a:t>
            </a:r>
            <a:endParaRPr lang="en-US" sz="1800" dirty="0"/>
          </a:p>
        </p:txBody>
      </p:sp>
      <p:sp>
        <p:nvSpPr>
          <p:cNvPr id="5" name="Shape 3"/>
          <p:cNvSpPr/>
          <p:nvPr/>
        </p:nvSpPr>
        <p:spPr>
          <a:xfrm>
            <a:off x="548640" y="2743200"/>
            <a:ext cx="11091672" cy="772668"/>
          </a:xfrm>
          <a:prstGeom prst="roundRect">
            <a:avLst>
              <a:gd name="adj" fmla="val 11834"/>
            </a:avLst>
          </a:prstGeom>
          <a:solidFill>
            <a:srgbClr val="173D66"/>
          </a:solidFill>
          <a:ln w="12700">
            <a:solidFill>
              <a:srgbClr val="173D66"/>
            </a:solidFill>
            <a:prstDash val="solid"/>
          </a:ln>
        </p:spPr>
      </p:sp>
      <p:sp>
        <p:nvSpPr>
          <p:cNvPr id="6" name="Text 4"/>
          <p:cNvSpPr txBox="1"/>
          <p:nvPr/>
        </p:nvSpPr>
        <p:spPr>
          <a:xfrm>
            <a:off x="685800" y="2743200"/>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1234440" y="2779776"/>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Dar a cada dolor del recorrido un tratamiento con id</a:t>
            </a:r>
            <a:endParaRPr lang="en-US" sz="1600" dirty="0"/>
          </a:p>
        </p:txBody>
      </p:sp>
      <p:sp>
        <p:nvSpPr>
          <p:cNvPr id="8" name="Shape 6"/>
          <p:cNvSpPr/>
          <p:nvPr/>
        </p:nvSpPr>
        <p:spPr>
          <a:xfrm>
            <a:off x="548640" y="3643884"/>
            <a:ext cx="11091672" cy="772668"/>
          </a:xfrm>
          <a:prstGeom prst="roundRect">
            <a:avLst>
              <a:gd name="adj" fmla="val 11834"/>
            </a:avLst>
          </a:prstGeom>
          <a:solidFill>
            <a:srgbClr val="173D66"/>
          </a:solidFill>
          <a:ln w="12700">
            <a:solidFill>
              <a:srgbClr val="173D66"/>
            </a:solidFill>
            <a:prstDash val="solid"/>
          </a:ln>
        </p:spPr>
      </p:sp>
      <p:sp>
        <p:nvSpPr>
          <p:cNvPr id="9" name="Text 7"/>
          <p:cNvSpPr txBox="1"/>
          <p:nvPr/>
        </p:nvSpPr>
        <p:spPr>
          <a:xfrm>
            <a:off x="685800" y="3643884"/>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234440" y="3680460"/>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Llevar una lección de la retrospectiva hasta el cambio verificado</a:t>
            </a:r>
            <a:endParaRPr lang="en-US" sz="1600" dirty="0"/>
          </a:p>
        </p:txBody>
      </p:sp>
      <p:sp>
        <p:nvSpPr>
          <p:cNvPr id="11" name="Shape 9"/>
          <p:cNvSpPr/>
          <p:nvPr/>
        </p:nvSpPr>
        <p:spPr>
          <a:xfrm>
            <a:off x="548640" y="4544568"/>
            <a:ext cx="11091672" cy="772668"/>
          </a:xfrm>
          <a:prstGeom prst="roundRect">
            <a:avLst>
              <a:gd name="adj" fmla="val 11834"/>
            </a:avLst>
          </a:prstGeom>
          <a:solidFill>
            <a:srgbClr val="173D66"/>
          </a:solidFill>
          <a:ln w="12700">
            <a:solidFill>
              <a:srgbClr val="173D66"/>
            </a:solidFill>
            <a:prstDash val="solid"/>
          </a:ln>
        </p:spPr>
      </p:sp>
      <p:sp>
        <p:nvSpPr>
          <p:cNvPr id="12" name="Text 10"/>
          <p:cNvSpPr txBox="1"/>
          <p:nvPr/>
        </p:nvSpPr>
        <p:spPr>
          <a:xfrm>
            <a:off x="685800" y="4544568"/>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234440" y="4581144"/>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Cerrar verificado por id (C-03, C-07), con informe de lecciones y expediente con bitácora</a:t>
            </a:r>
            <a:endParaRPr lang="en-US" sz="1600" dirty="0"/>
          </a:p>
        </p:txBody>
      </p:sp>
      <p:sp>
        <p:nvSpPr>
          <p:cNvPr id="14" name="Shape 12"/>
          <p:cNvSpPr/>
          <p:nvPr/>
        </p:nvSpPr>
        <p:spPr>
          <a:xfrm>
            <a:off x="548640" y="5445252"/>
            <a:ext cx="11091672" cy="772668"/>
          </a:xfrm>
          <a:prstGeom prst="roundRect">
            <a:avLst>
              <a:gd name="adj" fmla="val 11834"/>
            </a:avLst>
          </a:prstGeom>
          <a:solidFill>
            <a:srgbClr val="173D66"/>
          </a:solidFill>
          <a:ln w="12700">
            <a:solidFill>
              <a:srgbClr val="173D66"/>
            </a:solidFill>
            <a:prstDash val="solid"/>
          </a:ln>
        </p:spPr>
      </p:sp>
      <p:sp>
        <p:nvSpPr>
          <p:cNvPr id="15" name="Text 13"/>
          <p:cNvSpPr txBox="1"/>
          <p:nvPr/>
        </p:nvSpPr>
        <p:spPr>
          <a:xfrm>
            <a:off x="685800" y="5445252"/>
            <a:ext cx="411480" cy="772668"/>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4</a:t>
            </a:r>
            <a:endParaRPr lang="en-US" sz="2000" dirty="0"/>
          </a:p>
        </p:txBody>
      </p:sp>
      <p:sp>
        <p:nvSpPr>
          <p:cNvPr id="16" name="Text 14"/>
          <p:cNvSpPr txBox="1"/>
          <p:nvPr/>
        </p:nvSpPr>
        <p:spPr>
          <a:xfrm>
            <a:off x="1234440" y="5481828"/>
            <a:ext cx="10268712" cy="699516"/>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Leer beneficios con puntaje, salud y tolerancia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350" b="1" dirty="0">
                <a:solidFill>
                  <a:srgbClr val="FFFFFF"/>
                </a:solidFill>
                <a:latin typeface="Arial" pitchFamily="34" charset="0"/>
                <a:ea typeface="Arial" pitchFamily="34" charset="-122"/>
                <a:cs typeface="Arial" pitchFamily="34" charset="-120"/>
              </a:rPr>
              <a:t>¿Cuántas lecciones de tu último proyecto cambiaron algo?</a:t>
            </a:r>
            <a:endParaRPr lang="en-US" sz="2400" dirty="0"/>
          </a:p>
        </p:txBody>
      </p:sp>
      <p:sp>
        <p:nvSpPr>
          <p:cNvPr id="3" name="Shape 1"/>
          <p:cNvSpPr/>
          <p:nvPr/>
        </p:nvSpPr>
        <p:spPr>
          <a:xfrm>
            <a:off x="457200" y="2331720"/>
            <a:ext cx="2612898" cy="2926080"/>
          </a:xfrm>
          <a:prstGeom prst="roundRect">
            <a:avLst>
              <a:gd name="adj" fmla="val 3500"/>
            </a:avLst>
          </a:prstGeom>
          <a:solidFill>
            <a:srgbClr val="002855"/>
          </a:solidFill>
          <a:ln w="12700">
            <a:solidFill>
              <a:srgbClr val="002855"/>
            </a:solidFill>
            <a:prstDash val="solid"/>
          </a:ln>
        </p:spPr>
      </p:sp>
      <p:sp>
        <p:nvSpPr>
          <p:cNvPr id="4" name="Text 2"/>
          <p:cNvSpPr txBox="1"/>
          <p:nvPr/>
        </p:nvSpPr>
        <p:spPr>
          <a:xfrm>
            <a:off x="658368" y="2532888"/>
            <a:ext cx="2210562" cy="2542032"/>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La retro se mezcla con la planificación del sprint</a:t>
            </a:r>
            <a:endParaRPr lang="en-US" sz="1600" dirty="0"/>
          </a:p>
        </p:txBody>
      </p:sp>
      <p:sp>
        <p:nvSpPr>
          <p:cNvPr id="5" name="Shape 3"/>
          <p:cNvSpPr/>
          <p:nvPr/>
        </p:nvSpPr>
        <p:spPr>
          <a:xfrm>
            <a:off x="3344418" y="2331720"/>
            <a:ext cx="2612898" cy="2926080"/>
          </a:xfrm>
          <a:prstGeom prst="roundRect">
            <a:avLst>
              <a:gd name="adj" fmla="val 3500"/>
            </a:avLst>
          </a:prstGeom>
          <a:solidFill>
            <a:srgbClr val="E9F1F8"/>
          </a:solidFill>
          <a:ln w="12700">
            <a:solidFill>
              <a:srgbClr val="E9F1F8"/>
            </a:solidFill>
            <a:prstDash val="solid"/>
          </a:ln>
        </p:spPr>
      </p:sp>
      <p:sp>
        <p:nvSpPr>
          <p:cNvPr id="6" name="Text 4"/>
          <p:cNvSpPr txBox="1"/>
          <p:nvPr/>
        </p:nvSpPr>
        <p:spPr>
          <a:xfrm>
            <a:off x="3545586" y="2532888"/>
            <a:ext cx="2210562"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La planilla de lecciones se llena al cierre</a:t>
            </a:r>
            <a:endParaRPr lang="en-US" sz="1600" dirty="0"/>
          </a:p>
        </p:txBody>
      </p:sp>
      <p:sp>
        <p:nvSpPr>
          <p:cNvPr id="7" name="Shape 5"/>
          <p:cNvSpPr/>
          <p:nvPr/>
        </p:nvSpPr>
        <p:spPr>
          <a:xfrm>
            <a:off x="6231636" y="2331720"/>
            <a:ext cx="2612898" cy="2926080"/>
          </a:xfrm>
          <a:prstGeom prst="roundRect">
            <a:avLst>
              <a:gd name="adj" fmla="val 3500"/>
            </a:avLst>
          </a:prstGeom>
          <a:solidFill>
            <a:srgbClr val="E9F1F8"/>
          </a:solidFill>
          <a:ln w="12700">
            <a:solidFill>
              <a:srgbClr val="E9F1F8"/>
            </a:solidFill>
            <a:prstDash val="solid"/>
          </a:ln>
        </p:spPr>
      </p:sp>
      <p:sp>
        <p:nvSpPr>
          <p:cNvPr id="8" name="Text 6"/>
          <p:cNvSpPr txBox="1"/>
          <p:nvPr/>
        </p:nvSpPr>
        <p:spPr>
          <a:xfrm>
            <a:off x="6432804" y="2532888"/>
            <a:ext cx="2210562"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Nadie comprueba si la acción funcionó</a:t>
            </a:r>
            <a:endParaRPr lang="en-US" sz="1600" dirty="0"/>
          </a:p>
        </p:txBody>
      </p:sp>
      <p:sp>
        <p:nvSpPr>
          <p:cNvPr id="9" name="Shape 7"/>
          <p:cNvSpPr/>
          <p:nvPr/>
        </p:nvSpPr>
        <p:spPr>
          <a:xfrm>
            <a:off x="9118854" y="2331720"/>
            <a:ext cx="2612898" cy="2926080"/>
          </a:xfrm>
          <a:prstGeom prst="roundRect">
            <a:avLst>
              <a:gd name="adj" fmla="val 3500"/>
            </a:avLst>
          </a:prstGeom>
          <a:solidFill>
            <a:srgbClr val="E9F1F8"/>
          </a:solidFill>
          <a:ln w="12700">
            <a:solidFill>
              <a:srgbClr val="E9F1F8"/>
            </a:solidFill>
            <a:prstDash val="solid"/>
          </a:ln>
        </p:spPr>
      </p:sp>
      <p:sp>
        <p:nvSpPr>
          <p:cNvPr id="10" name="Text 8"/>
          <p:cNvSpPr txBox="1"/>
          <p:nvPr/>
        </p:nvSpPr>
        <p:spPr>
          <a:xfrm>
            <a:off x="9320022" y="2532888"/>
            <a:ext cx="2210562"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Hoy: de la retrospectiva al índice, con verificación</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Adónde llegamos: cada acción en el proyecto se verificó</a:t>
            </a:r>
            <a:endParaRPr lang="en-US" sz="2400" dirty="0"/>
          </a:p>
        </p:txBody>
      </p:sp>
      <p:pic>
        <p:nvPicPr>
          <p:cNvPr id="3" name="Image 0" descr="Adónde llegamos: cada acción en el proyecto se verificó">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Recorrido del cliente: cada dolor con tratamiento</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Acciones, emoción (−2 a +2) con fuente y dolores</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Carriles: lo que ve, lo que no ve, soporte</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Parte del recorrido UJ-1 del PRD de BMAD</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Tratamiento: requisito, historia, riesgo, issue, decisión…</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MAP-03: dolor sin tratamiento, en cada sanidad</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La retrospectiva es una reunión propia</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Qué funcionó · qué no funcionó · qué probamos</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Hechos con evidencia, sin culpables</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No planifica el sprint ni decide por la junta</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Salen lecciones y acciones de mejora con cita</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El gestor confirma lo que se registra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Clasificar por impacto y por dónde se usa</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182333"/>
                <a:gridCol w="3909724"/>
                <a:gridCol w="2364019"/>
                <a:gridCol w="1818476"/>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Lección</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Impacto · criterio</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Ámbito</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Adónde va</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L-003 · SCP sin autoridad de cambio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alto · bloqueó la puerta (ESP-10)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planificación, seguimiento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plan de la etapa 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L-002 · done sin revisión, otra vez</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medio · retrabajo en lote; recurrencia alta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seguimiento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A-001 en el sprint 5</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L-001 · revisión con seis socios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medio · acierto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descubrimiento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PMO e índice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Beneficios: puntaje, salud y tolerancia</a:t>
            </a:r>
            <a:endParaRPr lang="en-US" sz="2400" dirty="0"/>
          </a:p>
        </p:txBody>
      </p:sp>
      <p:sp>
        <p:nvSpPr>
          <p:cNvPr id="3" name="Shape 1"/>
          <p:cNvSpPr/>
          <p:nvPr/>
        </p:nvSpPr>
        <p:spPr>
          <a:xfrm>
            <a:off x="457200" y="1280160"/>
            <a:ext cx="11274552" cy="1051560"/>
          </a:xfrm>
          <a:prstGeom prst="roundRect">
            <a:avLst>
              <a:gd name="adj" fmla="val 8696"/>
            </a:avLst>
          </a:prstGeom>
          <a:solidFill>
            <a:srgbClr val="E9F1F8"/>
          </a:solidFill>
          <a:ln w="12700">
            <a:solidFill>
              <a:srgbClr val="E9F1F8"/>
            </a:solidFill>
            <a:prstDash val="solid"/>
          </a:ln>
        </p:spPr>
      </p:sp>
      <p:sp>
        <p:nvSpPr>
          <p:cNvPr id="4" name="Shape 2"/>
          <p:cNvSpPr/>
          <p:nvPr/>
        </p:nvSpPr>
        <p:spPr>
          <a:xfrm>
            <a:off x="621792" y="1577340"/>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5773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941832"/>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Puntaje: avance hacia la meta (0 a 1)</a:t>
            </a:r>
            <a:endParaRPr lang="en-US" sz="1600" dirty="0"/>
          </a:p>
        </p:txBody>
      </p:sp>
      <p:sp>
        <p:nvSpPr>
          <p:cNvPr id="7" name="Shape 5"/>
          <p:cNvSpPr/>
          <p:nvPr/>
        </p:nvSpPr>
        <p:spPr>
          <a:xfrm>
            <a:off x="457200" y="2478024"/>
            <a:ext cx="11274552" cy="1051560"/>
          </a:xfrm>
          <a:prstGeom prst="roundRect">
            <a:avLst>
              <a:gd name="adj" fmla="val 8696"/>
            </a:avLst>
          </a:prstGeom>
          <a:solidFill>
            <a:srgbClr val="F4F6F8"/>
          </a:solidFill>
          <a:ln w="12700">
            <a:solidFill>
              <a:srgbClr val="F4F6F8"/>
            </a:solidFill>
            <a:prstDash val="solid"/>
          </a:ln>
        </p:spPr>
      </p:sp>
      <p:sp>
        <p:nvSpPr>
          <p:cNvPr id="8" name="Shape 6"/>
          <p:cNvSpPr/>
          <p:nvPr/>
        </p:nvSpPr>
        <p:spPr>
          <a:xfrm>
            <a:off x="621792" y="2775204"/>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7752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532888"/>
            <a:ext cx="10222992" cy="941832"/>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Salud: puntaje contra la trayectoria</a:t>
            </a:r>
            <a:endParaRPr lang="en-US" sz="1600" dirty="0"/>
          </a:p>
        </p:txBody>
      </p:sp>
      <p:sp>
        <p:nvSpPr>
          <p:cNvPr id="11" name="Shape 9"/>
          <p:cNvSpPr/>
          <p:nvPr/>
        </p:nvSpPr>
        <p:spPr>
          <a:xfrm>
            <a:off x="457200" y="3675888"/>
            <a:ext cx="11274552" cy="1051560"/>
          </a:xfrm>
          <a:prstGeom prst="roundRect">
            <a:avLst>
              <a:gd name="adj" fmla="val 8696"/>
            </a:avLst>
          </a:prstGeom>
          <a:solidFill>
            <a:srgbClr val="E9F1F8"/>
          </a:solidFill>
          <a:ln w="12700">
            <a:solidFill>
              <a:srgbClr val="E9F1F8"/>
            </a:solidFill>
            <a:prstDash val="solid"/>
          </a:ln>
        </p:spPr>
      </p:sp>
      <p:sp>
        <p:nvSpPr>
          <p:cNvPr id="12" name="Shape 10"/>
          <p:cNvSpPr/>
          <p:nvPr/>
        </p:nvSpPr>
        <p:spPr>
          <a:xfrm>
            <a:off x="621792" y="3973068"/>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9730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730752"/>
            <a:ext cx="10222992" cy="941832"/>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Tolerancia: cuánto desvío se admite</a:t>
            </a:r>
            <a:endParaRPr lang="en-US" sz="1600" dirty="0"/>
          </a:p>
        </p:txBody>
      </p:sp>
      <p:sp>
        <p:nvSpPr>
          <p:cNvPr id="15" name="Shape 13"/>
          <p:cNvSpPr/>
          <p:nvPr/>
        </p:nvSpPr>
        <p:spPr>
          <a:xfrm>
            <a:off x="457200" y="4873752"/>
            <a:ext cx="11274552" cy="1051560"/>
          </a:xfrm>
          <a:prstGeom prst="roundRect">
            <a:avLst>
              <a:gd name="adj" fmla="val 8696"/>
            </a:avLst>
          </a:prstGeom>
          <a:solidFill>
            <a:srgbClr val="F4F6F8"/>
          </a:solidFill>
          <a:ln w="12700">
            <a:solidFill>
              <a:srgbClr val="F4F6F8"/>
            </a:solidFill>
            <a:prstDash val="solid"/>
          </a:ln>
        </p:spPr>
      </p:sp>
      <p:sp>
        <p:nvSpPr>
          <p:cNvPr id="16" name="Shape 14"/>
          <p:cNvSpPr/>
          <p:nvPr/>
        </p:nvSpPr>
        <p:spPr>
          <a:xfrm>
            <a:off x="621792" y="5170932"/>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51709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928616"/>
            <a:ext cx="10222992" cy="941832"/>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Los mide el negocio, no el proyecto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Del uso único al control continuo</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30624"/>
                <a:gridCol w="2219400"/>
                <a:gridCol w="4083696"/>
                <a:gridCol w="2840832"/>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Actividad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Hoy</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Con pm-method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Recorrido del cliente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taller de diseño, una vez</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mapa sobre cada entrega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MAP-03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Capturar lecciones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planilla al cierre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retro con cita, se registra lo confirmado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extraccion.py</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Lección en el plan</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«lo tendremos en cuenta»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impacto alto con acción; plan que la cita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REG-11 · E-11</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Verificar la acción</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nunca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fecha de verificación vigilada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REG-12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Evidencia para auditoría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se junta a mano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expediente con sha256 y bitácora de escrituras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paquete.py verificar · BIT-01/02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Medir beneficios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nadie tras el cierre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plan, check-ins y criterio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P-04 · okr.py</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2</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Demostración: pasos 6b a 11</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Recorrido, lecciones, Release 2, cierre y después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6b · El recorrido de la socia</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757934"/>
          </a:xfrm>
          <a:prstGeom prst="roundRect">
            <a:avLst>
              <a:gd name="adj" fmla="val 4161"/>
            </a:avLst>
          </a:prstGeom>
          <a:solidFill>
            <a:srgbClr val="0F2238"/>
          </a:solidFill>
          <a:ln w="12700">
            <a:solidFill>
              <a:srgbClr val="0F2238"/>
            </a:solidFill>
            <a:prstDash val="solid"/>
          </a:ln>
        </p:spPr>
      </p:sp>
      <p:sp>
        <p:nvSpPr>
          <p:cNvPr id="5" name="Text 3"/>
          <p:cNvSpPr txBox="1"/>
          <p:nvPr/>
        </p:nvSpPr>
        <p:spPr>
          <a:xfrm>
            <a:off x="685800" y="1792224"/>
            <a:ext cx="10817352" cy="14287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Armá el mapa de recorrido de UJ-1 desde la especificación de BMAD, con lo que vimos en la revisión del Release 1 con seis socios el 25/2: dos pidieron ayuda en el primer ingreso con segundo factor; el resumen de cuentas tarda en aparecer y no hay indicador de carga; la constancia se descargó en el primer intento. Decime qué dolores quedan sin tratamiento.</a:t>
            </a:r>
            <a:endParaRPr lang="en-US" sz="1800" dirty="0"/>
          </a:p>
        </p:txBody>
      </p:sp>
      <p:sp>
        <p:nvSpPr>
          <p:cNvPr id="6" name="Shape 4"/>
          <p:cNvSpPr/>
          <p:nvPr/>
        </p:nvSpPr>
        <p:spPr>
          <a:xfrm>
            <a:off x="457200" y="3659886"/>
            <a:ext cx="11274552" cy="2558034"/>
          </a:xfrm>
          <a:prstGeom prst="roundRect">
            <a:avLst>
              <a:gd name="adj" fmla="val 3575"/>
            </a:avLst>
          </a:prstGeom>
          <a:solidFill>
            <a:srgbClr val="F4F6F8"/>
          </a:solidFill>
          <a:ln w="12700">
            <a:solidFill>
              <a:srgbClr val="F4F6F8"/>
            </a:solidFill>
            <a:prstDash val="solid"/>
          </a:ln>
        </p:spPr>
      </p:sp>
      <p:sp>
        <p:nvSpPr>
          <p:cNvPr id="7" name="Text 5"/>
          <p:cNvSpPr txBox="1"/>
          <p:nvPr/>
        </p:nvSpPr>
        <p:spPr>
          <a:xfrm>
            <a:off x="685800" y="37879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4190238"/>
            <a:ext cx="10817352" cy="19179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Semilla desde bmad.py recorridos: 6 pasos</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Dos MAP-03: ingreso y resumen</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P2 → NFR-3 y Q-001 (la condición)</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P1 → R-001, riesgo para B-02</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0 avisos de la familia MAP</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6c · Retrospectiva del sprint 4</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186434"/>
          </a:xfrm>
          <a:prstGeom prst="roundRect">
            <a:avLst>
              <a:gd name="adj" fmla="val 6166"/>
            </a:avLst>
          </a:prstGeom>
          <a:solidFill>
            <a:srgbClr val="0F2238"/>
          </a:solidFill>
          <a:ln w="12700">
            <a:solidFill>
              <a:srgbClr val="0F2238"/>
            </a:solidFill>
            <a:prstDash val="solid"/>
          </a:ln>
        </p:spPr>
      </p:sp>
      <p:sp>
        <p:nvSpPr>
          <p:cNvPr id="5" name="Text 3"/>
          <p:cNvSpPr txBox="1"/>
          <p:nvPr/>
        </p:nvSpPr>
        <p:spPr>
          <a:xfrm>
            <a:off x="685800" y="1792224"/>
            <a:ext cx="10817352" cy="857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Te dejo la transcripción de la retrospectiva del sprint 4 del 26/2. Proponeme las lecciones y las acciones de mejora, cada una con su cita, sin registrar nada todavía.</a:t>
            </a:r>
            <a:endParaRPr lang="en-US" sz="1800" dirty="0"/>
          </a:p>
        </p:txBody>
      </p:sp>
      <p:sp>
        <p:nvSpPr>
          <p:cNvPr id="6" name="Shape 4"/>
          <p:cNvSpPr/>
          <p:nvPr/>
        </p:nvSpPr>
        <p:spPr>
          <a:xfrm>
            <a:off x="457200" y="3088386"/>
            <a:ext cx="11274552" cy="3129534"/>
          </a:xfrm>
          <a:prstGeom prst="roundRect">
            <a:avLst>
              <a:gd name="adj" fmla="val 2922"/>
            </a:avLst>
          </a:prstGeom>
          <a:solidFill>
            <a:srgbClr val="F4F6F8"/>
          </a:solidFill>
          <a:ln w="12700">
            <a:solidFill>
              <a:srgbClr val="F4F6F8"/>
            </a:solidFill>
            <a:prstDash val="solid"/>
          </a:ln>
        </p:spPr>
      </p:sp>
      <p:sp>
        <p:nvSpPr>
          <p:cNvPr id="7" name="Text 5"/>
          <p:cNvSpPr txBox="1"/>
          <p:nvPr/>
        </p:nvSpPr>
        <p:spPr>
          <a:xfrm>
            <a:off x="685800" y="32164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618738"/>
            <a:ext cx="10817352" cy="24894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3 lecciones y 2 acciones con cita; 0 decisiones</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L-003 alto · L-002 medio, recurrencia alta · L-001 medio</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Sanidad: REG-11, L-003 sin acción</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L-002 → A-001, verificar el 19/3</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Paso 7 · Condición cumplida, decisiones vigentes y puerta</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2051622"/>
          </a:xfrm>
          <a:prstGeom prst="roundRect">
            <a:avLst>
              <a:gd name="adj" fmla="val 3566"/>
            </a:avLst>
          </a:prstGeom>
          <a:solidFill>
            <a:srgbClr val="0F2238"/>
          </a:solidFill>
          <a:ln w="12700">
            <a:solidFill>
              <a:srgbClr val="0F2238"/>
            </a:solidFill>
            <a:prstDash val="solid"/>
          </a:ln>
        </p:spPr>
      </p:sp>
      <p:sp>
        <p:nvSpPr>
          <p:cNvPr id="5" name="Text 3"/>
          <p:cNvSpPr txBox="1"/>
          <p:nvPr/>
        </p:nvSpPr>
        <p:spPr>
          <a:xfrm>
            <a:off x="685800" y="1792224"/>
            <a:ext cx="10817352" cy="1722438"/>
          </a:xfrm>
          <a:prstGeom prst="rect">
            <a:avLst/>
          </a:prstGeom>
          <a:noFill/>
          <a:ln/>
        </p:spPr>
        <p:txBody>
          <a:bodyPr wrap="square" lIns="0" tIns="0" rIns="0" bIns="0" rtlCol="0" anchor="ctr"/>
          <a:lstStyle/>
          <a:p>
            <a:pPr indent="0" marL="0">
              <a:buNone/>
            </a:pPr>
            <a:r>
              <a:rPr lang="en-US" sz="1550" dirty="0">
                <a:solidFill>
                  <a:srgbClr val="E8EEF5"/>
                </a:solidFill>
                <a:latin typeface="Courier New" pitchFamily="34" charset="0"/>
                <a:ea typeface="Courier New" pitchFamily="34" charset="-122"/>
                <a:cs typeface="Courier New" pitchFamily="34" charset="-120"/>
              </a:rPr>
              <a:t>La prueba de carga de NFR-3 se hizo el 2/3: p95 2,4 s con 400 sesiones concurrentes (meta menor a 3 s); aprobada. El gate de preparación de BMAD dio PASS el 3/3: reemplaza al CONCERNS del 26/11. Terminamos el Release 1: traé el avance al 5/3, abrí el límite de etapa, calculá el valor ganado (PV 82.000, EV 80.000, AC 83.500, BAC 130.000) y guardá el corte, actualizá el business case con reales y pronóstico, armá el informe de fin de etapa, el plan de la etapa 3 y el tablero con el recorrido de la socia, y preparame la puerta con las decisiones sobre BMAD que siguen vigentes.</a:t>
            </a:r>
            <a:endParaRPr lang="en-US" sz="1550" dirty="0"/>
          </a:p>
        </p:txBody>
      </p:sp>
      <p:sp>
        <p:nvSpPr>
          <p:cNvPr id="6" name="Shape 4"/>
          <p:cNvSpPr/>
          <p:nvPr/>
        </p:nvSpPr>
        <p:spPr>
          <a:xfrm>
            <a:off x="457200" y="3953573"/>
            <a:ext cx="11274552" cy="2264347"/>
          </a:xfrm>
          <a:prstGeom prst="roundRect">
            <a:avLst>
              <a:gd name="adj" fmla="val 4038"/>
            </a:avLst>
          </a:prstGeom>
          <a:solidFill>
            <a:srgbClr val="F4F6F8"/>
          </a:solidFill>
          <a:ln w="12700">
            <a:solidFill>
              <a:srgbClr val="F4F6F8"/>
            </a:solidFill>
            <a:prstDash val="solid"/>
          </a:ln>
        </p:spPr>
      </p:sp>
      <p:sp>
        <p:nvSpPr>
          <p:cNvPr id="7" name="Text 5"/>
          <p:cNvSpPr txBox="1"/>
          <p:nvPr/>
        </p:nvSpPr>
        <p:spPr>
          <a:xfrm>
            <a:off x="685800" y="4081589"/>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4483925"/>
            <a:ext cx="10817352" cy="1624267"/>
          </a:xfrm>
          <a:prstGeom prst="rect">
            <a:avLst/>
          </a:prstGeom>
          <a:noFill/>
          <a:ln/>
        </p:spPr>
        <p:txBody>
          <a:bodyPr wrap="square" lIns="0" tIns="0" rIns="0" bIns="0" rtlCol="0" anchor="t"/>
          <a:lstStyle/>
          <a:p>
            <a:pPr indent="0" marL="0">
              <a:spcAft>
                <a:spcPts val="800"/>
              </a:spcAft>
              <a:buNone/>
            </a:pPr>
            <a:r>
              <a:rPr lang="en-US" sz="145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450" dirty="0">
                <a:solidFill>
                  <a:srgbClr val="272425"/>
                </a:solidFill>
                <a:latin typeface="Arial" pitchFamily="34" charset="0"/>
                <a:ea typeface="Arial" pitchFamily="34" charset="-122"/>
                <a:cs typeface="Arial" pitchFamily="34" charset="-120"/>
              </a:rPr>
              <a:t>Q-001: p95 2,4 s, aprobada</a:t>
            </a:r>
            <a:endParaRPr lang="en-US" sz="1600" dirty="0"/>
          </a:p>
          <a:p>
            <a:pPr indent="0" marL="0">
              <a:spcAft>
                <a:spcPts val="800"/>
              </a:spcAft>
              <a:buNone/>
            </a:pPr>
            <a:r>
              <a:rPr lang="en-US" sz="145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450" dirty="0">
                <a:solidFill>
                  <a:srgbClr val="272425"/>
                </a:solidFill>
                <a:latin typeface="Arial" pitchFamily="34" charset="0"/>
                <a:ea typeface="Arial" pitchFamily="34" charset="-122"/>
                <a:cs typeface="Arial" pitchFamily="34" charset="-120"/>
              </a:rPr>
              <a:t>E-11: L-003 sin considerar → el plan la incorpora (A-002)</a:t>
            </a:r>
            <a:endParaRPr lang="en-US" sz="1600" dirty="0"/>
          </a:p>
          <a:p>
            <a:pPr indent="0" marL="0">
              <a:spcAft>
                <a:spcPts val="800"/>
              </a:spcAft>
              <a:buNone/>
            </a:pPr>
            <a:r>
              <a:rPr lang="en-US" sz="145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450" dirty="0">
                <a:solidFill>
                  <a:srgbClr val="272425"/>
                </a:solidFill>
                <a:latin typeface="Arial" pitchFamily="34" charset="0"/>
                <a:ea typeface="Arial" pitchFamily="34" charset="-122"/>
                <a:cs typeface="Arial" pitchFamily="34" charset="-120"/>
              </a:rPr>
              <a:t>D-018 (PASS) reemplaza a D-012 (CONCERNS)</a:t>
            </a:r>
            <a:endParaRPr lang="en-US" sz="1600" dirty="0"/>
          </a:p>
          <a:p>
            <a:pPr indent="0" marL="0">
              <a:spcAft>
                <a:spcPts val="800"/>
              </a:spcAft>
              <a:buNone/>
            </a:pPr>
            <a:r>
              <a:rPr lang="en-US" sz="145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450" dirty="0">
                <a:solidFill>
                  <a:srgbClr val="272425"/>
                </a:solidFill>
                <a:latin typeface="Arial" pitchFamily="34" charset="0"/>
                <a:ea typeface="Arial" pitchFamily="34" charset="-122"/>
                <a:cs typeface="Arial" pitchFamily="34" charset="-120"/>
              </a:rPr>
              <a:t>Vigentes sobre BMAD: 16 de 19; D-012 queda en la historia</a:t>
            </a:r>
            <a:endParaRPr lang="en-US" sz="1600" dirty="0"/>
          </a:p>
          <a:p>
            <a:pPr indent="0" marL="0">
              <a:spcAft>
                <a:spcPts val="800"/>
              </a:spcAft>
              <a:buNone/>
            </a:pPr>
            <a:r>
              <a:rPr lang="en-US" sz="145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450" dirty="0">
                <a:solidFill>
                  <a:srgbClr val="272425"/>
                </a:solidFill>
                <a:latin typeface="Arial" pitchFamily="34" charset="0"/>
                <a:ea typeface="Arial" pitchFamily="34" charset="-122"/>
                <a:cs typeface="Arial" pitchFamily="34" charset="-120"/>
              </a:rPr>
              <a:t>cumplir-condiciones → 0 bloqueos · 0 condiciones · 0 avisos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Paso 8 · Release 2: la acción verificada y un rechazo tratado</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186434"/>
          </a:xfrm>
          <a:prstGeom prst="roundRect">
            <a:avLst>
              <a:gd name="adj" fmla="val 6166"/>
            </a:avLst>
          </a:prstGeom>
          <a:solidFill>
            <a:srgbClr val="0F2238"/>
          </a:solidFill>
          <a:ln w="12700">
            <a:solidFill>
              <a:srgbClr val="0F2238"/>
            </a:solidFill>
            <a:prstDash val="solid"/>
          </a:ln>
        </p:spPr>
      </p:sp>
      <p:sp>
        <p:nvSpPr>
          <p:cNvPr id="5" name="Text 3"/>
          <p:cNvSpPr txBox="1"/>
          <p:nvPr/>
        </p:nvSpPr>
        <p:spPr>
          <a:xfrm>
            <a:off x="685800" y="1792224"/>
            <a:ext cx="10817352" cy="857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La historia 2.1 pasó a done el 19/3 y su revisión se registró ese mismo día, aprobada. Sincronizá, traé el avance al 22/3, corré la sanidad y el radar y decime qué lecciones de seguimiento tengo que verificar.</a:t>
            </a:r>
            <a:endParaRPr lang="en-US" sz="1800" dirty="0"/>
          </a:p>
        </p:txBody>
      </p:sp>
      <p:sp>
        <p:nvSpPr>
          <p:cNvPr id="6" name="Shape 4"/>
          <p:cNvSpPr/>
          <p:nvPr/>
        </p:nvSpPr>
        <p:spPr>
          <a:xfrm>
            <a:off x="457200" y="3088386"/>
            <a:ext cx="11274552" cy="3129534"/>
          </a:xfrm>
          <a:prstGeom prst="roundRect">
            <a:avLst>
              <a:gd name="adj" fmla="val 2922"/>
            </a:avLst>
          </a:prstGeom>
          <a:solidFill>
            <a:srgbClr val="F4F6F8"/>
          </a:solidFill>
          <a:ln w="12700">
            <a:solidFill>
              <a:srgbClr val="F4F6F8"/>
            </a:solidFill>
            <a:prstDash val="solid"/>
          </a:ln>
        </p:spPr>
      </p:sp>
      <p:sp>
        <p:nvSpPr>
          <p:cNvPr id="7" name="Text 5"/>
          <p:cNvSpPr txBox="1"/>
          <p:nvPr/>
        </p:nvSpPr>
        <p:spPr>
          <a:xfrm>
            <a:off x="685800" y="32164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618738"/>
            <a:ext cx="10817352" cy="24894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Planificación del sprint 5: compromisos, ninguna lección</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22/3: REG-12 → L-002 verificada efectiva (Q-009)</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7/5: QUA-01 y QUA-03 por Q-012 → I-002</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Corregir 81,2 · conceder 63,7: Sofía elige corregir (D-022)</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Q-013; 12/5: L-003 verificada, sanidad 0 AVISO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350" b="1" dirty="0">
                <a:solidFill>
                  <a:srgbClr val="FFFFFF"/>
                </a:solidFill>
                <a:latin typeface="Arial" pitchFamily="34" charset="0"/>
                <a:ea typeface="Arial" pitchFamily="34" charset="-122"/>
                <a:cs typeface="Arial" pitchFamily="34" charset="-120"/>
              </a:rPr>
              <a:t>Paso 9 · Cierre verificado por id e informe de lecciones</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186434"/>
          </a:xfrm>
          <a:prstGeom prst="roundRect">
            <a:avLst>
              <a:gd name="adj" fmla="val 6166"/>
            </a:avLst>
          </a:prstGeom>
          <a:solidFill>
            <a:srgbClr val="0F2238"/>
          </a:solidFill>
          <a:ln w="12700">
            <a:solidFill>
              <a:srgbClr val="0F2238"/>
            </a:solidFill>
            <a:prstDash val="solid"/>
          </a:ln>
        </p:spPr>
      </p:sp>
      <p:sp>
        <p:nvSpPr>
          <p:cNvPr id="5" name="Text 3"/>
          <p:cNvSpPr txBox="1"/>
          <p:nvPr/>
        </p:nvSpPr>
        <p:spPr>
          <a:xfrm>
            <a:off x="685800" y="1792224"/>
            <a:ext cx="10817352" cy="857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Pasá a cierre y decime qué falta para la puerta. Registrá la aceptación de Sofía y Laura, dejá el estado final de los productos y armá el informe de lecciones: la de los socios va a la PMO; exportá las aprobadas al índice.</a:t>
            </a:r>
            <a:endParaRPr lang="en-US" sz="1800" dirty="0"/>
          </a:p>
        </p:txBody>
      </p:sp>
      <p:sp>
        <p:nvSpPr>
          <p:cNvPr id="6" name="Shape 4"/>
          <p:cNvSpPr/>
          <p:nvPr/>
        </p:nvSpPr>
        <p:spPr>
          <a:xfrm>
            <a:off x="457200" y="3088386"/>
            <a:ext cx="11274552" cy="3129534"/>
          </a:xfrm>
          <a:prstGeom prst="roundRect">
            <a:avLst>
              <a:gd name="adj" fmla="val 2922"/>
            </a:avLst>
          </a:prstGeom>
          <a:solidFill>
            <a:srgbClr val="F4F6F8"/>
          </a:solidFill>
          <a:ln w="12700">
            <a:solidFill>
              <a:srgbClr val="F4F6F8"/>
            </a:solidFill>
            <a:prstDash val="solid"/>
          </a:ln>
        </p:spPr>
      </p:sp>
      <p:sp>
        <p:nvSpPr>
          <p:cNvPr id="7" name="Text 5"/>
          <p:cNvSpPr txBox="1"/>
          <p:nvPr/>
        </p:nvSpPr>
        <p:spPr>
          <a:xfrm>
            <a:off x="685800" y="321640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618738"/>
            <a:ext cx="10817352" cy="248945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Antes: C-03 cita R-001; C-07, los Must sin aceptar</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Aceptación: 11 de 11 productos aceptados</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Informe de lecciones: 3, 0 pendientes; L-001 a la PMO</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Índice: el proyecto siguiente encuentra L-001</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Puerta: sin G-01, C-03 ni C-07</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Paso 9b · La huella delata la edición; la bitácora la explica</a:t>
            </a:r>
            <a:endParaRPr lang="en-US" sz="2400" dirty="0"/>
          </a:p>
        </p:txBody>
      </p:sp>
      <p:pic>
        <p:nvPicPr>
          <p:cNvPr id="3" name="Image 0" descr="Paso 9b · La huella delata la edición; la bitácora la explica">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9c · Qué decía el business case en cada versión</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Tres versiones aprobadas por Laura: D-005, D-021 y D-026</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De la 1.1 a la 1.2: 1 sección agregada y 1 quitada</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Vigente y aprobada coinciden; con historia aparece la 1.1</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D-013 desde la bitácora: una sola escritura (#42)</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pm-kb solo lee: no escribe en el proyecto ni en la bitácora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10 · Primera revisión de beneficios (30/6)</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472184"/>
          </a:xfrm>
          <a:prstGeom prst="roundRect">
            <a:avLst>
              <a:gd name="adj" fmla="val 4969"/>
            </a:avLst>
          </a:prstGeom>
          <a:solidFill>
            <a:srgbClr val="0F2238"/>
          </a:solidFill>
          <a:ln w="12700">
            <a:solidFill>
              <a:srgbClr val="0F2238"/>
            </a:solidFill>
            <a:prstDash val="solid"/>
          </a:ln>
        </p:spPr>
      </p:sp>
      <p:sp>
        <p:nvSpPr>
          <p:cNvPr id="5" name="Text 3"/>
          <p:cNvSpPr txBox="1"/>
          <p:nvPr/>
        </p:nvSpPr>
        <p:spPr>
          <a:xfrm>
            <a:off x="685800" y="1792224"/>
            <a:ext cx="10817352" cy="11430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Soy Sofía Ramírez, de servicios al socio. Registrá como check-in la línea base al entrar en operación (15/5: KR-1.1 0 %, KR-1.2 5.000 consultas, KR-1.3 96 horas) y la primera revisión al 30/6 (KR-1.1 9 %, KR-1.2 4.600, KR-1.3 70 horas; confianza 6). Puntuá los OKR y decime si vamos en camino.</a:t>
            </a:r>
            <a:endParaRPr lang="en-US" sz="1800" dirty="0"/>
          </a:p>
        </p:txBody>
      </p:sp>
      <p:sp>
        <p:nvSpPr>
          <p:cNvPr id="6" name="Shape 4"/>
          <p:cNvSpPr/>
          <p:nvPr/>
        </p:nvSpPr>
        <p:spPr>
          <a:xfrm>
            <a:off x="457200" y="3374136"/>
            <a:ext cx="11274552" cy="2843784"/>
          </a:xfrm>
          <a:prstGeom prst="roundRect">
            <a:avLst>
              <a:gd name="adj" fmla="val 3215"/>
            </a:avLst>
          </a:prstGeom>
          <a:solidFill>
            <a:srgbClr val="F4F6F8"/>
          </a:solidFill>
          <a:ln w="12700">
            <a:solidFill>
              <a:srgbClr val="F4F6F8"/>
            </a:solidFill>
            <a:prstDash val="solid"/>
          </a:ln>
        </p:spPr>
      </p:sp>
      <p:sp>
        <p:nvSpPr>
          <p:cNvPr id="7" name="Text 5"/>
          <p:cNvSpPr txBox="1"/>
          <p:nvPr/>
        </p:nvSpPr>
        <p:spPr>
          <a:xfrm>
            <a:off x="685800" y="3502152"/>
            <a:ext cx="5486400" cy="329184"/>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deberías ver</a:t>
            </a:r>
            <a:endParaRPr lang="en-US" sz="1600" dirty="0"/>
          </a:p>
        </p:txBody>
      </p:sp>
      <p:sp>
        <p:nvSpPr>
          <p:cNvPr id="8" name="Text 6"/>
          <p:cNvSpPr txBox="1"/>
          <p:nvPr/>
        </p:nvSpPr>
        <p:spPr>
          <a:xfrm>
            <a:off x="685800" y="3904488"/>
            <a:ext cx="10817352" cy="2203704"/>
          </a:xfrm>
          <a:prstGeom prst="rect">
            <a:avLst/>
          </a:prstGeom>
          <a:noFill/>
          <a:ln/>
        </p:spPr>
        <p:txBody>
          <a:bodyPr wrap="square" lIns="0" tIns="0" rIns="0" bIns="0" rtlCol="0" anchor="t"/>
          <a:lstStyle/>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Check-ins: línea base 15/5 y 30/6</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O-1 0,37 en rojo</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Van 46 de 230 días: esperado 0,20</a:t>
            </a:r>
            <a:endParaRPr lang="en-US" sz="1600" dirty="0"/>
          </a:p>
          <a:p>
            <a:pPr indent="0" marL="0">
              <a:spcAft>
                <a:spcPts val="800"/>
              </a:spcAft>
              <a:buNone/>
            </a:pPr>
            <a:r>
              <a:rPr lang="en-US" sz="18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800" dirty="0">
                <a:solidFill>
                  <a:srgbClr val="272425"/>
                </a:solidFill>
                <a:latin typeface="Arial" pitchFamily="34" charset="0"/>
                <a:ea typeface="Arial" pitchFamily="34" charset="-122"/>
                <a:cs typeface="Arial" pitchFamily="34" charset="-120"/>
              </a:rPr>
              <a:t>Los tres KR en camino: sin informe</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31/12: B-02 adopción queda fuera de la tolerancia</a:t>
            </a:r>
            <a:endParaRPr lang="en-US" sz="2400" dirty="0"/>
          </a:p>
        </p:txBody>
      </p:sp>
      <p:pic>
        <p:nvPicPr>
          <p:cNvPr id="3" name="Image 0" descr="31/12: B-02 adopción queda fuera de la tolerancia">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Mensajes clave de la clase 2</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Cada dolor del recorrido con un id</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La retro propone; la lección cambia algo y se verifica</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Cierre por id: ningún riesgo ni Must sin dueño</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Huella y bitácora: cada copia se verifica y se explica</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Rojo no es desvío; verde no es éxito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Ejercicio · Parte B</a:t>
            </a:r>
            <a:endParaRPr lang="en-US" sz="2400" dirty="0"/>
          </a:p>
        </p:txBody>
      </p:sp>
      <p:sp>
        <p:nvSpPr>
          <p:cNvPr id="3" name="Text 1"/>
          <p:cNvSpPr txBox="1"/>
          <p:nvPr/>
        </p:nvSpPr>
        <p:spPr>
          <a:xfrm>
            <a:off x="457200" y="1280160"/>
            <a:ext cx="11274552" cy="329184"/>
          </a:xfrm>
          <a:prstGeom prst="rect">
            <a:avLst/>
          </a:prstGeom>
          <a:noFill/>
          <a:ln/>
        </p:spPr>
        <p:txBody>
          <a:bodyPr wrap="square" lIns="0" tIns="0" rIns="0" bIns="0" rtlCol="0" anchor="t"/>
          <a:lstStyle/>
          <a:p>
            <a:pPr indent="0" marL="0">
              <a:buNone/>
            </a:pPr>
            <a:r>
              <a:rPr lang="en-US" sz="1800" b="1" dirty="0">
                <a:solidFill>
                  <a:srgbClr val="B5651D"/>
                </a:solidFill>
                <a:latin typeface="Arial" pitchFamily="34" charset="0"/>
                <a:ea typeface="Arial" pitchFamily="34" charset="-122"/>
                <a:cs typeface="Arial" pitchFamily="34" charset="-120"/>
              </a:rPr>
              <a:t>10 minutos</a:t>
            </a:r>
            <a:endParaRPr lang="en-US" sz="1600" dirty="0"/>
          </a:p>
        </p:txBody>
      </p:sp>
      <p:sp>
        <p:nvSpPr>
          <p:cNvPr id="4" name="Shape 2"/>
          <p:cNvSpPr/>
          <p:nvPr/>
        </p:nvSpPr>
        <p:spPr>
          <a:xfrm>
            <a:off x="457200" y="1792224"/>
            <a:ext cx="3575304" cy="2075688"/>
          </a:xfrm>
          <a:prstGeom prst="roundRect">
            <a:avLst>
              <a:gd name="adj" fmla="val 4405"/>
            </a:avLst>
          </a:prstGeom>
          <a:solidFill>
            <a:srgbClr val="FBF1E6"/>
          </a:solidFill>
          <a:ln w="12700">
            <a:solidFill>
              <a:srgbClr val="FBF1E6"/>
            </a:solidFill>
            <a:prstDash val="solid"/>
          </a:ln>
        </p:spPr>
      </p:sp>
      <p:sp>
        <p:nvSpPr>
          <p:cNvPr id="5" name="Text 3"/>
          <p:cNvSpPr txBox="1"/>
          <p:nvPr/>
        </p:nvSpPr>
        <p:spPr>
          <a:xfrm>
            <a:off x="658368" y="1901952"/>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1</a:t>
            </a:r>
            <a:endParaRPr lang="en-US" sz="2600" dirty="0"/>
          </a:p>
        </p:txBody>
      </p:sp>
      <p:sp>
        <p:nvSpPr>
          <p:cNvPr id="6" name="Text 4"/>
          <p:cNvSpPr txBox="1"/>
          <p:nvPr/>
        </p:nvSpPr>
        <p:spPr>
          <a:xfrm>
            <a:off x="658368" y="2359152"/>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B1: un dolor del recorrido y su tratamiento</a:t>
            </a:r>
            <a:endParaRPr lang="en-US" sz="1600" dirty="0"/>
          </a:p>
        </p:txBody>
      </p:sp>
      <p:sp>
        <p:nvSpPr>
          <p:cNvPr id="7" name="Shape 5"/>
          <p:cNvSpPr/>
          <p:nvPr/>
        </p:nvSpPr>
        <p:spPr>
          <a:xfrm>
            <a:off x="4306824" y="1792224"/>
            <a:ext cx="3575304" cy="2075688"/>
          </a:xfrm>
          <a:prstGeom prst="roundRect">
            <a:avLst>
              <a:gd name="adj" fmla="val 4405"/>
            </a:avLst>
          </a:prstGeom>
          <a:solidFill>
            <a:srgbClr val="FBF1E6"/>
          </a:solidFill>
          <a:ln w="12700">
            <a:solidFill>
              <a:srgbClr val="FBF1E6"/>
            </a:solidFill>
            <a:prstDash val="solid"/>
          </a:ln>
        </p:spPr>
      </p:sp>
      <p:sp>
        <p:nvSpPr>
          <p:cNvPr id="8" name="Text 6"/>
          <p:cNvSpPr txBox="1"/>
          <p:nvPr/>
        </p:nvSpPr>
        <p:spPr>
          <a:xfrm>
            <a:off x="4507992" y="1901952"/>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2</a:t>
            </a:r>
            <a:endParaRPr lang="en-US" sz="2600" dirty="0"/>
          </a:p>
        </p:txBody>
      </p:sp>
      <p:sp>
        <p:nvSpPr>
          <p:cNvPr id="9" name="Text 7"/>
          <p:cNvSpPr txBox="1"/>
          <p:nvPr/>
        </p:nvSpPr>
        <p:spPr>
          <a:xfrm>
            <a:off x="4507992" y="2359152"/>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B2: una lección de tu última retro</a:t>
            </a:r>
            <a:endParaRPr lang="en-US" sz="1600" dirty="0"/>
          </a:p>
        </p:txBody>
      </p:sp>
      <p:sp>
        <p:nvSpPr>
          <p:cNvPr id="10" name="Shape 8"/>
          <p:cNvSpPr/>
          <p:nvPr/>
        </p:nvSpPr>
        <p:spPr>
          <a:xfrm>
            <a:off x="8156448" y="1792224"/>
            <a:ext cx="3575304" cy="2075688"/>
          </a:xfrm>
          <a:prstGeom prst="roundRect">
            <a:avLst>
              <a:gd name="adj" fmla="val 4405"/>
            </a:avLst>
          </a:prstGeom>
          <a:solidFill>
            <a:srgbClr val="FBF1E6"/>
          </a:solidFill>
          <a:ln w="12700">
            <a:solidFill>
              <a:srgbClr val="FBF1E6"/>
            </a:solidFill>
            <a:prstDash val="solid"/>
          </a:ln>
        </p:spPr>
      </p:sp>
      <p:sp>
        <p:nvSpPr>
          <p:cNvPr id="11" name="Text 9"/>
          <p:cNvSpPr txBox="1"/>
          <p:nvPr/>
        </p:nvSpPr>
        <p:spPr>
          <a:xfrm>
            <a:off x="8357616" y="1901952"/>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3</a:t>
            </a:r>
            <a:endParaRPr lang="en-US" sz="2600" dirty="0"/>
          </a:p>
        </p:txBody>
      </p:sp>
      <p:sp>
        <p:nvSpPr>
          <p:cNvPr id="12" name="Text 10"/>
          <p:cNvSpPr txBox="1"/>
          <p:nvPr/>
        </p:nvSpPr>
        <p:spPr>
          <a:xfrm>
            <a:off x="8357616" y="2359152"/>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Impacto, ámbito, acción y fecha de verificación</a:t>
            </a:r>
            <a:endParaRPr lang="en-US" sz="1600" dirty="0"/>
          </a:p>
        </p:txBody>
      </p:sp>
      <p:sp>
        <p:nvSpPr>
          <p:cNvPr id="13" name="Shape 11"/>
          <p:cNvSpPr/>
          <p:nvPr/>
        </p:nvSpPr>
        <p:spPr>
          <a:xfrm>
            <a:off x="457200" y="4142232"/>
            <a:ext cx="3575304" cy="2075688"/>
          </a:xfrm>
          <a:prstGeom prst="roundRect">
            <a:avLst>
              <a:gd name="adj" fmla="val 4405"/>
            </a:avLst>
          </a:prstGeom>
          <a:solidFill>
            <a:srgbClr val="FBF1E6"/>
          </a:solidFill>
          <a:ln w="12700">
            <a:solidFill>
              <a:srgbClr val="FBF1E6"/>
            </a:solidFill>
            <a:prstDash val="solid"/>
          </a:ln>
        </p:spPr>
      </p:sp>
      <p:sp>
        <p:nvSpPr>
          <p:cNvPr id="14" name="Text 12"/>
          <p:cNvSpPr txBox="1"/>
          <p:nvPr/>
        </p:nvSpPr>
        <p:spPr>
          <a:xfrm>
            <a:off x="658368" y="4251960"/>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4</a:t>
            </a:r>
            <a:endParaRPr lang="en-US" sz="2600" dirty="0"/>
          </a:p>
        </p:txBody>
      </p:sp>
      <p:sp>
        <p:nvSpPr>
          <p:cNvPr id="15" name="Text 13"/>
          <p:cNvSpPr txBox="1"/>
          <p:nvPr/>
        </p:nvSpPr>
        <p:spPr>
          <a:xfrm>
            <a:off x="658368" y="4709160"/>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B3: plan de revisión de dos beneficios</a:t>
            </a:r>
            <a:endParaRPr lang="en-US" sz="1600" dirty="0"/>
          </a:p>
        </p:txBody>
      </p:sp>
      <p:sp>
        <p:nvSpPr>
          <p:cNvPr id="16" name="Shape 14"/>
          <p:cNvSpPr/>
          <p:nvPr/>
        </p:nvSpPr>
        <p:spPr>
          <a:xfrm>
            <a:off x="4306824" y="4142232"/>
            <a:ext cx="3575304" cy="2075688"/>
          </a:xfrm>
          <a:prstGeom prst="roundRect">
            <a:avLst>
              <a:gd name="adj" fmla="val 4405"/>
            </a:avLst>
          </a:prstGeom>
          <a:solidFill>
            <a:srgbClr val="FBF1E6"/>
          </a:solidFill>
          <a:ln w="12700">
            <a:solidFill>
              <a:srgbClr val="FBF1E6"/>
            </a:solidFill>
            <a:prstDash val="solid"/>
          </a:ln>
        </p:spPr>
      </p:sp>
      <p:sp>
        <p:nvSpPr>
          <p:cNvPr id="17" name="Text 15"/>
          <p:cNvSpPr txBox="1"/>
          <p:nvPr/>
        </p:nvSpPr>
        <p:spPr>
          <a:xfrm>
            <a:off x="4507992" y="4251960"/>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5</a:t>
            </a:r>
            <a:endParaRPr lang="en-US" sz="2600" dirty="0"/>
          </a:p>
        </p:txBody>
      </p:sp>
      <p:sp>
        <p:nvSpPr>
          <p:cNvPr id="18" name="Text 16"/>
          <p:cNvSpPr txBox="1"/>
          <p:nvPr/>
        </p:nvSpPr>
        <p:spPr>
          <a:xfrm>
            <a:off x="4507992" y="4709160"/>
            <a:ext cx="3172968" cy="1325880"/>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Autoevaluación con la lista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Cómo sigue</a:t>
            </a:r>
            <a:endParaRPr lang="en-US" sz="3600" dirty="0"/>
          </a:p>
        </p:txBody>
      </p:sp>
      <p:sp>
        <p:nvSpPr>
          <p:cNvPr id="3" name="Text 1"/>
          <p:cNvSpPr txBox="1"/>
          <p:nvPr/>
        </p:nvSpPr>
        <p:spPr>
          <a:xfrm>
            <a:off x="548640" y="2194560"/>
            <a:ext cx="11091672" cy="4023360"/>
          </a:xfrm>
          <a:prstGeom prst="rect">
            <a:avLst/>
          </a:prstGeom>
          <a:noFill/>
          <a:ln/>
        </p:spPr>
        <p:txBody>
          <a:bodyPr wrap="square" lIns="0" tIns="0" rIns="0" bIns="0" rtlCol="0" anchor="t"/>
          <a:lstStyle/>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Antes: E2E-5, de la idea al proyecto</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E2E-5 consulta un índice de lecciones como este</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E2E-1: riesgos a fondo</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E2E-2: alcance, cambios y excepción</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E2E-3: interesados, OKR y avance</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Glosario (1/3)</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Autoridad de cambio (change authority) y presupuesto de cambio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Rol con autoridad delegada para aprobar cambios hasta un límite por cambio, con cargo al monto que la junta reserva para cambios aprobados (presupuesto de cambio; su consumo lo informa CAM-03).</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Bitácora de escrituras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Archivo .bitacora.jsonl que anotan los scripts en cada escritura de estado.json, registros y propuestas: fecha real, script, ids, --por y huellas encadenadas; registro.py historial la consulta.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BMAD</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Método de especificación y construcción con agentes; en pm-method es la fuente única de la especificación, de solo lectura.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Condición formal</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Requisito que la junta impone al autorizar una puerta; se sigue con EST-12 y G-01 hasta cumplir-condiciones.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graphicFrame>
        <p:nvGraphicFramePr>
          <p:cNvPr id="8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Decisión vigente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Decisión que ninguna posterior reemplaza (columna reemplaza de decisiones.csv, nivel igual o superior); decision.py vigentes las lista con su cadena (D-012 → D-018).</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Enfoque de beneficios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Cómo, cuándo y quién mide cada beneficio, incluso después del proyecto; lo exige P-04.</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Expediente de auditoría (audit pack)</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ZIP que arma paquete.py auditoria desde los registros: cronología de puertas, decisiones y cambios, copias congeladas, registros y un sha256 por archivo; paquete.py verificar delata cualquier edición.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Fachada de especificación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Lectura de BMAD que hace pm-method (bmad.py, especificacion.py) sin copiar ni modificar los artefactos.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Glosario (2/3)</a:t>
            </a:r>
            <a:endParaRPr lang="en-US" sz="24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Fuera de especificación (off-specification)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Producto que no cumple su especificación; se trata como issue y se corrige o se concede (concesión: aceptarlo como está), según elija la autoridad de cambio; en el caso, corregir (D-022).</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Gate de preparación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Revisión de BMAD antes de construir (implementation readiness): PASS, CONCERNS o FAIL.</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Lección aprendida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Recomendación transferible con impacto (alto, medio, bajo), recurrencia y ámbito donde se usa (ideación, descubrimiento, planificación, seguimiento). Pasa de identificada a clasificada, accionada y verificada; sin acción verificada sigue siendo solo identificada.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Línea base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Versión aprobada y congelada de un artefacto (PRD, épicas) contra la que se detectan desvíos.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Mapa de recorrido del cliente (customer journey map)</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Acciones de una persona paso a paso, con su emoción (−2 a +2) y su fuente, dolores y oportunidades; debajo, los carriles del service blueprint (lo que ve, lo que no ve y los procesos de soporte). Cada dolor necesita un tratamiento (MAP-03).</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Paquete de trabajo (work package) e informe de punto de control (checkpoint report)</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Unidad de trabajo autorizada por el gestor; aquí, un sprint con sus historias y definición de terminado. En el informe de punto de control del equipo solo cuentan como completados los productos con revisión aprobada.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Plan de revisión de beneficios (benefits review plan)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Revisiones posteriores al cierre, a cargo del negocio, con criterio de desvío.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Punto de decisión de la junta (autorizar-inicio, -proyecto, -etapa, -cierre) con verificación en tres capas.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Glosario (3/3)</a:t>
            </a:r>
            <a:endParaRPr lang="en-US" sz="2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Registro de calidad (quality register)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calidad.csv: una revisión por producto con criterios, responsables, resultado y fechas.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Registro e informe de lecciones (lessons log and report)</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lecciones.csv con el ciclo de cada lección y el informe que se arma desde él en cada límite de etapa y al cierre; las lecciones aprobadas se exportan al índice de la organización que consultan los proyectos siguientes.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Retrospectiva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Reunión propia, distinta de la planificación y del seguimiento, que mira el proceso con hechos y sin culpables (qué funcionó, qué no, qué probamos). De su transcripción salen lecciones y acciones de mejora candidatas, con cita.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Salud del KR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Puntaje comparado con el avance esperado entre el primer check-in y la fecha meta: en camino, en riesgo o desviado.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Sanidad</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Comprobación automática del proyecto (sanidad.py) con hallazgos ERROR, AVISO e INFO por código.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Tolerancia de beneficios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Desvío admitido sobre la meta de un beneficio; en el caso, −10 % (avance menor que 0,90 = fuera).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Traspaso (handoff)</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Documento que emite pm-method con una decisión (por ejemplo, un cambio aprobado) para que el equipo BMAD la aplique.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Traspaso a operación (handover)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Entrega formal del producto a quien lo opera, con evidencia de calidad y pendientes.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Valor ganado (EVM)</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Técnica que compara lo planificado (PV), lo ganado (EV) y lo gastado (AC); da SPI, CPI y EAC.</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Webinar pm-method">
  <a:themeElements>
    <a:clrScheme name="Webinar pm-method">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Webinar pm-metho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E2E-4 · Producto con BMAD gobernado con PRINCE2</dc:title>
  <dc:subject>pm-method 2.7.0</dc:subject>
  <dc:creator>pm-method</dc:creator>
  <cp:lastModifiedBy>pm-method</cp:lastModifiedBy>
  <cp:revision>1</cp:revision>
  <dcterms:created xsi:type="dcterms:W3CDTF">2026-10-30T05:54:35Z</dcterms:created>
  <dcterms:modified xsi:type="dcterms:W3CDTF">2026-10-30T05:54:35Z</dcterms:modified>
</cp:coreProperties>
</file>