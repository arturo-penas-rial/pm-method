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65635ddc-4c45-9eeb-2c95-99e987f8fc25}">
          <p14:sldIdLst>
            <p14:sldId id="256"/>
          </p14:sldIdLst>
        </p14:section>
        <p14:section name="Clase 1 · Gobernar la construcción con BMAD" id="{e1dd3a9a-e309-64fe-7cc8-43fd5bc2bc2f}">
          <p14:sldIdLst>
            <p14:sldId id="257"/>
            <p14:sldId id="258"/>
            <p14:sldId id="259"/>
            <p14:sldId id="260"/>
            <p14:sldId id="261"/>
            <p14:sldId id="262"/>
            <p14:sldId id="263"/>
            <p14:sldId id="264"/>
            <p14:sldId id="265"/>
            <p14:sldId id="266"/>
            <p14:sldId id="267"/>
            <p14:sldId id="268"/>
            <p14:sldId id="269"/>
            <p14:sldId id="270"/>
            <p14:sldId id="271"/>
            <p14:sldId id="272"/>
            <p14:sldId id="273"/>
          </p14:sldIdLst>
        </p14:section>
        <p14:section name="Clase 2 · Calidad a volumen, recorrido, cierre y beneficios" id="{d66cce63-440e-966b-1f11-385d4316e8cf}">
          <p14:sldIdLst>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 name="Glosario" id="{43c30d31-98b2-9fa9-9c3a-e9171e30b39d}">
          <p14:sldIdLst>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E2E-4: Producto con BMAD gobernado con PRINCE2.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Gobernar la construcción con BMAD. Objetivos: Separar especificación (BMAD) y gobierno (pm-method); Convertir un CONCERNS en condición formal con seguimiento; Controlar un cambio con costo y presupuesto de la junta; Guardar y vigilar el valor ganado.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a la audiencia que piense en la última puerta o comité aprobado con condiciones. ¿Quién verificó que se cumplieron y dónde quedó escrito? Esa es la pregunta que responde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tablero de la puerta de cierre del caso: 11 de 11 historias con revisión aprobada, CPI 0,977, 40 % del presupuesto de cambio y 0 condiciones abiertas. Hoy vemos cómo se construye la mitad de este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una sola fuente por dato. El PRD vive en BMAD; pm-method fija líneas base, detecta desvíos y devuelve decisiones. Así no hay dos versiones de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repetimos el diseño: E2E-5 lo cubre. Lo importante es qué quedó listo para ejecutar: backlog con columnas de gobierno, enfoque de calidad, enfoque de beneficios, presupuesto de cambio y líneas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fila es algo que en la práctica se hace una vez o nunca. La columna Control dice qué código lo detecta sin que nadie tenga que acordarse.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en vivo con los prompts de la guía; si algo falla, seguimos con la evidencia ya corrida.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'Condiciones agregadas desde la verificación'. La condición no depende de la memoria de nadie: aparece en cada sanidad hasta que alguien con rol la cumpla.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informe de punto de control cuenta como completado solo lo que tiene revisión aprobada. La 1.3 está en review y no cuenta. El gestor acepta el paquete después de mirar la sanidad.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no está en el cálculo sino en que el corte queda guardado: la sanidad avisa si el pronóstico sale de tolerancia o si el último corte tiene más de 31 días. Las tres condiciones de la próxima puerta son G-01, E-05 y E-10; puertas.py verificar las muestra con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entró por correct-course sin pasar por la autoridad de cambio. La sanidad lo detecta como ERROR y bloquea la próxima puerta hasta tramitarlo.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CAM-03 informa el consumo en cada sanidad. Si un cambio superara el límite de USD 8.000 de Sofía, CAM-04 avisaría que debe decidir la junta.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alcance pasa de 68 a 76 puntos el 20/1. La curva completa la cerramos en la clase 2: los 76 puntos quedan terminados el 12/5, antes del fin previsto.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sí, su límite como autoridad de cambio es USD 8.000 por cambio. Con 9.000 decide la junta; CAM-04 lo avisaría si lo decidiera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Repasá los cuatro mensajes y conectalos con la tabla del uso único al control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Al final mostrá la solución de referencia con la condición de NFR-3 y C-001.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Adelantá la pregunta de la clase 2: ¿done es lo mismo que aceptado? Mostrá de pasada el gráfico de calidad por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Calidad a volumen, recorrido, cierre y beneficios. Objetivos: Registrar la calidad por entrega y tratar un rechazo con traza; Dar a cada dolor del recorrido un tratamiento con id; Cerrar con traspaso a operación y sin condiciones abiertas; Leer beneficios con puntaje, salud y tolerancia.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BMAD marcó la historia como terminada; la usuaria la rechazó porque faltaba la notificación del débito. En muchos equipos eso se corrige de palabra y no queda traza.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Pasaron seis semanas desde el cambio. Antes de pedir nada, el gestor ve un resumen derivado de los registros (estado.py contexto). Si una nota de la conversación anterior dice otra cosa, vale este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cortes: el 26/2 había 5 de 7 historias sin revisión y el 7/5 una rechazada. Las dos brechas se cerraron antes de la puerta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registro de calidad (quality register) nace con el enfoque de calidad. La sanidad cruza el backlog con calidad.csv en cada corrida: no hace falta acordarse de revisar.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recorrido (customer journey map) mira lo entregado desde la persona, no historia por historia. La semilla sale de BMAD; la emoción de cada paso lleva su fuente, y cada dolor necesita un id que lo 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lecturas distintas del mismo dato. Confundirlas lleva a falsas alarmas o a desvíos que nadie 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primeras filas son calidad a volumen; el recorrido mira lo entregado desde la persona; la última es la responsabilidad de los beneficios, que se exige desde la puerta de proyecto con P-04.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 6b, 7 y 8 en vivo; el 9 con la evidencia; el 10 en vivo y el 11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los cinco QUA-01, uno por historia. Después del registro en lote desaparecen y quedan QUA-02 y EST-12, que se resuelven en el paso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propone tratar los dos dolores como requisitos; la persona decide. El resumen ya lo cubre NFR-3 con su prueba de carga. El primer ingreso no justifica alcance nuevo a una etapa del cierre, pero amenaza la adopción: se registra R-001 con respuesta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condición no se cierra sola aunque la prueba esté aprobada: alguien con rol lo verifica y queda en decisiones.csv. El tablero del Release 1 suma la sección de mapas estratégicos: es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sección Mapas estratégicos del tablero del 5/3, que escribe mapas.py tablero --insertar. La curva baja en el ingreso y en el resumen (−1) y sube hasta el clímax (+2). Debajo de cada dolor, su tratamiento: R-001; NFR-3 y Q-001, enlazados a la tabla de vínculos con estado y responsable. Avisos MAP vigentes: 0. Guardá R-001: vuelve en la revisión final de beneficios. El mapa con todos sus carriles está en la guía, paso 6b (g4-recorrido.png).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sanidad marca el mismo problema desde dos ángulos: la historia y el rechazo. Con I-002 y la nueva revisión Q-013, la sanidad del 12/5 queda con 0 AVISO. El handover lo cuenta tal cual: 13 revisiones, 12 aprobadas y una rechazada tratada.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Verificación de cierre solo con L-01, la lista de la junta: sin G-01 ni C-03, porque R-001 pasó al negocio en las recomendaciones de seguimiento. El paquete sale completo, con la línea base del PRD y sin el PRD vivo de BMAD, que queda anotado como excluido. D-027 traspasa los beneficios al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miráramos solo el semáforo del OKR, alguien declararía fracasado el portal a seis semanas de salir. Comparado con la trayectoria, va en camino. Los check-ins solo se agregan: queda la historia de cada medición.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final: B-02 llega a 83 % de la meta, por debajo del 90 % que admite la tolerancia de −10 %. B-01 (93 %) y B-03 (96 %) quedan dentro. D-029 informa a la ejecutiva y dice por dónde empezar: R-001, el dolor del primer ingreso que dejó el mapa del paso 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no. El promedio esconde que B-02 adopción quedó en 0,83, fuera de la tolerancia. Por eso el criterio del plan se aplica beneficio por beneficio.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Cerrá con la idea central: lo que en la práctica se hace una vez o nunca se controla en cada sanidad o en cada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La solución de referencia usa el recorrido de UJ-1 y los beneficios B-02 y B-01 del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E2E-4 arranca donde termina E2E-5. Para profundizar en riesgos, la ruta de excepción o los informes a interesados, seguir con E2E-1, E2E-2 y E2E-3.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1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2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2.3.0 · Webinar E2E-4</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2.3.0 · E2E-4</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Producto con BMAD gobernado con PRINCE2</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done al beneficio medido: condiciones, cambios, calidad a volumen, recorrido del cliente, cierre y beneficios</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Gobernar la construcción con BMAD</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Calidad a volumen, recorrido, cierre y beneficios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Gobernar la construcción con BMAD</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Separar especificación (BMAD) y gobierno (pm-method)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Convertir un CONCERNS en condición formal con seguimiento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Controlar un cambio con costo y presupuesto de la junta</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Guardar y vigilar el valor ganado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¿Cuántas condiciones de tus actas se verificaron?</a:t>
            </a:r>
            <a:endParaRPr lang="en-US" sz="2400" dirty="0"/>
          </a:p>
        </p:txBody>
      </p:sp>
      <p:sp>
        <p:nvSpPr>
          <p:cNvPr id="3" name="Shape 1"/>
          <p:cNvSpPr/>
          <p:nvPr/>
        </p:nvSpPr>
        <p:spPr>
          <a:xfrm>
            <a:off x="457200" y="2331720"/>
            <a:ext cx="3575304" cy="2926080"/>
          </a:xfrm>
          <a:prstGeom prst="roundRect">
            <a:avLst>
              <a:gd name="adj" fmla="val 3125"/>
            </a:avLst>
          </a:prstGeom>
          <a:solidFill>
            <a:srgbClr val="002855"/>
          </a:solidFill>
          <a:ln w="12700">
            <a:solidFill>
              <a:srgbClr val="002855"/>
            </a:solidFill>
            <a:prstDash val="solid"/>
          </a:ln>
        </p:spPr>
      </p:sp>
      <p:sp>
        <p:nvSpPr>
          <p:cNvPr id="4" name="Text 2"/>
          <p:cNvSpPr txBox="1"/>
          <p:nvPr/>
        </p:nvSpPr>
        <p:spPr>
          <a:xfrm>
            <a:off x="658368" y="2532888"/>
            <a:ext cx="317296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"Aprobado con condiciones" suele quedar en el acta</a:t>
            </a:r>
            <a:endParaRPr lang="en-US" sz="1600" dirty="0"/>
          </a:p>
        </p:txBody>
      </p:sp>
      <p:sp>
        <p:nvSpPr>
          <p:cNvPr id="5" name="Shape 3"/>
          <p:cNvSpPr/>
          <p:nvPr/>
        </p:nvSpPr>
        <p:spPr>
          <a:xfrm>
            <a:off x="4306824" y="2331720"/>
            <a:ext cx="3575304" cy="2926080"/>
          </a:xfrm>
          <a:prstGeom prst="roundRect">
            <a:avLst>
              <a:gd name="adj" fmla="val 3125"/>
            </a:avLst>
          </a:prstGeom>
          <a:solidFill>
            <a:srgbClr val="E9F1F8"/>
          </a:solidFill>
          <a:ln w="12700">
            <a:solidFill>
              <a:srgbClr val="E9F1F8"/>
            </a:solidFill>
            <a:prstDash val="solid"/>
          </a:ln>
        </p:spPr>
      </p:sp>
      <p:sp>
        <p:nvSpPr>
          <p:cNvPr id="6" name="Text 4"/>
          <p:cNvSpPr txBox="1"/>
          <p:nvPr/>
        </p:nvSpPr>
        <p:spPr>
          <a:xfrm>
            <a:off x="4507992"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vuelve a mirarla hasta que el problema aparece</a:t>
            </a:r>
            <a:endParaRPr lang="en-US" sz="1600" dirty="0"/>
          </a:p>
        </p:txBody>
      </p:sp>
      <p:sp>
        <p:nvSpPr>
          <p:cNvPr id="7" name="Shape 5"/>
          <p:cNvSpPr/>
          <p:nvPr/>
        </p:nvSpPr>
        <p:spPr>
          <a:xfrm>
            <a:off x="8156448" y="2331720"/>
            <a:ext cx="3575304" cy="2926080"/>
          </a:xfrm>
          <a:prstGeom prst="roundRect">
            <a:avLst>
              <a:gd name="adj" fmla="val 3125"/>
            </a:avLst>
          </a:prstGeom>
          <a:solidFill>
            <a:srgbClr val="E9F1F8"/>
          </a:solidFill>
          <a:ln w="12700">
            <a:solidFill>
              <a:srgbClr val="E9F1F8"/>
            </a:solidFill>
            <a:prstDash val="solid"/>
          </a:ln>
        </p:spPr>
      </p:sp>
      <p:sp>
        <p:nvSpPr>
          <p:cNvPr id="8" name="Text 6"/>
          <p:cNvSpPr txBox="1"/>
          <p:nvPr/>
        </p:nvSpPr>
        <p:spPr>
          <a:xfrm>
            <a:off x="8357616"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la condición como registro con dueño y bloqueo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cierre sin condiciones abiertas</a:t>
            </a:r>
            <a:endParaRPr lang="en-US" sz="2400" dirty="0"/>
          </a:p>
        </p:txBody>
      </p:sp>
      <p:pic>
        <p:nvPicPr>
          <p:cNvPr id="3" name="Image 0" descr="Adónde llegamos: cierre sin condiciones abiertas">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Dos capas: BMAD especifica, pm-method gobierna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brief, PRD, arquitectura, épicas e historias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pm-method lee por la fachada y no copia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Decisiones de vuelta por traspaso (handoff)</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Nada se escribe en _bmad-output/</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PRINCE2 7 manda; PMBOK 8 aporta técnicas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 en resumen: lo que queda listo</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La idea y el diseño, a fondo en E2E-5</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792224"/>
          <a:ext cx="11274552" cy="914400"/>
        </p:xfrm>
        <a:graphic>
          <a:graphicData uri="http://schemas.openxmlformats.org/drawingml/2006/table">
            <a:tbl>
              <a:tblPr/>
              <a:tblGrid>
                <a:gridCol w="1463040"/>
                <a:gridCol w="5606578"/>
                <a:gridCol w="4204934"/>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Sub-paso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hace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ve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Proyecto y detección de BMAD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6.12.4 · soportada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Requisitos desde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42 identificadores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WBS y trazabilidad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18 requisitos trazados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1f</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Backlog con gobierno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68 puntos: R1 47 y R2 21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Enfoques y presupuesto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15.000 · límite 8.000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Puerta y líneas base 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PRD sha bc048f7f59a3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85883"/>
                <a:gridCol w="2531022"/>
                <a:gridCol w="4831951"/>
                <a:gridCol w="1725697"/>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puerta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queda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aviso en cada sanidad y bloqueo del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EST-12 · G-01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 y su costo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costo y cargo contra el presupuesto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CAM-01 ·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Cambios en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ven en la demo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línea base en cada sanidad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ESP-10 · ESP-03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Valor ganado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para el informe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corte guardado y vigilado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TOL-03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2 a 5</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Construcción del Release 1</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2 · El CONCERNS pasa a condición formal</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El gate de preparación de BMAD dio CONCERNS el 26/11 (lo informa Diego Ferreira, arquitecto): NFR-3 sin prueba de carga planificada. Registralo, armá el plan de la etapa 2 con tolerancias de ±10 % en tiempo y costo y preparame la puerta. Si se condiciona, planificá la prueba de carga como revisión de calidad para el 19/2 y mostrame cómo queda el seguimiento.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Verificación: L-01 y E-10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Decisión: condicionado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Q-001 planificada para el 19/2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EST-12 recuerda la condición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3 · Sprint como paquete de trabajo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Traé el avance de BMAD al 23/12 y sincronizá el backlog. Lucía (jefa de equipo) informa que la 1.1 y la 1.2 pasaron sus pruebas el 21 y el 22/12 (revisó Andrea, aprobó Sofía): registrá las revisiones y armá su informe de punto de control. Si la sanidad no marca historias terminadas sin revisión, aceptá el paquete.</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Checkpoint: completados solo con revisión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Q-002 y Q-003 aprobadas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sin QUA-01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del gestor: D-015</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4 · Valor ganado con corte guardado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Highlight del sprint 2 al 8/1: PV 41.000, EV 38.000, AC 40.500, BAC 124.000; leelo en modo ágil con 20 % de alcance Should/Could y guardá el corte. Incluí las puertas y sus condiciones.</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SPI 0,927 · CPI 0,938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Alcance no entregable 6,2 %: verde</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Corte guardado y vigilado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Próxima puerta: G-01, E-05 y E-10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5 · Cambio de rumbo con presupuesto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Verificá la especificación contra la línea base y corré la sanidad al 12/1. Si hay cambios no controlados, registrá el issue y la solicitud de cambio con su impacto (historia nueva de 8 puntos, un sprint más en la etapa 3, costo USD 6.000 contra el presupuesto de cambio, refuerza B-01) y pedile la decisión a Sofía. Si se aprueba, emití el traspaso para el equipo BMAD.</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BMAD agrega FR-13 al PRD</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2 ERROR (ESP-10, ESP-03)</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I-001 y C-001 con costo 6.000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Traspaso al equipo BMAD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cambio, en números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costo 6.000, cargo presupuesto de cambio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Consumo: 6.000 de 15.000 (40 %)</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Líneas base PRD y épicas 1.1</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Verificación final: sin desvíos</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Lección L-001: correct-course entra como issue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C-001 sumó 8 puntos y aun así se terminó a tiempo</a:t>
            </a:r>
            <a:endParaRPr lang="en-US" sz="2400" dirty="0"/>
          </a:p>
        </p:txBody>
      </p:sp>
      <p:pic>
        <p:nvPicPr>
          <p:cNvPr id="3" name="Image 0" descr="C-001 sumó 8 puntos y aun así se terminó a tiemp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¿Quién decide?</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Sofía aprobó C-001 por USD 6.000. ¿Podía? ¿Y si hubiera costado USD 9.000?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1</a:t>
            </a:r>
            <a:endParaRPr lang="en-US" sz="2400" dirty="0"/>
          </a:p>
        </p:txBody>
      </p:sp>
      <p:sp>
        <p:nvSpPr>
          <p:cNvPr id="3" name="Shape 1"/>
          <p:cNvSpPr/>
          <p:nvPr/>
        </p:nvSpPr>
        <p:spPr>
          <a:xfrm>
            <a:off x="457200" y="1280160"/>
            <a:ext cx="11274552" cy="1051560"/>
          </a:xfrm>
          <a:prstGeom prst="roundRect">
            <a:avLst>
              <a:gd name="adj" fmla="val 8696"/>
            </a:avLst>
          </a:prstGeom>
          <a:solidFill>
            <a:srgbClr val="E9F1F8"/>
          </a:solidFill>
          <a:ln w="12700">
            <a:solidFill>
              <a:srgbClr val="E9F1F8"/>
            </a:solidFill>
            <a:prstDash val="solid"/>
          </a:ln>
        </p:spPr>
      </p:sp>
      <p:sp>
        <p:nvSpPr>
          <p:cNvPr id="4" name="Shape 2"/>
          <p:cNvSpPr/>
          <p:nvPr/>
        </p:nvSpPr>
        <p:spPr>
          <a:xfrm>
            <a:off x="621792" y="157734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5773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sola fuente por dato: BMAD</a:t>
            </a:r>
            <a:endParaRPr lang="en-US" sz="1600" dirty="0"/>
          </a:p>
        </p:txBody>
      </p:sp>
      <p:sp>
        <p:nvSpPr>
          <p:cNvPr id="7" name="Shape 5"/>
          <p:cNvSpPr/>
          <p:nvPr/>
        </p:nvSpPr>
        <p:spPr>
          <a:xfrm>
            <a:off x="457200" y="2478024"/>
            <a:ext cx="11274552" cy="1051560"/>
          </a:xfrm>
          <a:prstGeom prst="roundRect">
            <a:avLst>
              <a:gd name="adj" fmla="val 8696"/>
            </a:avLst>
          </a:prstGeom>
          <a:solidFill>
            <a:srgbClr val="F4F6F8"/>
          </a:solidFill>
          <a:ln w="12700">
            <a:solidFill>
              <a:srgbClr val="F4F6F8"/>
            </a:solidFill>
            <a:prstDash val="solid"/>
          </a:ln>
        </p:spPr>
      </p:sp>
      <p:sp>
        <p:nvSpPr>
          <p:cNvPr id="8" name="Shape 6"/>
          <p:cNvSpPr/>
          <p:nvPr/>
        </p:nvSpPr>
        <p:spPr>
          <a:xfrm>
            <a:off x="621792" y="2775204"/>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7752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532888"/>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condición es un registro con dueño</a:t>
            </a:r>
            <a:endParaRPr lang="en-US" sz="1600" dirty="0"/>
          </a:p>
        </p:txBody>
      </p:sp>
      <p:sp>
        <p:nvSpPr>
          <p:cNvPr id="11" name="Shape 9"/>
          <p:cNvSpPr/>
          <p:nvPr/>
        </p:nvSpPr>
        <p:spPr>
          <a:xfrm>
            <a:off x="457200" y="3675888"/>
            <a:ext cx="11274552" cy="1051560"/>
          </a:xfrm>
          <a:prstGeom prst="roundRect">
            <a:avLst>
              <a:gd name="adj" fmla="val 8696"/>
            </a:avLst>
          </a:prstGeom>
          <a:solidFill>
            <a:srgbClr val="E9F1F8"/>
          </a:solidFill>
          <a:ln w="12700">
            <a:solidFill>
              <a:srgbClr val="E9F1F8"/>
            </a:solidFill>
            <a:prstDash val="solid"/>
          </a:ln>
        </p:spPr>
      </p:sp>
      <p:sp>
        <p:nvSpPr>
          <p:cNvPr id="12" name="Shape 10"/>
          <p:cNvSpPr/>
          <p:nvPr/>
        </p:nvSpPr>
        <p:spPr>
          <a:xfrm>
            <a:off x="621792" y="3973068"/>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9730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730752"/>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Sin monto no hay cambio controlado</a:t>
            </a:r>
            <a:endParaRPr lang="en-US" sz="1600" dirty="0"/>
          </a:p>
        </p:txBody>
      </p:sp>
      <p:sp>
        <p:nvSpPr>
          <p:cNvPr id="15" name="Shape 13"/>
          <p:cNvSpPr/>
          <p:nvPr/>
        </p:nvSpPr>
        <p:spPr>
          <a:xfrm>
            <a:off x="457200" y="4873752"/>
            <a:ext cx="11274552" cy="1051560"/>
          </a:xfrm>
          <a:prstGeom prst="roundRect">
            <a:avLst>
              <a:gd name="adj" fmla="val 8696"/>
            </a:avLst>
          </a:prstGeom>
          <a:solidFill>
            <a:srgbClr val="F4F6F8"/>
          </a:solidFill>
          <a:ln w="12700">
            <a:solidFill>
              <a:srgbClr val="F4F6F8"/>
            </a:solidFill>
            <a:prstDash val="solid"/>
          </a:ln>
        </p:spPr>
      </p:sp>
      <p:sp>
        <p:nvSpPr>
          <p:cNvPr id="16" name="Shape 14"/>
          <p:cNvSpPr/>
          <p:nvPr/>
        </p:nvSpPr>
        <p:spPr>
          <a:xfrm>
            <a:off x="621792" y="5170932"/>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51709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928616"/>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valor ganado se guarda y se vigila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A</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5500116"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una condición de tu proyecto</a:t>
            </a:r>
            <a:endParaRPr lang="en-US" sz="1600" dirty="0"/>
          </a:p>
        </p:txBody>
      </p:sp>
      <p:sp>
        <p:nvSpPr>
          <p:cNvPr id="7" name="Shape 5"/>
          <p:cNvSpPr/>
          <p:nvPr/>
        </p:nvSpPr>
        <p:spPr>
          <a:xfrm>
            <a:off x="6231636" y="1792224"/>
            <a:ext cx="5500116"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6432804"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6432804"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Quién la verifica y con qué evidencia</a:t>
            </a:r>
            <a:endParaRPr lang="en-US" sz="1600" dirty="0"/>
          </a:p>
        </p:txBody>
      </p:sp>
      <p:sp>
        <p:nvSpPr>
          <p:cNvPr id="10" name="Shape 8"/>
          <p:cNvSpPr/>
          <p:nvPr/>
        </p:nvSpPr>
        <p:spPr>
          <a:xfrm>
            <a:off x="457200" y="4142232"/>
            <a:ext cx="5500116"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658368"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presupuesto y límite de cambio</a:t>
            </a:r>
            <a:endParaRPr lang="en-US" sz="1600" dirty="0"/>
          </a:p>
        </p:txBody>
      </p:sp>
      <p:sp>
        <p:nvSpPr>
          <p:cNvPr id="13" name="Shape 11"/>
          <p:cNvSpPr/>
          <p:nvPr/>
        </p:nvSpPr>
        <p:spPr>
          <a:xfrm>
            <a:off x="6231636" y="4142232"/>
            <a:ext cx="5500116"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432804"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432804"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Próxima clase: calidad, cierre y beneficios</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Cada entrega con su registro de calidad</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 rechazo tratado con traza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Beneficios medidos después del cierre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Calidad a volumen, recorrido, cierre y beneficios</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Registrar la calidad por entrega y tratar un rechazo con traza</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Dar a cada dolor del recorrido un tratamiento con id</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Cerrar con traspaso a operación y sin condiciones abiertas</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beneficios con puntaje, salud y tolerancia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Done no es aceptado</a:t>
            </a:r>
            <a:endParaRPr lang="en-US" sz="2400" dirty="0"/>
          </a:p>
        </p:txBody>
      </p:sp>
      <p:sp>
        <p:nvSpPr>
          <p:cNvPr id="3" name="Shape 1"/>
          <p:cNvSpPr/>
          <p:nvPr/>
        </p:nvSpPr>
        <p:spPr>
          <a:xfrm>
            <a:off x="457200" y="2331720"/>
            <a:ext cx="3575304" cy="2926080"/>
          </a:xfrm>
          <a:prstGeom prst="roundRect">
            <a:avLst>
              <a:gd name="adj" fmla="val 3125"/>
            </a:avLst>
          </a:prstGeom>
          <a:solidFill>
            <a:srgbClr val="002855"/>
          </a:solidFill>
          <a:ln w="12700">
            <a:solidFill>
              <a:srgbClr val="002855"/>
            </a:solidFill>
            <a:prstDash val="solid"/>
          </a:ln>
        </p:spPr>
      </p:sp>
      <p:sp>
        <p:nvSpPr>
          <p:cNvPr id="4" name="Text 2"/>
          <p:cNvSpPr txBox="1"/>
          <p:nvPr/>
        </p:nvSpPr>
        <p:spPr>
          <a:xfrm>
            <a:off x="658368" y="2532888"/>
            <a:ext cx="317296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La 2-4 pasó la revisión de código</a:t>
            </a:r>
            <a:endParaRPr lang="en-US" sz="1600" dirty="0"/>
          </a:p>
        </p:txBody>
      </p:sp>
      <p:sp>
        <p:nvSpPr>
          <p:cNvPr id="5" name="Shape 3"/>
          <p:cNvSpPr/>
          <p:nvPr/>
        </p:nvSpPr>
        <p:spPr>
          <a:xfrm>
            <a:off x="4306824" y="2331720"/>
            <a:ext cx="3575304" cy="2926080"/>
          </a:xfrm>
          <a:prstGeom prst="roundRect">
            <a:avLst>
              <a:gd name="adj" fmla="val 3125"/>
            </a:avLst>
          </a:prstGeom>
          <a:solidFill>
            <a:srgbClr val="E9F1F8"/>
          </a:solidFill>
          <a:ln w="12700">
            <a:solidFill>
              <a:srgbClr val="E9F1F8"/>
            </a:solidFill>
            <a:prstDash val="solid"/>
          </a:ln>
        </p:spPr>
      </p:sp>
      <p:sp>
        <p:nvSpPr>
          <p:cNvPr id="6" name="Text 4"/>
          <p:cNvSpPr txBox="1"/>
          <p:nvPr/>
        </p:nvSpPr>
        <p:spPr>
          <a:xfrm>
            <a:off x="4507992"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revisión contra criterios la rechazó</a:t>
            </a:r>
            <a:endParaRPr lang="en-US" sz="1600" dirty="0"/>
          </a:p>
        </p:txBody>
      </p:sp>
      <p:sp>
        <p:nvSpPr>
          <p:cNvPr id="7" name="Shape 5"/>
          <p:cNvSpPr/>
          <p:nvPr/>
        </p:nvSpPr>
        <p:spPr>
          <a:xfrm>
            <a:off x="8156448" y="2331720"/>
            <a:ext cx="3575304" cy="2926080"/>
          </a:xfrm>
          <a:prstGeom prst="roundRect">
            <a:avLst>
              <a:gd name="adj" fmla="val 3125"/>
            </a:avLst>
          </a:prstGeom>
          <a:solidFill>
            <a:srgbClr val="E9F1F8"/>
          </a:solidFill>
          <a:ln w="12700">
            <a:solidFill>
              <a:srgbClr val="E9F1F8"/>
            </a:solidFill>
            <a:prstDash val="solid"/>
          </a:ln>
        </p:spPr>
      </p:sp>
      <p:sp>
        <p:nvSpPr>
          <p:cNvPr id="8" name="Text 6"/>
          <p:cNvSpPr txBox="1"/>
          <p:nvPr/>
        </p:nvSpPr>
        <p:spPr>
          <a:xfrm>
            <a:off x="8357616"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¿Dónde quedaría ese rechazo en tu proyecto?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Al abrir la sesión el 26/2</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Lo que el hook de inicio le muestra al gestor</a:t>
            </a:r>
            <a:endParaRPr lang="en-US" sz="1600" dirty="0"/>
          </a:p>
        </p:txBody>
      </p:sp>
      <p:sp>
        <p:nvSpPr>
          <p:cNvPr id="4" name="Shape 2"/>
          <p:cNvSpPr/>
          <p:nvPr/>
        </p:nvSpPr>
        <p:spPr>
          <a:xfrm>
            <a:off x="457200" y="1792224"/>
            <a:ext cx="11274552" cy="768096"/>
          </a:xfrm>
          <a:prstGeom prst="roundRect">
            <a:avLst>
              <a:gd name="adj" fmla="val 11905"/>
            </a:avLst>
          </a:prstGeom>
          <a:solidFill>
            <a:srgbClr val="E9F1F8"/>
          </a:solidFill>
          <a:ln w="12700">
            <a:solidFill>
              <a:srgbClr val="E9F1F8"/>
            </a:solidFill>
            <a:prstDash val="solid"/>
          </a:ln>
        </p:spPr>
      </p:sp>
      <p:sp>
        <p:nvSpPr>
          <p:cNvPr id="5" name="Shape 3"/>
          <p:cNvSpPr/>
          <p:nvPr/>
        </p:nvSpPr>
        <p:spPr>
          <a:xfrm>
            <a:off x="621792" y="1947672"/>
            <a:ext cx="457200" cy="457200"/>
          </a:xfrm>
          <a:prstGeom prst="roundRect">
            <a:avLst>
              <a:gd name="adj" fmla="val 16000"/>
            </a:avLst>
          </a:prstGeom>
          <a:solidFill>
            <a:srgbClr val="00629B"/>
          </a:solidFill>
          <a:ln w="12700">
            <a:solidFill>
              <a:srgbClr val="00629B"/>
            </a:solidFill>
            <a:prstDash val="solid"/>
          </a:ln>
        </p:spPr>
      </p:sp>
      <p:sp>
        <p:nvSpPr>
          <p:cNvPr id="6" name="Text 4"/>
          <p:cNvSpPr txBox="1"/>
          <p:nvPr/>
        </p:nvSpPr>
        <p:spPr>
          <a:xfrm>
            <a:off x="621792" y="19476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280160" y="18470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Abiertos: revisiones de calidad 1</a:t>
            </a:r>
            <a:endParaRPr lang="en-US" sz="1600" dirty="0"/>
          </a:p>
        </p:txBody>
      </p:sp>
      <p:sp>
        <p:nvSpPr>
          <p:cNvPr id="8" name="Shape 6"/>
          <p:cNvSpPr/>
          <p:nvPr/>
        </p:nvSpPr>
        <p:spPr>
          <a:xfrm>
            <a:off x="457200" y="2706624"/>
            <a:ext cx="11274552" cy="768096"/>
          </a:xfrm>
          <a:prstGeom prst="roundRect">
            <a:avLst>
              <a:gd name="adj" fmla="val 11905"/>
            </a:avLst>
          </a:prstGeom>
          <a:solidFill>
            <a:srgbClr val="F4F6F8"/>
          </a:solidFill>
          <a:ln w="12700">
            <a:solidFill>
              <a:srgbClr val="F4F6F8"/>
            </a:solidFill>
            <a:prstDash val="solid"/>
          </a:ln>
        </p:spPr>
      </p:sp>
      <p:sp>
        <p:nvSpPr>
          <p:cNvPr id="9" name="Shape 7"/>
          <p:cNvSpPr/>
          <p:nvPr/>
        </p:nvSpPr>
        <p:spPr>
          <a:xfrm>
            <a:off x="621792" y="2862072"/>
            <a:ext cx="457200" cy="457200"/>
          </a:xfrm>
          <a:prstGeom prst="roundRect">
            <a:avLst>
              <a:gd name="adj" fmla="val 16000"/>
            </a:avLst>
          </a:prstGeom>
          <a:solidFill>
            <a:srgbClr val="00629B"/>
          </a:solidFill>
          <a:ln w="12700">
            <a:solidFill>
              <a:srgbClr val="00629B"/>
            </a:solidFill>
            <a:prstDash val="solid"/>
          </a:ln>
        </p:spPr>
      </p:sp>
      <p:sp>
        <p:nvSpPr>
          <p:cNvPr id="10" name="Text 8"/>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1280160" y="27614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Condiciones abiertas: autorizar-etapa (27/11)</a:t>
            </a:r>
            <a:endParaRPr lang="en-US" sz="1600" dirty="0"/>
          </a:p>
        </p:txBody>
      </p:sp>
      <p:sp>
        <p:nvSpPr>
          <p:cNvPr id="12" name="Shape 10"/>
          <p:cNvSpPr/>
          <p:nvPr/>
        </p:nvSpPr>
        <p:spPr>
          <a:xfrm>
            <a:off x="457200" y="3621024"/>
            <a:ext cx="11274552" cy="768096"/>
          </a:xfrm>
          <a:prstGeom prst="roundRect">
            <a:avLst>
              <a:gd name="adj" fmla="val 11905"/>
            </a:avLst>
          </a:prstGeom>
          <a:solidFill>
            <a:srgbClr val="E9F1F8"/>
          </a:solidFill>
          <a:ln w="12700">
            <a:solidFill>
              <a:srgbClr val="E9F1F8"/>
            </a:solidFill>
            <a:prstDash val="solid"/>
          </a:ln>
        </p:spPr>
      </p:sp>
      <p:sp>
        <p:nvSpPr>
          <p:cNvPr id="13" name="Shape 11"/>
          <p:cNvSpPr/>
          <p:nvPr/>
        </p:nvSpPr>
        <p:spPr>
          <a:xfrm>
            <a:off x="621792" y="3776472"/>
            <a:ext cx="457200" cy="457200"/>
          </a:xfrm>
          <a:prstGeom prst="roundRect">
            <a:avLst>
              <a:gd name="adj" fmla="val 16000"/>
            </a:avLst>
          </a:prstGeom>
          <a:solidFill>
            <a:srgbClr val="00629B"/>
          </a:solidFill>
          <a:ln w="12700">
            <a:solidFill>
              <a:srgbClr val="00629B"/>
            </a:solidFill>
            <a:prstDash val="solid"/>
          </a:ln>
        </p:spPr>
      </p:sp>
      <p:sp>
        <p:nvSpPr>
          <p:cNvPr id="14" name="Text 12"/>
          <p:cNvSpPr txBox="1"/>
          <p:nvPr/>
        </p:nvSpPr>
        <p:spPr>
          <a:xfrm>
            <a:off x="621792" y="3776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5" name="Text 13"/>
          <p:cNvSpPr txBox="1"/>
          <p:nvPr/>
        </p:nvSpPr>
        <p:spPr>
          <a:xfrm>
            <a:off x="1280160" y="36758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Próxima puerta: autorizar-etapa</a:t>
            </a:r>
            <a:endParaRPr lang="en-US" sz="1600" dirty="0"/>
          </a:p>
        </p:txBody>
      </p:sp>
      <p:sp>
        <p:nvSpPr>
          <p:cNvPr id="16" name="Shape 14"/>
          <p:cNvSpPr/>
          <p:nvPr/>
        </p:nvSpPr>
        <p:spPr>
          <a:xfrm>
            <a:off x="457200" y="4535424"/>
            <a:ext cx="11274552" cy="768096"/>
          </a:xfrm>
          <a:prstGeom prst="roundRect">
            <a:avLst>
              <a:gd name="adj" fmla="val 11905"/>
            </a:avLst>
          </a:prstGeom>
          <a:solidFill>
            <a:srgbClr val="F4F6F8"/>
          </a:solidFill>
          <a:ln w="12700">
            <a:solidFill>
              <a:srgbClr val="F4F6F8"/>
            </a:solidFill>
            <a:prstDash val="solid"/>
          </a:ln>
        </p:spPr>
      </p:sp>
      <p:sp>
        <p:nvSpPr>
          <p:cNvPr id="17" name="Shape 15"/>
          <p:cNvSpPr/>
          <p:nvPr/>
        </p:nvSpPr>
        <p:spPr>
          <a:xfrm>
            <a:off x="621792" y="4690872"/>
            <a:ext cx="457200" cy="457200"/>
          </a:xfrm>
          <a:prstGeom prst="roundRect">
            <a:avLst>
              <a:gd name="adj" fmla="val 16000"/>
            </a:avLst>
          </a:prstGeom>
          <a:solidFill>
            <a:srgbClr val="00629B"/>
          </a:solidFill>
          <a:ln w="12700">
            <a:solidFill>
              <a:srgbClr val="00629B"/>
            </a:solidFill>
            <a:prstDash val="solid"/>
          </a:ln>
        </p:spPr>
      </p:sp>
      <p:sp>
        <p:nvSpPr>
          <p:cNvPr id="18" name="Text 16"/>
          <p:cNvSpPr txBox="1"/>
          <p:nvPr/>
        </p:nvSpPr>
        <p:spPr>
          <a:xfrm>
            <a:off x="621792" y="46908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1280160" y="45902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Derivado de estado.json y los registros</a:t>
            </a:r>
            <a:endParaRPr lang="en-US" sz="1600" dirty="0"/>
          </a:p>
        </p:txBody>
      </p:sp>
      <p:sp>
        <p:nvSpPr>
          <p:cNvPr id="20" name="Shape 18"/>
          <p:cNvSpPr/>
          <p:nvPr/>
        </p:nvSpPr>
        <p:spPr>
          <a:xfrm>
            <a:off x="457200" y="5449824"/>
            <a:ext cx="11274552" cy="768096"/>
          </a:xfrm>
          <a:prstGeom prst="roundRect">
            <a:avLst>
              <a:gd name="adj" fmla="val 11905"/>
            </a:avLst>
          </a:prstGeom>
          <a:solidFill>
            <a:srgbClr val="E9F1F8"/>
          </a:solidFill>
          <a:ln w="12700">
            <a:solidFill>
              <a:srgbClr val="E9F1F8"/>
            </a:solidFill>
            <a:prstDash val="solid"/>
          </a:ln>
        </p:spPr>
      </p:sp>
      <p:sp>
        <p:nvSpPr>
          <p:cNvPr id="21" name="Shape 19"/>
          <p:cNvSpPr/>
          <p:nvPr/>
        </p:nvSpPr>
        <p:spPr>
          <a:xfrm>
            <a:off x="621792" y="5605272"/>
            <a:ext cx="457200" cy="457200"/>
          </a:xfrm>
          <a:prstGeom prst="roundRect">
            <a:avLst>
              <a:gd name="adj" fmla="val 16000"/>
            </a:avLst>
          </a:prstGeom>
          <a:solidFill>
            <a:srgbClr val="00629B"/>
          </a:solidFill>
          <a:ln w="12700">
            <a:solidFill>
              <a:srgbClr val="00629B"/>
            </a:solidFill>
            <a:prstDash val="solid"/>
          </a:ln>
        </p:spPr>
      </p:sp>
      <p:sp>
        <p:nvSpPr>
          <p:cNvPr id="22" name="Text 20"/>
          <p:cNvSpPr txBox="1"/>
          <p:nvPr/>
        </p:nvSpPr>
        <p:spPr>
          <a:xfrm>
            <a:off x="621792" y="56052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3" name="Text 21"/>
          <p:cNvSpPr txBox="1"/>
          <p:nvPr/>
        </p:nvSpPr>
        <p:spPr>
          <a:xfrm>
            <a:off x="1280160" y="55046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registros mandan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Ninguna entrega pasó la puerta con historias sin revisión</a:t>
            </a:r>
            <a:endParaRPr lang="en-US" sz="2400" dirty="0"/>
          </a:p>
        </p:txBody>
      </p:sp>
      <p:pic>
        <p:nvPicPr>
          <p:cNvPr id="3" name="Image 0" descr="Ninguna entrega pasó la puerta con historias sin revis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Calidad por entrega: el registro de calidad</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revisión por historia que la cita</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QUA-01: terminado sin revisión aprobada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QUA-02: revisión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QUA-03: rechazo sin tratamiento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Registro en lote por entrega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Recorrido del cliente: cada dolor con tratamiento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Acciones, emoción (−2 a +2) con fuente y dolores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Carriles: lo que ve, lo que no ve, soporte</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Parte del recorrido UJ-1 del PRD de BMAD</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Tratamiento: requisito, historia, riesgo, issue, decisión…</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MAP-03: dolor sin tratamiento, en cada sanidad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Beneficios: puntaje, salud y tolerancia</a:t>
            </a:r>
            <a:endParaRPr lang="en-US" sz="2400" dirty="0"/>
          </a:p>
        </p:txBody>
      </p:sp>
      <p:sp>
        <p:nvSpPr>
          <p:cNvPr id="3" name="Shape 1"/>
          <p:cNvSpPr/>
          <p:nvPr/>
        </p:nvSpPr>
        <p:spPr>
          <a:xfrm>
            <a:off x="457200" y="1280160"/>
            <a:ext cx="11274552" cy="1051560"/>
          </a:xfrm>
          <a:prstGeom prst="roundRect">
            <a:avLst>
              <a:gd name="adj" fmla="val 8696"/>
            </a:avLst>
          </a:prstGeom>
          <a:solidFill>
            <a:srgbClr val="E9F1F8"/>
          </a:solidFill>
          <a:ln w="12700">
            <a:solidFill>
              <a:srgbClr val="E9F1F8"/>
            </a:solidFill>
            <a:prstDash val="solid"/>
          </a:ln>
        </p:spPr>
      </p:sp>
      <p:sp>
        <p:nvSpPr>
          <p:cNvPr id="4" name="Shape 2"/>
          <p:cNvSpPr/>
          <p:nvPr/>
        </p:nvSpPr>
        <p:spPr>
          <a:xfrm>
            <a:off x="621792" y="157734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5773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Puntaje: avance hacia la meta (0 a 1)</a:t>
            </a:r>
            <a:endParaRPr lang="en-US" sz="1600" dirty="0"/>
          </a:p>
        </p:txBody>
      </p:sp>
      <p:sp>
        <p:nvSpPr>
          <p:cNvPr id="7" name="Shape 5"/>
          <p:cNvSpPr/>
          <p:nvPr/>
        </p:nvSpPr>
        <p:spPr>
          <a:xfrm>
            <a:off x="457200" y="2478024"/>
            <a:ext cx="11274552" cy="1051560"/>
          </a:xfrm>
          <a:prstGeom prst="roundRect">
            <a:avLst>
              <a:gd name="adj" fmla="val 8696"/>
            </a:avLst>
          </a:prstGeom>
          <a:solidFill>
            <a:srgbClr val="F4F6F8"/>
          </a:solidFill>
          <a:ln w="12700">
            <a:solidFill>
              <a:srgbClr val="F4F6F8"/>
            </a:solidFill>
            <a:prstDash val="solid"/>
          </a:ln>
        </p:spPr>
      </p:sp>
      <p:sp>
        <p:nvSpPr>
          <p:cNvPr id="8" name="Shape 6"/>
          <p:cNvSpPr/>
          <p:nvPr/>
        </p:nvSpPr>
        <p:spPr>
          <a:xfrm>
            <a:off x="621792" y="2775204"/>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7752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532888"/>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Salud: puntaje contra la trayectoria</a:t>
            </a:r>
            <a:endParaRPr lang="en-US" sz="1600" dirty="0"/>
          </a:p>
        </p:txBody>
      </p:sp>
      <p:sp>
        <p:nvSpPr>
          <p:cNvPr id="11" name="Shape 9"/>
          <p:cNvSpPr/>
          <p:nvPr/>
        </p:nvSpPr>
        <p:spPr>
          <a:xfrm>
            <a:off x="457200" y="3675888"/>
            <a:ext cx="11274552" cy="1051560"/>
          </a:xfrm>
          <a:prstGeom prst="roundRect">
            <a:avLst>
              <a:gd name="adj" fmla="val 8696"/>
            </a:avLst>
          </a:prstGeom>
          <a:solidFill>
            <a:srgbClr val="E9F1F8"/>
          </a:solidFill>
          <a:ln w="12700">
            <a:solidFill>
              <a:srgbClr val="E9F1F8"/>
            </a:solidFill>
            <a:prstDash val="solid"/>
          </a:ln>
        </p:spPr>
      </p:sp>
      <p:sp>
        <p:nvSpPr>
          <p:cNvPr id="12" name="Shape 10"/>
          <p:cNvSpPr/>
          <p:nvPr/>
        </p:nvSpPr>
        <p:spPr>
          <a:xfrm>
            <a:off x="621792" y="3973068"/>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9730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730752"/>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cuánto desvío se admite</a:t>
            </a:r>
            <a:endParaRPr lang="en-US" sz="1600" dirty="0"/>
          </a:p>
        </p:txBody>
      </p:sp>
      <p:sp>
        <p:nvSpPr>
          <p:cNvPr id="15" name="Shape 13"/>
          <p:cNvSpPr/>
          <p:nvPr/>
        </p:nvSpPr>
        <p:spPr>
          <a:xfrm>
            <a:off x="457200" y="4873752"/>
            <a:ext cx="11274552" cy="1051560"/>
          </a:xfrm>
          <a:prstGeom prst="roundRect">
            <a:avLst>
              <a:gd name="adj" fmla="val 8696"/>
            </a:avLst>
          </a:prstGeom>
          <a:solidFill>
            <a:srgbClr val="F4F6F8"/>
          </a:solidFill>
          <a:ln w="12700">
            <a:solidFill>
              <a:srgbClr val="F4F6F8"/>
            </a:solidFill>
            <a:prstDash val="solid"/>
          </a:ln>
        </p:spPr>
      </p:sp>
      <p:sp>
        <p:nvSpPr>
          <p:cNvPr id="16" name="Shape 14"/>
          <p:cNvSpPr/>
          <p:nvPr/>
        </p:nvSpPr>
        <p:spPr>
          <a:xfrm>
            <a:off x="621792" y="5170932"/>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51709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928616"/>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mide el negocio, no el proyecto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006547"/>
                <a:gridCol w="3131820"/>
                <a:gridCol w="3507638"/>
                <a:gridCol w="1628546"/>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Calidad de cada historia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 final o 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 cada sanidad, por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Rechazo de calidad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corrige de palabra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issue que cita el Q-###</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Revisión prometida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recuerda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prevista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Recorrido del cliente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de diseño, una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mapa sobre cada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Medir beneficios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nadie tras 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check-ins y criterio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P-04 · okr.py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6 a 11</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Release 1, Release 2, cierre y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 · Calidad a volumen en el Release 1</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Al 26/2 el equipo terminó las historias 1.3, 1.4, 3.1, 3.2 y 3.3. Sincronizá el backlog y corré la sanidad: ¿qué historias terminadas no tienen revisión de calidad y qué revisiones vencieron?</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0 ERROR · 7 AVISO · 3 INFO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Cinco QUA-01 y QUA-02 de Q-001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Lote Q-004 a Q-008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Después: 0 ERROR · 2 AVISO · 2 INFO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6b · El recorrido de la socia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Armá el mapa de recorrido de UJ-1 desde la especificación de BMAD, con lo que vimos en la revisión del Release 1 con seis socios el 25/2: dos pidieron ayuda en el primer ingreso con segundo factor; el resumen de cuentas tarda en aparecer y no hay indicador de carga; la constancia se descargó en el primer intento. Decime qué dolores quedan sin tratamiento.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Semilla desde bmad.py recorridos: 6 pasos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Dos MAP-03: ingreso y resumen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P2 → NFR-3 y Q-001 (la condición)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P1 → R-001, riesgo para B-02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0 avisos de la familia MAP</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7 · Condición cumplida y puerta de la etapa 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948434"/>
          </a:xfrm>
          <a:prstGeom prst="roundRect">
            <a:avLst>
              <a:gd name="adj" fmla="val 3754"/>
            </a:avLst>
          </a:prstGeom>
          <a:solidFill>
            <a:srgbClr val="0F2238"/>
          </a:solidFill>
          <a:ln w="12700">
            <a:solidFill>
              <a:srgbClr val="0F2238"/>
            </a:solidFill>
            <a:prstDash val="solid"/>
          </a:ln>
        </p:spPr>
      </p:sp>
      <p:sp>
        <p:nvSpPr>
          <p:cNvPr id="5" name="Text 3"/>
          <p:cNvSpPr txBox="1"/>
          <p:nvPr/>
        </p:nvSpPr>
        <p:spPr>
          <a:xfrm>
            <a:off x="685800" y="1792224"/>
            <a:ext cx="10817352" cy="1619250"/>
          </a:xfrm>
          <a:prstGeom prst="rect">
            <a:avLst/>
          </a:prstGeom>
          <a:noFill/>
          <a:ln/>
        </p:spPr>
        <p:txBody>
          <a:bodyPr wrap="square" lIns="0" tIns="0" rIns="0" bIns="0" rtlCol="0" anchor="ctr"/>
          <a:lstStyle/>
          <a:p>
            <a:pPr indent="0" marL="0">
              <a:buNone/>
            </a:pPr>
            <a:r>
              <a:rPr lang="en-US" sz="1700" dirty="0">
                <a:solidFill>
                  <a:srgbClr val="E8EEF5"/>
                </a:solidFill>
                <a:latin typeface="Courier New" pitchFamily="34" charset="0"/>
                <a:ea typeface="Courier New" pitchFamily="34" charset="-122"/>
                <a:cs typeface="Courier New" pitchFamily="34" charset="-120"/>
              </a:rPr>
              <a:t>La prueba de carga de NFR-3 se hizo el 2/3: p95 2,4 s con 400 sesiones concurrentes (meta menor a 3 s); aprobada. El gate de preparación de BMAD dio PASS el 3/3. Terminamos el Release 1: traé el avance al 5/3, abrí el límite de etapa, calculá el valor ganado (PV 82.000, EV 80.000, AC 83.500, BAC 130.000) y guardá el corte, actualizá el business case con reales y pronóstico, armá el informe de fin de etapa, el plan de la etapa 3 y el tablero con el recorrido de la socia, y preparame la puerta.</a:t>
            </a:r>
            <a:endParaRPr lang="en-US" sz="1700" dirty="0"/>
          </a:p>
        </p:txBody>
      </p:sp>
      <p:sp>
        <p:nvSpPr>
          <p:cNvPr id="6" name="Shape 4"/>
          <p:cNvSpPr/>
          <p:nvPr/>
        </p:nvSpPr>
        <p:spPr>
          <a:xfrm>
            <a:off x="457200" y="3850386"/>
            <a:ext cx="11274552" cy="2367534"/>
          </a:xfrm>
          <a:prstGeom prst="roundRect">
            <a:avLst>
              <a:gd name="adj" fmla="val 3862"/>
            </a:avLst>
          </a:prstGeom>
          <a:solidFill>
            <a:srgbClr val="F4F6F8"/>
          </a:solidFill>
          <a:ln w="12700">
            <a:solidFill>
              <a:srgbClr val="F4F6F8"/>
            </a:solidFill>
            <a:prstDash val="solid"/>
          </a:ln>
        </p:spPr>
      </p:sp>
      <p:sp>
        <p:nvSpPr>
          <p:cNvPr id="7" name="Text 5"/>
          <p:cNvSpPr txBox="1"/>
          <p:nvPr/>
        </p:nvSpPr>
        <p:spPr>
          <a:xfrm>
            <a:off x="685800" y="3978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380738"/>
            <a:ext cx="10817352" cy="1727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Q-001: p95 2,4 s, aprobada</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Antes: G-01 en la verificación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cumplir-condiciones por la ejecutiva</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Después: 0 bloqueos · 0 condiciones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recorrido de la socia, en el tablero del Release 1</a:t>
            </a:r>
            <a:endParaRPr lang="en-US" sz="2400" dirty="0"/>
          </a:p>
        </p:txBody>
      </p:sp>
      <p:pic>
        <p:nvPicPr>
          <p:cNvPr id="3" name="Image 0" descr="El recorrido de la socia, en el tablero del Release 1">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8 · Release 2 con un rechazo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Release 2 terminado en BMAD. Sincronizá el backlog y registrá las revisiones del 6/5: 2.1, 2.2 y 2.3 aprobadas; la 2.4 rechazada porque falta la notificación al socio después del débito (criterio de aceptación de FR-13). Corré la sanidad al 7/5.</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QUA-01: 2-4 con Q-012 sin aprobar</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QUA-03: rechazo sin tratamiento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I-002: corregir sin costo (Sofía)</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Q-013 aprobada el 11/5</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del 12/5: 0 AVISO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9 · La puerta de cierre en una página</a:t>
            </a:r>
            <a:endParaRPr lang="en-US" sz="2400" dirty="0"/>
          </a:p>
        </p:txBody>
      </p:sp>
      <p:pic>
        <p:nvPicPr>
          <p:cNvPr id="3" name="Image 0" descr="Paso 9 · La puerta de cierre en una págin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10 · Primera revisión de beneficios (30/6)</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Soy Sofía Ramírez, de servicios al socio. Registrá como check-in la línea base al entrar en operación (15/5: KR-1.1 0 %, KR-1.2 5.000 consultas, KR-1.3 96 horas) y la primera revisión al 30/6 (KR-1.1 9 %, KR-1.2 4.600, KR-1.3 70 horas; confianza 6). Puntuá los OKR y decime si vamos en camino.</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Check-ins: línea base 15/5 y 30/6</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O-1 0,37 en rojo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Van 46 de 230 días: esperado 0,20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Los tres KR en camino: sin informe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31/12: B-02 adopción queda fuera de la tolerancia</a:t>
            </a:r>
            <a:endParaRPr lang="en-US" sz="2400" dirty="0"/>
          </a:p>
        </p:txBody>
      </p:sp>
      <p:pic>
        <p:nvPicPr>
          <p:cNvPr id="3" name="Image 0" descr="31/12: B-02 adopción queda fuera de la tolera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¿Todo bien?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Al 31/12 el objetivo O-1 sale 0,91 en verde. ¿Está todo bien?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2</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Calidad registrada por entrega</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Ningún rechazo sin issue que lo cite</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Cada dolor del recorrido con un id</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Beneficios: los mide el negocio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Rojo no es desvío; verde no es éxito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5500116"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calidad de tu última entrega</a:t>
            </a:r>
            <a:endParaRPr lang="en-US" sz="1600" dirty="0"/>
          </a:p>
        </p:txBody>
      </p:sp>
      <p:sp>
        <p:nvSpPr>
          <p:cNvPr id="7" name="Shape 5"/>
          <p:cNvSpPr/>
          <p:nvPr/>
        </p:nvSpPr>
        <p:spPr>
          <a:xfrm>
            <a:off x="6231636" y="1792224"/>
            <a:ext cx="5500116"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6432804"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6432804"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un dolor del recorrido y su tratamiento</a:t>
            </a:r>
            <a:endParaRPr lang="en-US" sz="1600" dirty="0"/>
          </a:p>
        </p:txBody>
      </p:sp>
      <p:sp>
        <p:nvSpPr>
          <p:cNvPr id="10" name="Shape 8"/>
          <p:cNvSpPr/>
          <p:nvPr/>
        </p:nvSpPr>
        <p:spPr>
          <a:xfrm>
            <a:off x="457200" y="4142232"/>
            <a:ext cx="5500116"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658368"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plan de revisión de dos beneficios</a:t>
            </a:r>
            <a:endParaRPr lang="en-US" sz="1600" dirty="0"/>
          </a:p>
        </p:txBody>
      </p:sp>
      <p:sp>
        <p:nvSpPr>
          <p:cNvPr id="13" name="Shape 11"/>
          <p:cNvSpPr/>
          <p:nvPr/>
        </p:nvSpPr>
        <p:spPr>
          <a:xfrm>
            <a:off x="6231636" y="4142232"/>
            <a:ext cx="5500116"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432804"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432804"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Cómo sigue</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Antes: E2E-5, de la idea al proyecto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E2E-1: riesgos a fondo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E2E-2: alcance, cambios y excepción</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E2E-3: interesados, OKR y avance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(1/2)</a:t>
            </a:r>
            <a:endParaRPr lang="en-US" sz="2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Autoridad de cambio (change authority)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Rol con autoridad delegada para aprobar cambios hasta un límite por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BMAD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Método de especificación y construcción con agentes; en pm-method es la fuente única de la especificación, de solo lectura.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Calidad a volumen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Control de que cada historia terminada tenga su revisión aprobada, en cada entrega (QUA-01, QUA-02, QUA-03).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Check-in de OKR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Medición fechada de un KR que solo se agrega (okr_checkins.csv) y deja historia.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Condición formal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Requisito que la junta impone al autorizar una puerta; se sigue con EST-12 y G-01 hasta cumplir-condiciones.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Cómo, cuándo y quién mide cada beneficio, incluso después del proyecto; lo exige P-04.</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Fachada de especificación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Lectura de BMAD que hace pm-method (bmad.py, especificacion.py) sin copiar ni modificar los artefactos.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Fuera de especificación (off-specification)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Producto que no cumple su especificación; se trata como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Gate de preparación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Revisión de BMAD antes de construir (implementation readiness): PASS, CONCERNS o FAIL.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Informe de aspectos destacados (highlight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Informe periódico del gestor a la junta, con avance, valor ganado y puertas.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Informe de punto de control (checkpoint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Informe del equipo sobre un paquete; solo cuenta como completados los productos con revisión aprobada.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Línea base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Versión aprobada y congelada de un artefacto (PRD, épicas) contra la que se detectan desvíos.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Mapa de recorrido del cliente (customer journey map)</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Acciones de una persona paso a paso, con su emoción (−2 a +2) y su fuente, dolores y oportunidades; cada dolor necesita un tratamiento (MAP-03).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(2/2)</a:t>
            </a:r>
            <a:endParaRPr lang="en-US" sz="2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Paquete de trabajo (work package)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Unidad de trabajo autorizada por el gestor; aquí, un sprint con sus historias y definición de terminado.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Plan de revisión de beneficios (benefits review plan)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Revisiones posteriores al cierre, a cargo del negocio, con criterio de desvío.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la junta reserva para cambios aprobados; su consumo lo informa CAM-03.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Punto de decisión de la junta (autorizar-inicio, -proyecto, -etapa, -cierre) con verificación en tres capas.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calidad (quality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calidad.csv: una revisión por producto con criterios, responsables, resultado y fechas.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Salud del KR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Puntaje comparado con el avance esperado entre el primer check-in y la fecha meta: en camino, en riesgo o desviado.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Comprobación automática del proyecto (sanidad.py) con hallazgos ERROR, AVISO e INFO por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Service blueprint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Carriles del recorrido: lo que la persona ve (frontstage), lo que no ve (backstage) y los procesos de soporte.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Desvío admitido sobre la meta de un beneficio; en el caso, −10 % (avance menor que 0,90 = fuera).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(handoff)</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emite pm-method con una decisión (por ejemplo, un cambio aprobado) para que el equipo BMAD la aplique.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a operación (handover)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Entrega formal del producto a quien lo opera, con evidencia de calidad y pendientes.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ganado (EVM)</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Técnica que compara lo planificado (PV), lo ganado (EV) y lo gastado (AC); da SPI, CPI y EAC.</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E2E-4 · Producto con BMAD gobernado con PRINCE2</dc:title>
  <dc:subject>pm-method 2.3.0</dc:subject>
  <dc:creator>pm-method</dc:creator>
  <cp:lastModifiedBy>pm-method</cp:lastModifiedBy>
  <cp:revision>1</cp:revision>
  <dcterms:created xsi:type="dcterms:W3CDTF">2026-10-20T16:54:27Z</dcterms:created>
  <dcterms:modified xsi:type="dcterms:W3CDTF">2026-10-20T16:54:27Z</dcterms:modified>
</cp:coreProperties>
</file>