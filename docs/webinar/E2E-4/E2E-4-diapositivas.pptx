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Lst>
  <p:notesMasterIdLst>
    <p:notesMasterId r:id="rId4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Portada" id="{acca572a-fdb7-0a3b-b05b-7d38fd756df9}">
          <p14:sldIdLst>
            <p14:sldId id="256"/>
          </p14:sldIdLst>
        </p14:section>
        <p14:section name="Clase 1 · Gobernar la construcción con BMAD" id="{42fdd87a-61fa-db98-f4e5-b91c4b0afb53}">
          <p14:sldIdLst>
            <p14:sldId id="257"/>
            <p14:sldId id="258"/>
            <p14:sldId id="259"/>
            <p14:sldId id="260"/>
            <p14:sldId id="261"/>
            <p14:sldId id="262"/>
            <p14:sldId id="263"/>
            <p14:sldId id="264"/>
            <p14:sldId id="265"/>
            <p14:sldId id="266"/>
            <p14:sldId id="267"/>
            <p14:sldId id="268"/>
            <p14:sldId id="269"/>
            <p14:sldId id="270"/>
            <p14:sldId id="271"/>
            <p14:sldId id="272"/>
            <p14:sldId id="273"/>
          </p14:sldIdLst>
        </p14:section>
        <p14:section name="Clase 2 · Calidad a volumen, recorrido, cierre y beneficios" id="{65c73bf2-109c-0023-78e4-1c3d4ad88485}">
          <p14:sldIdLst>
            <p14:sldId id="274"/>
            <p14:sldId id="275"/>
            <p14:sldId id="276"/>
            <p14:sldId id="277"/>
            <p14:sldId id="278"/>
            <p14:sldId id="279"/>
            <p14:sldId id="280"/>
            <p14:sldId id="281"/>
            <p14:sldId id="282"/>
            <p14:sldId id="283"/>
            <p14:sldId id="284"/>
            <p14:sldId id="285"/>
            <p14:sldId id="286"/>
            <p14:sldId id="287"/>
            <p14:sldId id="288"/>
            <p14:sldId id="289"/>
            <p14:sldId id="290"/>
            <p14:sldId id="291"/>
            <p14:sldId id="292"/>
            <p14:sldId id="293"/>
            <p14:sldId id="294"/>
          </p14:sldIdLst>
        </p14:section>
        <p14:section name="Glosario" id="{a61d6887-cf3b-c272-3d33-5446559373a3}">
          <p14:sldIdLst>
            <p14:sldId id="295"/>
            <p14:sldId id="296"/>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notesMaster" Target="notesMasters/notesMaster1.xml"/><Relationship Id="rId44" Type="http://schemas.openxmlformats.org/officeDocument/2006/relationships/presProps" Target="presProps.xml"/><Relationship Id="rId45" Type="http://schemas.openxmlformats.org/officeDocument/2006/relationships/viewProps" Target="viewProps.xml"/><Relationship Id="rId46" Type="http://schemas.openxmlformats.org/officeDocument/2006/relationships/theme" Target="theme/theme1.xml"/><Relationship Id="rId4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Caso E2E-4: Producto con BMAD gobernado con PRINCE2. 2 clases de 90 minutos. Presentá el problema que resuelve el caso y qué se van a llevar los asistentes.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Clase 1 (90 minutos): Gobernar la construcción con BMAD. Objetivos: Separar especificación (BMAD) y gobierno (pm-method); Convertir un CONCERNS en condición formal con seguimiento; Controlar un cambio con costo y presupuesto de la junta; Guardar y vigilar el valor ganado.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Pedí a la audiencia que piense en la última puerta o comité aprobado con condiciones. ¿Quién verificó que se cumplieron y dónde quedó escrito? Esa es la pregunta que responde la clase.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Este es el tablero de la puerta de cierre del caso: 11 de 11 historias con revisión aprobada, CPI 0,977, 40 % del presupuesto de cambio y 0 condiciones abiertas. Hoy vemos cómo se construye la mitad de este resultado.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regla de oro: una sola fuente por dato. El PRD vive en BMAD; pm-method fija líneas base, detecta desvíos y devuelve decisiones. Así no hay dos versiones de la especificación.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 repetimos el diseño: E2E-5 lo cubre. Lo importante es qué quedó listo para ejecutar: backlog con columnas de gobierno, enfoque de calidad, enfoque de beneficios, presupuesto de cambio y líneas base.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Cada fila es algo que en la práctica se hace una vez o nunca. La columna Control dice qué código lo detecta sin que nadie tenga que acordarse.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Vamos en vivo con los prompts de la guía; si algo falla, seguimos con la evidencia ya corrida.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Mostrá la línea 'Condiciones agregadas desde la verificación'. La condición no depende de la memoria de nadie: aparece en cada sanidad hasta que alguien con rol la cumpla.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informe de punto de control cuenta como completado solo lo que tiene revisión aprobada. La 1.3 está en review y no cuenta. El gestor acepta el paquete después de mirar la sanidad.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valor no está en el cálculo sino en que el corte queda guardado: la sanidad avisa si el pronóstico sale de tolerancia o si el último corte tiene más de 31 días. Las tres condiciones de la próxima puerta son G-01, E-05 y E-10; puertas.py verificar las muestra con su código.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cambio entró por correct-course sin pasar por la autoridad de cambio. La sanidad lo detecta como ERROR y bloquea la próxima puerta hasta tramitarlo.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CAM-03 informa el consumo en cada sanidad. Si un cambio superara el límite de USD 8.000 de Sofía, CAM-04 avisaría que debe decidir la junta.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alcance pasa de 68 a 76 puntos el 20/1. La curva completa la cerramos en la clase 2: los 76 puntos quedan terminados el 12/5, antes del fin previsto.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Respuesta esperada: sí, su límite como autoridad de cambio es USD 8.000 por cambio. Con 9.000 decide la junta; CAM-04 lo avisaría si lo decidiera ella.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Repasá los cuatro mensajes y conectalos con la tabla del uso único al control continuo.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Hoja en docs/webinar/E2E-4/ejercicio.md. Al terminar mostrá el ejemplo resuelto de la hoja: la condición de NFR-3 y C-001.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Adelantá la pregunta de la clase 2: ¿done es lo mismo que aceptado? Mostrá de pasada el gráfico de calidad por entrega.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Clase 2 (90 minutos): Calidad a volumen, recorrido, cierre y beneficios. Objetivos: Registrar la calidad por entrega y tratar un rechazo con traza; Dar a cada dolor del recorrido un tratamiento con id; Cerrar con traspaso a operación y sin condiciones abiertas; Leer beneficios con puntaje, salud y tolerancia.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BMAD marcó la historia como terminada; la usuaria la rechazó porque faltaba la notificación del débito. En muchos equipos eso se corrige de palabra y no queda traza.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Pasaron seis semanas desde el cambio. Antes de pedir nada, el gestor ve un resumen derivado de los registros (estado.py contexto). Si una nota de la conversación anterior dice otra cosa, vale este resumen.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Cinco cortes: el 26/2 había 5 de 7 historias sin revisión y el 7/5 una rechazada. Las dos brechas se cerraron antes de la puerta siguiente.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registro de calidad (quality register) nace con el enfoque de calidad. La sanidad cruza el backlog con calidad.csv en cada corrida: no hace falta acordarse de revisar.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mapa de recorrido (customer journey map) mira lo entregado desde la persona, no historia por historia. La semilla sale de BMAD; la emoción de cada paso lleva su fuente, y cada dolor necesita un id que lo trate.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Tres lecturas distintas del mismo dato. Confundirlas lleva a falsas alarmas o a desvíos que nadie 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Las tres primeras filas son calidad a volumen; el recorrido mira lo entregado desde la persona; la última es la responsabilidad de los beneficios, que se exige desde la puerta de proyecto con P-04.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Pasos 6, 6b, 7 y 8 en vivo; el 9 con la evidencia; el 10 en vivo y el 11 con la evidencia.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Mostrá los cinco QUA-01, uno por historia. Después del registro en lote desaparecen y quedan QUA-02 y EST-12, que se resuelven en el paso 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sistema propone tratar los dos dolores como requisitos; la persona decide. El resumen ya lo cubre NFR-3 con su prueba de carga. El primer ingreso no justifica alcance nuevo a una etapa del cierre, pero amenaza la adopción: se registra R-001 con respuesta del negocio.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condición no se cierra sola aunque la prueba esté aprobada: alguien con rol lo verifica y queda en decisiones.csv. El tablero del Release 1 suma la sección de mapas estratégicos: es la diapositiva siguiente.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 la sección Mapas estratégicos del tablero del 5/3, que escribe mapas.py tablero --insertar. La curva baja en el ingreso y en el resumen (−1) y sube hasta el clímax (+2). Debajo de cada dolor, su tratamiento: R-001; NFR-3 y Q-001, enlazados a la tabla de vínculos con estado y responsable. Avisos MAP vigentes: 0. Guardá R-001: vuelve en la revisión final de beneficios. El mapa con todos sus carriles está en la guía, paso 6b (g4-recorrido.png).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sanidad marca el mismo problema desde dos ángulos: la historia y el rechazo. Con I-002 y la nueva revisión Q-013, la sanidad del 12/5 queda con 0 AVISO. El handover lo cuenta tal cual: 13 revisiones, 12 aprobadas y una rechazada tratada.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Verificación de cierre solo con L-01, la lista de la junta: sin G-01 ni C-03, porque R-001 pasó al negocio en las recomendaciones de seguimiento. El paquete sale completo, con la línea base del PRD y sin el PRD vivo de BMAD, que queda anotado como excluido. D-027 traspasa los beneficios al negocio.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 miráramos solo el semáforo del OKR, alguien declararía fracasado el portal a seis semanas de salir. Comparado con la trayectoria, va en camino. Los check-ins solo se agregan: queda la historia de cada medición.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Revisión final: B-02 llega a 83 % de la meta, por debajo del 90 % que admite la tolerancia de −10 %. B-01 (93 %) y B-03 (96 %) quedan dentro. D-029 informa a la ejecutiva y dice por dónde empezar: R-001, el dolor del primer ingreso que dejó el mapa del paso 6b.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Respuesta esperada: no. El promedio esconde que B-02 adopción quedó en 0,83, fuera de la tolerancia. Por eso el criterio del plan se aplica beneficio por beneficio.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Cerrá con la idea central: lo que en la práctica se hace una vez o nunca se controla en cada sanidad o en cada revisión.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Hoja en docs/webinar/E2E-4/ejercicio.md. El ejemplo resuelto de la hoja usa el recorrido de UJ-1 y los beneficios B-02 y B-01 del caso; mostralo al terminar.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E2E-4 arranca donde termina E2E-5. Para profundizar en riesgos, la ruta de excepción o los informes a interesados, seguir con E2E-1, E2E-2 y E2E-3.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Glosario del caso E2E-4: 25 términos, página 1 de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Glosario del caso E2E-4: 25 términos, página 2 de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PORTADA">
    <p:bg>
      <p:bgPr>
        <a:solidFill>
          <a:srgbClr val="002855"/>
        </a:solidFill>
      </p:bgPr>
    </p:bg>
    <p:spTree>
      <p:nvGrpSpPr>
        <p:cNvPr id="1" name=""/>
        <p:cNvGrpSpPr/>
        <p:nvPr/>
      </p:nvGrpSpPr>
      <p:grpSpPr>
        <a:xfrm>
          <a:off x="0" y="0"/>
          <a:ext cx="0" cy="0"/>
          <a:chOff x="0" y="0"/>
          <a:chExt cx="0" cy="0"/>
        </a:xfrm>
      </p:grpSpPr>
      <p:sp>
        <p:nvSpPr>
          <p:cNvPr id="2" name="Shape 0"/>
          <p:cNvSpPr/>
          <p:nvPr/>
        </p:nvSpPr>
        <p:spPr>
          <a:xfrm>
            <a:off x="548640" y="457200"/>
            <a:ext cx="2011680" cy="804672"/>
          </a:xfrm>
          <a:prstGeom prst="rect">
            <a:avLst/>
          </a:prstGeom>
          <a:solidFill>
            <a:srgbClr val="002855">
              <a:alpha val="0"/>
            </a:srgbClr>
          </a:solidFill>
          <a:ln w="12700">
            <a:solidFill>
              <a:srgbClr val="7F9BB8"/>
            </a:solidFill>
            <a:prstDash val="dash"/>
          </a:ln>
        </p:spPr>
      </p:sp>
      <p:sp>
        <p:nvSpPr>
          <p:cNvPr id="3" name="Text 1"/>
          <p:cNvSpPr/>
          <p:nvPr/>
        </p:nvSpPr>
        <p:spPr>
          <a:xfrm>
            <a:off x="548640" y="457200"/>
            <a:ext cx="2011680" cy="804672"/>
          </a:xfrm>
          <a:prstGeom prst="rect">
            <a:avLst/>
          </a:prstGeom>
          <a:noFill/>
          <a:ln/>
        </p:spPr>
        <p:txBody>
          <a:bodyPr wrap="square" lIns="0" tIns="0" rIns="0" bIns="0" rtlCol="0" anchor="ctr"/>
          <a:lstStyle/>
          <a:p>
            <a:pPr algn="ctr" indent="0" marL="0">
              <a:buNone/>
            </a:pPr>
            <a:r>
              <a:rPr lang="en-US" sz="1200" dirty="0">
                <a:solidFill>
                  <a:srgbClr val="7F9BB8"/>
                </a:solidFill>
              </a:rPr>
              <a:t>Logo IEEE</a:t>
            </a:r>
            <a:endParaRPr lang="en-US" sz="1200" dirty="0"/>
          </a:p>
        </p:txBody>
      </p:sp>
      <p:sp>
        <p:nvSpPr>
          <p:cNvPr id="4" name="Text 2"/>
          <p:cNvSpPr/>
          <p:nvPr/>
        </p:nvSpPr>
        <p:spPr>
          <a:xfrm>
            <a:off x="548640" y="6355080"/>
            <a:ext cx="8229600" cy="274320"/>
          </a:xfrm>
          <a:prstGeom prst="rect">
            <a:avLst/>
          </a:prstGeom>
          <a:noFill/>
          <a:ln/>
        </p:spPr>
        <p:txBody>
          <a:bodyPr wrap="square" lIns="0" tIns="0" rIns="0" bIns="0" rtlCol="0" anchor="ctr"/>
          <a:lstStyle/>
          <a:p>
            <a:pPr indent="0" marL="0">
              <a:buNone/>
            </a:pPr>
            <a:r>
              <a:rPr lang="en-US" sz="1000" dirty="0">
                <a:solidFill>
                  <a:srgbClr val="D6E4F0"/>
                </a:solidFill>
              </a:rPr>
              <a:t>pm-method 2.3.0 · Webinar E2E-4</a:t>
            </a:r>
            <a:endParaRPr lang="en-US" sz="10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IDO_G">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10268712" y="365760"/>
            <a:ext cx="1463040" cy="713232"/>
          </a:xfrm>
          <a:prstGeom prst="rect">
            <a:avLst/>
          </a:prstGeom>
          <a:solidFill>
            <a:srgbClr val="FFFFFF">
              <a:alpha val="0"/>
            </a:srgbClr>
          </a:solidFill>
          <a:ln w="12700">
            <a:solidFill>
              <a:srgbClr val="A9A9A9"/>
            </a:solidFill>
            <a:prstDash val="dash"/>
          </a:ln>
        </p:spPr>
      </p:sp>
      <p:sp>
        <p:nvSpPr>
          <p:cNvPr id="3" name="Text 1"/>
          <p:cNvSpPr/>
          <p:nvPr/>
        </p:nvSpPr>
        <p:spPr>
          <a:xfrm>
            <a:off x="10268712" y="365760"/>
            <a:ext cx="1463040" cy="713232"/>
          </a:xfrm>
          <a:prstGeom prst="rect">
            <a:avLst/>
          </a:prstGeom>
          <a:noFill/>
          <a:ln/>
        </p:spPr>
        <p:txBody>
          <a:bodyPr wrap="square" lIns="0" tIns="0" rIns="0" bIns="0" rtlCol="0" anchor="ctr"/>
          <a:lstStyle/>
          <a:p>
            <a:pPr algn="ctr" indent="0" marL="0">
              <a:buNone/>
            </a:pPr>
            <a:r>
              <a:rPr lang="en-US" sz="1000" dirty="0">
                <a:solidFill>
                  <a:srgbClr val="A9A9A9"/>
                </a:solidFill>
              </a:rPr>
              <a:t>Logo IEEE</a:t>
            </a:r>
            <a:endParaRPr lang="en-US" sz="1000" dirty="0"/>
          </a:p>
        </p:txBody>
      </p:sp>
      <p:sp>
        <p:nvSpPr>
          <p:cNvPr id="4" name="Shape 2"/>
          <p:cNvSpPr/>
          <p:nvPr/>
        </p:nvSpPr>
        <p:spPr>
          <a:xfrm>
            <a:off x="457200" y="365760"/>
            <a:ext cx="9628632" cy="713232"/>
          </a:xfrm>
          <a:prstGeom prst="rect">
            <a:avLst>
              <a:gd name="adj" fmla="val 12821"/>
            </a:avLst>
          </a:prstGeom>
          <a:solidFill>
            <a:srgbClr val="00629B"/>
          </a:solidFill>
          <a:ln/>
        </p:spPr>
      </p:sp>
      <p:sp>
        <p:nvSpPr>
          <p:cNvPr id="5" name="Text 3"/>
          <p:cNvSpPr/>
          <p:nvPr>
            <p:ph idx="103" type="title" hasCustomPrompt="1"/>
          </p:nvPr>
        </p:nvSpPr>
        <p:spPr>
          <a:xfrm>
            <a:off x="658368" y="365760"/>
            <a:ext cx="9244584" cy="713232"/>
          </a:xfrm>
          <a:prstGeom prst="rect">
            <a:avLst/>
          </a:prstGeom>
          <a:noFill/>
          <a:ln/>
        </p:spPr>
        <p:txBody>
          <a:bodyPr wrap="square" rtlCol="0"/>
          <a:lstStyle>
            <a:lvl1pPr algn="l" indent="0" marL="0">
              <a:buNone/>
              <a:defRPr lang="en-US" sz="2400" b="1" dirty="0">
                <a:solidFill>
                  <a:srgbClr val="FFFFFF"/>
                </a:solidFill>
                <a:latin typeface="Arial" pitchFamily="34" charset="0"/>
                <a:ea typeface="Arial" pitchFamily="34" charset="-122"/>
                <a:cs typeface="Arial" pitchFamily="34" charset="-120"/>
              </a:defRPr>
            </a:lvl1pPr>
          </a:lstStyle>
          <a:p>
            <a:pPr algn="l" indent="0" marL="0">
              <a:buNone/>
            </a:pPr>
            <a:endParaRPr lang="en-US" sz="2400" dirty="0"/>
          </a:p>
        </p:txBody>
      </p:sp>
      <p:sp>
        <p:nvSpPr>
          <p:cNvPr id="6" name="Text 3"/>
          <p:cNvSpPr/>
          <p:nvPr/>
        </p:nvSpPr>
        <p:spPr>
          <a:xfrm>
            <a:off x="457200" y="6419088"/>
            <a:ext cx="8229600" cy="274320"/>
          </a:xfrm>
          <a:prstGeom prst="rect">
            <a:avLst/>
          </a:prstGeom>
          <a:noFill/>
          <a:ln/>
        </p:spPr>
        <p:txBody>
          <a:bodyPr wrap="square" lIns="0" tIns="0" rIns="0" bIns="0" rtlCol="0" anchor="t"/>
          <a:lstStyle/>
          <a:p>
            <a:pPr indent="0" marL="0">
              <a:buNone/>
            </a:pPr>
            <a:r>
              <a:rPr lang="en-US" sz="1000" dirty="0">
                <a:solidFill>
                  <a:srgbClr val="696969"/>
                </a:solidFill>
              </a:rPr>
              <a:t>pm-method 2.3.0 · Webinar E2E-4</a:t>
            </a:r>
            <a:endParaRPr lang="en-US" sz="1000" dirty="0"/>
          </a:p>
        </p:txBody>
      </p:sp>
      <p:sp>
        <p:nvSpPr>
          <p:cNvPr id="25" name="Slide Number Placeholder 0"/>
          <p:cNvSpPr>
            <a:spLocks noGrp="1"/>
          </p:cNvSpPr>
          <p:nvPr>
            <p:ph type="sldNum" sz="quarter" idx="4294967295"/>
          </p:nvPr>
        </p:nvSpPr>
        <p:spPr>
          <a:xfrm>
            <a:off x="11091672" y="6419088"/>
            <a:ext cx="64008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rgbClr val="696969"/>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OSCURO_G">
    <p:bg>
      <p:bgPr>
        <a:solidFill>
          <a:srgbClr val="002855"/>
        </a:solidFill>
      </p:bgPr>
    </p:bg>
    <p:spTree>
      <p:nvGrpSpPr>
        <p:cNvPr id="1" name=""/>
        <p:cNvGrpSpPr/>
        <p:nvPr/>
      </p:nvGrpSpPr>
      <p:grpSpPr>
        <a:xfrm>
          <a:off x="0" y="0"/>
          <a:ext cx="0" cy="0"/>
          <a:chOff x="0" y="0"/>
          <a:chExt cx="0" cy="0"/>
        </a:xfrm>
      </p:grpSpPr>
      <p:sp>
        <p:nvSpPr>
          <p:cNvPr id="2" name="Shape 0"/>
          <p:cNvSpPr/>
          <p:nvPr/>
        </p:nvSpPr>
        <p:spPr>
          <a:xfrm>
            <a:off x="10268712" y="365760"/>
            <a:ext cx="1463040" cy="713232"/>
          </a:xfrm>
          <a:prstGeom prst="rect">
            <a:avLst/>
          </a:prstGeom>
          <a:solidFill>
            <a:srgbClr val="002855">
              <a:alpha val="0"/>
            </a:srgbClr>
          </a:solidFill>
          <a:ln w="12700">
            <a:solidFill>
              <a:srgbClr val="7F9BB8"/>
            </a:solidFill>
            <a:prstDash val="dash"/>
          </a:ln>
        </p:spPr>
      </p:sp>
      <p:sp>
        <p:nvSpPr>
          <p:cNvPr id="3" name="Text 1"/>
          <p:cNvSpPr/>
          <p:nvPr/>
        </p:nvSpPr>
        <p:spPr>
          <a:xfrm>
            <a:off x="10268712" y="365760"/>
            <a:ext cx="1463040" cy="713232"/>
          </a:xfrm>
          <a:prstGeom prst="rect">
            <a:avLst/>
          </a:prstGeom>
          <a:noFill/>
          <a:ln/>
        </p:spPr>
        <p:txBody>
          <a:bodyPr wrap="square" lIns="0" tIns="0" rIns="0" bIns="0" rtlCol="0" anchor="ctr"/>
          <a:lstStyle/>
          <a:p>
            <a:pPr algn="ctr" indent="0" marL="0">
              <a:buNone/>
            </a:pPr>
            <a:r>
              <a:rPr lang="en-US" sz="1000" dirty="0">
                <a:solidFill>
                  <a:srgbClr val="7F9BB8"/>
                </a:solidFill>
              </a:rPr>
              <a:t>Logo IEEE</a:t>
            </a:r>
            <a:endParaRPr lang="en-US" sz="1000" dirty="0"/>
          </a:p>
        </p:txBody>
      </p:sp>
      <p:sp>
        <p:nvSpPr>
          <p:cNvPr id="4" name="Text 2"/>
          <p:cNvSpPr/>
          <p:nvPr>
            <p:ph idx="102" type="title" hasCustomPrompt="1"/>
          </p:nvPr>
        </p:nvSpPr>
        <p:spPr>
          <a:xfrm>
            <a:off x="548640" y="1143000"/>
            <a:ext cx="11091672" cy="914400"/>
          </a:xfrm>
          <a:prstGeom prst="rect">
            <a:avLst/>
          </a:prstGeom>
          <a:noFill/>
          <a:ln/>
        </p:spPr>
        <p:txBody>
          <a:bodyPr wrap="square" rtlCol="0"/>
          <a:lstStyle>
            <a:lvl1pPr algn="l" indent="0" marL="0">
              <a:buNone/>
              <a:defRPr lang="en-US" sz="3600" b="1" dirty="0">
                <a:solidFill>
                  <a:srgbClr val="FFFFFF"/>
                </a:solidFill>
                <a:latin typeface="Arial" pitchFamily="34" charset="0"/>
                <a:ea typeface="Arial" pitchFamily="34" charset="-122"/>
                <a:cs typeface="Arial" pitchFamily="34" charset="-120"/>
              </a:defRPr>
            </a:lvl1pPr>
          </a:lstStyle>
          <a:p>
            <a:pPr algn="l" indent="0" marL="0">
              <a:buNone/>
            </a:pPr>
            <a:endParaRPr lang="en-US" sz="3600" dirty="0"/>
          </a:p>
        </p:txBody>
      </p:sp>
      <p:sp>
        <p:nvSpPr>
          <p:cNvPr id="5" name="Text 2"/>
          <p:cNvSpPr/>
          <p:nvPr/>
        </p:nvSpPr>
        <p:spPr>
          <a:xfrm>
            <a:off x="457200" y="6419088"/>
            <a:ext cx="8229600" cy="274320"/>
          </a:xfrm>
          <a:prstGeom prst="rect">
            <a:avLst/>
          </a:prstGeom>
          <a:noFill/>
          <a:ln/>
        </p:spPr>
        <p:txBody>
          <a:bodyPr wrap="square" lIns="0" tIns="0" rIns="0" bIns="0" rtlCol="0" anchor="t"/>
          <a:lstStyle/>
          <a:p>
            <a:pPr indent="0" marL="0">
              <a:buNone/>
            </a:pPr>
            <a:r>
              <a:rPr lang="en-US" sz="1000" dirty="0">
                <a:solidFill>
                  <a:srgbClr val="D6E4F0"/>
                </a:solidFill>
              </a:rPr>
              <a:t>pm-method 2.3.0 · Webinar E2E-4</a:t>
            </a:r>
            <a:endParaRPr lang="en-US" sz="1000" dirty="0"/>
          </a:p>
        </p:txBody>
      </p:sp>
      <p:sp>
        <p:nvSpPr>
          <p:cNvPr id="25" name="Slide Number Placeholder 0"/>
          <p:cNvSpPr>
            <a:spLocks noGrp="1"/>
          </p:cNvSpPr>
          <p:nvPr>
            <p:ph type="sldNum" sz="quarter" idx="4294967295"/>
          </p:nvPr>
        </p:nvSpPr>
        <p:spPr>
          <a:xfrm>
            <a:off x="11091672" y="6419088"/>
            <a:ext cx="64008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rgbClr val="D6E4F0"/>
                </a:solidFill>
              </a:defRPr>
            </a:lvl1pPr>
          </a:lstStyle>
          <a:p>
            <a:pPr algn="r"/>
            <a:fld id="{F7021451-1387-4CA6-816F-3879F97B5CBC}" type="slidenum">
              <a:rPr b="0" lang="en-US"/>
              <a:t>1004</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SECCION_G">
    <p:bg>
      <p:bgPr>
        <a:solidFill>
          <a:srgbClr val="00629B"/>
        </a:solidFill>
      </p:bgPr>
    </p:bg>
    <p:spTree>
      <p:nvGrpSpPr>
        <p:cNvPr id="1" name=""/>
        <p:cNvGrpSpPr/>
        <p:nvPr/>
      </p:nvGrpSpPr>
      <p:grpSpPr>
        <a:xfrm>
          <a:off x="0" y="0"/>
          <a:ext cx="0" cy="0"/>
          <a:chOff x="0" y="0"/>
          <a:chExt cx="0" cy="0"/>
        </a:xfrm>
      </p:grpSpPr>
      <p:sp>
        <p:nvSpPr>
          <p:cNvPr id="2" name="Shape 0"/>
          <p:cNvSpPr/>
          <p:nvPr/>
        </p:nvSpPr>
        <p:spPr>
          <a:xfrm>
            <a:off x="10268712" y="365760"/>
            <a:ext cx="1463040" cy="713232"/>
          </a:xfrm>
          <a:prstGeom prst="rect">
            <a:avLst/>
          </a:prstGeom>
          <a:solidFill>
            <a:srgbClr val="002855">
              <a:alpha val="0"/>
            </a:srgbClr>
          </a:solidFill>
          <a:ln w="12700">
            <a:solidFill>
              <a:srgbClr val="7F9BB8"/>
            </a:solidFill>
            <a:prstDash val="dash"/>
          </a:ln>
        </p:spPr>
      </p:sp>
      <p:sp>
        <p:nvSpPr>
          <p:cNvPr id="3" name="Text 1"/>
          <p:cNvSpPr/>
          <p:nvPr/>
        </p:nvSpPr>
        <p:spPr>
          <a:xfrm>
            <a:off x="10268712" y="365760"/>
            <a:ext cx="1463040" cy="713232"/>
          </a:xfrm>
          <a:prstGeom prst="rect">
            <a:avLst/>
          </a:prstGeom>
          <a:noFill/>
          <a:ln/>
        </p:spPr>
        <p:txBody>
          <a:bodyPr wrap="square" lIns="0" tIns="0" rIns="0" bIns="0" rtlCol="0" anchor="ctr"/>
          <a:lstStyle/>
          <a:p>
            <a:pPr algn="ctr" indent="0" marL="0">
              <a:buNone/>
            </a:pPr>
            <a:r>
              <a:rPr lang="en-US" sz="1000" dirty="0">
                <a:solidFill>
                  <a:srgbClr val="7F9BB8"/>
                </a:solidFill>
              </a:rPr>
              <a:t>Logo IEEE</a:t>
            </a:r>
            <a:endParaRPr lang="en-US" sz="1000" dirty="0"/>
          </a:p>
        </p:txBody>
      </p:sp>
      <p:sp>
        <p:nvSpPr>
          <p:cNvPr id="4" name="Text 2"/>
          <p:cNvSpPr/>
          <p:nvPr>
            <p:ph idx="102" type="title" hasCustomPrompt="1"/>
          </p:nvPr>
        </p:nvSpPr>
        <p:spPr>
          <a:xfrm>
            <a:off x="548640" y="2148840"/>
            <a:ext cx="11091672" cy="1005840"/>
          </a:xfrm>
          <a:prstGeom prst="rect">
            <a:avLst/>
          </a:prstGeom>
          <a:noFill/>
          <a:ln/>
        </p:spPr>
        <p:txBody>
          <a:bodyPr wrap="square" rtlCol="0"/>
          <a:lstStyle>
            <a:lvl1pPr algn="l" indent="0" marL="0">
              <a:buNone/>
              <a:defRPr lang="en-US" sz="4000" b="1" dirty="0">
                <a:solidFill>
                  <a:srgbClr val="FFFFFF"/>
                </a:solidFill>
                <a:latin typeface="Arial" pitchFamily="34" charset="0"/>
                <a:ea typeface="Arial" pitchFamily="34" charset="-122"/>
                <a:cs typeface="Arial" pitchFamily="34" charset="-120"/>
              </a:defRPr>
            </a:lvl1pPr>
          </a:lstStyle>
          <a:p>
            <a:pPr algn="l" indent="0" marL="0">
              <a:buNone/>
            </a:pPr>
            <a:endParaRPr lang="en-US" sz="4000" dirty="0"/>
          </a:p>
        </p:txBody>
      </p:sp>
      <p:sp>
        <p:nvSpPr>
          <p:cNvPr id="5" name="Text 2"/>
          <p:cNvSpPr/>
          <p:nvPr/>
        </p:nvSpPr>
        <p:spPr>
          <a:xfrm>
            <a:off x="457200" y="6419088"/>
            <a:ext cx="8229600" cy="274320"/>
          </a:xfrm>
          <a:prstGeom prst="rect">
            <a:avLst/>
          </a:prstGeom>
          <a:noFill/>
          <a:ln/>
        </p:spPr>
        <p:txBody>
          <a:bodyPr wrap="square" lIns="0" tIns="0" rIns="0" bIns="0" rtlCol="0" anchor="t"/>
          <a:lstStyle/>
          <a:p>
            <a:pPr indent="0" marL="0">
              <a:buNone/>
            </a:pPr>
            <a:r>
              <a:rPr lang="en-US" sz="1000" dirty="0">
                <a:solidFill>
                  <a:srgbClr val="D6E4F0"/>
                </a:solidFill>
              </a:rPr>
              <a:t>pm-method 2.3.0 · Webinar E2E-4</a:t>
            </a:r>
            <a:endParaRPr lang="en-US" sz="1000" dirty="0"/>
          </a:p>
        </p:txBody>
      </p:sp>
      <p:sp>
        <p:nvSpPr>
          <p:cNvPr id="25" name="Slide Number Placeholder 0"/>
          <p:cNvSpPr>
            <a:spLocks noGrp="1"/>
          </p:cNvSpPr>
          <p:nvPr>
            <p:ph type="sldNum" sz="quarter" idx="4294967295"/>
          </p:nvPr>
        </p:nvSpPr>
        <p:spPr>
          <a:xfrm>
            <a:off x="11091672" y="6419088"/>
            <a:ext cx="64008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rgbClr val="D6E4F0"/>
                </a:solidFill>
              </a:defRPr>
            </a:lvl1pPr>
          </a:lstStyle>
          <a:p>
            <a:pPr algn="r"/>
            <a:fld id="{F7021451-1387-4CA6-816F-3879F97B5CBC}" type="slidenum">
              <a:rPr b="0" lang="en-US"/>
              <a:t>1005</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p:cSld name="PREGUNTA_G">
    <p:bg>
      <p:bgPr>
        <a:solidFill>
          <a:srgbClr val="002855"/>
        </a:solidFill>
      </p:bgPr>
    </p:bg>
    <p:spTree>
      <p:nvGrpSpPr>
        <p:cNvPr id="1" name=""/>
        <p:cNvGrpSpPr/>
        <p:nvPr/>
      </p:nvGrpSpPr>
      <p:grpSpPr>
        <a:xfrm>
          <a:off x="0" y="0"/>
          <a:ext cx="0" cy="0"/>
          <a:chOff x="0" y="0"/>
          <a:chExt cx="0" cy="0"/>
        </a:xfrm>
      </p:grpSpPr>
      <p:sp>
        <p:nvSpPr>
          <p:cNvPr id="2" name="Shape 0"/>
          <p:cNvSpPr/>
          <p:nvPr/>
        </p:nvSpPr>
        <p:spPr>
          <a:xfrm>
            <a:off x="10268712" y="365760"/>
            <a:ext cx="1463040" cy="713232"/>
          </a:xfrm>
          <a:prstGeom prst="rect">
            <a:avLst/>
          </a:prstGeom>
          <a:solidFill>
            <a:srgbClr val="002855">
              <a:alpha val="0"/>
            </a:srgbClr>
          </a:solidFill>
          <a:ln w="12700">
            <a:solidFill>
              <a:srgbClr val="7F9BB8"/>
            </a:solidFill>
            <a:prstDash val="dash"/>
          </a:ln>
        </p:spPr>
      </p:sp>
      <p:sp>
        <p:nvSpPr>
          <p:cNvPr id="3" name="Text 1"/>
          <p:cNvSpPr/>
          <p:nvPr/>
        </p:nvSpPr>
        <p:spPr>
          <a:xfrm>
            <a:off x="10268712" y="365760"/>
            <a:ext cx="1463040" cy="713232"/>
          </a:xfrm>
          <a:prstGeom prst="rect">
            <a:avLst/>
          </a:prstGeom>
          <a:noFill/>
          <a:ln/>
        </p:spPr>
        <p:txBody>
          <a:bodyPr wrap="square" lIns="0" tIns="0" rIns="0" bIns="0" rtlCol="0" anchor="ctr"/>
          <a:lstStyle/>
          <a:p>
            <a:pPr algn="ctr" indent="0" marL="0">
              <a:buNone/>
            </a:pPr>
            <a:r>
              <a:rPr lang="en-US" sz="1000" dirty="0">
                <a:solidFill>
                  <a:srgbClr val="7F9BB8"/>
                </a:solidFill>
              </a:rPr>
              <a:t>Logo IEEE</a:t>
            </a:r>
            <a:endParaRPr lang="en-US" sz="1000" dirty="0"/>
          </a:p>
        </p:txBody>
      </p:sp>
      <p:sp>
        <p:nvSpPr>
          <p:cNvPr id="4" name="Text 2"/>
          <p:cNvSpPr/>
          <p:nvPr>
            <p:ph idx="102" type="title" hasCustomPrompt="1"/>
          </p:nvPr>
        </p:nvSpPr>
        <p:spPr>
          <a:xfrm>
            <a:off x="548640" y="365760"/>
            <a:ext cx="9445752" cy="713232"/>
          </a:xfrm>
          <a:prstGeom prst="rect">
            <a:avLst/>
          </a:prstGeom>
          <a:noFill/>
          <a:ln/>
        </p:spPr>
        <p:txBody>
          <a:bodyPr wrap="square" rtlCol="0"/>
          <a:lstStyle>
            <a:lvl1pPr algn="l" indent="0" marL="0">
              <a:buNone/>
              <a:defRPr lang="en-US" sz="2200" b="1" dirty="0">
                <a:solidFill>
                  <a:srgbClr val="9FD0F0"/>
                </a:solidFill>
                <a:latin typeface="Arial" pitchFamily="34" charset="0"/>
                <a:ea typeface="Arial" pitchFamily="34" charset="-122"/>
                <a:cs typeface="Arial" pitchFamily="34" charset="-120"/>
              </a:defRPr>
            </a:lvl1pPr>
          </a:lstStyle>
          <a:p>
            <a:pPr algn="l" indent="0" marL="0">
              <a:buNone/>
            </a:pPr>
            <a:endParaRPr lang="en-US" sz="2200" dirty="0"/>
          </a:p>
        </p:txBody>
      </p:sp>
      <p:sp>
        <p:nvSpPr>
          <p:cNvPr id="5" name="Text 2"/>
          <p:cNvSpPr/>
          <p:nvPr/>
        </p:nvSpPr>
        <p:spPr>
          <a:xfrm>
            <a:off x="457200" y="6419088"/>
            <a:ext cx="8229600" cy="274320"/>
          </a:xfrm>
          <a:prstGeom prst="rect">
            <a:avLst/>
          </a:prstGeom>
          <a:noFill/>
          <a:ln/>
        </p:spPr>
        <p:txBody>
          <a:bodyPr wrap="square" lIns="0" tIns="0" rIns="0" bIns="0" rtlCol="0" anchor="t"/>
          <a:lstStyle/>
          <a:p>
            <a:pPr indent="0" marL="0">
              <a:buNone/>
            </a:pPr>
            <a:r>
              <a:rPr lang="en-US" sz="1000" dirty="0">
                <a:solidFill>
                  <a:srgbClr val="D6E4F0"/>
                </a:solidFill>
              </a:rPr>
              <a:t>pm-method 2.3.0 · Webinar E2E-4</a:t>
            </a:r>
            <a:endParaRPr lang="en-US" sz="1000" dirty="0"/>
          </a:p>
        </p:txBody>
      </p:sp>
      <p:sp>
        <p:nvSpPr>
          <p:cNvPr id="25" name="Slide Number Placeholder 0"/>
          <p:cNvSpPr>
            <a:spLocks noGrp="1"/>
          </p:cNvSpPr>
          <p:nvPr>
            <p:ph type="sldNum" sz="quarter" idx="4294967295"/>
          </p:nvPr>
        </p:nvSpPr>
        <p:spPr>
          <a:xfrm>
            <a:off x="11091672" y="6419088"/>
            <a:ext cx="64008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rgbClr val="D6E4F0"/>
                </a:solidFill>
              </a:defRPr>
            </a:lvl1pPr>
          </a:lstStyle>
          <a:p>
            <a:pPr algn="r"/>
            <a:fld id="{F7021451-1387-4CA6-816F-3879F97B5CBC}" type="slidenum">
              <a:rPr b="0" lang="en-US"/>
              <a:t>1006</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p:cSld name="CONTENIDO_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10268712" y="365760"/>
            <a:ext cx="1463040" cy="713232"/>
          </a:xfrm>
          <a:prstGeom prst="rect">
            <a:avLst/>
          </a:prstGeom>
          <a:solidFill>
            <a:srgbClr val="FFFFFF">
              <a:alpha val="0"/>
            </a:srgbClr>
          </a:solidFill>
          <a:ln w="12700">
            <a:solidFill>
              <a:srgbClr val="A9A9A9"/>
            </a:solidFill>
            <a:prstDash val="dash"/>
          </a:ln>
        </p:spPr>
      </p:sp>
      <p:sp>
        <p:nvSpPr>
          <p:cNvPr id="3" name="Text 1"/>
          <p:cNvSpPr/>
          <p:nvPr/>
        </p:nvSpPr>
        <p:spPr>
          <a:xfrm>
            <a:off x="10268712" y="365760"/>
            <a:ext cx="1463040" cy="713232"/>
          </a:xfrm>
          <a:prstGeom prst="rect">
            <a:avLst/>
          </a:prstGeom>
          <a:noFill/>
          <a:ln/>
        </p:spPr>
        <p:txBody>
          <a:bodyPr wrap="square" lIns="0" tIns="0" rIns="0" bIns="0" rtlCol="0" anchor="ctr"/>
          <a:lstStyle/>
          <a:p>
            <a:pPr algn="ctr" indent="0" marL="0">
              <a:buNone/>
            </a:pPr>
            <a:r>
              <a:rPr lang="en-US" sz="1000" dirty="0">
                <a:solidFill>
                  <a:srgbClr val="A9A9A9"/>
                </a:solidFill>
              </a:rPr>
              <a:t>Logo IEEE</a:t>
            </a:r>
            <a:endParaRPr lang="en-US" sz="1000" dirty="0"/>
          </a:p>
        </p:txBody>
      </p:sp>
      <p:sp>
        <p:nvSpPr>
          <p:cNvPr id="4" name="Shape 2"/>
          <p:cNvSpPr/>
          <p:nvPr/>
        </p:nvSpPr>
        <p:spPr>
          <a:xfrm>
            <a:off x="457200" y="365760"/>
            <a:ext cx="9628632" cy="713232"/>
          </a:xfrm>
          <a:prstGeom prst="rect">
            <a:avLst>
              <a:gd name="adj" fmla="val 12821"/>
            </a:avLst>
          </a:prstGeom>
          <a:solidFill>
            <a:srgbClr val="00629B"/>
          </a:solidFill>
          <a:ln/>
        </p:spPr>
      </p:sp>
      <p:sp>
        <p:nvSpPr>
          <p:cNvPr id="5" name="Text 3"/>
          <p:cNvSpPr/>
          <p:nvPr>
            <p:ph idx="103" type="title" hasCustomPrompt="1"/>
          </p:nvPr>
        </p:nvSpPr>
        <p:spPr>
          <a:xfrm>
            <a:off x="658368" y="365760"/>
            <a:ext cx="9244584" cy="713232"/>
          </a:xfrm>
          <a:prstGeom prst="rect">
            <a:avLst/>
          </a:prstGeom>
          <a:noFill/>
          <a:ln/>
        </p:spPr>
        <p:txBody>
          <a:bodyPr wrap="square" rtlCol="0"/>
          <a:lstStyle>
            <a:lvl1pPr algn="l" indent="0" marL="0">
              <a:buNone/>
              <a:defRPr lang="en-US" sz="2400" b="1" dirty="0">
                <a:solidFill>
                  <a:srgbClr val="FFFFFF"/>
                </a:solidFill>
                <a:latin typeface="Arial" pitchFamily="34" charset="0"/>
                <a:ea typeface="Arial" pitchFamily="34" charset="-122"/>
                <a:cs typeface="Arial" pitchFamily="34" charset="-120"/>
              </a:defRPr>
            </a:lvl1pPr>
          </a:lstStyle>
          <a:p>
            <a:pPr algn="l" indent="0" marL="0">
              <a:buNone/>
            </a:pPr>
            <a:endParaRPr lang="en-US" sz="2400" dirty="0"/>
          </a:p>
        </p:txBody>
      </p:sp>
      <p:sp>
        <p:nvSpPr>
          <p:cNvPr id="6" name="Text 3"/>
          <p:cNvSpPr/>
          <p:nvPr/>
        </p:nvSpPr>
        <p:spPr>
          <a:xfrm>
            <a:off x="457200" y="6419088"/>
            <a:ext cx="8229600" cy="274320"/>
          </a:xfrm>
          <a:prstGeom prst="rect">
            <a:avLst/>
          </a:prstGeom>
          <a:noFill/>
          <a:ln/>
        </p:spPr>
        <p:txBody>
          <a:bodyPr wrap="square" lIns="0" tIns="0" rIns="0" bIns="0" rtlCol="0" anchor="t"/>
          <a:lstStyle/>
          <a:p>
            <a:pPr indent="0" marL="0">
              <a:buNone/>
            </a:pPr>
            <a:r>
              <a:rPr lang="en-US" sz="1000" dirty="0">
                <a:solidFill>
                  <a:srgbClr val="696969"/>
                </a:solidFill>
              </a:rPr>
              <a:t>pm-method 2.3.0 · Webinar E2E-4 · Clase 1</a:t>
            </a:r>
            <a:endParaRPr lang="en-US" sz="1000" dirty="0"/>
          </a:p>
        </p:txBody>
      </p:sp>
      <p:sp>
        <p:nvSpPr>
          <p:cNvPr id="25" name="Slide Number Placeholder 0"/>
          <p:cNvSpPr>
            <a:spLocks noGrp="1"/>
          </p:cNvSpPr>
          <p:nvPr>
            <p:ph type="sldNum" sz="quarter" idx="4294967295"/>
          </p:nvPr>
        </p:nvSpPr>
        <p:spPr>
          <a:xfrm>
            <a:off x="11091672" y="6419088"/>
            <a:ext cx="64008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rgbClr val="696969"/>
                </a:solidFill>
              </a:defRPr>
            </a:lvl1pPr>
          </a:lstStyle>
          <a:p>
            <a:pPr algn="r"/>
            <a:fld id="{F7021451-1387-4CA6-816F-3879F97B5CBC}" type="slidenum">
              <a:rPr b="0" lang="en-US"/>
              <a:t>1007</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p:cSld name="OSCURO_1">
    <p:bg>
      <p:bgPr>
        <a:solidFill>
          <a:srgbClr val="002855"/>
        </a:solidFill>
      </p:bgPr>
    </p:bg>
    <p:spTree>
      <p:nvGrpSpPr>
        <p:cNvPr id="1" name=""/>
        <p:cNvGrpSpPr/>
        <p:nvPr/>
      </p:nvGrpSpPr>
      <p:grpSpPr>
        <a:xfrm>
          <a:off x="0" y="0"/>
          <a:ext cx="0" cy="0"/>
          <a:chOff x="0" y="0"/>
          <a:chExt cx="0" cy="0"/>
        </a:xfrm>
      </p:grpSpPr>
      <p:sp>
        <p:nvSpPr>
          <p:cNvPr id="2" name="Shape 0"/>
          <p:cNvSpPr/>
          <p:nvPr/>
        </p:nvSpPr>
        <p:spPr>
          <a:xfrm>
            <a:off x="10268712" y="365760"/>
            <a:ext cx="1463040" cy="713232"/>
          </a:xfrm>
          <a:prstGeom prst="rect">
            <a:avLst/>
          </a:prstGeom>
          <a:solidFill>
            <a:srgbClr val="002855">
              <a:alpha val="0"/>
            </a:srgbClr>
          </a:solidFill>
          <a:ln w="12700">
            <a:solidFill>
              <a:srgbClr val="7F9BB8"/>
            </a:solidFill>
            <a:prstDash val="dash"/>
          </a:ln>
        </p:spPr>
      </p:sp>
      <p:sp>
        <p:nvSpPr>
          <p:cNvPr id="3" name="Text 1"/>
          <p:cNvSpPr/>
          <p:nvPr/>
        </p:nvSpPr>
        <p:spPr>
          <a:xfrm>
            <a:off x="10268712" y="365760"/>
            <a:ext cx="1463040" cy="713232"/>
          </a:xfrm>
          <a:prstGeom prst="rect">
            <a:avLst/>
          </a:prstGeom>
          <a:noFill/>
          <a:ln/>
        </p:spPr>
        <p:txBody>
          <a:bodyPr wrap="square" lIns="0" tIns="0" rIns="0" bIns="0" rtlCol="0" anchor="ctr"/>
          <a:lstStyle/>
          <a:p>
            <a:pPr algn="ctr" indent="0" marL="0">
              <a:buNone/>
            </a:pPr>
            <a:r>
              <a:rPr lang="en-US" sz="1000" dirty="0">
                <a:solidFill>
                  <a:srgbClr val="7F9BB8"/>
                </a:solidFill>
              </a:rPr>
              <a:t>Logo IEEE</a:t>
            </a:r>
            <a:endParaRPr lang="en-US" sz="1000" dirty="0"/>
          </a:p>
        </p:txBody>
      </p:sp>
      <p:sp>
        <p:nvSpPr>
          <p:cNvPr id="4" name="Text 2"/>
          <p:cNvSpPr/>
          <p:nvPr>
            <p:ph idx="102" type="title" hasCustomPrompt="1"/>
          </p:nvPr>
        </p:nvSpPr>
        <p:spPr>
          <a:xfrm>
            <a:off x="548640" y="1143000"/>
            <a:ext cx="11091672" cy="914400"/>
          </a:xfrm>
          <a:prstGeom prst="rect">
            <a:avLst/>
          </a:prstGeom>
          <a:noFill/>
          <a:ln/>
        </p:spPr>
        <p:txBody>
          <a:bodyPr wrap="square" rtlCol="0"/>
          <a:lstStyle>
            <a:lvl1pPr algn="l" indent="0" marL="0">
              <a:buNone/>
              <a:defRPr lang="en-US" sz="3600" b="1" dirty="0">
                <a:solidFill>
                  <a:srgbClr val="FFFFFF"/>
                </a:solidFill>
                <a:latin typeface="Arial" pitchFamily="34" charset="0"/>
                <a:ea typeface="Arial" pitchFamily="34" charset="-122"/>
                <a:cs typeface="Arial" pitchFamily="34" charset="-120"/>
              </a:defRPr>
            </a:lvl1pPr>
          </a:lstStyle>
          <a:p>
            <a:pPr algn="l" indent="0" marL="0">
              <a:buNone/>
            </a:pPr>
            <a:endParaRPr lang="en-US" sz="3600" dirty="0"/>
          </a:p>
        </p:txBody>
      </p:sp>
      <p:sp>
        <p:nvSpPr>
          <p:cNvPr id="5" name="Text 2"/>
          <p:cNvSpPr/>
          <p:nvPr/>
        </p:nvSpPr>
        <p:spPr>
          <a:xfrm>
            <a:off x="457200" y="6419088"/>
            <a:ext cx="8229600" cy="274320"/>
          </a:xfrm>
          <a:prstGeom prst="rect">
            <a:avLst/>
          </a:prstGeom>
          <a:noFill/>
          <a:ln/>
        </p:spPr>
        <p:txBody>
          <a:bodyPr wrap="square" lIns="0" tIns="0" rIns="0" bIns="0" rtlCol="0" anchor="t"/>
          <a:lstStyle/>
          <a:p>
            <a:pPr indent="0" marL="0">
              <a:buNone/>
            </a:pPr>
            <a:r>
              <a:rPr lang="en-US" sz="1000" dirty="0">
                <a:solidFill>
                  <a:srgbClr val="D6E4F0"/>
                </a:solidFill>
              </a:rPr>
              <a:t>pm-method 2.3.0 · Webinar E2E-4 · Clase 1</a:t>
            </a:r>
            <a:endParaRPr lang="en-US" sz="1000" dirty="0"/>
          </a:p>
        </p:txBody>
      </p:sp>
      <p:sp>
        <p:nvSpPr>
          <p:cNvPr id="25" name="Slide Number Placeholder 0"/>
          <p:cNvSpPr>
            <a:spLocks noGrp="1"/>
          </p:cNvSpPr>
          <p:nvPr>
            <p:ph type="sldNum" sz="quarter" idx="4294967295"/>
          </p:nvPr>
        </p:nvSpPr>
        <p:spPr>
          <a:xfrm>
            <a:off x="11091672" y="6419088"/>
            <a:ext cx="64008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rgbClr val="D6E4F0"/>
                </a:solidFill>
              </a:defRPr>
            </a:lvl1pPr>
          </a:lstStyle>
          <a:p>
            <a:pPr algn="r"/>
            <a:fld id="{F7021451-1387-4CA6-816F-3879F97B5CBC}" type="slidenum">
              <a:rPr b="0" lang="en-US"/>
              <a:t>1008</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p:cSld name="SECCION_1">
    <p:bg>
      <p:bgPr>
        <a:solidFill>
          <a:srgbClr val="00629B"/>
        </a:solidFill>
      </p:bgPr>
    </p:bg>
    <p:spTree>
      <p:nvGrpSpPr>
        <p:cNvPr id="1" name=""/>
        <p:cNvGrpSpPr/>
        <p:nvPr/>
      </p:nvGrpSpPr>
      <p:grpSpPr>
        <a:xfrm>
          <a:off x="0" y="0"/>
          <a:ext cx="0" cy="0"/>
          <a:chOff x="0" y="0"/>
          <a:chExt cx="0" cy="0"/>
        </a:xfrm>
      </p:grpSpPr>
      <p:sp>
        <p:nvSpPr>
          <p:cNvPr id="2" name="Shape 0"/>
          <p:cNvSpPr/>
          <p:nvPr/>
        </p:nvSpPr>
        <p:spPr>
          <a:xfrm>
            <a:off x="10268712" y="365760"/>
            <a:ext cx="1463040" cy="713232"/>
          </a:xfrm>
          <a:prstGeom prst="rect">
            <a:avLst/>
          </a:prstGeom>
          <a:solidFill>
            <a:srgbClr val="002855">
              <a:alpha val="0"/>
            </a:srgbClr>
          </a:solidFill>
          <a:ln w="12700">
            <a:solidFill>
              <a:srgbClr val="7F9BB8"/>
            </a:solidFill>
            <a:prstDash val="dash"/>
          </a:ln>
        </p:spPr>
      </p:sp>
      <p:sp>
        <p:nvSpPr>
          <p:cNvPr id="3" name="Text 1"/>
          <p:cNvSpPr/>
          <p:nvPr/>
        </p:nvSpPr>
        <p:spPr>
          <a:xfrm>
            <a:off x="10268712" y="365760"/>
            <a:ext cx="1463040" cy="713232"/>
          </a:xfrm>
          <a:prstGeom prst="rect">
            <a:avLst/>
          </a:prstGeom>
          <a:noFill/>
          <a:ln/>
        </p:spPr>
        <p:txBody>
          <a:bodyPr wrap="square" lIns="0" tIns="0" rIns="0" bIns="0" rtlCol="0" anchor="ctr"/>
          <a:lstStyle/>
          <a:p>
            <a:pPr algn="ctr" indent="0" marL="0">
              <a:buNone/>
            </a:pPr>
            <a:r>
              <a:rPr lang="en-US" sz="1000" dirty="0">
                <a:solidFill>
                  <a:srgbClr val="7F9BB8"/>
                </a:solidFill>
              </a:rPr>
              <a:t>Logo IEEE</a:t>
            </a:r>
            <a:endParaRPr lang="en-US" sz="1000" dirty="0"/>
          </a:p>
        </p:txBody>
      </p:sp>
      <p:sp>
        <p:nvSpPr>
          <p:cNvPr id="4" name="Text 2"/>
          <p:cNvSpPr/>
          <p:nvPr>
            <p:ph idx="102" type="title" hasCustomPrompt="1"/>
          </p:nvPr>
        </p:nvSpPr>
        <p:spPr>
          <a:xfrm>
            <a:off x="548640" y="2148840"/>
            <a:ext cx="11091672" cy="1005840"/>
          </a:xfrm>
          <a:prstGeom prst="rect">
            <a:avLst/>
          </a:prstGeom>
          <a:noFill/>
          <a:ln/>
        </p:spPr>
        <p:txBody>
          <a:bodyPr wrap="square" rtlCol="0"/>
          <a:lstStyle>
            <a:lvl1pPr algn="l" indent="0" marL="0">
              <a:buNone/>
              <a:defRPr lang="en-US" sz="4000" b="1" dirty="0">
                <a:solidFill>
                  <a:srgbClr val="FFFFFF"/>
                </a:solidFill>
                <a:latin typeface="Arial" pitchFamily="34" charset="0"/>
                <a:ea typeface="Arial" pitchFamily="34" charset="-122"/>
                <a:cs typeface="Arial" pitchFamily="34" charset="-120"/>
              </a:defRPr>
            </a:lvl1pPr>
          </a:lstStyle>
          <a:p>
            <a:pPr algn="l" indent="0" marL="0">
              <a:buNone/>
            </a:pPr>
            <a:endParaRPr lang="en-US" sz="4000" dirty="0"/>
          </a:p>
        </p:txBody>
      </p:sp>
      <p:sp>
        <p:nvSpPr>
          <p:cNvPr id="5" name="Text 2"/>
          <p:cNvSpPr/>
          <p:nvPr/>
        </p:nvSpPr>
        <p:spPr>
          <a:xfrm>
            <a:off x="457200" y="6419088"/>
            <a:ext cx="8229600" cy="274320"/>
          </a:xfrm>
          <a:prstGeom prst="rect">
            <a:avLst/>
          </a:prstGeom>
          <a:noFill/>
          <a:ln/>
        </p:spPr>
        <p:txBody>
          <a:bodyPr wrap="square" lIns="0" tIns="0" rIns="0" bIns="0" rtlCol="0" anchor="t"/>
          <a:lstStyle/>
          <a:p>
            <a:pPr indent="0" marL="0">
              <a:buNone/>
            </a:pPr>
            <a:r>
              <a:rPr lang="en-US" sz="1000" dirty="0">
                <a:solidFill>
                  <a:srgbClr val="D6E4F0"/>
                </a:solidFill>
              </a:rPr>
              <a:t>pm-method 2.3.0 · Webinar E2E-4 · Clase 1</a:t>
            </a:r>
            <a:endParaRPr lang="en-US" sz="1000" dirty="0"/>
          </a:p>
        </p:txBody>
      </p:sp>
      <p:sp>
        <p:nvSpPr>
          <p:cNvPr id="25" name="Slide Number Placeholder 0"/>
          <p:cNvSpPr>
            <a:spLocks noGrp="1"/>
          </p:cNvSpPr>
          <p:nvPr>
            <p:ph type="sldNum" sz="quarter" idx="4294967295"/>
          </p:nvPr>
        </p:nvSpPr>
        <p:spPr>
          <a:xfrm>
            <a:off x="11091672" y="6419088"/>
            <a:ext cx="64008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rgbClr val="D6E4F0"/>
                </a:solidFill>
              </a:defRPr>
            </a:lvl1pPr>
          </a:lstStyle>
          <a:p>
            <a:pPr algn="r"/>
            <a:fld id="{F7021451-1387-4CA6-816F-3879F97B5CBC}" type="slidenum">
              <a:rPr b="0" lang="en-US"/>
              <a:t>1009</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PREGUNTA_1">
    <p:bg>
      <p:bgPr>
        <a:solidFill>
          <a:srgbClr val="002855"/>
        </a:solidFill>
      </p:bgPr>
    </p:bg>
    <p:spTree>
      <p:nvGrpSpPr>
        <p:cNvPr id="1" name=""/>
        <p:cNvGrpSpPr/>
        <p:nvPr/>
      </p:nvGrpSpPr>
      <p:grpSpPr>
        <a:xfrm>
          <a:off x="0" y="0"/>
          <a:ext cx="0" cy="0"/>
          <a:chOff x="0" y="0"/>
          <a:chExt cx="0" cy="0"/>
        </a:xfrm>
      </p:grpSpPr>
      <p:sp>
        <p:nvSpPr>
          <p:cNvPr id="2" name="Shape 0"/>
          <p:cNvSpPr/>
          <p:nvPr/>
        </p:nvSpPr>
        <p:spPr>
          <a:xfrm>
            <a:off x="10268712" y="365760"/>
            <a:ext cx="1463040" cy="713232"/>
          </a:xfrm>
          <a:prstGeom prst="rect">
            <a:avLst/>
          </a:prstGeom>
          <a:solidFill>
            <a:srgbClr val="002855">
              <a:alpha val="0"/>
            </a:srgbClr>
          </a:solidFill>
          <a:ln w="12700">
            <a:solidFill>
              <a:srgbClr val="7F9BB8"/>
            </a:solidFill>
            <a:prstDash val="dash"/>
          </a:ln>
        </p:spPr>
      </p:sp>
      <p:sp>
        <p:nvSpPr>
          <p:cNvPr id="3" name="Text 1"/>
          <p:cNvSpPr/>
          <p:nvPr/>
        </p:nvSpPr>
        <p:spPr>
          <a:xfrm>
            <a:off x="10268712" y="365760"/>
            <a:ext cx="1463040" cy="713232"/>
          </a:xfrm>
          <a:prstGeom prst="rect">
            <a:avLst/>
          </a:prstGeom>
          <a:noFill/>
          <a:ln/>
        </p:spPr>
        <p:txBody>
          <a:bodyPr wrap="square" lIns="0" tIns="0" rIns="0" bIns="0" rtlCol="0" anchor="ctr"/>
          <a:lstStyle/>
          <a:p>
            <a:pPr algn="ctr" indent="0" marL="0">
              <a:buNone/>
            </a:pPr>
            <a:r>
              <a:rPr lang="en-US" sz="1000" dirty="0">
                <a:solidFill>
                  <a:srgbClr val="7F9BB8"/>
                </a:solidFill>
              </a:rPr>
              <a:t>Logo IEEE</a:t>
            </a:r>
            <a:endParaRPr lang="en-US" sz="1000" dirty="0"/>
          </a:p>
        </p:txBody>
      </p:sp>
      <p:sp>
        <p:nvSpPr>
          <p:cNvPr id="4" name="Text 2"/>
          <p:cNvSpPr/>
          <p:nvPr>
            <p:ph idx="102" type="title" hasCustomPrompt="1"/>
          </p:nvPr>
        </p:nvSpPr>
        <p:spPr>
          <a:xfrm>
            <a:off x="548640" y="365760"/>
            <a:ext cx="9445752" cy="713232"/>
          </a:xfrm>
          <a:prstGeom prst="rect">
            <a:avLst/>
          </a:prstGeom>
          <a:noFill/>
          <a:ln/>
        </p:spPr>
        <p:txBody>
          <a:bodyPr wrap="square" rtlCol="0"/>
          <a:lstStyle>
            <a:lvl1pPr algn="l" indent="0" marL="0">
              <a:buNone/>
              <a:defRPr lang="en-US" sz="2200" b="1" dirty="0">
                <a:solidFill>
                  <a:srgbClr val="9FD0F0"/>
                </a:solidFill>
                <a:latin typeface="Arial" pitchFamily="34" charset="0"/>
                <a:ea typeface="Arial" pitchFamily="34" charset="-122"/>
                <a:cs typeface="Arial" pitchFamily="34" charset="-120"/>
              </a:defRPr>
            </a:lvl1pPr>
          </a:lstStyle>
          <a:p>
            <a:pPr algn="l" indent="0" marL="0">
              <a:buNone/>
            </a:pPr>
            <a:endParaRPr lang="en-US" sz="2200" dirty="0"/>
          </a:p>
        </p:txBody>
      </p:sp>
      <p:sp>
        <p:nvSpPr>
          <p:cNvPr id="5" name="Text 2"/>
          <p:cNvSpPr/>
          <p:nvPr/>
        </p:nvSpPr>
        <p:spPr>
          <a:xfrm>
            <a:off x="457200" y="6419088"/>
            <a:ext cx="8229600" cy="274320"/>
          </a:xfrm>
          <a:prstGeom prst="rect">
            <a:avLst/>
          </a:prstGeom>
          <a:noFill/>
          <a:ln/>
        </p:spPr>
        <p:txBody>
          <a:bodyPr wrap="square" lIns="0" tIns="0" rIns="0" bIns="0" rtlCol="0" anchor="t"/>
          <a:lstStyle/>
          <a:p>
            <a:pPr indent="0" marL="0">
              <a:buNone/>
            </a:pPr>
            <a:r>
              <a:rPr lang="en-US" sz="1000" dirty="0">
                <a:solidFill>
                  <a:srgbClr val="D6E4F0"/>
                </a:solidFill>
              </a:rPr>
              <a:t>pm-method 2.3.0 · Webinar E2E-4 · Clase 1</a:t>
            </a:r>
            <a:endParaRPr lang="en-US" sz="1000" dirty="0"/>
          </a:p>
        </p:txBody>
      </p:sp>
      <p:sp>
        <p:nvSpPr>
          <p:cNvPr id="25" name="Slide Number Placeholder 0"/>
          <p:cNvSpPr>
            <a:spLocks noGrp="1"/>
          </p:cNvSpPr>
          <p:nvPr>
            <p:ph type="sldNum" sz="quarter" idx="4294967295"/>
          </p:nvPr>
        </p:nvSpPr>
        <p:spPr>
          <a:xfrm>
            <a:off x="11091672" y="6419088"/>
            <a:ext cx="64008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rgbClr val="D6E4F0"/>
                </a:solidFill>
              </a:defRPr>
            </a:lvl1pPr>
          </a:lstStyle>
          <a:p>
            <a:pPr algn="r"/>
            <a:fld id="{F7021451-1387-4CA6-816F-3879F97B5CBC}" type="slidenum">
              <a:rPr b="0" lang="en-US"/>
              <a:t>1010</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CONTENIDO_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10268712" y="365760"/>
            <a:ext cx="1463040" cy="713232"/>
          </a:xfrm>
          <a:prstGeom prst="rect">
            <a:avLst/>
          </a:prstGeom>
          <a:solidFill>
            <a:srgbClr val="FFFFFF">
              <a:alpha val="0"/>
            </a:srgbClr>
          </a:solidFill>
          <a:ln w="12700">
            <a:solidFill>
              <a:srgbClr val="A9A9A9"/>
            </a:solidFill>
            <a:prstDash val="dash"/>
          </a:ln>
        </p:spPr>
      </p:sp>
      <p:sp>
        <p:nvSpPr>
          <p:cNvPr id="3" name="Text 1"/>
          <p:cNvSpPr/>
          <p:nvPr/>
        </p:nvSpPr>
        <p:spPr>
          <a:xfrm>
            <a:off x="10268712" y="365760"/>
            <a:ext cx="1463040" cy="713232"/>
          </a:xfrm>
          <a:prstGeom prst="rect">
            <a:avLst/>
          </a:prstGeom>
          <a:noFill/>
          <a:ln/>
        </p:spPr>
        <p:txBody>
          <a:bodyPr wrap="square" lIns="0" tIns="0" rIns="0" bIns="0" rtlCol="0" anchor="ctr"/>
          <a:lstStyle/>
          <a:p>
            <a:pPr algn="ctr" indent="0" marL="0">
              <a:buNone/>
            </a:pPr>
            <a:r>
              <a:rPr lang="en-US" sz="1000" dirty="0">
                <a:solidFill>
                  <a:srgbClr val="A9A9A9"/>
                </a:solidFill>
              </a:rPr>
              <a:t>Logo IEEE</a:t>
            </a:r>
            <a:endParaRPr lang="en-US" sz="1000" dirty="0"/>
          </a:p>
        </p:txBody>
      </p:sp>
      <p:sp>
        <p:nvSpPr>
          <p:cNvPr id="4" name="Shape 2"/>
          <p:cNvSpPr/>
          <p:nvPr/>
        </p:nvSpPr>
        <p:spPr>
          <a:xfrm>
            <a:off x="457200" y="365760"/>
            <a:ext cx="9628632" cy="713232"/>
          </a:xfrm>
          <a:prstGeom prst="rect">
            <a:avLst>
              <a:gd name="adj" fmla="val 12821"/>
            </a:avLst>
          </a:prstGeom>
          <a:solidFill>
            <a:srgbClr val="00629B"/>
          </a:solidFill>
          <a:ln/>
        </p:spPr>
      </p:sp>
      <p:sp>
        <p:nvSpPr>
          <p:cNvPr id="5" name="Text 3"/>
          <p:cNvSpPr/>
          <p:nvPr>
            <p:ph idx="103" type="title" hasCustomPrompt="1"/>
          </p:nvPr>
        </p:nvSpPr>
        <p:spPr>
          <a:xfrm>
            <a:off x="658368" y="365760"/>
            <a:ext cx="9244584" cy="713232"/>
          </a:xfrm>
          <a:prstGeom prst="rect">
            <a:avLst/>
          </a:prstGeom>
          <a:noFill/>
          <a:ln/>
        </p:spPr>
        <p:txBody>
          <a:bodyPr wrap="square" rtlCol="0"/>
          <a:lstStyle>
            <a:lvl1pPr algn="l" indent="0" marL="0">
              <a:buNone/>
              <a:defRPr lang="en-US" sz="2400" b="1" dirty="0">
                <a:solidFill>
                  <a:srgbClr val="FFFFFF"/>
                </a:solidFill>
                <a:latin typeface="Arial" pitchFamily="34" charset="0"/>
                <a:ea typeface="Arial" pitchFamily="34" charset="-122"/>
                <a:cs typeface="Arial" pitchFamily="34" charset="-120"/>
              </a:defRPr>
            </a:lvl1pPr>
          </a:lstStyle>
          <a:p>
            <a:pPr algn="l" indent="0" marL="0">
              <a:buNone/>
            </a:pPr>
            <a:endParaRPr lang="en-US" sz="2400" dirty="0"/>
          </a:p>
        </p:txBody>
      </p:sp>
      <p:sp>
        <p:nvSpPr>
          <p:cNvPr id="6" name="Text 3"/>
          <p:cNvSpPr/>
          <p:nvPr/>
        </p:nvSpPr>
        <p:spPr>
          <a:xfrm>
            <a:off x="457200" y="6419088"/>
            <a:ext cx="8229600" cy="274320"/>
          </a:xfrm>
          <a:prstGeom prst="rect">
            <a:avLst/>
          </a:prstGeom>
          <a:noFill/>
          <a:ln/>
        </p:spPr>
        <p:txBody>
          <a:bodyPr wrap="square" lIns="0" tIns="0" rIns="0" bIns="0" rtlCol="0" anchor="t"/>
          <a:lstStyle/>
          <a:p>
            <a:pPr indent="0" marL="0">
              <a:buNone/>
            </a:pPr>
            <a:r>
              <a:rPr lang="en-US" sz="1000" dirty="0">
                <a:solidFill>
                  <a:srgbClr val="696969"/>
                </a:solidFill>
              </a:rPr>
              <a:t>pm-method 2.3.0 · Webinar E2E-4 · Clase 2</a:t>
            </a:r>
            <a:endParaRPr lang="en-US" sz="1000" dirty="0"/>
          </a:p>
        </p:txBody>
      </p:sp>
      <p:sp>
        <p:nvSpPr>
          <p:cNvPr id="25" name="Slide Number Placeholder 0"/>
          <p:cNvSpPr>
            <a:spLocks noGrp="1"/>
          </p:cNvSpPr>
          <p:nvPr>
            <p:ph type="sldNum" sz="quarter" idx="4294967295"/>
          </p:nvPr>
        </p:nvSpPr>
        <p:spPr>
          <a:xfrm>
            <a:off x="11091672" y="6419088"/>
            <a:ext cx="64008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rgbClr val="696969"/>
                </a:solidFill>
              </a:defRPr>
            </a:lvl1pPr>
          </a:lstStyle>
          <a:p>
            <a:pPr algn="r"/>
            <a:fld id="{F7021451-1387-4CA6-816F-3879F97B5CBC}" type="slidenum">
              <a:rPr b="0" lang="en-US"/>
              <a:t>1011</a:t>
            </a:fld>
            <a:endParaRPr lang="en-US"/>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OSCURO_2">
    <p:bg>
      <p:bgPr>
        <a:solidFill>
          <a:srgbClr val="002855"/>
        </a:solidFill>
      </p:bgPr>
    </p:bg>
    <p:spTree>
      <p:nvGrpSpPr>
        <p:cNvPr id="1" name=""/>
        <p:cNvGrpSpPr/>
        <p:nvPr/>
      </p:nvGrpSpPr>
      <p:grpSpPr>
        <a:xfrm>
          <a:off x="0" y="0"/>
          <a:ext cx="0" cy="0"/>
          <a:chOff x="0" y="0"/>
          <a:chExt cx="0" cy="0"/>
        </a:xfrm>
      </p:grpSpPr>
      <p:sp>
        <p:nvSpPr>
          <p:cNvPr id="2" name="Shape 0"/>
          <p:cNvSpPr/>
          <p:nvPr/>
        </p:nvSpPr>
        <p:spPr>
          <a:xfrm>
            <a:off x="10268712" y="365760"/>
            <a:ext cx="1463040" cy="713232"/>
          </a:xfrm>
          <a:prstGeom prst="rect">
            <a:avLst/>
          </a:prstGeom>
          <a:solidFill>
            <a:srgbClr val="002855">
              <a:alpha val="0"/>
            </a:srgbClr>
          </a:solidFill>
          <a:ln w="12700">
            <a:solidFill>
              <a:srgbClr val="7F9BB8"/>
            </a:solidFill>
            <a:prstDash val="dash"/>
          </a:ln>
        </p:spPr>
      </p:sp>
      <p:sp>
        <p:nvSpPr>
          <p:cNvPr id="3" name="Text 1"/>
          <p:cNvSpPr/>
          <p:nvPr/>
        </p:nvSpPr>
        <p:spPr>
          <a:xfrm>
            <a:off x="10268712" y="365760"/>
            <a:ext cx="1463040" cy="713232"/>
          </a:xfrm>
          <a:prstGeom prst="rect">
            <a:avLst/>
          </a:prstGeom>
          <a:noFill/>
          <a:ln/>
        </p:spPr>
        <p:txBody>
          <a:bodyPr wrap="square" lIns="0" tIns="0" rIns="0" bIns="0" rtlCol="0" anchor="ctr"/>
          <a:lstStyle/>
          <a:p>
            <a:pPr algn="ctr" indent="0" marL="0">
              <a:buNone/>
            </a:pPr>
            <a:r>
              <a:rPr lang="en-US" sz="1000" dirty="0">
                <a:solidFill>
                  <a:srgbClr val="7F9BB8"/>
                </a:solidFill>
              </a:rPr>
              <a:t>Logo IEEE</a:t>
            </a:r>
            <a:endParaRPr lang="en-US" sz="1000" dirty="0"/>
          </a:p>
        </p:txBody>
      </p:sp>
      <p:sp>
        <p:nvSpPr>
          <p:cNvPr id="4" name="Text 2"/>
          <p:cNvSpPr/>
          <p:nvPr>
            <p:ph idx="102" type="title" hasCustomPrompt="1"/>
          </p:nvPr>
        </p:nvSpPr>
        <p:spPr>
          <a:xfrm>
            <a:off x="548640" y="1143000"/>
            <a:ext cx="11091672" cy="914400"/>
          </a:xfrm>
          <a:prstGeom prst="rect">
            <a:avLst/>
          </a:prstGeom>
          <a:noFill/>
          <a:ln/>
        </p:spPr>
        <p:txBody>
          <a:bodyPr wrap="square" rtlCol="0"/>
          <a:lstStyle>
            <a:lvl1pPr algn="l" indent="0" marL="0">
              <a:buNone/>
              <a:defRPr lang="en-US" sz="3600" b="1" dirty="0">
                <a:solidFill>
                  <a:srgbClr val="FFFFFF"/>
                </a:solidFill>
                <a:latin typeface="Arial" pitchFamily="34" charset="0"/>
                <a:ea typeface="Arial" pitchFamily="34" charset="-122"/>
                <a:cs typeface="Arial" pitchFamily="34" charset="-120"/>
              </a:defRPr>
            </a:lvl1pPr>
          </a:lstStyle>
          <a:p>
            <a:pPr algn="l" indent="0" marL="0">
              <a:buNone/>
            </a:pPr>
            <a:endParaRPr lang="en-US" sz="3600" dirty="0"/>
          </a:p>
        </p:txBody>
      </p:sp>
      <p:sp>
        <p:nvSpPr>
          <p:cNvPr id="5" name="Text 2"/>
          <p:cNvSpPr/>
          <p:nvPr/>
        </p:nvSpPr>
        <p:spPr>
          <a:xfrm>
            <a:off x="457200" y="6419088"/>
            <a:ext cx="8229600" cy="274320"/>
          </a:xfrm>
          <a:prstGeom prst="rect">
            <a:avLst/>
          </a:prstGeom>
          <a:noFill/>
          <a:ln/>
        </p:spPr>
        <p:txBody>
          <a:bodyPr wrap="square" lIns="0" tIns="0" rIns="0" bIns="0" rtlCol="0" anchor="t"/>
          <a:lstStyle/>
          <a:p>
            <a:pPr indent="0" marL="0">
              <a:buNone/>
            </a:pPr>
            <a:r>
              <a:rPr lang="en-US" sz="1000" dirty="0">
                <a:solidFill>
                  <a:srgbClr val="D6E4F0"/>
                </a:solidFill>
              </a:rPr>
              <a:t>pm-method 2.3.0 · Webinar E2E-4 · Clase 2</a:t>
            </a:r>
            <a:endParaRPr lang="en-US" sz="1000" dirty="0"/>
          </a:p>
        </p:txBody>
      </p:sp>
      <p:sp>
        <p:nvSpPr>
          <p:cNvPr id="25" name="Slide Number Placeholder 0"/>
          <p:cNvSpPr>
            <a:spLocks noGrp="1"/>
          </p:cNvSpPr>
          <p:nvPr>
            <p:ph type="sldNum" sz="quarter" idx="4294967295"/>
          </p:nvPr>
        </p:nvSpPr>
        <p:spPr>
          <a:xfrm>
            <a:off x="11091672" y="6419088"/>
            <a:ext cx="64008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rgbClr val="D6E4F0"/>
                </a:solidFill>
              </a:defRPr>
            </a:lvl1pPr>
          </a:lstStyle>
          <a:p>
            <a:pPr algn="r"/>
            <a:fld id="{F7021451-1387-4CA6-816F-3879F97B5CBC}" type="slidenum">
              <a:rPr b="0" lang="en-US"/>
              <a:t>1012</a:t>
            </a:fld>
            <a:endParaRPr lang="en-US"/>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SECCION_2">
    <p:bg>
      <p:bgPr>
        <a:solidFill>
          <a:srgbClr val="00629B"/>
        </a:solidFill>
      </p:bgPr>
    </p:bg>
    <p:spTree>
      <p:nvGrpSpPr>
        <p:cNvPr id="1" name=""/>
        <p:cNvGrpSpPr/>
        <p:nvPr/>
      </p:nvGrpSpPr>
      <p:grpSpPr>
        <a:xfrm>
          <a:off x="0" y="0"/>
          <a:ext cx="0" cy="0"/>
          <a:chOff x="0" y="0"/>
          <a:chExt cx="0" cy="0"/>
        </a:xfrm>
      </p:grpSpPr>
      <p:sp>
        <p:nvSpPr>
          <p:cNvPr id="2" name="Shape 0"/>
          <p:cNvSpPr/>
          <p:nvPr/>
        </p:nvSpPr>
        <p:spPr>
          <a:xfrm>
            <a:off x="10268712" y="365760"/>
            <a:ext cx="1463040" cy="713232"/>
          </a:xfrm>
          <a:prstGeom prst="rect">
            <a:avLst/>
          </a:prstGeom>
          <a:solidFill>
            <a:srgbClr val="002855">
              <a:alpha val="0"/>
            </a:srgbClr>
          </a:solidFill>
          <a:ln w="12700">
            <a:solidFill>
              <a:srgbClr val="7F9BB8"/>
            </a:solidFill>
            <a:prstDash val="dash"/>
          </a:ln>
        </p:spPr>
      </p:sp>
      <p:sp>
        <p:nvSpPr>
          <p:cNvPr id="3" name="Text 1"/>
          <p:cNvSpPr/>
          <p:nvPr/>
        </p:nvSpPr>
        <p:spPr>
          <a:xfrm>
            <a:off x="10268712" y="365760"/>
            <a:ext cx="1463040" cy="713232"/>
          </a:xfrm>
          <a:prstGeom prst="rect">
            <a:avLst/>
          </a:prstGeom>
          <a:noFill/>
          <a:ln/>
        </p:spPr>
        <p:txBody>
          <a:bodyPr wrap="square" lIns="0" tIns="0" rIns="0" bIns="0" rtlCol="0" anchor="ctr"/>
          <a:lstStyle/>
          <a:p>
            <a:pPr algn="ctr" indent="0" marL="0">
              <a:buNone/>
            </a:pPr>
            <a:r>
              <a:rPr lang="en-US" sz="1000" dirty="0">
                <a:solidFill>
                  <a:srgbClr val="7F9BB8"/>
                </a:solidFill>
              </a:rPr>
              <a:t>Logo IEEE</a:t>
            </a:r>
            <a:endParaRPr lang="en-US" sz="1000" dirty="0"/>
          </a:p>
        </p:txBody>
      </p:sp>
      <p:sp>
        <p:nvSpPr>
          <p:cNvPr id="4" name="Text 2"/>
          <p:cNvSpPr/>
          <p:nvPr>
            <p:ph idx="102" type="title" hasCustomPrompt="1"/>
          </p:nvPr>
        </p:nvSpPr>
        <p:spPr>
          <a:xfrm>
            <a:off x="548640" y="2148840"/>
            <a:ext cx="11091672" cy="1005840"/>
          </a:xfrm>
          <a:prstGeom prst="rect">
            <a:avLst/>
          </a:prstGeom>
          <a:noFill/>
          <a:ln/>
        </p:spPr>
        <p:txBody>
          <a:bodyPr wrap="square" rtlCol="0"/>
          <a:lstStyle>
            <a:lvl1pPr algn="l" indent="0" marL="0">
              <a:buNone/>
              <a:defRPr lang="en-US" sz="4000" b="1" dirty="0">
                <a:solidFill>
                  <a:srgbClr val="FFFFFF"/>
                </a:solidFill>
                <a:latin typeface="Arial" pitchFamily="34" charset="0"/>
                <a:ea typeface="Arial" pitchFamily="34" charset="-122"/>
                <a:cs typeface="Arial" pitchFamily="34" charset="-120"/>
              </a:defRPr>
            </a:lvl1pPr>
          </a:lstStyle>
          <a:p>
            <a:pPr algn="l" indent="0" marL="0">
              <a:buNone/>
            </a:pPr>
            <a:endParaRPr lang="en-US" sz="4000" dirty="0"/>
          </a:p>
        </p:txBody>
      </p:sp>
      <p:sp>
        <p:nvSpPr>
          <p:cNvPr id="5" name="Text 2"/>
          <p:cNvSpPr/>
          <p:nvPr/>
        </p:nvSpPr>
        <p:spPr>
          <a:xfrm>
            <a:off x="457200" y="6419088"/>
            <a:ext cx="8229600" cy="274320"/>
          </a:xfrm>
          <a:prstGeom prst="rect">
            <a:avLst/>
          </a:prstGeom>
          <a:noFill/>
          <a:ln/>
        </p:spPr>
        <p:txBody>
          <a:bodyPr wrap="square" lIns="0" tIns="0" rIns="0" bIns="0" rtlCol="0" anchor="t"/>
          <a:lstStyle/>
          <a:p>
            <a:pPr indent="0" marL="0">
              <a:buNone/>
            </a:pPr>
            <a:r>
              <a:rPr lang="en-US" sz="1000" dirty="0">
                <a:solidFill>
                  <a:srgbClr val="D6E4F0"/>
                </a:solidFill>
              </a:rPr>
              <a:t>pm-method 2.3.0 · Webinar E2E-4 · Clase 2</a:t>
            </a:r>
            <a:endParaRPr lang="en-US" sz="1000" dirty="0"/>
          </a:p>
        </p:txBody>
      </p:sp>
      <p:sp>
        <p:nvSpPr>
          <p:cNvPr id="25" name="Slide Number Placeholder 0"/>
          <p:cNvSpPr>
            <a:spLocks noGrp="1"/>
          </p:cNvSpPr>
          <p:nvPr>
            <p:ph type="sldNum" sz="quarter" idx="4294967295"/>
          </p:nvPr>
        </p:nvSpPr>
        <p:spPr>
          <a:xfrm>
            <a:off x="11091672" y="6419088"/>
            <a:ext cx="64008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rgbClr val="D6E4F0"/>
                </a:solidFill>
              </a:defRPr>
            </a:lvl1pPr>
          </a:lstStyle>
          <a:p>
            <a:pPr algn="r"/>
            <a:fld id="{F7021451-1387-4CA6-816F-3879F97B5CBC}" type="slidenum">
              <a:rPr b="0" lang="en-US"/>
              <a:t>1013</a:t>
            </a:fld>
            <a:endParaRPr lang="en-US"/>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PREGUNTA_2">
    <p:bg>
      <p:bgPr>
        <a:solidFill>
          <a:srgbClr val="002855"/>
        </a:solidFill>
      </p:bgPr>
    </p:bg>
    <p:spTree>
      <p:nvGrpSpPr>
        <p:cNvPr id="1" name=""/>
        <p:cNvGrpSpPr/>
        <p:nvPr/>
      </p:nvGrpSpPr>
      <p:grpSpPr>
        <a:xfrm>
          <a:off x="0" y="0"/>
          <a:ext cx="0" cy="0"/>
          <a:chOff x="0" y="0"/>
          <a:chExt cx="0" cy="0"/>
        </a:xfrm>
      </p:grpSpPr>
      <p:sp>
        <p:nvSpPr>
          <p:cNvPr id="2" name="Shape 0"/>
          <p:cNvSpPr/>
          <p:nvPr/>
        </p:nvSpPr>
        <p:spPr>
          <a:xfrm>
            <a:off x="10268712" y="365760"/>
            <a:ext cx="1463040" cy="713232"/>
          </a:xfrm>
          <a:prstGeom prst="rect">
            <a:avLst/>
          </a:prstGeom>
          <a:solidFill>
            <a:srgbClr val="002855">
              <a:alpha val="0"/>
            </a:srgbClr>
          </a:solidFill>
          <a:ln w="12700">
            <a:solidFill>
              <a:srgbClr val="7F9BB8"/>
            </a:solidFill>
            <a:prstDash val="dash"/>
          </a:ln>
        </p:spPr>
      </p:sp>
      <p:sp>
        <p:nvSpPr>
          <p:cNvPr id="3" name="Text 1"/>
          <p:cNvSpPr/>
          <p:nvPr/>
        </p:nvSpPr>
        <p:spPr>
          <a:xfrm>
            <a:off x="10268712" y="365760"/>
            <a:ext cx="1463040" cy="713232"/>
          </a:xfrm>
          <a:prstGeom prst="rect">
            <a:avLst/>
          </a:prstGeom>
          <a:noFill/>
          <a:ln/>
        </p:spPr>
        <p:txBody>
          <a:bodyPr wrap="square" lIns="0" tIns="0" rIns="0" bIns="0" rtlCol="0" anchor="ctr"/>
          <a:lstStyle/>
          <a:p>
            <a:pPr algn="ctr" indent="0" marL="0">
              <a:buNone/>
            </a:pPr>
            <a:r>
              <a:rPr lang="en-US" sz="1000" dirty="0">
                <a:solidFill>
                  <a:srgbClr val="7F9BB8"/>
                </a:solidFill>
              </a:rPr>
              <a:t>Logo IEEE</a:t>
            </a:r>
            <a:endParaRPr lang="en-US" sz="1000" dirty="0"/>
          </a:p>
        </p:txBody>
      </p:sp>
      <p:sp>
        <p:nvSpPr>
          <p:cNvPr id="4" name="Text 2"/>
          <p:cNvSpPr/>
          <p:nvPr>
            <p:ph idx="102" type="title" hasCustomPrompt="1"/>
          </p:nvPr>
        </p:nvSpPr>
        <p:spPr>
          <a:xfrm>
            <a:off x="548640" y="365760"/>
            <a:ext cx="9445752" cy="713232"/>
          </a:xfrm>
          <a:prstGeom prst="rect">
            <a:avLst/>
          </a:prstGeom>
          <a:noFill/>
          <a:ln/>
        </p:spPr>
        <p:txBody>
          <a:bodyPr wrap="square" rtlCol="0"/>
          <a:lstStyle>
            <a:lvl1pPr algn="l" indent="0" marL="0">
              <a:buNone/>
              <a:defRPr lang="en-US" sz="2200" b="1" dirty="0">
                <a:solidFill>
                  <a:srgbClr val="9FD0F0"/>
                </a:solidFill>
                <a:latin typeface="Arial" pitchFamily="34" charset="0"/>
                <a:ea typeface="Arial" pitchFamily="34" charset="-122"/>
                <a:cs typeface="Arial" pitchFamily="34" charset="-120"/>
              </a:defRPr>
            </a:lvl1pPr>
          </a:lstStyle>
          <a:p>
            <a:pPr algn="l" indent="0" marL="0">
              <a:buNone/>
            </a:pPr>
            <a:endParaRPr lang="en-US" sz="2200" dirty="0"/>
          </a:p>
        </p:txBody>
      </p:sp>
      <p:sp>
        <p:nvSpPr>
          <p:cNvPr id="5" name="Text 2"/>
          <p:cNvSpPr/>
          <p:nvPr/>
        </p:nvSpPr>
        <p:spPr>
          <a:xfrm>
            <a:off x="457200" y="6419088"/>
            <a:ext cx="8229600" cy="274320"/>
          </a:xfrm>
          <a:prstGeom prst="rect">
            <a:avLst/>
          </a:prstGeom>
          <a:noFill/>
          <a:ln/>
        </p:spPr>
        <p:txBody>
          <a:bodyPr wrap="square" lIns="0" tIns="0" rIns="0" bIns="0" rtlCol="0" anchor="t"/>
          <a:lstStyle/>
          <a:p>
            <a:pPr indent="0" marL="0">
              <a:buNone/>
            </a:pPr>
            <a:r>
              <a:rPr lang="en-US" sz="1000" dirty="0">
                <a:solidFill>
                  <a:srgbClr val="D6E4F0"/>
                </a:solidFill>
              </a:rPr>
              <a:t>pm-method 2.3.0 · Webinar E2E-4 · Clase 2</a:t>
            </a:r>
            <a:endParaRPr lang="en-US" sz="1000" dirty="0"/>
          </a:p>
        </p:txBody>
      </p:sp>
      <p:sp>
        <p:nvSpPr>
          <p:cNvPr id="25" name="Slide Number Placeholder 0"/>
          <p:cNvSpPr>
            <a:spLocks noGrp="1"/>
          </p:cNvSpPr>
          <p:nvPr>
            <p:ph type="sldNum" sz="quarter" idx="4294967295"/>
          </p:nvPr>
        </p:nvSpPr>
        <p:spPr>
          <a:xfrm>
            <a:off x="11091672" y="6419088"/>
            <a:ext cx="64008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rgbClr val="D6E4F0"/>
                </a:solidFill>
              </a:defRPr>
            </a:lvl1pPr>
          </a:lstStyle>
          <a:p>
            <a:pPr algn="r"/>
            <a:fld id="{F7021451-1387-4CA6-816F-3879F97B5CBC}" type="slidenum">
              <a:rPr b="0" lang="en-US"/>
              <a:t>1014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91672" y="6419088"/>
            <a:ext cx="64008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rgbClr val="696969"/>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 id="2147483661" r:id="rId13"/>
    <p:sldLayoutId id="2147483662" r:id="rId1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7.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7.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0.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11.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11.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11.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11.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1.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txBox="1"/>
          <p:nvPr/>
        </p:nvSpPr>
        <p:spPr>
          <a:xfrm>
            <a:off x="548640" y="1600200"/>
            <a:ext cx="8229600" cy="365760"/>
          </a:xfrm>
          <a:prstGeom prst="rect">
            <a:avLst/>
          </a:prstGeom>
          <a:noFill/>
          <a:ln/>
        </p:spPr>
        <p:txBody>
          <a:bodyPr wrap="square" lIns="0" tIns="0" rIns="0" bIns="0" rtlCol="0" anchor="t"/>
          <a:lstStyle/>
          <a:p>
            <a:pPr indent="0" marL="0">
              <a:buNone/>
            </a:pPr>
            <a:r>
              <a:rPr lang="en-US" sz="1600" b="1" dirty="0">
                <a:solidFill>
                  <a:srgbClr val="9FD0F0"/>
                </a:solidFill>
                <a:latin typeface="Arial" pitchFamily="34" charset="0"/>
                <a:ea typeface="Arial" pitchFamily="34" charset="-122"/>
                <a:cs typeface="Arial" pitchFamily="34" charset="-120"/>
              </a:rPr>
              <a:t>Webinar · pm-method 2.3.0 · E2E-4</a:t>
            </a:r>
            <a:endParaRPr lang="en-US" sz="1600" dirty="0"/>
          </a:p>
        </p:txBody>
      </p:sp>
      <p:sp>
        <p:nvSpPr>
          <p:cNvPr id="3" name="Text 1"/>
          <p:cNvSpPr txBox="1"/>
          <p:nvPr/>
        </p:nvSpPr>
        <p:spPr>
          <a:xfrm>
            <a:off x="548640" y="2057400"/>
            <a:ext cx="10789920" cy="1371600"/>
          </a:xfrm>
          <a:prstGeom prst="rect">
            <a:avLst/>
          </a:prstGeom>
          <a:noFill/>
          <a:ln/>
        </p:spPr>
        <p:txBody>
          <a:bodyPr wrap="square" lIns="0" tIns="0" rIns="0" bIns="0" rtlCol="0" anchor="t"/>
          <a:lstStyle/>
          <a:p>
            <a:pPr indent="0" marL="0">
              <a:buNone/>
            </a:pPr>
            <a:r>
              <a:rPr lang="en-US" sz="4000" b="1" dirty="0">
                <a:solidFill>
                  <a:srgbClr val="FFFFFF"/>
                </a:solidFill>
                <a:latin typeface="Arial" pitchFamily="34" charset="0"/>
                <a:ea typeface="Arial" pitchFamily="34" charset="-122"/>
                <a:cs typeface="Arial" pitchFamily="34" charset="-120"/>
              </a:rPr>
              <a:t>Producto con BMAD gobernado con PRINCE2</a:t>
            </a:r>
            <a:endParaRPr lang="en-US" sz="4000" dirty="0"/>
          </a:p>
        </p:txBody>
      </p:sp>
      <p:sp>
        <p:nvSpPr>
          <p:cNvPr id="4" name="Text 2"/>
          <p:cNvSpPr txBox="1"/>
          <p:nvPr/>
        </p:nvSpPr>
        <p:spPr>
          <a:xfrm>
            <a:off x="548640" y="3520440"/>
            <a:ext cx="10789920" cy="868680"/>
          </a:xfrm>
          <a:prstGeom prst="rect">
            <a:avLst/>
          </a:prstGeom>
          <a:noFill/>
          <a:ln/>
        </p:spPr>
        <p:txBody>
          <a:bodyPr wrap="square" lIns="0" tIns="0" rIns="0" bIns="0" rtlCol="0" anchor="t"/>
          <a:lstStyle/>
          <a:p>
            <a:pPr indent="0" marL="0">
              <a:buNone/>
            </a:pPr>
            <a:r>
              <a:rPr lang="en-US" sz="2000" dirty="0">
                <a:solidFill>
                  <a:srgbClr val="D6E4F0"/>
                </a:solidFill>
                <a:latin typeface="Arial" pitchFamily="34" charset="0"/>
                <a:ea typeface="Arial" pitchFamily="34" charset="-122"/>
                <a:cs typeface="Arial" pitchFamily="34" charset="-120"/>
              </a:rPr>
              <a:t>Del done al beneficio medido: condiciones, cambios, calidad a volumen, recorrido del cliente, cierre y beneficios</a:t>
            </a:r>
            <a:endParaRPr lang="en-US" sz="1600" dirty="0"/>
          </a:p>
        </p:txBody>
      </p:sp>
      <p:sp>
        <p:nvSpPr>
          <p:cNvPr id="5" name="Shape 3"/>
          <p:cNvSpPr/>
          <p:nvPr/>
        </p:nvSpPr>
        <p:spPr>
          <a:xfrm>
            <a:off x="548640" y="4617720"/>
            <a:ext cx="3657600" cy="1325880"/>
          </a:xfrm>
          <a:prstGeom prst="roundRect">
            <a:avLst>
              <a:gd name="adj" fmla="val 6897"/>
            </a:avLst>
          </a:prstGeom>
          <a:solidFill>
            <a:srgbClr val="173D66"/>
          </a:solidFill>
          <a:ln w="12700">
            <a:solidFill>
              <a:srgbClr val="173D66"/>
            </a:solidFill>
            <a:prstDash val="solid"/>
          </a:ln>
        </p:spPr>
      </p:sp>
      <p:sp>
        <p:nvSpPr>
          <p:cNvPr id="6" name="Text 4"/>
          <p:cNvSpPr txBox="1"/>
          <p:nvPr/>
        </p:nvSpPr>
        <p:spPr>
          <a:xfrm>
            <a:off x="749808" y="4727448"/>
            <a:ext cx="3255264" cy="310896"/>
          </a:xfrm>
          <a:prstGeom prst="rect">
            <a:avLst/>
          </a:prstGeom>
          <a:noFill/>
          <a:ln/>
        </p:spPr>
        <p:txBody>
          <a:bodyPr wrap="square" lIns="0" tIns="0" rIns="0" bIns="0" rtlCol="0" anchor="t"/>
          <a:lstStyle/>
          <a:p>
            <a:pPr indent="0" marL="0">
              <a:buNone/>
            </a:pPr>
            <a:r>
              <a:rPr lang="en-US" sz="1400" b="1" dirty="0">
                <a:solidFill>
                  <a:srgbClr val="9FD0F0"/>
                </a:solidFill>
                <a:latin typeface="Arial" pitchFamily="34" charset="0"/>
                <a:ea typeface="Arial" pitchFamily="34" charset="-122"/>
                <a:cs typeface="Arial" pitchFamily="34" charset="-120"/>
              </a:rPr>
              <a:t>Clase 1 · 90 min</a:t>
            </a:r>
            <a:endParaRPr lang="en-US" sz="1400" dirty="0"/>
          </a:p>
        </p:txBody>
      </p:sp>
      <p:sp>
        <p:nvSpPr>
          <p:cNvPr id="7" name="Text 5"/>
          <p:cNvSpPr txBox="1"/>
          <p:nvPr/>
        </p:nvSpPr>
        <p:spPr>
          <a:xfrm>
            <a:off x="749808" y="5074920"/>
            <a:ext cx="3255264" cy="777240"/>
          </a:xfrm>
          <a:prstGeom prst="rect">
            <a:avLst/>
          </a:prstGeom>
          <a:noFill/>
          <a:ln/>
        </p:spPr>
        <p:txBody>
          <a:bodyPr wrap="square" lIns="0" tIns="0" rIns="0" bIns="0" rtlCol="0" anchor="t"/>
          <a:lstStyle/>
          <a:p>
            <a:pPr indent="0" marL="0">
              <a:buNone/>
            </a:pPr>
            <a:r>
              <a:rPr lang="en-US" sz="1600" dirty="0">
                <a:solidFill>
                  <a:srgbClr val="FFFFFF"/>
                </a:solidFill>
                <a:latin typeface="Arial" pitchFamily="34" charset="0"/>
                <a:ea typeface="Arial" pitchFamily="34" charset="-122"/>
                <a:cs typeface="Arial" pitchFamily="34" charset="-120"/>
              </a:rPr>
              <a:t>Gobernar la construcción con BMAD</a:t>
            </a:r>
            <a:endParaRPr lang="en-US" sz="1600" dirty="0"/>
          </a:p>
        </p:txBody>
      </p:sp>
      <p:sp>
        <p:nvSpPr>
          <p:cNvPr id="8" name="Shape 6"/>
          <p:cNvSpPr/>
          <p:nvPr/>
        </p:nvSpPr>
        <p:spPr>
          <a:xfrm>
            <a:off x="4480560" y="4617720"/>
            <a:ext cx="3657600" cy="1325880"/>
          </a:xfrm>
          <a:prstGeom prst="roundRect">
            <a:avLst>
              <a:gd name="adj" fmla="val 6897"/>
            </a:avLst>
          </a:prstGeom>
          <a:solidFill>
            <a:srgbClr val="173D66"/>
          </a:solidFill>
          <a:ln w="12700">
            <a:solidFill>
              <a:srgbClr val="173D66"/>
            </a:solidFill>
            <a:prstDash val="solid"/>
          </a:ln>
        </p:spPr>
      </p:sp>
      <p:sp>
        <p:nvSpPr>
          <p:cNvPr id="9" name="Text 7"/>
          <p:cNvSpPr txBox="1"/>
          <p:nvPr/>
        </p:nvSpPr>
        <p:spPr>
          <a:xfrm>
            <a:off x="4681728" y="4727448"/>
            <a:ext cx="3255264" cy="310896"/>
          </a:xfrm>
          <a:prstGeom prst="rect">
            <a:avLst/>
          </a:prstGeom>
          <a:noFill/>
          <a:ln/>
        </p:spPr>
        <p:txBody>
          <a:bodyPr wrap="square" lIns="0" tIns="0" rIns="0" bIns="0" rtlCol="0" anchor="t"/>
          <a:lstStyle/>
          <a:p>
            <a:pPr indent="0" marL="0">
              <a:buNone/>
            </a:pPr>
            <a:r>
              <a:rPr lang="en-US" sz="1400" b="1" dirty="0">
                <a:solidFill>
                  <a:srgbClr val="9FD0F0"/>
                </a:solidFill>
                <a:latin typeface="Arial" pitchFamily="34" charset="0"/>
                <a:ea typeface="Arial" pitchFamily="34" charset="-122"/>
                <a:cs typeface="Arial" pitchFamily="34" charset="-120"/>
              </a:rPr>
              <a:t>Clase 2 · 90 min</a:t>
            </a:r>
            <a:endParaRPr lang="en-US" sz="1400" dirty="0"/>
          </a:p>
        </p:txBody>
      </p:sp>
      <p:sp>
        <p:nvSpPr>
          <p:cNvPr id="10" name="Text 8"/>
          <p:cNvSpPr txBox="1"/>
          <p:nvPr/>
        </p:nvSpPr>
        <p:spPr>
          <a:xfrm>
            <a:off x="4681728" y="5074920"/>
            <a:ext cx="3255264" cy="777240"/>
          </a:xfrm>
          <a:prstGeom prst="rect">
            <a:avLst/>
          </a:prstGeom>
          <a:noFill/>
          <a:ln/>
        </p:spPr>
        <p:txBody>
          <a:bodyPr wrap="square" lIns="0" tIns="0" rIns="0" bIns="0" rtlCol="0" anchor="t"/>
          <a:lstStyle/>
          <a:p>
            <a:pPr indent="0" marL="0">
              <a:buNone/>
            </a:pPr>
            <a:r>
              <a:rPr lang="en-US" sz="1600" dirty="0">
                <a:solidFill>
                  <a:srgbClr val="FFFFFF"/>
                </a:solidFill>
                <a:latin typeface="Arial" pitchFamily="34" charset="0"/>
                <a:ea typeface="Arial" pitchFamily="34" charset="-122"/>
                <a:cs typeface="Arial" pitchFamily="34" charset="-120"/>
              </a:rPr>
              <a:t>Calidad a volumen, recorrido, cierre y beneficios</a:t>
            </a: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txBox="1"/>
          <p:nvPr/>
        </p:nvSpPr>
        <p:spPr>
          <a:xfrm>
            <a:off x="548640" y="640080"/>
            <a:ext cx="7315200" cy="365760"/>
          </a:xfrm>
          <a:prstGeom prst="rect">
            <a:avLst/>
          </a:prstGeom>
          <a:noFill/>
          <a:ln/>
        </p:spPr>
        <p:txBody>
          <a:bodyPr wrap="square" lIns="0" tIns="0" rIns="0" bIns="0" rtlCol="0" anchor="t"/>
          <a:lstStyle/>
          <a:p>
            <a:pPr indent="0" marL="0">
              <a:buNone/>
            </a:pPr>
            <a:r>
              <a:rPr lang="en-US" sz="1600" b="1" dirty="0">
                <a:solidFill>
                  <a:srgbClr val="9FD0F0"/>
                </a:solidFill>
                <a:latin typeface="Arial" pitchFamily="34" charset="0"/>
                <a:ea typeface="Arial" pitchFamily="34" charset="-122"/>
                <a:cs typeface="Arial" pitchFamily="34" charset="-120"/>
              </a:rPr>
              <a:t>Clase 1 · 90 minutos</a:t>
            </a:r>
            <a:endParaRPr lang="en-US" sz="1600" dirty="0"/>
          </a:p>
        </p:txBody>
      </p:sp>
      <p:sp>
        <p:nvSpPr>
          <p:cNvPr id="3" name="Text 2"/>
          <p:cNvSpPr/>
          <p:nvPr>
            <p:ph idx="102" type="title" hasCustomPrompt="1"/>
          </p:nvPr>
        </p:nvSpPr>
        <p:spPr>
          <a:xfrm>
            <a:off x="548640" y="1143000"/>
            <a:ext cx="11091672" cy="914400"/>
          </a:xfrm>
          <a:prstGeom prst="rect">
            <a:avLst/>
          </a:prstGeom>
          <a:noFill/>
          <a:ln/>
        </p:spPr>
        <p:txBody>
          <a:bodyPr wrap="square" lIns="0" tIns="0" rIns="0" bIns="0" rtlCol="0" anchor="t"/>
          <a:lstStyle/>
          <a:p>
            <a:pPr algn="l" indent="0" marL="0">
              <a:buNone/>
            </a:pPr>
            <a:r>
              <a:rPr lang="en-US" sz="3600" b="1" dirty="0">
                <a:solidFill>
                  <a:srgbClr val="FFFFFF"/>
                </a:solidFill>
                <a:latin typeface="Arial" pitchFamily="34" charset="0"/>
                <a:ea typeface="Arial" pitchFamily="34" charset="-122"/>
                <a:cs typeface="Arial" pitchFamily="34" charset="-120"/>
              </a:rPr>
              <a:t>Gobernar la construcción con BMAD</a:t>
            </a:r>
            <a:endParaRPr lang="en-US" sz="3600" dirty="0"/>
          </a:p>
        </p:txBody>
      </p:sp>
      <p:sp>
        <p:nvSpPr>
          <p:cNvPr id="4" name="Text 2"/>
          <p:cNvSpPr txBox="1"/>
          <p:nvPr/>
        </p:nvSpPr>
        <p:spPr>
          <a:xfrm>
            <a:off x="548640" y="2240280"/>
            <a:ext cx="7315200" cy="365760"/>
          </a:xfrm>
          <a:prstGeom prst="rect">
            <a:avLst/>
          </a:prstGeom>
          <a:noFill/>
          <a:ln/>
        </p:spPr>
        <p:txBody>
          <a:bodyPr wrap="square" lIns="0" tIns="0" rIns="0" bIns="0" rtlCol="0" anchor="t"/>
          <a:lstStyle/>
          <a:p>
            <a:pPr indent="0" marL="0">
              <a:buNone/>
            </a:pPr>
            <a:r>
              <a:rPr lang="en-US" sz="1800" b="1" dirty="0">
                <a:solidFill>
                  <a:srgbClr val="FFFFFF"/>
                </a:solidFill>
                <a:latin typeface="Arial" pitchFamily="34" charset="0"/>
                <a:ea typeface="Arial" pitchFamily="34" charset="-122"/>
                <a:cs typeface="Arial" pitchFamily="34" charset="-120"/>
              </a:rPr>
              <a:t>Objetivos de la clase</a:t>
            </a:r>
            <a:endParaRPr lang="en-US" sz="1800" dirty="0"/>
          </a:p>
        </p:txBody>
      </p:sp>
      <p:sp>
        <p:nvSpPr>
          <p:cNvPr id="5" name="Shape 3"/>
          <p:cNvSpPr/>
          <p:nvPr/>
        </p:nvSpPr>
        <p:spPr>
          <a:xfrm>
            <a:off x="548640" y="2743200"/>
            <a:ext cx="11091672" cy="772668"/>
          </a:xfrm>
          <a:prstGeom prst="roundRect">
            <a:avLst>
              <a:gd name="adj" fmla="val 11834"/>
            </a:avLst>
          </a:prstGeom>
          <a:solidFill>
            <a:srgbClr val="173D66"/>
          </a:solidFill>
          <a:ln w="12700">
            <a:solidFill>
              <a:srgbClr val="173D66"/>
            </a:solidFill>
            <a:prstDash val="solid"/>
          </a:ln>
        </p:spPr>
      </p:sp>
      <p:sp>
        <p:nvSpPr>
          <p:cNvPr id="6" name="Text 4"/>
          <p:cNvSpPr txBox="1"/>
          <p:nvPr/>
        </p:nvSpPr>
        <p:spPr>
          <a:xfrm>
            <a:off x="685800" y="2743200"/>
            <a:ext cx="411480" cy="772668"/>
          </a:xfrm>
          <a:prstGeom prst="rect">
            <a:avLst/>
          </a:prstGeom>
          <a:noFill/>
          <a:ln/>
        </p:spPr>
        <p:txBody>
          <a:bodyPr wrap="square" lIns="0" tIns="0" rIns="0" bIns="0" rtlCol="0" anchor="ctr"/>
          <a:lstStyle/>
          <a:p>
            <a:pPr indent="0" marL="0">
              <a:buNone/>
            </a:pPr>
            <a:r>
              <a:rPr lang="en-US" sz="2000" b="1" dirty="0">
                <a:solidFill>
                  <a:srgbClr val="9FD0F0"/>
                </a:solidFill>
                <a:latin typeface="Arial" pitchFamily="34" charset="0"/>
                <a:ea typeface="Arial" pitchFamily="34" charset="-122"/>
                <a:cs typeface="Arial" pitchFamily="34" charset="-120"/>
              </a:rPr>
              <a:t>1</a:t>
            </a:r>
            <a:endParaRPr lang="en-US" sz="2000" dirty="0"/>
          </a:p>
        </p:txBody>
      </p:sp>
      <p:sp>
        <p:nvSpPr>
          <p:cNvPr id="7" name="Text 5"/>
          <p:cNvSpPr txBox="1"/>
          <p:nvPr/>
        </p:nvSpPr>
        <p:spPr>
          <a:xfrm>
            <a:off x="1234440" y="2779776"/>
            <a:ext cx="10268712" cy="699516"/>
          </a:xfrm>
          <a:prstGeom prst="rect">
            <a:avLst/>
          </a:prstGeom>
          <a:noFill/>
          <a:ln/>
        </p:spPr>
        <p:txBody>
          <a:bodyPr wrap="square" lIns="0" tIns="0" rIns="0" bIns="0" rtlCol="0" anchor="ctr"/>
          <a:lstStyle/>
          <a:p>
            <a:pPr indent="0" marL="0">
              <a:buNone/>
            </a:pPr>
            <a:r>
              <a:rPr lang="en-US" sz="1800" dirty="0">
                <a:solidFill>
                  <a:srgbClr val="FFFFFF"/>
                </a:solidFill>
                <a:latin typeface="Arial" pitchFamily="34" charset="0"/>
                <a:ea typeface="Arial" pitchFamily="34" charset="-122"/>
                <a:cs typeface="Arial" pitchFamily="34" charset="-120"/>
              </a:rPr>
              <a:t>Separar especificación (BMAD) y gobierno (pm-method)</a:t>
            </a:r>
            <a:endParaRPr lang="en-US" sz="1600" dirty="0"/>
          </a:p>
        </p:txBody>
      </p:sp>
      <p:sp>
        <p:nvSpPr>
          <p:cNvPr id="8" name="Shape 6"/>
          <p:cNvSpPr/>
          <p:nvPr/>
        </p:nvSpPr>
        <p:spPr>
          <a:xfrm>
            <a:off x="548640" y="3643884"/>
            <a:ext cx="11091672" cy="772668"/>
          </a:xfrm>
          <a:prstGeom prst="roundRect">
            <a:avLst>
              <a:gd name="adj" fmla="val 11834"/>
            </a:avLst>
          </a:prstGeom>
          <a:solidFill>
            <a:srgbClr val="173D66"/>
          </a:solidFill>
          <a:ln w="12700">
            <a:solidFill>
              <a:srgbClr val="173D66"/>
            </a:solidFill>
            <a:prstDash val="solid"/>
          </a:ln>
        </p:spPr>
      </p:sp>
      <p:sp>
        <p:nvSpPr>
          <p:cNvPr id="9" name="Text 7"/>
          <p:cNvSpPr txBox="1"/>
          <p:nvPr/>
        </p:nvSpPr>
        <p:spPr>
          <a:xfrm>
            <a:off x="685800" y="3643884"/>
            <a:ext cx="411480" cy="772668"/>
          </a:xfrm>
          <a:prstGeom prst="rect">
            <a:avLst/>
          </a:prstGeom>
          <a:noFill/>
          <a:ln/>
        </p:spPr>
        <p:txBody>
          <a:bodyPr wrap="square" lIns="0" tIns="0" rIns="0" bIns="0" rtlCol="0" anchor="ctr"/>
          <a:lstStyle/>
          <a:p>
            <a:pPr indent="0" marL="0">
              <a:buNone/>
            </a:pPr>
            <a:r>
              <a:rPr lang="en-US" sz="2000" b="1" dirty="0">
                <a:solidFill>
                  <a:srgbClr val="9FD0F0"/>
                </a:solidFill>
                <a:latin typeface="Arial" pitchFamily="34" charset="0"/>
                <a:ea typeface="Arial" pitchFamily="34" charset="-122"/>
                <a:cs typeface="Arial" pitchFamily="34" charset="-120"/>
              </a:rPr>
              <a:t>2</a:t>
            </a:r>
            <a:endParaRPr lang="en-US" sz="2000" dirty="0"/>
          </a:p>
        </p:txBody>
      </p:sp>
      <p:sp>
        <p:nvSpPr>
          <p:cNvPr id="10" name="Text 8"/>
          <p:cNvSpPr txBox="1"/>
          <p:nvPr/>
        </p:nvSpPr>
        <p:spPr>
          <a:xfrm>
            <a:off x="1234440" y="3680460"/>
            <a:ext cx="10268712" cy="699516"/>
          </a:xfrm>
          <a:prstGeom prst="rect">
            <a:avLst/>
          </a:prstGeom>
          <a:noFill/>
          <a:ln/>
        </p:spPr>
        <p:txBody>
          <a:bodyPr wrap="square" lIns="0" tIns="0" rIns="0" bIns="0" rtlCol="0" anchor="ctr"/>
          <a:lstStyle/>
          <a:p>
            <a:pPr indent="0" marL="0">
              <a:buNone/>
            </a:pPr>
            <a:r>
              <a:rPr lang="en-US" sz="1800" dirty="0">
                <a:solidFill>
                  <a:srgbClr val="FFFFFF"/>
                </a:solidFill>
                <a:latin typeface="Arial" pitchFamily="34" charset="0"/>
                <a:ea typeface="Arial" pitchFamily="34" charset="-122"/>
                <a:cs typeface="Arial" pitchFamily="34" charset="-120"/>
              </a:rPr>
              <a:t>Convertir un CONCERNS en condición formal con seguimiento</a:t>
            </a:r>
            <a:endParaRPr lang="en-US" sz="1600" dirty="0"/>
          </a:p>
        </p:txBody>
      </p:sp>
      <p:sp>
        <p:nvSpPr>
          <p:cNvPr id="11" name="Shape 9"/>
          <p:cNvSpPr/>
          <p:nvPr/>
        </p:nvSpPr>
        <p:spPr>
          <a:xfrm>
            <a:off x="548640" y="4544568"/>
            <a:ext cx="11091672" cy="772668"/>
          </a:xfrm>
          <a:prstGeom prst="roundRect">
            <a:avLst>
              <a:gd name="adj" fmla="val 11834"/>
            </a:avLst>
          </a:prstGeom>
          <a:solidFill>
            <a:srgbClr val="173D66"/>
          </a:solidFill>
          <a:ln w="12700">
            <a:solidFill>
              <a:srgbClr val="173D66"/>
            </a:solidFill>
            <a:prstDash val="solid"/>
          </a:ln>
        </p:spPr>
      </p:sp>
      <p:sp>
        <p:nvSpPr>
          <p:cNvPr id="12" name="Text 10"/>
          <p:cNvSpPr txBox="1"/>
          <p:nvPr/>
        </p:nvSpPr>
        <p:spPr>
          <a:xfrm>
            <a:off x="685800" y="4544568"/>
            <a:ext cx="411480" cy="772668"/>
          </a:xfrm>
          <a:prstGeom prst="rect">
            <a:avLst/>
          </a:prstGeom>
          <a:noFill/>
          <a:ln/>
        </p:spPr>
        <p:txBody>
          <a:bodyPr wrap="square" lIns="0" tIns="0" rIns="0" bIns="0" rtlCol="0" anchor="ctr"/>
          <a:lstStyle/>
          <a:p>
            <a:pPr indent="0" marL="0">
              <a:buNone/>
            </a:pPr>
            <a:r>
              <a:rPr lang="en-US" sz="2000" b="1" dirty="0">
                <a:solidFill>
                  <a:srgbClr val="9FD0F0"/>
                </a:solidFill>
                <a:latin typeface="Arial" pitchFamily="34" charset="0"/>
                <a:ea typeface="Arial" pitchFamily="34" charset="-122"/>
                <a:cs typeface="Arial" pitchFamily="34" charset="-120"/>
              </a:rPr>
              <a:t>3</a:t>
            </a:r>
            <a:endParaRPr lang="en-US" sz="2000" dirty="0"/>
          </a:p>
        </p:txBody>
      </p:sp>
      <p:sp>
        <p:nvSpPr>
          <p:cNvPr id="13" name="Text 11"/>
          <p:cNvSpPr txBox="1"/>
          <p:nvPr/>
        </p:nvSpPr>
        <p:spPr>
          <a:xfrm>
            <a:off x="1234440" y="4581144"/>
            <a:ext cx="10268712" cy="699516"/>
          </a:xfrm>
          <a:prstGeom prst="rect">
            <a:avLst/>
          </a:prstGeom>
          <a:noFill/>
          <a:ln/>
        </p:spPr>
        <p:txBody>
          <a:bodyPr wrap="square" lIns="0" tIns="0" rIns="0" bIns="0" rtlCol="0" anchor="ctr"/>
          <a:lstStyle/>
          <a:p>
            <a:pPr indent="0" marL="0">
              <a:buNone/>
            </a:pPr>
            <a:r>
              <a:rPr lang="en-US" sz="1800" dirty="0">
                <a:solidFill>
                  <a:srgbClr val="FFFFFF"/>
                </a:solidFill>
                <a:latin typeface="Arial" pitchFamily="34" charset="0"/>
                <a:ea typeface="Arial" pitchFamily="34" charset="-122"/>
                <a:cs typeface="Arial" pitchFamily="34" charset="-120"/>
              </a:rPr>
              <a:t>Controlar un cambio con costo y presupuesto de la junta</a:t>
            </a:r>
            <a:endParaRPr lang="en-US" sz="1600" dirty="0"/>
          </a:p>
        </p:txBody>
      </p:sp>
      <p:sp>
        <p:nvSpPr>
          <p:cNvPr id="14" name="Shape 12"/>
          <p:cNvSpPr/>
          <p:nvPr/>
        </p:nvSpPr>
        <p:spPr>
          <a:xfrm>
            <a:off x="548640" y="5445252"/>
            <a:ext cx="11091672" cy="772668"/>
          </a:xfrm>
          <a:prstGeom prst="roundRect">
            <a:avLst>
              <a:gd name="adj" fmla="val 11834"/>
            </a:avLst>
          </a:prstGeom>
          <a:solidFill>
            <a:srgbClr val="173D66"/>
          </a:solidFill>
          <a:ln w="12700">
            <a:solidFill>
              <a:srgbClr val="173D66"/>
            </a:solidFill>
            <a:prstDash val="solid"/>
          </a:ln>
        </p:spPr>
      </p:sp>
      <p:sp>
        <p:nvSpPr>
          <p:cNvPr id="15" name="Text 13"/>
          <p:cNvSpPr txBox="1"/>
          <p:nvPr/>
        </p:nvSpPr>
        <p:spPr>
          <a:xfrm>
            <a:off x="685800" y="5445252"/>
            <a:ext cx="411480" cy="772668"/>
          </a:xfrm>
          <a:prstGeom prst="rect">
            <a:avLst/>
          </a:prstGeom>
          <a:noFill/>
          <a:ln/>
        </p:spPr>
        <p:txBody>
          <a:bodyPr wrap="square" lIns="0" tIns="0" rIns="0" bIns="0" rtlCol="0" anchor="ctr"/>
          <a:lstStyle/>
          <a:p>
            <a:pPr indent="0" marL="0">
              <a:buNone/>
            </a:pPr>
            <a:r>
              <a:rPr lang="en-US" sz="2000" b="1" dirty="0">
                <a:solidFill>
                  <a:srgbClr val="9FD0F0"/>
                </a:solidFill>
                <a:latin typeface="Arial" pitchFamily="34" charset="0"/>
                <a:ea typeface="Arial" pitchFamily="34" charset="-122"/>
                <a:cs typeface="Arial" pitchFamily="34" charset="-120"/>
              </a:rPr>
              <a:t>4</a:t>
            </a:r>
            <a:endParaRPr lang="en-US" sz="2000" dirty="0"/>
          </a:p>
        </p:txBody>
      </p:sp>
      <p:sp>
        <p:nvSpPr>
          <p:cNvPr id="16" name="Text 14"/>
          <p:cNvSpPr txBox="1"/>
          <p:nvPr/>
        </p:nvSpPr>
        <p:spPr>
          <a:xfrm>
            <a:off x="1234440" y="5481828"/>
            <a:ext cx="10268712" cy="699516"/>
          </a:xfrm>
          <a:prstGeom prst="rect">
            <a:avLst/>
          </a:prstGeom>
          <a:noFill/>
          <a:ln/>
        </p:spPr>
        <p:txBody>
          <a:bodyPr wrap="square" lIns="0" tIns="0" rIns="0" bIns="0" rtlCol="0" anchor="ctr"/>
          <a:lstStyle/>
          <a:p>
            <a:pPr indent="0" marL="0">
              <a:buNone/>
            </a:pPr>
            <a:r>
              <a:rPr lang="en-US" sz="1800" dirty="0">
                <a:solidFill>
                  <a:srgbClr val="FFFFFF"/>
                </a:solidFill>
                <a:latin typeface="Arial" pitchFamily="34" charset="0"/>
                <a:ea typeface="Arial" pitchFamily="34" charset="-122"/>
                <a:cs typeface="Arial" pitchFamily="34" charset="-120"/>
              </a:rPr>
              <a:t>Guardar y vigilar el valor ganado</a:t>
            </a:r>
            <a:endParaRPr lang="en-US" sz="1600" dirty="0"/>
          </a:p>
        </p:txBody>
      </p:sp>
      <p:sp>
        <p:nvSpPr>
          <p:cNvPr id="25" name="Slide Number Placeholder 0"/>
          <p:cNvSpPr>
            <a:spLocks noGrp="1"/>
          </p:cNvSpPr>
          <p:nvPr>
            <p:ph type="sldNum" sz="quarter" idx="4294967295"/>
          </p:nvPr>
        </p:nvSpPr>
        <p:spPr>
          <a:xfrm>
            <a:off x="11091672" y="6419088"/>
            <a:ext cx="64008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rgbClr val="D6E4F0"/>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3"/>
          <p:cNvSpPr/>
          <p:nvPr>
            <p:ph idx="103" type="title" hasCustomPrompt="1"/>
          </p:nvPr>
        </p:nvSpPr>
        <p:spPr>
          <a:xfrm>
            <a:off x="658368" y="365760"/>
            <a:ext cx="9244584" cy="713232"/>
          </a:xfrm>
          <a:prstGeom prst="rect">
            <a:avLst/>
          </a:prstGeom>
          <a:noFill/>
          <a:ln/>
        </p:spPr>
        <p:txBody>
          <a:bodyPr wrap="square" lIns="0" tIns="0" rIns="0" bIns="0" rtlCol="0" anchor="ctr"/>
          <a:lstStyle/>
          <a:p>
            <a:pPr algn="l" indent="0" marL="0">
              <a:buNone/>
            </a:pPr>
            <a:r>
              <a:rPr lang="en-US" sz="2400" b="1" dirty="0">
                <a:solidFill>
                  <a:srgbClr val="FFFFFF"/>
                </a:solidFill>
                <a:latin typeface="Arial" pitchFamily="34" charset="0"/>
                <a:ea typeface="Arial" pitchFamily="34" charset="-122"/>
                <a:cs typeface="Arial" pitchFamily="34" charset="-120"/>
              </a:rPr>
              <a:t>¿Cuántas condiciones de tus actas se verificaron?</a:t>
            </a:r>
            <a:endParaRPr lang="en-US" sz="2400" dirty="0"/>
          </a:p>
        </p:txBody>
      </p:sp>
      <p:sp>
        <p:nvSpPr>
          <p:cNvPr id="3" name="Shape 1"/>
          <p:cNvSpPr/>
          <p:nvPr/>
        </p:nvSpPr>
        <p:spPr>
          <a:xfrm>
            <a:off x="457200" y="2331720"/>
            <a:ext cx="3575304" cy="2926080"/>
          </a:xfrm>
          <a:prstGeom prst="roundRect">
            <a:avLst>
              <a:gd name="adj" fmla="val 3125"/>
            </a:avLst>
          </a:prstGeom>
          <a:solidFill>
            <a:srgbClr val="002855"/>
          </a:solidFill>
          <a:ln w="12700">
            <a:solidFill>
              <a:srgbClr val="002855"/>
            </a:solidFill>
            <a:prstDash val="solid"/>
          </a:ln>
        </p:spPr>
      </p:sp>
      <p:sp>
        <p:nvSpPr>
          <p:cNvPr id="4" name="Text 2"/>
          <p:cNvSpPr txBox="1"/>
          <p:nvPr/>
        </p:nvSpPr>
        <p:spPr>
          <a:xfrm>
            <a:off x="658368" y="2532888"/>
            <a:ext cx="3172968" cy="2542032"/>
          </a:xfrm>
          <a:prstGeom prst="rect">
            <a:avLst/>
          </a:prstGeom>
          <a:noFill/>
          <a:ln/>
        </p:spPr>
        <p:txBody>
          <a:bodyPr wrap="square" lIns="0" tIns="0" rIns="0" bIns="0" rtlCol="0" anchor="ctr"/>
          <a:lstStyle/>
          <a:p>
            <a:pPr indent="0" marL="0">
              <a:buNone/>
            </a:pPr>
            <a:r>
              <a:rPr lang="en-US" sz="2200" dirty="0">
                <a:solidFill>
                  <a:srgbClr val="FFFFFF"/>
                </a:solidFill>
                <a:latin typeface="Arial" pitchFamily="34" charset="0"/>
                <a:ea typeface="Arial" pitchFamily="34" charset="-122"/>
                <a:cs typeface="Arial" pitchFamily="34" charset="-120"/>
              </a:rPr>
              <a:t>"Aprobado con condiciones" suele quedar en el acta</a:t>
            </a:r>
            <a:endParaRPr lang="en-US" sz="1600" dirty="0"/>
          </a:p>
        </p:txBody>
      </p:sp>
      <p:sp>
        <p:nvSpPr>
          <p:cNvPr id="5" name="Shape 3"/>
          <p:cNvSpPr/>
          <p:nvPr/>
        </p:nvSpPr>
        <p:spPr>
          <a:xfrm>
            <a:off x="4306824" y="2331720"/>
            <a:ext cx="3575304" cy="2926080"/>
          </a:xfrm>
          <a:prstGeom prst="roundRect">
            <a:avLst>
              <a:gd name="adj" fmla="val 3125"/>
            </a:avLst>
          </a:prstGeom>
          <a:solidFill>
            <a:srgbClr val="E9F1F8"/>
          </a:solidFill>
          <a:ln w="12700">
            <a:solidFill>
              <a:srgbClr val="E9F1F8"/>
            </a:solidFill>
            <a:prstDash val="solid"/>
          </a:ln>
        </p:spPr>
      </p:sp>
      <p:sp>
        <p:nvSpPr>
          <p:cNvPr id="6" name="Text 4"/>
          <p:cNvSpPr txBox="1"/>
          <p:nvPr/>
        </p:nvSpPr>
        <p:spPr>
          <a:xfrm>
            <a:off x="4507992" y="2532888"/>
            <a:ext cx="3172968" cy="2542032"/>
          </a:xfrm>
          <a:prstGeom prst="rect">
            <a:avLst/>
          </a:prstGeom>
          <a:noFill/>
          <a:ln/>
        </p:spPr>
        <p:txBody>
          <a:bodyPr wrap="square" lIns="0" tIns="0" rIns="0" bIns="0" rtlCol="0" anchor="ctr"/>
          <a:lstStyle/>
          <a:p>
            <a:pPr indent="0" marL="0">
              <a:buNone/>
            </a:pPr>
            <a:r>
              <a:rPr lang="en-US" sz="2200" dirty="0">
                <a:solidFill>
                  <a:srgbClr val="272425"/>
                </a:solidFill>
                <a:latin typeface="Arial" pitchFamily="34" charset="0"/>
                <a:ea typeface="Arial" pitchFamily="34" charset="-122"/>
                <a:cs typeface="Arial" pitchFamily="34" charset="-120"/>
              </a:rPr>
              <a:t>Nadie vuelve a mirarla hasta que el problema aparece</a:t>
            </a:r>
            <a:endParaRPr lang="en-US" sz="1600" dirty="0"/>
          </a:p>
        </p:txBody>
      </p:sp>
      <p:sp>
        <p:nvSpPr>
          <p:cNvPr id="7" name="Shape 5"/>
          <p:cNvSpPr/>
          <p:nvPr/>
        </p:nvSpPr>
        <p:spPr>
          <a:xfrm>
            <a:off x="8156448" y="2331720"/>
            <a:ext cx="3575304" cy="2926080"/>
          </a:xfrm>
          <a:prstGeom prst="roundRect">
            <a:avLst>
              <a:gd name="adj" fmla="val 3125"/>
            </a:avLst>
          </a:prstGeom>
          <a:solidFill>
            <a:srgbClr val="E9F1F8"/>
          </a:solidFill>
          <a:ln w="12700">
            <a:solidFill>
              <a:srgbClr val="E9F1F8"/>
            </a:solidFill>
            <a:prstDash val="solid"/>
          </a:ln>
        </p:spPr>
      </p:sp>
      <p:sp>
        <p:nvSpPr>
          <p:cNvPr id="8" name="Text 6"/>
          <p:cNvSpPr txBox="1"/>
          <p:nvPr/>
        </p:nvSpPr>
        <p:spPr>
          <a:xfrm>
            <a:off x="8357616" y="2532888"/>
            <a:ext cx="3172968" cy="2542032"/>
          </a:xfrm>
          <a:prstGeom prst="rect">
            <a:avLst/>
          </a:prstGeom>
          <a:noFill/>
          <a:ln/>
        </p:spPr>
        <p:txBody>
          <a:bodyPr wrap="square" lIns="0" tIns="0" rIns="0" bIns="0" rtlCol="0" anchor="ctr"/>
          <a:lstStyle/>
          <a:p>
            <a:pPr indent="0" marL="0">
              <a:buNone/>
            </a:pPr>
            <a:r>
              <a:rPr lang="en-US" sz="2200" dirty="0">
                <a:solidFill>
                  <a:srgbClr val="272425"/>
                </a:solidFill>
                <a:latin typeface="Arial" pitchFamily="34" charset="0"/>
                <a:ea typeface="Arial" pitchFamily="34" charset="-122"/>
                <a:cs typeface="Arial" pitchFamily="34" charset="-120"/>
              </a:rPr>
              <a:t>Hoy: la condición como registro con dueño y bloqueo</a:t>
            </a:r>
            <a:endParaRPr lang="en-US" sz="1600" dirty="0"/>
          </a:p>
        </p:txBody>
      </p:sp>
      <p:sp>
        <p:nvSpPr>
          <p:cNvPr id="25" name="Slide Number Placeholder 0"/>
          <p:cNvSpPr>
            <a:spLocks noGrp="1"/>
          </p:cNvSpPr>
          <p:nvPr>
            <p:ph type="sldNum" sz="quarter" idx="4294967295"/>
          </p:nvPr>
        </p:nvSpPr>
        <p:spPr>
          <a:xfrm>
            <a:off x="11091672" y="6419088"/>
            <a:ext cx="64008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rgbClr val="696969"/>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3"/>
          <p:cNvSpPr/>
          <p:nvPr>
            <p:ph idx="103" type="title" hasCustomPrompt="1"/>
          </p:nvPr>
        </p:nvSpPr>
        <p:spPr>
          <a:xfrm>
            <a:off x="658368" y="365760"/>
            <a:ext cx="9244584" cy="713232"/>
          </a:xfrm>
          <a:prstGeom prst="rect">
            <a:avLst/>
          </a:prstGeom>
          <a:noFill/>
          <a:ln/>
        </p:spPr>
        <p:txBody>
          <a:bodyPr wrap="square" lIns="0" tIns="0" rIns="0" bIns="0" rtlCol="0" anchor="ctr"/>
          <a:lstStyle/>
          <a:p>
            <a:pPr algn="l" indent="0" marL="0">
              <a:buNone/>
            </a:pPr>
            <a:r>
              <a:rPr lang="en-US" sz="2400" b="1" dirty="0">
                <a:solidFill>
                  <a:srgbClr val="FFFFFF"/>
                </a:solidFill>
                <a:latin typeface="Arial" pitchFamily="34" charset="0"/>
                <a:ea typeface="Arial" pitchFamily="34" charset="-122"/>
                <a:cs typeface="Arial" pitchFamily="34" charset="-120"/>
              </a:rPr>
              <a:t>Adónde llegamos: cierre sin condiciones abiertas</a:t>
            </a:r>
            <a:endParaRPr lang="en-US" sz="2400" dirty="0"/>
          </a:p>
        </p:txBody>
      </p:sp>
      <p:pic>
        <p:nvPicPr>
          <p:cNvPr id="3" name="Image 0" descr="Adónde llegamos: cierre sin condiciones abiertas">    </p:cNvPr>
          <p:cNvPicPr>
            <a:picLocks noChangeAspect="1"/>
          </p:cNvPicPr>
          <p:nvPr/>
        </p:nvPicPr>
        <p:blipFill>
          <a:blip r:embed="rId1"/>
          <a:stretch>
            <a:fillRect/>
          </a:stretch>
        </p:blipFill>
        <p:spPr>
          <a:xfrm>
            <a:off x="1705356" y="1280160"/>
            <a:ext cx="8778240" cy="4937760"/>
          </a:xfrm>
          <a:prstGeom prst="rect">
            <a:avLst/>
          </a:prstGeom>
        </p:spPr>
      </p:pic>
      <p:sp>
        <p:nvSpPr>
          <p:cNvPr id="4" name="Shape 1"/>
          <p:cNvSpPr/>
          <p:nvPr/>
        </p:nvSpPr>
        <p:spPr>
          <a:xfrm>
            <a:off x="1705356" y="1280160"/>
            <a:ext cx="8778240" cy="4937760"/>
          </a:xfrm>
          <a:prstGeom prst="rect">
            <a:avLst/>
          </a:prstGeom>
          <a:solidFill>
            <a:srgbClr val="FFFFFF">
              <a:alpha val="0"/>
            </a:srgbClr>
          </a:solidFill>
          <a:ln w="9525">
            <a:solidFill>
              <a:srgbClr val="E2E2E6"/>
            </a:solidFill>
            <a:prstDash val="solid"/>
          </a:ln>
        </p:spPr>
      </p:sp>
      <p:sp>
        <p:nvSpPr>
          <p:cNvPr id="25" name="Slide Number Placeholder 0"/>
          <p:cNvSpPr>
            <a:spLocks noGrp="1"/>
          </p:cNvSpPr>
          <p:nvPr>
            <p:ph type="sldNum" sz="quarter" idx="4294967295"/>
          </p:nvPr>
        </p:nvSpPr>
        <p:spPr>
          <a:xfrm>
            <a:off x="11091672" y="6419088"/>
            <a:ext cx="64008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rgbClr val="696969"/>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3"/>
          <p:cNvSpPr/>
          <p:nvPr>
            <p:ph idx="103" type="title" hasCustomPrompt="1"/>
          </p:nvPr>
        </p:nvSpPr>
        <p:spPr>
          <a:xfrm>
            <a:off x="658368" y="365760"/>
            <a:ext cx="9244584" cy="713232"/>
          </a:xfrm>
          <a:prstGeom prst="rect">
            <a:avLst/>
          </a:prstGeom>
          <a:noFill/>
          <a:ln/>
        </p:spPr>
        <p:txBody>
          <a:bodyPr wrap="square" lIns="0" tIns="0" rIns="0" bIns="0" rtlCol="0" anchor="ctr"/>
          <a:lstStyle/>
          <a:p>
            <a:pPr algn="l" indent="0" marL="0">
              <a:buNone/>
            </a:pPr>
            <a:r>
              <a:rPr lang="en-US" sz="2400" b="1" dirty="0">
                <a:solidFill>
                  <a:srgbClr val="FFFFFF"/>
                </a:solidFill>
                <a:latin typeface="Arial" pitchFamily="34" charset="0"/>
                <a:ea typeface="Arial" pitchFamily="34" charset="-122"/>
                <a:cs typeface="Arial" pitchFamily="34" charset="-120"/>
              </a:rPr>
              <a:t>Dos capas: BMAD especifica, pm-method gobierna</a:t>
            </a:r>
            <a:endParaRPr lang="en-US" sz="2400" dirty="0"/>
          </a:p>
        </p:txBody>
      </p:sp>
      <p:sp>
        <p:nvSpPr>
          <p:cNvPr id="3" name="Shape 1"/>
          <p:cNvSpPr/>
          <p:nvPr/>
        </p:nvSpPr>
        <p:spPr>
          <a:xfrm>
            <a:off x="457200" y="1280160"/>
            <a:ext cx="11274552" cy="870509"/>
          </a:xfrm>
          <a:prstGeom prst="roundRect">
            <a:avLst>
              <a:gd name="adj" fmla="val 10504"/>
            </a:avLst>
          </a:prstGeom>
          <a:solidFill>
            <a:srgbClr val="E9F1F8"/>
          </a:solidFill>
          <a:ln w="12700">
            <a:solidFill>
              <a:srgbClr val="E9F1F8"/>
            </a:solidFill>
            <a:prstDash val="solid"/>
          </a:ln>
        </p:spPr>
      </p:sp>
      <p:sp>
        <p:nvSpPr>
          <p:cNvPr id="4" name="Shape 2"/>
          <p:cNvSpPr/>
          <p:nvPr/>
        </p:nvSpPr>
        <p:spPr>
          <a:xfrm>
            <a:off x="621792" y="1486814"/>
            <a:ext cx="457200" cy="457200"/>
          </a:xfrm>
          <a:prstGeom prst="roundRect">
            <a:avLst>
              <a:gd name="adj" fmla="val 16000"/>
            </a:avLst>
          </a:prstGeom>
          <a:solidFill>
            <a:srgbClr val="00629B"/>
          </a:solidFill>
          <a:ln w="12700">
            <a:solidFill>
              <a:srgbClr val="00629B"/>
            </a:solidFill>
            <a:prstDash val="solid"/>
          </a:ln>
        </p:spPr>
      </p:sp>
      <p:sp>
        <p:nvSpPr>
          <p:cNvPr id="5" name="Text 3"/>
          <p:cNvSpPr txBox="1"/>
          <p:nvPr/>
        </p:nvSpPr>
        <p:spPr>
          <a:xfrm>
            <a:off x="621792" y="1486814"/>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1</a:t>
            </a:r>
            <a:endParaRPr lang="en-US" sz="1600" dirty="0"/>
          </a:p>
        </p:txBody>
      </p:sp>
      <p:sp>
        <p:nvSpPr>
          <p:cNvPr id="6" name="Text 4"/>
          <p:cNvSpPr txBox="1"/>
          <p:nvPr/>
        </p:nvSpPr>
        <p:spPr>
          <a:xfrm>
            <a:off x="1280160" y="1335024"/>
            <a:ext cx="10222992" cy="760781"/>
          </a:xfrm>
          <a:prstGeom prst="rect">
            <a:avLst/>
          </a:prstGeom>
          <a:noFill/>
          <a:ln/>
        </p:spPr>
        <p:txBody>
          <a:bodyPr wrap="square" lIns="0" tIns="0" rIns="0" bIns="0" rtlCol="0" anchor="ctr"/>
          <a:lstStyle/>
          <a:p>
            <a:pPr indent="0" marL="0">
              <a:buNone/>
            </a:pPr>
            <a:r>
              <a:rPr lang="en-US" sz="2000" dirty="0">
                <a:solidFill>
                  <a:srgbClr val="272425"/>
                </a:solidFill>
                <a:latin typeface="Arial" pitchFamily="34" charset="0"/>
                <a:ea typeface="Arial" pitchFamily="34" charset="-122"/>
                <a:cs typeface="Arial" pitchFamily="34" charset="-120"/>
              </a:rPr>
              <a:t>BMAD: brief, PRD, arquitectura, épicas e historias</a:t>
            </a:r>
            <a:endParaRPr lang="en-US" sz="1600" dirty="0"/>
          </a:p>
        </p:txBody>
      </p:sp>
      <p:sp>
        <p:nvSpPr>
          <p:cNvPr id="7" name="Shape 5"/>
          <p:cNvSpPr/>
          <p:nvPr/>
        </p:nvSpPr>
        <p:spPr>
          <a:xfrm>
            <a:off x="457200" y="2296973"/>
            <a:ext cx="11274552" cy="870509"/>
          </a:xfrm>
          <a:prstGeom prst="roundRect">
            <a:avLst>
              <a:gd name="adj" fmla="val 10504"/>
            </a:avLst>
          </a:prstGeom>
          <a:solidFill>
            <a:srgbClr val="F4F6F8"/>
          </a:solidFill>
          <a:ln w="12700">
            <a:solidFill>
              <a:srgbClr val="F4F6F8"/>
            </a:solidFill>
            <a:prstDash val="solid"/>
          </a:ln>
        </p:spPr>
      </p:sp>
      <p:sp>
        <p:nvSpPr>
          <p:cNvPr id="8" name="Shape 6"/>
          <p:cNvSpPr/>
          <p:nvPr/>
        </p:nvSpPr>
        <p:spPr>
          <a:xfrm>
            <a:off x="621792" y="2503627"/>
            <a:ext cx="457200" cy="457200"/>
          </a:xfrm>
          <a:prstGeom prst="roundRect">
            <a:avLst>
              <a:gd name="adj" fmla="val 16000"/>
            </a:avLst>
          </a:prstGeom>
          <a:solidFill>
            <a:srgbClr val="00629B"/>
          </a:solidFill>
          <a:ln w="12700">
            <a:solidFill>
              <a:srgbClr val="00629B"/>
            </a:solidFill>
            <a:prstDash val="solid"/>
          </a:ln>
        </p:spPr>
      </p:sp>
      <p:sp>
        <p:nvSpPr>
          <p:cNvPr id="9" name="Text 7"/>
          <p:cNvSpPr txBox="1"/>
          <p:nvPr/>
        </p:nvSpPr>
        <p:spPr>
          <a:xfrm>
            <a:off x="621792" y="2503627"/>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2</a:t>
            </a:r>
            <a:endParaRPr lang="en-US" sz="1600" dirty="0"/>
          </a:p>
        </p:txBody>
      </p:sp>
      <p:sp>
        <p:nvSpPr>
          <p:cNvPr id="10" name="Text 8"/>
          <p:cNvSpPr txBox="1"/>
          <p:nvPr/>
        </p:nvSpPr>
        <p:spPr>
          <a:xfrm>
            <a:off x="1280160" y="2351837"/>
            <a:ext cx="10222992" cy="760781"/>
          </a:xfrm>
          <a:prstGeom prst="rect">
            <a:avLst/>
          </a:prstGeom>
          <a:noFill/>
          <a:ln/>
        </p:spPr>
        <p:txBody>
          <a:bodyPr wrap="square" lIns="0" tIns="0" rIns="0" bIns="0" rtlCol="0" anchor="ctr"/>
          <a:lstStyle/>
          <a:p>
            <a:pPr indent="0" marL="0">
              <a:buNone/>
            </a:pPr>
            <a:r>
              <a:rPr lang="en-US" sz="2000" dirty="0">
                <a:solidFill>
                  <a:srgbClr val="272425"/>
                </a:solidFill>
                <a:latin typeface="Arial" pitchFamily="34" charset="0"/>
                <a:ea typeface="Arial" pitchFamily="34" charset="-122"/>
                <a:cs typeface="Arial" pitchFamily="34" charset="-120"/>
              </a:rPr>
              <a:t>pm-method lee por la fachada y no copia</a:t>
            </a:r>
            <a:endParaRPr lang="en-US" sz="1600" dirty="0"/>
          </a:p>
        </p:txBody>
      </p:sp>
      <p:sp>
        <p:nvSpPr>
          <p:cNvPr id="11" name="Shape 9"/>
          <p:cNvSpPr/>
          <p:nvPr/>
        </p:nvSpPr>
        <p:spPr>
          <a:xfrm>
            <a:off x="457200" y="3313786"/>
            <a:ext cx="11274552" cy="870509"/>
          </a:xfrm>
          <a:prstGeom prst="roundRect">
            <a:avLst>
              <a:gd name="adj" fmla="val 10504"/>
            </a:avLst>
          </a:prstGeom>
          <a:solidFill>
            <a:srgbClr val="E9F1F8"/>
          </a:solidFill>
          <a:ln w="12700">
            <a:solidFill>
              <a:srgbClr val="E9F1F8"/>
            </a:solidFill>
            <a:prstDash val="solid"/>
          </a:ln>
        </p:spPr>
      </p:sp>
      <p:sp>
        <p:nvSpPr>
          <p:cNvPr id="12" name="Shape 10"/>
          <p:cNvSpPr/>
          <p:nvPr/>
        </p:nvSpPr>
        <p:spPr>
          <a:xfrm>
            <a:off x="621792" y="3520440"/>
            <a:ext cx="457200" cy="457200"/>
          </a:xfrm>
          <a:prstGeom prst="roundRect">
            <a:avLst>
              <a:gd name="adj" fmla="val 16000"/>
            </a:avLst>
          </a:prstGeom>
          <a:solidFill>
            <a:srgbClr val="00629B"/>
          </a:solidFill>
          <a:ln w="12700">
            <a:solidFill>
              <a:srgbClr val="00629B"/>
            </a:solidFill>
            <a:prstDash val="solid"/>
          </a:ln>
        </p:spPr>
      </p:sp>
      <p:sp>
        <p:nvSpPr>
          <p:cNvPr id="13" name="Text 11"/>
          <p:cNvSpPr txBox="1"/>
          <p:nvPr/>
        </p:nvSpPr>
        <p:spPr>
          <a:xfrm>
            <a:off x="621792" y="3520440"/>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3</a:t>
            </a:r>
            <a:endParaRPr lang="en-US" sz="1600" dirty="0"/>
          </a:p>
        </p:txBody>
      </p:sp>
      <p:sp>
        <p:nvSpPr>
          <p:cNvPr id="14" name="Text 12"/>
          <p:cNvSpPr txBox="1"/>
          <p:nvPr/>
        </p:nvSpPr>
        <p:spPr>
          <a:xfrm>
            <a:off x="1280160" y="3368650"/>
            <a:ext cx="10222992" cy="760781"/>
          </a:xfrm>
          <a:prstGeom prst="rect">
            <a:avLst/>
          </a:prstGeom>
          <a:noFill/>
          <a:ln/>
        </p:spPr>
        <p:txBody>
          <a:bodyPr wrap="square" lIns="0" tIns="0" rIns="0" bIns="0" rtlCol="0" anchor="ctr"/>
          <a:lstStyle/>
          <a:p>
            <a:pPr indent="0" marL="0">
              <a:buNone/>
            </a:pPr>
            <a:r>
              <a:rPr lang="en-US" sz="2000" dirty="0">
                <a:solidFill>
                  <a:srgbClr val="272425"/>
                </a:solidFill>
                <a:latin typeface="Arial" pitchFamily="34" charset="0"/>
                <a:ea typeface="Arial" pitchFamily="34" charset="-122"/>
                <a:cs typeface="Arial" pitchFamily="34" charset="-120"/>
              </a:rPr>
              <a:t>Decisiones de vuelta por traspaso (handoff)</a:t>
            </a:r>
            <a:endParaRPr lang="en-US" sz="1600" dirty="0"/>
          </a:p>
        </p:txBody>
      </p:sp>
      <p:sp>
        <p:nvSpPr>
          <p:cNvPr id="15" name="Shape 13"/>
          <p:cNvSpPr/>
          <p:nvPr/>
        </p:nvSpPr>
        <p:spPr>
          <a:xfrm>
            <a:off x="457200" y="4330598"/>
            <a:ext cx="11274552" cy="870509"/>
          </a:xfrm>
          <a:prstGeom prst="roundRect">
            <a:avLst>
              <a:gd name="adj" fmla="val 10504"/>
            </a:avLst>
          </a:prstGeom>
          <a:solidFill>
            <a:srgbClr val="F4F6F8"/>
          </a:solidFill>
          <a:ln w="12700">
            <a:solidFill>
              <a:srgbClr val="F4F6F8"/>
            </a:solidFill>
            <a:prstDash val="solid"/>
          </a:ln>
        </p:spPr>
      </p:sp>
      <p:sp>
        <p:nvSpPr>
          <p:cNvPr id="16" name="Shape 14"/>
          <p:cNvSpPr/>
          <p:nvPr/>
        </p:nvSpPr>
        <p:spPr>
          <a:xfrm>
            <a:off x="621792" y="4537253"/>
            <a:ext cx="457200" cy="457200"/>
          </a:xfrm>
          <a:prstGeom prst="roundRect">
            <a:avLst>
              <a:gd name="adj" fmla="val 16000"/>
            </a:avLst>
          </a:prstGeom>
          <a:solidFill>
            <a:srgbClr val="00629B"/>
          </a:solidFill>
          <a:ln w="12700">
            <a:solidFill>
              <a:srgbClr val="00629B"/>
            </a:solidFill>
            <a:prstDash val="solid"/>
          </a:ln>
        </p:spPr>
      </p:sp>
      <p:sp>
        <p:nvSpPr>
          <p:cNvPr id="17" name="Text 15"/>
          <p:cNvSpPr txBox="1"/>
          <p:nvPr/>
        </p:nvSpPr>
        <p:spPr>
          <a:xfrm>
            <a:off x="621792" y="4537253"/>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4</a:t>
            </a:r>
            <a:endParaRPr lang="en-US" sz="1600" dirty="0"/>
          </a:p>
        </p:txBody>
      </p:sp>
      <p:sp>
        <p:nvSpPr>
          <p:cNvPr id="18" name="Text 16"/>
          <p:cNvSpPr txBox="1"/>
          <p:nvPr/>
        </p:nvSpPr>
        <p:spPr>
          <a:xfrm>
            <a:off x="1280160" y="4385462"/>
            <a:ext cx="10222992" cy="760781"/>
          </a:xfrm>
          <a:prstGeom prst="rect">
            <a:avLst/>
          </a:prstGeom>
          <a:noFill/>
          <a:ln/>
        </p:spPr>
        <p:txBody>
          <a:bodyPr wrap="square" lIns="0" tIns="0" rIns="0" bIns="0" rtlCol="0" anchor="ctr"/>
          <a:lstStyle/>
          <a:p>
            <a:pPr indent="0" marL="0">
              <a:buNone/>
            </a:pPr>
            <a:r>
              <a:rPr lang="en-US" sz="2000" dirty="0">
                <a:solidFill>
                  <a:srgbClr val="272425"/>
                </a:solidFill>
                <a:latin typeface="Arial" pitchFamily="34" charset="0"/>
                <a:ea typeface="Arial" pitchFamily="34" charset="-122"/>
                <a:cs typeface="Arial" pitchFamily="34" charset="-120"/>
              </a:rPr>
              <a:t>Nada se escribe en _bmad-output/</a:t>
            </a:r>
            <a:endParaRPr lang="en-US" sz="1600" dirty="0"/>
          </a:p>
        </p:txBody>
      </p:sp>
      <p:sp>
        <p:nvSpPr>
          <p:cNvPr id="19" name="Shape 17"/>
          <p:cNvSpPr/>
          <p:nvPr/>
        </p:nvSpPr>
        <p:spPr>
          <a:xfrm>
            <a:off x="457200" y="5347411"/>
            <a:ext cx="11274552" cy="870509"/>
          </a:xfrm>
          <a:prstGeom prst="roundRect">
            <a:avLst>
              <a:gd name="adj" fmla="val 10504"/>
            </a:avLst>
          </a:prstGeom>
          <a:solidFill>
            <a:srgbClr val="E9F1F8"/>
          </a:solidFill>
          <a:ln w="12700">
            <a:solidFill>
              <a:srgbClr val="E9F1F8"/>
            </a:solidFill>
            <a:prstDash val="solid"/>
          </a:ln>
        </p:spPr>
      </p:sp>
      <p:sp>
        <p:nvSpPr>
          <p:cNvPr id="20" name="Shape 18"/>
          <p:cNvSpPr/>
          <p:nvPr/>
        </p:nvSpPr>
        <p:spPr>
          <a:xfrm>
            <a:off x="621792" y="5554066"/>
            <a:ext cx="457200" cy="457200"/>
          </a:xfrm>
          <a:prstGeom prst="roundRect">
            <a:avLst>
              <a:gd name="adj" fmla="val 16000"/>
            </a:avLst>
          </a:prstGeom>
          <a:solidFill>
            <a:srgbClr val="00629B"/>
          </a:solidFill>
          <a:ln w="12700">
            <a:solidFill>
              <a:srgbClr val="00629B"/>
            </a:solidFill>
            <a:prstDash val="solid"/>
          </a:ln>
        </p:spPr>
      </p:sp>
      <p:sp>
        <p:nvSpPr>
          <p:cNvPr id="21" name="Text 19"/>
          <p:cNvSpPr txBox="1"/>
          <p:nvPr/>
        </p:nvSpPr>
        <p:spPr>
          <a:xfrm>
            <a:off x="621792" y="5554066"/>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5</a:t>
            </a:r>
            <a:endParaRPr lang="en-US" sz="1600" dirty="0"/>
          </a:p>
        </p:txBody>
      </p:sp>
      <p:sp>
        <p:nvSpPr>
          <p:cNvPr id="22" name="Text 20"/>
          <p:cNvSpPr txBox="1"/>
          <p:nvPr/>
        </p:nvSpPr>
        <p:spPr>
          <a:xfrm>
            <a:off x="1280160" y="5402275"/>
            <a:ext cx="10222992" cy="760781"/>
          </a:xfrm>
          <a:prstGeom prst="rect">
            <a:avLst/>
          </a:prstGeom>
          <a:noFill/>
          <a:ln/>
        </p:spPr>
        <p:txBody>
          <a:bodyPr wrap="square" lIns="0" tIns="0" rIns="0" bIns="0" rtlCol="0" anchor="ctr"/>
          <a:lstStyle/>
          <a:p>
            <a:pPr indent="0" marL="0">
              <a:buNone/>
            </a:pPr>
            <a:r>
              <a:rPr lang="en-US" sz="2000" dirty="0">
                <a:solidFill>
                  <a:srgbClr val="272425"/>
                </a:solidFill>
                <a:latin typeface="Arial" pitchFamily="34" charset="0"/>
                <a:ea typeface="Arial" pitchFamily="34" charset="-122"/>
                <a:cs typeface="Arial" pitchFamily="34" charset="-120"/>
              </a:rPr>
              <a:t>PRINCE2 7 manda; PMBOK 8 aporta técnicas</a:t>
            </a:r>
            <a:endParaRPr lang="en-US" sz="1600" dirty="0"/>
          </a:p>
        </p:txBody>
      </p:sp>
      <p:sp>
        <p:nvSpPr>
          <p:cNvPr id="25" name="Slide Number Placeholder 0"/>
          <p:cNvSpPr>
            <a:spLocks noGrp="1"/>
          </p:cNvSpPr>
          <p:nvPr>
            <p:ph type="sldNum" sz="quarter" idx="4294967295"/>
          </p:nvPr>
        </p:nvSpPr>
        <p:spPr>
          <a:xfrm>
            <a:off x="11091672" y="6419088"/>
            <a:ext cx="64008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rgbClr val="696969"/>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3"/>
          <p:cNvSpPr/>
          <p:nvPr>
            <p:ph idx="103" type="title" hasCustomPrompt="1"/>
          </p:nvPr>
        </p:nvSpPr>
        <p:spPr>
          <a:xfrm>
            <a:off x="658368" y="365760"/>
            <a:ext cx="9244584" cy="713232"/>
          </a:xfrm>
          <a:prstGeom prst="rect">
            <a:avLst/>
          </a:prstGeom>
          <a:noFill/>
          <a:ln/>
        </p:spPr>
        <p:txBody>
          <a:bodyPr wrap="square" lIns="0" tIns="0" rIns="0" bIns="0" rtlCol="0" anchor="ctr"/>
          <a:lstStyle/>
          <a:p>
            <a:pPr algn="l" indent="0" marL="0">
              <a:buNone/>
            </a:pPr>
            <a:r>
              <a:rPr lang="en-US" sz="2400" b="1" dirty="0">
                <a:solidFill>
                  <a:srgbClr val="FFFFFF"/>
                </a:solidFill>
                <a:latin typeface="Arial" pitchFamily="34" charset="0"/>
                <a:ea typeface="Arial" pitchFamily="34" charset="-122"/>
                <a:cs typeface="Arial" pitchFamily="34" charset="-120"/>
              </a:rPr>
              <a:t>Paso 1 en resumen: lo que queda listo</a:t>
            </a:r>
            <a:endParaRPr lang="en-US" sz="2400" dirty="0"/>
          </a:p>
        </p:txBody>
      </p:sp>
      <p:sp>
        <p:nvSpPr>
          <p:cNvPr id="3" name="Text 1"/>
          <p:cNvSpPr txBox="1"/>
          <p:nvPr/>
        </p:nvSpPr>
        <p:spPr>
          <a:xfrm>
            <a:off x="457200" y="1280160"/>
            <a:ext cx="11274552" cy="329184"/>
          </a:xfrm>
          <a:prstGeom prst="rect">
            <a:avLst/>
          </a:prstGeom>
          <a:noFill/>
          <a:ln/>
        </p:spPr>
        <p:txBody>
          <a:bodyPr wrap="square" lIns="0" tIns="0" rIns="0" bIns="0" rtlCol="0" anchor="t"/>
          <a:lstStyle/>
          <a:p>
            <a:pPr indent="0" marL="0">
              <a:buNone/>
            </a:pPr>
            <a:r>
              <a:rPr lang="en-US" sz="1800" b="1" dirty="0">
                <a:solidFill>
                  <a:srgbClr val="B5651D"/>
                </a:solidFill>
                <a:latin typeface="Arial" pitchFamily="34" charset="0"/>
                <a:ea typeface="Arial" pitchFamily="34" charset="-122"/>
                <a:cs typeface="Arial" pitchFamily="34" charset="-120"/>
              </a:rPr>
              <a:t>La idea y el diseño, a fondo en E2E-5</a:t>
            </a:r>
            <a:endParaRPr lang="en-US" sz="16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457200" y="1792224"/>
          <a:ext cx="11274552" cy="914400"/>
        </p:xfrm>
        <a:graphic>
          <a:graphicData uri="http://schemas.openxmlformats.org/drawingml/2006/table">
            <a:tbl>
              <a:tblPr/>
              <a:tblGrid>
                <a:gridCol w="1463040"/>
                <a:gridCol w="5606578"/>
                <a:gridCol w="4204934"/>
              </a:tblGrid>
              <a:tr h="0">
                <a:tc>
                  <a:txBody>
                    <a:bodyPr/>
                    <a:lstStyle/>
                    <a:p>
                      <a:pPr indent="0" marL="0">
                        <a:buNone/>
                      </a:pPr>
                      <a:r>
                        <a:rPr lang="en-US" sz="1800" b="1" dirty="0">
                          <a:solidFill>
                            <a:srgbClr val="FFFFFF"/>
                          </a:solidFill>
                          <a:latin typeface="Arial" pitchFamily="34" charset="0"/>
                          <a:ea typeface="Arial" pitchFamily="34" charset="-122"/>
                          <a:cs typeface="Arial" pitchFamily="34" charset="-120"/>
                        </a:rPr>
                        <a:t>Sub-paso</a:t>
                      </a:r>
                      <a:endParaRPr lang="en-US" sz="1200" dirty="0">
                        <a:latin typeface="Arial" charset="0"/>
                        <a:ea typeface="Arial" charset="0"/>
                        <a:cs typeface="Arial" charset="0"/>
                      </a:endParaRPr>
                    </a:p>
                  </a:txBody>
                  <a:tcPr marL="73152" marR="73152" marT="73152" marB="73152" anchor="ctr">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002855"/>
                    </a:solidFill>
                  </a:tcPr>
                </a:tc>
                <a:tc>
                  <a:txBody>
                    <a:bodyPr/>
                    <a:lstStyle/>
                    <a:p>
                      <a:pPr indent="0" marL="0">
                        <a:buNone/>
                      </a:pPr>
                      <a:r>
                        <a:rPr lang="en-US" sz="1800" b="1" dirty="0">
                          <a:solidFill>
                            <a:srgbClr val="FFFFFF"/>
                          </a:solidFill>
                          <a:latin typeface="Arial" pitchFamily="34" charset="0"/>
                          <a:ea typeface="Arial" pitchFamily="34" charset="-122"/>
                          <a:cs typeface="Arial" pitchFamily="34" charset="-120"/>
                        </a:rPr>
                        <a:t>Qué se hace</a:t>
                      </a:r>
                      <a:endParaRPr lang="en-US" sz="1200" dirty="0">
                        <a:latin typeface="Arial" charset="0"/>
                        <a:ea typeface="Arial" charset="0"/>
                        <a:cs typeface="Arial" charset="0"/>
                      </a:endParaRPr>
                    </a:p>
                  </a:txBody>
                  <a:tcPr marL="73152" marR="73152" marT="73152" marB="73152" anchor="ctr">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002855"/>
                    </a:solidFill>
                  </a:tcPr>
                </a:tc>
                <a:tc>
                  <a:txBody>
                    <a:bodyPr/>
                    <a:lstStyle/>
                    <a:p>
                      <a:pPr indent="0" marL="0">
                        <a:buNone/>
                      </a:pPr>
                      <a:r>
                        <a:rPr lang="en-US" sz="1800" b="1" dirty="0">
                          <a:solidFill>
                            <a:srgbClr val="FFFFFF"/>
                          </a:solidFill>
                          <a:latin typeface="Arial" pitchFamily="34" charset="0"/>
                          <a:ea typeface="Arial" pitchFamily="34" charset="-122"/>
                          <a:cs typeface="Arial" pitchFamily="34" charset="-120"/>
                        </a:rPr>
                        <a:t>Qué se ve</a:t>
                      </a:r>
                      <a:endParaRPr lang="en-US" sz="1200" dirty="0">
                        <a:latin typeface="Arial" charset="0"/>
                        <a:ea typeface="Arial" charset="0"/>
                        <a:cs typeface="Arial" charset="0"/>
                      </a:endParaRPr>
                    </a:p>
                  </a:txBody>
                  <a:tcPr marL="73152" marR="73152" marT="73152" marB="73152" anchor="ctr">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002855"/>
                    </a:solidFill>
                  </a:tcPr>
                </a:tc>
              </a:tr>
              <a:tr h="0">
                <a:tc>
                  <a:txBody>
                    <a:bodyPr/>
                    <a:lstStyle/>
                    <a:p>
                      <a:pPr indent="0" marL="0">
                        <a:buNone/>
                      </a:pPr>
                      <a:r>
                        <a:rPr lang="en-US" sz="1800" b="1" dirty="0">
                          <a:solidFill>
                            <a:srgbClr val="002855"/>
                          </a:solidFill>
                          <a:latin typeface="Arial" pitchFamily="34" charset="0"/>
                          <a:ea typeface="Arial" pitchFamily="34" charset="-122"/>
                          <a:cs typeface="Arial" pitchFamily="34" charset="-120"/>
                        </a:rPr>
                        <a:t>1a</a:t>
                      </a:r>
                      <a:endParaRPr lang="en-US" sz="1200" dirty="0">
                        <a:latin typeface="Arial" charset="0"/>
                        <a:ea typeface="Arial" charset="0"/>
                        <a:cs typeface="Arial" charset="0"/>
                      </a:endParaRPr>
                    </a:p>
                  </a:txBody>
                  <a:tcPr marL="73152" marR="73152" marT="73152" marB="73152"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4F6F8"/>
                    </a:solidFill>
                  </a:tcPr>
                </a:tc>
                <a:tc>
                  <a:txBody>
                    <a:bodyPr/>
                    <a:lstStyle/>
                    <a:p>
                      <a:pPr indent="0" marL="0">
                        <a:buNone/>
                      </a:pPr>
                      <a:r>
                        <a:rPr lang="en-US" sz="1800" dirty="0">
                          <a:solidFill>
                            <a:srgbClr val="272425"/>
                          </a:solidFill>
                          <a:latin typeface="Arial" pitchFamily="34" charset="0"/>
                          <a:ea typeface="Arial" pitchFamily="34" charset="-122"/>
                          <a:cs typeface="Arial" pitchFamily="34" charset="-120"/>
                        </a:rPr>
                        <a:t>Proyecto y detección de BMAD</a:t>
                      </a:r>
                      <a:endParaRPr lang="en-US" sz="1200" dirty="0">
                        <a:latin typeface="Arial" charset="0"/>
                        <a:ea typeface="Arial" charset="0"/>
                        <a:cs typeface="Arial" charset="0"/>
                      </a:endParaRPr>
                    </a:p>
                  </a:txBody>
                  <a:tcPr marL="73152" marR="73152" marT="73152" marB="73152"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4F6F8"/>
                    </a:solidFill>
                  </a:tcPr>
                </a:tc>
                <a:tc>
                  <a:txBody>
                    <a:bodyPr/>
                    <a:lstStyle/>
                    <a:p>
                      <a:pPr indent="0" marL="0">
                        <a:buNone/>
                      </a:pPr>
                      <a:r>
                        <a:rPr lang="en-US" sz="1800" dirty="0">
                          <a:solidFill>
                            <a:srgbClr val="272425"/>
                          </a:solidFill>
                          <a:latin typeface="Arial" pitchFamily="34" charset="0"/>
                          <a:ea typeface="Arial" pitchFamily="34" charset="-122"/>
                          <a:cs typeface="Arial" pitchFamily="34" charset="-120"/>
                        </a:rPr>
                        <a:t>6.12.4 · soportada</a:t>
                      </a:r>
                      <a:endParaRPr lang="en-US" sz="1200" dirty="0">
                        <a:latin typeface="Arial" charset="0"/>
                        <a:ea typeface="Arial" charset="0"/>
                        <a:cs typeface="Arial" charset="0"/>
                      </a:endParaRPr>
                    </a:p>
                  </a:txBody>
                  <a:tcPr marL="73152" marR="73152" marT="73152" marB="73152"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4F6F8"/>
                    </a:solidFill>
                  </a:tcPr>
                </a:tc>
              </a:tr>
              <a:tr h="0">
                <a:tc>
                  <a:txBody>
                    <a:bodyPr/>
                    <a:lstStyle/>
                    <a:p>
                      <a:pPr indent="0" marL="0">
                        <a:buNone/>
                      </a:pPr>
                      <a:r>
                        <a:rPr lang="en-US" sz="1800" b="1" dirty="0">
                          <a:solidFill>
                            <a:srgbClr val="002855"/>
                          </a:solidFill>
                          <a:latin typeface="Arial" pitchFamily="34" charset="0"/>
                          <a:ea typeface="Arial" pitchFamily="34" charset="-122"/>
                          <a:cs typeface="Arial" pitchFamily="34" charset="-120"/>
                        </a:rPr>
                        <a:t>1d</a:t>
                      </a:r>
                      <a:endParaRPr lang="en-US" sz="1200" dirty="0">
                        <a:latin typeface="Arial" charset="0"/>
                        <a:ea typeface="Arial" charset="0"/>
                        <a:cs typeface="Arial" charset="0"/>
                      </a:endParaRPr>
                    </a:p>
                  </a:txBody>
                  <a:tcPr marL="73152" marR="73152" marT="73152" marB="73152"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FFFFF"/>
                    </a:solidFill>
                  </a:tcPr>
                </a:tc>
                <a:tc>
                  <a:txBody>
                    <a:bodyPr/>
                    <a:lstStyle/>
                    <a:p>
                      <a:pPr indent="0" marL="0">
                        <a:buNone/>
                      </a:pPr>
                      <a:r>
                        <a:rPr lang="en-US" sz="1800" dirty="0">
                          <a:solidFill>
                            <a:srgbClr val="272425"/>
                          </a:solidFill>
                          <a:latin typeface="Arial" pitchFamily="34" charset="0"/>
                          <a:ea typeface="Arial" pitchFamily="34" charset="-122"/>
                          <a:cs typeface="Arial" pitchFamily="34" charset="-120"/>
                        </a:rPr>
                        <a:t>Requisitos desde el PRD</a:t>
                      </a:r>
                      <a:endParaRPr lang="en-US" sz="1200" dirty="0">
                        <a:latin typeface="Arial" charset="0"/>
                        <a:ea typeface="Arial" charset="0"/>
                        <a:cs typeface="Arial" charset="0"/>
                      </a:endParaRPr>
                    </a:p>
                  </a:txBody>
                  <a:tcPr marL="73152" marR="73152" marT="73152" marB="73152"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FFFFF"/>
                    </a:solidFill>
                  </a:tcPr>
                </a:tc>
                <a:tc>
                  <a:txBody>
                    <a:bodyPr/>
                    <a:lstStyle/>
                    <a:p>
                      <a:pPr indent="0" marL="0">
                        <a:buNone/>
                      </a:pPr>
                      <a:r>
                        <a:rPr lang="en-US" sz="1800" dirty="0">
                          <a:solidFill>
                            <a:srgbClr val="272425"/>
                          </a:solidFill>
                          <a:latin typeface="Arial" pitchFamily="34" charset="0"/>
                          <a:ea typeface="Arial" pitchFamily="34" charset="-122"/>
                          <a:cs typeface="Arial" pitchFamily="34" charset="-120"/>
                        </a:rPr>
                        <a:t>42 identificadores</a:t>
                      </a:r>
                      <a:endParaRPr lang="en-US" sz="1200" dirty="0">
                        <a:latin typeface="Arial" charset="0"/>
                        <a:ea typeface="Arial" charset="0"/>
                        <a:cs typeface="Arial" charset="0"/>
                      </a:endParaRPr>
                    </a:p>
                  </a:txBody>
                  <a:tcPr marL="73152" marR="73152" marT="73152" marB="73152"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FFFFF"/>
                    </a:solidFill>
                  </a:tcPr>
                </a:tc>
              </a:tr>
              <a:tr h="0">
                <a:tc>
                  <a:txBody>
                    <a:bodyPr/>
                    <a:lstStyle/>
                    <a:p>
                      <a:pPr indent="0" marL="0">
                        <a:buNone/>
                      </a:pPr>
                      <a:r>
                        <a:rPr lang="en-US" sz="1800" b="1" dirty="0">
                          <a:solidFill>
                            <a:srgbClr val="002855"/>
                          </a:solidFill>
                          <a:latin typeface="Arial" pitchFamily="34" charset="0"/>
                          <a:ea typeface="Arial" pitchFamily="34" charset="-122"/>
                          <a:cs typeface="Arial" pitchFamily="34" charset="-120"/>
                        </a:rPr>
                        <a:t>1e</a:t>
                      </a:r>
                      <a:endParaRPr lang="en-US" sz="1200" dirty="0">
                        <a:latin typeface="Arial" charset="0"/>
                        <a:ea typeface="Arial" charset="0"/>
                        <a:cs typeface="Arial" charset="0"/>
                      </a:endParaRPr>
                    </a:p>
                  </a:txBody>
                  <a:tcPr marL="73152" marR="73152" marT="73152" marB="73152"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4F6F8"/>
                    </a:solidFill>
                  </a:tcPr>
                </a:tc>
                <a:tc>
                  <a:txBody>
                    <a:bodyPr/>
                    <a:lstStyle/>
                    <a:p>
                      <a:pPr indent="0" marL="0">
                        <a:buNone/>
                      </a:pPr>
                      <a:r>
                        <a:rPr lang="en-US" sz="1800" dirty="0">
                          <a:solidFill>
                            <a:srgbClr val="272425"/>
                          </a:solidFill>
                          <a:latin typeface="Arial" pitchFamily="34" charset="0"/>
                          <a:ea typeface="Arial" pitchFamily="34" charset="-122"/>
                          <a:cs typeface="Arial" pitchFamily="34" charset="-120"/>
                        </a:rPr>
                        <a:t>WBS y trazabilidad</a:t>
                      </a:r>
                      <a:endParaRPr lang="en-US" sz="1200" dirty="0">
                        <a:latin typeface="Arial" charset="0"/>
                        <a:ea typeface="Arial" charset="0"/>
                        <a:cs typeface="Arial" charset="0"/>
                      </a:endParaRPr>
                    </a:p>
                  </a:txBody>
                  <a:tcPr marL="73152" marR="73152" marT="73152" marB="73152"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4F6F8"/>
                    </a:solidFill>
                  </a:tcPr>
                </a:tc>
                <a:tc>
                  <a:txBody>
                    <a:bodyPr/>
                    <a:lstStyle/>
                    <a:p>
                      <a:pPr indent="0" marL="0">
                        <a:buNone/>
                      </a:pPr>
                      <a:r>
                        <a:rPr lang="en-US" sz="1800" dirty="0">
                          <a:solidFill>
                            <a:srgbClr val="272425"/>
                          </a:solidFill>
                          <a:latin typeface="Arial" pitchFamily="34" charset="0"/>
                          <a:ea typeface="Arial" pitchFamily="34" charset="-122"/>
                          <a:cs typeface="Arial" pitchFamily="34" charset="-120"/>
                        </a:rPr>
                        <a:t>18 requisitos trazados</a:t>
                      </a:r>
                      <a:endParaRPr lang="en-US" sz="1200" dirty="0">
                        <a:latin typeface="Arial" charset="0"/>
                        <a:ea typeface="Arial" charset="0"/>
                        <a:cs typeface="Arial" charset="0"/>
                      </a:endParaRPr>
                    </a:p>
                  </a:txBody>
                  <a:tcPr marL="73152" marR="73152" marT="73152" marB="73152"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4F6F8"/>
                    </a:solidFill>
                  </a:tcPr>
                </a:tc>
              </a:tr>
              <a:tr h="0">
                <a:tc>
                  <a:txBody>
                    <a:bodyPr/>
                    <a:lstStyle/>
                    <a:p>
                      <a:pPr indent="0" marL="0">
                        <a:buNone/>
                      </a:pPr>
                      <a:r>
                        <a:rPr lang="en-US" sz="1800" b="1" dirty="0">
                          <a:solidFill>
                            <a:srgbClr val="002855"/>
                          </a:solidFill>
                          <a:latin typeface="Arial" pitchFamily="34" charset="0"/>
                          <a:ea typeface="Arial" pitchFamily="34" charset="-122"/>
                          <a:cs typeface="Arial" pitchFamily="34" charset="-120"/>
                        </a:rPr>
                        <a:t>1f</a:t>
                      </a:r>
                      <a:endParaRPr lang="en-US" sz="1200" dirty="0">
                        <a:latin typeface="Arial" charset="0"/>
                        <a:ea typeface="Arial" charset="0"/>
                        <a:cs typeface="Arial" charset="0"/>
                      </a:endParaRPr>
                    </a:p>
                  </a:txBody>
                  <a:tcPr marL="73152" marR="73152" marT="73152" marB="73152"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FFFFF"/>
                    </a:solidFill>
                  </a:tcPr>
                </a:tc>
                <a:tc>
                  <a:txBody>
                    <a:bodyPr/>
                    <a:lstStyle/>
                    <a:p>
                      <a:pPr indent="0" marL="0">
                        <a:buNone/>
                      </a:pPr>
                      <a:r>
                        <a:rPr lang="en-US" sz="1800" dirty="0">
                          <a:solidFill>
                            <a:srgbClr val="272425"/>
                          </a:solidFill>
                          <a:latin typeface="Arial" pitchFamily="34" charset="0"/>
                          <a:ea typeface="Arial" pitchFamily="34" charset="-122"/>
                          <a:cs typeface="Arial" pitchFamily="34" charset="-120"/>
                        </a:rPr>
                        <a:t>Backlog con gobierno</a:t>
                      </a:r>
                      <a:endParaRPr lang="en-US" sz="1200" dirty="0">
                        <a:latin typeface="Arial" charset="0"/>
                        <a:ea typeface="Arial" charset="0"/>
                        <a:cs typeface="Arial" charset="0"/>
                      </a:endParaRPr>
                    </a:p>
                  </a:txBody>
                  <a:tcPr marL="73152" marR="73152" marT="73152" marB="73152"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FFFFF"/>
                    </a:solidFill>
                  </a:tcPr>
                </a:tc>
                <a:tc>
                  <a:txBody>
                    <a:bodyPr/>
                    <a:lstStyle/>
                    <a:p>
                      <a:pPr indent="0" marL="0">
                        <a:buNone/>
                      </a:pPr>
                      <a:r>
                        <a:rPr lang="en-US" sz="1800" dirty="0">
                          <a:solidFill>
                            <a:srgbClr val="272425"/>
                          </a:solidFill>
                          <a:latin typeface="Arial" pitchFamily="34" charset="0"/>
                          <a:ea typeface="Arial" pitchFamily="34" charset="-122"/>
                          <a:cs typeface="Arial" pitchFamily="34" charset="-120"/>
                        </a:rPr>
                        <a:t>68 puntos: R1 47 y R2 21</a:t>
                      </a:r>
                      <a:endParaRPr lang="en-US" sz="1200" dirty="0">
                        <a:latin typeface="Arial" charset="0"/>
                        <a:ea typeface="Arial" charset="0"/>
                        <a:cs typeface="Arial" charset="0"/>
                      </a:endParaRPr>
                    </a:p>
                  </a:txBody>
                  <a:tcPr marL="73152" marR="73152" marT="73152" marB="73152"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FFFFF"/>
                    </a:solidFill>
                  </a:tcPr>
                </a:tc>
              </a:tr>
              <a:tr h="0">
                <a:tc>
                  <a:txBody>
                    <a:bodyPr/>
                    <a:lstStyle/>
                    <a:p>
                      <a:pPr indent="0" marL="0">
                        <a:buNone/>
                      </a:pPr>
                      <a:r>
                        <a:rPr lang="en-US" sz="1800" b="1" dirty="0">
                          <a:solidFill>
                            <a:srgbClr val="002855"/>
                          </a:solidFill>
                          <a:latin typeface="Arial" pitchFamily="34" charset="0"/>
                          <a:ea typeface="Arial" pitchFamily="34" charset="-122"/>
                          <a:cs typeface="Arial" pitchFamily="34" charset="-120"/>
                        </a:rPr>
                        <a:t>1g</a:t>
                      </a:r>
                      <a:endParaRPr lang="en-US" sz="1200" dirty="0">
                        <a:latin typeface="Arial" charset="0"/>
                        <a:ea typeface="Arial" charset="0"/>
                        <a:cs typeface="Arial" charset="0"/>
                      </a:endParaRPr>
                    </a:p>
                  </a:txBody>
                  <a:tcPr marL="73152" marR="73152" marT="73152" marB="73152"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4F6F8"/>
                    </a:solidFill>
                  </a:tcPr>
                </a:tc>
                <a:tc>
                  <a:txBody>
                    <a:bodyPr/>
                    <a:lstStyle/>
                    <a:p>
                      <a:pPr indent="0" marL="0">
                        <a:buNone/>
                      </a:pPr>
                      <a:r>
                        <a:rPr lang="en-US" sz="1800" dirty="0">
                          <a:solidFill>
                            <a:srgbClr val="272425"/>
                          </a:solidFill>
                          <a:latin typeface="Arial" pitchFamily="34" charset="0"/>
                          <a:ea typeface="Arial" pitchFamily="34" charset="-122"/>
                          <a:cs typeface="Arial" pitchFamily="34" charset="-120"/>
                        </a:rPr>
                        <a:t>Enfoques y presupuesto de cambio</a:t>
                      </a:r>
                      <a:endParaRPr lang="en-US" sz="1200" dirty="0">
                        <a:latin typeface="Arial" charset="0"/>
                        <a:ea typeface="Arial" charset="0"/>
                        <a:cs typeface="Arial" charset="0"/>
                      </a:endParaRPr>
                    </a:p>
                  </a:txBody>
                  <a:tcPr marL="73152" marR="73152" marT="73152" marB="73152"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4F6F8"/>
                    </a:solidFill>
                  </a:tcPr>
                </a:tc>
                <a:tc>
                  <a:txBody>
                    <a:bodyPr/>
                    <a:lstStyle/>
                    <a:p>
                      <a:pPr indent="0" marL="0">
                        <a:buNone/>
                      </a:pPr>
                      <a:r>
                        <a:rPr lang="en-US" sz="1800" dirty="0">
                          <a:solidFill>
                            <a:srgbClr val="272425"/>
                          </a:solidFill>
                          <a:latin typeface="Arial" pitchFamily="34" charset="0"/>
                          <a:ea typeface="Arial" pitchFamily="34" charset="-122"/>
                          <a:cs typeface="Arial" pitchFamily="34" charset="-120"/>
                        </a:rPr>
                        <a:t>15.000 · límite 8.000</a:t>
                      </a:r>
                      <a:endParaRPr lang="en-US" sz="1200" dirty="0">
                        <a:latin typeface="Arial" charset="0"/>
                        <a:ea typeface="Arial" charset="0"/>
                        <a:cs typeface="Arial" charset="0"/>
                      </a:endParaRPr>
                    </a:p>
                  </a:txBody>
                  <a:tcPr marL="73152" marR="73152" marT="73152" marB="73152"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4F6F8"/>
                    </a:solidFill>
                  </a:tcPr>
                </a:tc>
              </a:tr>
              <a:tr h="0">
                <a:tc>
                  <a:txBody>
                    <a:bodyPr/>
                    <a:lstStyle/>
                    <a:p>
                      <a:pPr indent="0" marL="0">
                        <a:buNone/>
                      </a:pPr>
                      <a:r>
                        <a:rPr lang="en-US" sz="1800" b="1" dirty="0">
                          <a:solidFill>
                            <a:srgbClr val="002855"/>
                          </a:solidFill>
                          <a:latin typeface="Arial" pitchFamily="34" charset="0"/>
                          <a:ea typeface="Arial" pitchFamily="34" charset="-122"/>
                          <a:cs typeface="Arial" pitchFamily="34" charset="-120"/>
                        </a:rPr>
                        <a:t>1g</a:t>
                      </a:r>
                      <a:endParaRPr lang="en-US" sz="1200" dirty="0">
                        <a:latin typeface="Arial" charset="0"/>
                        <a:ea typeface="Arial" charset="0"/>
                        <a:cs typeface="Arial" charset="0"/>
                      </a:endParaRPr>
                    </a:p>
                  </a:txBody>
                  <a:tcPr marL="73152" marR="73152" marT="73152" marB="73152"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FFFFF"/>
                    </a:solidFill>
                  </a:tcPr>
                </a:tc>
                <a:tc>
                  <a:txBody>
                    <a:bodyPr/>
                    <a:lstStyle/>
                    <a:p>
                      <a:pPr indent="0" marL="0">
                        <a:buNone/>
                      </a:pPr>
                      <a:r>
                        <a:rPr lang="en-US" sz="1800" dirty="0">
                          <a:solidFill>
                            <a:srgbClr val="272425"/>
                          </a:solidFill>
                          <a:latin typeface="Arial" pitchFamily="34" charset="0"/>
                          <a:ea typeface="Arial" pitchFamily="34" charset="-122"/>
                          <a:cs typeface="Arial" pitchFamily="34" charset="-120"/>
                        </a:rPr>
                        <a:t>Puerta y líneas base 1.0</a:t>
                      </a:r>
                      <a:endParaRPr lang="en-US" sz="1200" dirty="0">
                        <a:latin typeface="Arial" charset="0"/>
                        <a:ea typeface="Arial" charset="0"/>
                        <a:cs typeface="Arial" charset="0"/>
                      </a:endParaRPr>
                    </a:p>
                  </a:txBody>
                  <a:tcPr marL="73152" marR="73152" marT="73152" marB="73152"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FFFFF"/>
                    </a:solidFill>
                  </a:tcPr>
                </a:tc>
                <a:tc>
                  <a:txBody>
                    <a:bodyPr/>
                    <a:lstStyle/>
                    <a:p>
                      <a:pPr indent="0" marL="0">
                        <a:buNone/>
                      </a:pPr>
                      <a:r>
                        <a:rPr lang="en-US" sz="1800" dirty="0">
                          <a:solidFill>
                            <a:srgbClr val="272425"/>
                          </a:solidFill>
                          <a:latin typeface="Arial" pitchFamily="34" charset="0"/>
                          <a:ea typeface="Arial" pitchFamily="34" charset="-122"/>
                          <a:cs typeface="Arial" pitchFamily="34" charset="-120"/>
                        </a:rPr>
                        <a:t>PRD sha bc048f7f59a3</a:t>
                      </a:r>
                      <a:endParaRPr lang="en-US" sz="1200" dirty="0">
                        <a:latin typeface="Arial" charset="0"/>
                        <a:ea typeface="Arial" charset="0"/>
                        <a:cs typeface="Arial" charset="0"/>
                      </a:endParaRPr>
                    </a:p>
                  </a:txBody>
                  <a:tcPr marL="73152" marR="73152" marT="73152" marB="73152"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091672" y="6419088"/>
            <a:ext cx="64008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rgbClr val="696969"/>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3"/>
          <p:cNvSpPr/>
          <p:nvPr>
            <p:ph idx="103" type="title" hasCustomPrompt="1"/>
          </p:nvPr>
        </p:nvSpPr>
        <p:spPr>
          <a:xfrm>
            <a:off x="658368" y="365760"/>
            <a:ext cx="9244584" cy="713232"/>
          </a:xfrm>
          <a:prstGeom prst="rect">
            <a:avLst/>
          </a:prstGeom>
          <a:noFill/>
          <a:ln/>
        </p:spPr>
        <p:txBody>
          <a:bodyPr wrap="square" lIns="0" tIns="0" rIns="0" bIns="0" rtlCol="0" anchor="ctr"/>
          <a:lstStyle/>
          <a:p>
            <a:pPr algn="l" indent="0" marL="0">
              <a:buNone/>
            </a:pPr>
            <a:r>
              <a:rPr lang="en-US" sz="2400" b="1" dirty="0">
                <a:solidFill>
                  <a:srgbClr val="FFFFFF"/>
                </a:solidFill>
                <a:latin typeface="Arial" pitchFamily="34" charset="0"/>
                <a:ea typeface="Arial" pitchFamily="34" charset="-122"/>
                <a:cs typeface="Arial" pitchFamily="34" charset="-120"/>
              </a:rPr>
              <a:t>Del uso único al control continuo</a:t>
            </a:r>
            <a:endParaRPr lang="en-US" sz="24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457200" y="1280160"/>
          <a:ext cx="11274552" cy="914400"/>
        </p:xfrm>
        <a:graphic>
          <a:graphicData uri="http://schemas.openxmlformats.org/drawingml/2006/table">
            <a:tbl>
              <a:tblPr/>
              <a:tblGrid>
                <a:gridCol w="2185883"/>
                <a:gridCol w="2531022"/>
                <a:gridCol w="4831951"/>
                <a:gridCol w="1725697"/>
              </a:tblGrid>
              <a:tr h="0">
                <a:tc>
                  <a:txBody>
                    <a:bodyPr/>
                    <a:lstStyle/>
                    <a:p>
                      <a:pPr indent="0" marL="0">
                        <a:buNone/>
                      </a:pPr>
                      <a:r>
                        <a:rPr lang="en-US" sz="1800" b="1" dirty="0">
                          <a:solidFill>
                            <a:srgbClr val="FFFFFF"/>
                          </a:solidFill>
                          <a:latin typeface="Arial" pitchFamily="34" charset="0"/>
                          <a:ea typeface="Arial" pitchFamily="34" charset="-122"/>
                          <a:cs typeface="Arial" pitchFamily="34" charset="-120"/>
                        </a:rPr>
                        <a:t>Actividad</a:t>
                      </a:r>
                      <a:endParaRPr lang="en-US" sz="1200" dirty="0">
                        <a:latin typeface="Arial" charset="0"/>
                        <a:ea typeface="Arial" charset="0"/>
                        <a:cs typeface="Arial" charset="0"/>
                      </a:endParaRPr>
                    </a:p>
                  </a:txBody>
                  <a:tcPr marL="73152" marR="73152" marT="73152" marB="73152" anchor="ctr">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002855"/>
                    </a:solidFill>
                  </a:tcPr>
                </a:tc>
                <a:tc>
                  <a:txBody>
                    <a:bodyPr/>
                    <a:lstStyle/>
                    <a:p>
                      <a:pPr indent="0" marL="0">
                        <a:buNone/>
                      </a:pPr>
                      <a:r>
                        <a:rPr lang="en-US" sz="1800" b="1" dirty="0">
                          <a:solidFill>
                            <a:srgbClr val="FFFFFF"/>
                          </a:solidFill>
                          <a:latin typeface="Arial" pitchFamily="34" charset="0"/>
                          <a:ea typeface="Arial" pitchFamily="34" charset="-122"/>
                          <a:cs typeface="Arial" pitchFamily="34" charset="-120"/>
                        </a:rPr>
                        <a:t>Hoy</a:t>
                      </a:r>
                      <a:endParaRPr lang="en-US" sz="1200" dirty="0">
                        <a:latin typeface="Arial" charset="0"/>
                        <a:ea typeface="Arial" charset="0"/>
                        <a:cs typeface="Arial" charset="0"/>
                      </a:endParaRPr>
                    </a:p>
                  </a:txBody>
                  <a:tcPr marL="73152" marR="73152" marT="73152" marB="73152" anchor="ctr">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002855"/>
                    </a:solidFill>
                  </a:tcPr>
                </a:tc>
                <a:tc>
                  <a:txBody>
                    <a:bodyPr/>
                    <a:lstStyle/>
                    <a:p>
                      <a:pPr indent="0" marL="0">
                        <a:buNone/>
                      </a:pPr>
                      <a:r>
                        <a:rPr lang="en-US" sz="1800" b="1" dirty="0">
                          <a:solidFill>
                            <a:srgbClr val="FFFFFF"/>
                          </a:solidFill>
                          <a:latin typeface="Arial" pitchFamily="34" charset="0"/>
                          <a:ea typeface="Arial" pitchFamily="34" charset="-122"/>
                          <a:cs typeface="Arial" pitchFamily="34" charset="-120"/>
                        </a:rPr>
                        <a:t>Con pm-method</a:t>
                      </a:r>
                      <a:endParaRPr lang="en-US" sz="1200" dirty="0">
                        <a:latin typeface="Arial" charset="0"/>
                        <a:ea typeface="Arial" charset="0"/>
                        <a:cs typeface="Arial" charset="0"/>
                      </a:endParaRPr>
                    </a:p>
                  </a:txBody>
                  <a:tcPr marL="73152" marR="73152" marT="73152" marB="73152" anchor="ctr">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002855"/>
                    </a:solidFill>
                  </a:tcPr>
                </a:tc>
                <a:tc>
                  <a:txBody>
                    <a:bodyPr/>
                    <a:lstStyle/>
                    <a:p>
                      <a:pPr indent="0" marL="0">
                        <a:buNone/>
                      </a:pPr>
                      <a:r>
                        <a:rPr lang="en-US" sz="1800" b="1" dirty="0">
                          <a:solidFill>
                            <a:srgbClr val="FFFFFF"/>
                          </a:solidFill>
                          <a:latin typeface="Arial" pitchFamily="34" charset="0"/>
                          <a:ea typeface="Arial" pitchFamily="34" charset="-122"/>
                          <a:cs typeface="Arial" pitchFamily="34" charset="-120"/>
                        </a:rPr>
                        <a:t>Control</a:t>
                      </a:r>
                      <a:endParaRPr lang="en-US" sz="1200" dirty="0">
                        <a:latin typeface="Arial" charset="0"/>
                        <a:ea typeface="Arial" charset="0"/>
                        <a:cs typeface="Arial" charset="0"/>
                      </a:endParaRPr>
                    </a:p>
                  </a:txBody>
                  <a:tcPr marL="73152" marR="73152" marT="73152" marB="73152" anchor="ctr">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002855"/>
                    </a:solidFill>
                  </a:tcPr>
                </a:tc>
              </a:tr>
              <a:tr h="0">
                <a:tc>
                  <a:txBody>
                    <a:bodyPr/>
                    <a:lstStyle/>
                    <a:p>
                      <a:pPr indent="0" marL="0">
                        <a:buNone/>
                      </a:pPr>
                      <a:r>
                        <a:rPr lang="en-US" sz="1800" b="1" dirty="0">
                          <a:solidFill>
                            <a:srgbClr val="002855"/>
                          </a:solidFill>
                          <a:latin typeface="Arial" pitchFamily="34" charset="0"/>
                          <a:ea typeface="Arial" pitchFamily="34" charset="-122"/>
                          <a:cs typeface="Arial" pitchFamily="34" charset="-120"/>
                        </a:rPr>
                        <a:t>Condición de puerta</a:t>
                      </a:r>
                      <a:endParaRPr lang="en-US" sz="1200" dirty="0">
                        <a:latin typeface="Arial" charset="0"/>
                        <a:ea typeface="Arial" charset="0"/>
                        <a:cs typeface="Arial" charset="0"/>
                      </a:endParaRPr>
                    </a:p>
                  </a:txBody>
                  <a:tcPr marL="73152" marR="73152" marT="73152" marB="73152"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4F6F8"/>
                    </a:solidFill>
                  </a:tcPr>
                </a:tc>
                <a:tc>
                  <a:txBody>
                    <a:bodyPr/>
                    <a:lstStyle/>
                    <a:p>
                      <a:pPr indent="0" marL="0">
                        <a:buNone/>
                      </a:pPr>
                      <a:r>
                        <a:rPr lang="en-US" sz="1800" dirty="0">
                          <a:solidFill>
                            <a:srgbClr val="272425"/>
                          </a:solidFill>
                          <a:latin typeface="Arial" pitchFamily="34" charset="0"/>
                          <a:ea typeface="Arial" pitchFamily="34" charset="-122"/>
                          <a:cs typeface="Arial" pitchFamily="34" charset="-120"/>
                        </a:rPr>
                        <a:t>queda en el acta</a:t>
                      </a:r>
                      <a:endParaRPr lang="en-US" sz="1200" dirty="0">
                        <a:latin typeface="Arial" charset="0"/>
                        <a:ea typeface="Arial" charset="0"/>
                        <a:cs typeface="Arial" charset="0"/>
                      </a:endParaRPr>
                    </a:p>
                  </a:txBody>
                  <a:tcPr marL="73152" marR="73152" marT="73152" marB="73152"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4F6F8"/>
                    </a:solidFill>
                  </a:tcPr>
                </a:tc>
                <a:tc>
                  <a:txBody>
                    <a:bodyPr/>
                    <a:lstStyle/>
                    <a:p>
                      <a:pPr indent="0" marL="0">
                        <a:buNone/>
                      </a:pPr>
                      <a:r>
                        <a:rPr lang="en-US" sz="1800" dirty="0">
                          <a:solidFill>
                            <a:srgbClr val="272425"/>
                          </a:solidFill>
                          <a:latin typeface="Arial" pitchFamily="34" charset="0"/>
                          <a:ea typeface="Arial" pitchFamily="34" charset="-122"/>
                          <a:cs typeface="Arial" pitchFamily="34" charset="-120"/>
                        </a:rPr>
                        <a:t>aviso en cada sanidad y bloqueo del cierre</a:t>
                      </a:r>
                      <a:endParaRPr lang="en-US" sz="1200" dirty="0">
                        <a:latin typeface="Arial" charset="0"/>
                        <a:ea typeface="Arial" charset="0"/>
                        <a:cs typeface="Arial" charset="0"/>
                      </a:endParaRPr>
                    </a:p>
                  </a:txBody>
                  <a:tcPr marL="73152" marR="73152" marT="73152" marB="73152"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4F6F8"/>
                    </a:solidFill>
                  </a:tcPr>
                </a:tc>
                <a:tc>
                  <a:txBody>
                    <a:bodyPr/>
                    <a:lstStyle/>
                    <a:p>
                      <a:pPr indent="0" marL="0">
                        <a:buNone/>
                      </a:pPr>
                      <a:r>
                        <a:rPr lang="en-US" sz="1800" dirty="0">
                          <a:solidFill>
                            <a:srgbClr val="272425"/>
                          </a:solidFill>
                          <a:latin typeface="Arial" pitchFamily="34" charset="0"/>
                          <a:ea typeface="Arial" pitchFamily="34" charset="-122"/>
                          <a:cs typeface="Arial" pitchFamily="34" charset="-120"/>
                        </a:rPr>
                        <a:t>EST-12 · G-01</a:t>
                      </a:r>
                      <a:endParaRPr lang="en-US" sz="1200" dirty="0">
                        <a:latin typeface="Arial" charset="0"/>
                        <a:ea typeface="Arial" charset="0"/>
                        <a:cs typeface="Arial" charset="0"/>
                      </a:endParaRPr>
                    </a:p>
                  </a:txBody>
                  <a:tcPr marL="73152" marR="73152" marT="73152" marB="73152"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4F6F8"/>
                    </a:solidFill>
                  </a:tcPr>
                </a:tc>
              </a:tr>
              <a:tr h="0">
                <a:tc>
                  <a:txBody>
                    <a:bodyPr/>
                    <a:lstStyle/>
                    <a:p>
                      <a:pPr indent="0" marL="0">
                        <a:buNone/>
                      </a:pPr>
                      <a:r>
                        <a:rPr lang="en-US" sz="1800" b="1" dirty="0">
                          <a:solidFill>
                            <a:srgbClr val="002855"/>
                          </a:solidFill>
                          <a:latin typeface="Arial" pitchFamily="34" charset="0"/>
                          <a:ea typeface="Arial" pitchFamily="34" charset="-122"/>
                          <a:cs typeface="Arial" pitchFamily="34" charset="-120"/>
                        </a:rPr>
                        <a:t>Cambio y su costo</a:t>
                      </a:r>
                      <a:endParaRPr lang="en-US" sz="1200" dirty="0">
                        <a:latin typeface="Arial" charset="0"/>
                        <a:ea typeface="Arial" charset="0"/>
                        <a:cs typeface="Arial" charset="0"/>
                      </a:endParaRPr>
                    </a:p>
                  </a:txBody>
                  <a:tcPr marL="73152" marR="73152" marT="73152" marB="73152"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FFFFF"/>
                    </a:solidFill>
                  </a:tcPr>
                </a:tc>
                <a:tc>
                  <a:txBody>
                    <a:bodyPr/>
                    <a:lstStyle/>
                    <a:p>
                      <a:pPr indent="0" marL="0">
                        <a:buNone/>
                      </a:pPr>
                      <a:r>
                        <a:rPr lang="en-US" sz="1800" dirty="0">
                          <a:solidFill>
                            <a:srgbClr val="272425"/>
                          </a:solidFill>
                          <a:latin typeface="Arial" pitchFamily="34" charset="0"/>
                          <a:ea typeface="Arial" pitchFamily="34" charset="-122"/>
                          <a:cs typeface="Arial" pitchFamily="34" charset="-120"/>
                        </a:rPr>
                        <a:t>contra la contingencia</a:t>
                      </a:r>
                      <a:endParaRPr lang="en-US" sz="1200" dirty="0">
                        <a:latin typeface="Arial" charset="0"/>
                        <a:ea typeface="Arial" charset="0"/>
                        <a:cs typeface="Arial" charset="0"/>
                      </a:endParaRPr>
                    </a:p>
                  </a:txBody>
                  <a:tcPr marL="73152" marR="73152" marT="73152" marB="73152"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FFFFF"/>
                    </a:solidFill>
                  </a:tcPr>
                </a:tc>
                <a:tc>
                  <a:txBody>
                    <a:bodyPr/>
                    <a:lstStyle/>
                    <a:p>
                      <a:pPr indent="0" marL="0">
                        <a:buNone/>
                      </a:pPr>
                      <a:r>
                        <a:rPr lang="en-US" sz="1800" dirty="0">
                          <a:solidFill>
                            <a:srgbClr val="272425"/>
                          </a:solidFill>
                          <a:latin typeface="Arial" pitchFamily="34" charset="0"/>
                          <a:ea typeface="Arial" pitchFamily="34" charset="-122"/>
                          <a:cs typeface="Arial" pitchFamily="34" charset="-120"/>
                        </a:rPr>
                        <a:t>costo y cargo contra el presupuesto</a:t>
                      </a:r>
                      <a:endParaRPr lang="en-US" sz="1200" dirty="0">
                        <a:latin typeface="Arial" charset="0"/>
                        <a:ea typeface="Arial" charset="0"/>
                        <a:cs typeface="Arial" charset="0"/>
                      </a:endParaRPr>
                    </a:p>
                  </a:txBody>
                  <a:tcPr marL="73152" marR="73152" marT="73152" marB="73152"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FFFFF"/>
                    </a:solidFill>
                  </a:tcPr>
                </a:tc>
                <a:tc>
                  <a:txBody>
                    <a:bodyPr/>
                    <a:lstStyle/>
                    <a:p>
                      <a:pPr indent="0" marL="0">
                        <a:buNone/>
                      </a:pPr>
                      <a:r>
                        <a:rPr lang="en-US" sz="1800" dirty="0">
                          <a:solidFill>
                            <a:srgbClr val="272425"/>
                          </a:solidFill>
                          <a:latin typeface="Arial" pitchFamily="34" charset="0"/>
                          <a:ea typeface="Arial" pitchFamily="34" charset="-122"/>
                          <a:cs typeface="Arial" pitchFamily="34" charset="-120"/>
                        </a:rPr>
                        <a:t>CAM-01 · CAM-03</a:t>
                      </a:r>
                      <a:endParaRPr lang="en-US" sz="1200" dirty="0">
                        <a:latin typeface="Arial" charset="0"/>
                        <a:ea typeface="Arial" charset="0"/>
                        <a:cs typeface="Arial" charset="0"/>
                      </a:endParaRPr>
                    </a:p>
                  </a:txBody>
                  <a:tcPr marL="73152" marR="73152" marT="73152" marB="73152"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FFFFF"/>
                    </a:solidFill>
                  </a:tcPr>
                </a:tc>
              </a:tr>
              <a:tr h="0">
                <a:tc>
                  <a:txBody>
                    <a:bodyPr/>
                    <a:lstStyle/>
                    <a:p>
                      <a:pPr indent="0" marL="0">
                        <a:buNone/>
                      </a:pPr>
                      <a:r>
                        <a:rPr lang="en-US" sz="1800" b="1" dirty="0">
                          <a:solidFill>
                            <a:srgbClr val="002855"/>
                          </a:solidFill>
                          <a:latin typeface="Arial" pitchFamily="34" charset="0"/>
                          <a:ea typeface="Arial" pitchFamily="34" charset="-122"/>
                          <a:cs typeface="Arial" pitchFamily="34" charset="-120"/>
                        </a:rPr>
                        <a:t>Cambios en el PRD</a:t>
                      </a:r>
                      <a:endParaRPr lang="en-US" sz="1200" dirty="0">
                        <a:latin typeface="Arial" charset="0"/>
                        <a:ea typeface="Arial" charset="0"/>
                        <a:cs typeface="Arial" charset="0"/>
                      </a:endParaRPr>
                    </a:p>
                  </a:txBody>
                  <a:tcPr marL="73152" marR="73152" marT="73152" marB="73152"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4F6F8"/>
                    </a:solidFill>
                  </a:tcPr>
                </a:tc>
                <a:tc>
                  <a:txBody>
                    <a:bodyPr/>
                    <a:lstStyle/>
                    <a:p>
                      <a:pPr indent="0" marL="0">
                        <a:buNone/>
                      </a:pPr>
                      <a:r>
                        <a:rPr lang="en-US" sz="1800" dirty="0">
                          <a:solidFill>
                            <a:srgbClr val="272425"/>
                          </a:solidFill>
                          <a:latin typeface="Arial" pitchFamily="34" charset="0"/>
                          <a:ea typeface="Arial" pitchFamily="34" charset="-122"/>
                          <a:cs typeface="Arial" pitchFamily="34" charset="-120"/>
                        </a:rPr>
                        <a:t>se ven en la demo</a:t>
                      </a:r>
                      <a:endParaRPr lang="en-US" sz="1200" dirty="0">
                        <a:latin typeface="Arial" charset="0"/>
                        <a:ea typeface="Arial" charset="0"/>
                        <a:cs typeface="Arial" charset="0"/>
                      </a:endParaRPr>
                    </a:p>
                  </a:txBody>
                  <a:tcPr marL="73152" marR="73152" marT="73152" marB="73152"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4F6F8"/>
                    </a:solidFill>
                  </a:tcPr>
                </a:tc>
                <a:tc>
                  <a:txBody>
                    <a:bodyPr/>
                    <a:lstStyle/>
                    <a:p>
                      <a:pPr indent="0" marL="0">
                        <a:buNone/>
                      </a:pPr>
                      <a:r>
                        <a:rPr lang="en-US" sz="1800" dirty="0">
                          <a:solidFill>
                            <a:srgbClr val="272425"/>
                          </a:solidFill>
                          <a:latin typeface="Arial" pitchFamily="34" charset="0"/>
                          <a:ea typeface="Arial" pitchFamily="34" charset="-122"/>
                          <a:cs typeface="Arial" pitchFamily="34" charset="-120"/>
                        </a:rPr>
                        <a:t>contra la línea base en cada sanidad</a:t>
                      </a:r>
                      <a:endParaRPr lang="en-US" sz="1200" dirty="0">
                        <a:latin typeface="Arial" charset="0"/>
                        <a:ea typeface="Arial" charset="0"/>
                        <a:cs typeface="Arial" charset="0"/>
                      </a:endParaRPr>
                    </a:p>
                  </a:txBody>
                  <a:tcPr marL="73152" marR="73152" marT="73152" marB="73152"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4F6F8"/>
                    </a:solidFill>
                  </a:tcPr>
                </a:tc>
                <a:tc>
                  <a:txBody>
                    <a:bodyPr/>
                    <a:lstStyle/>
                    <a:p>
                      <a:pPr indent="0" marL="0">
                        <a:buNone/>
                      </a:pPr>
                      <a:r>
                        <a:rPr lang="en-US" sz="1800" dirty="0">
                          <a:solidFill>
                            <a:srgbClr val="272425"/>
                          </a:solidFill>
                          <a:latin typeface="Arial" pitchFamily="34" charset="0"/>
                          <a:ea typeface="Arial" pitchFamily="34" charset="-122"/>
                          <a:cs typeface="Arial" pitchFamily="34" charset="-120"/>
                        </a:rPr>
                        <a:t>ESP-10 · ESP-03</a:t>
                      </a:r>
                      <a:endParaRPr lang="en-US" sz="1200" dirty="0">
                        <a:latin typeface="Arial" charset="0"/>
                        <a:ea typeface="Arial" charset="0"/>
                        <a:cs typeface="Arial" charset="0"/>
                      </a:endParaRPr>
                    </a:p>
                  </a:txBody>
                  <a:tcPr marL="73152" marR="73152" marT="73152" marB="73152"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4F6F8"/>
                    </a:solidFill>
                  </a:tcPr>
                </a:tc>
              </a:tr>
              <a:tr h="0">
                <a:tc>
                  <a:txBody>
                    <a:bodyPr/>
                    <a:lstStyle/>
                    <a:p>
                      <a:pPr indent="0" marL="0">
                        <a:buNone/>
                      </a:pPr>
                      <a:r>
                        <a:rPr lang="en-US" sz="1800" b="1" dirty="0">
                          <a:solidFill>
                            <a:srgbClr val="002855"/>
                          </a:solidFill>
                          <a:latin typeface="Arial" pitchFamily="34" charset="0"/>
                          <a:ea typeface="Arial" pitchFamily="34" charset="-122"/>
                          <a:cs typeface="Arial" pitchFamily="34" charset="-120"/>
                        </a:rPr>
                        <a:t>Valor ganado</a:t>
                      </a:r>
                      <a:endParaRPr lang="en-US" sz="1200" dirty="0">
                        <a:latin typeface="Arial" charset="0"/>
                        <a:ea typeface="Arial" charset="0"/>
                        <a:cs typeface="Arial" charset="0"/>
                      </a:endParaRPr>
                    </a:p>
                  </a:txBody>
                  <a:tcPr marL="73152" marR="73152" marT="73152" marB="73152"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FFFFF"/>
                    </a:solidFill>
                  </a:tcPr>
                </a:tc>
                <a:tc>
                  <a:txBody>
                    <a:bodyPr/>
                    <a:lstStyle/>
                    <a:p>
                      <a:pPr indent="0" marL="0">
                        <a:buNone/>
                      </a:pPr>
                      <a:r>
                        <a:rPr lang="en-US" sz="1800" dirty="0">
                          <a:solidFill>
                            <a:srgbClr val="272425"/>
                          </a:solidFill>
                          <a:latin typeface="Arial" pitchFamily="34" charset="0"/>
                          <a:ea typeface="Arial" pitchFamily="34" charset="-122"/>
                          <a:cs typeface="Arial" pitchFamily="34" charset="-120"/>
                        </a:rPr>
                        <a:t>para el informe</a:t>
                      </a:r>
                      <a:endParaRPr lang="en-US" sz="1200" dirty="0">
                        <a:latin typeface="Arial" charset="0"/>
                        <a:ea typeface="Arial" charset="0"/>
                        <a:cs typeface="Arial" charset="0"/>
                      </a:endParaRPr>
                    </a:p>
                  </a:txBody>
                  <a:tcPr marL="73152" marR="73152" marT="73152" marB="73152"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FFFFF"/>
                    </a:solidFill>
                  </a:tcPr>
                </a:tc>
                <a:tc>
                  <a:txBody>
                    <a:bodyPr/>
                    <a:lstStyle/>
                    <a:p>
                      <a:pPr indent="0" marL="0">
                        <a:buNone/>
                      </a:pPr>
                      <a:r>
                        <a:rPr lang="en-US" sz="1800" dirty="0">
                          <a:solidFill>
                            <a:srgbClr val="272425"/>
                          </a:solidFill>
                          <a:latin typeface="Arial" pitchFamily="34" charset="0"/>
                          <a:ea typeface="Arial" pitchFamily="34" charset="-122"/>
                          <a:cs typeface="Arial" pitchFamily="34" charset="-120"/>
                        </a:rPr>
                        <a:t>corte guardado y vigilado</a:t>
                      </a:r>
                      <a:endParaRPr lang="en-US" sz="1200" dirty="0">
                        <a:latin typeface="Arial" charset="0"/>
                        <a:ea typeface="Arial" charset="0"/>
                        <a:cs typeface="Arial" charset="0"/>
                      </a:endParaRPr>
                    </a:p>
                  </a:txBody>
                  <a:tcPr marL="73152" marR="73152" marT="73152" marB="73152"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FFFFF"/>
                    </a:solidFill>
                  </a:tcPr>
                </a:tc>
                <a:tc>
                  <a:txBody>
                    <a:bodyPr/>
                    <a:lstStyle/>
                    <a:p>
                      <a:pPr indent="0" marL="0">
                        <a:buNone/>
                      </a:pPr>
                      <a:r>
                        <a:rPr lang="en-US" sz="1800" dirty="0">
                          <a:solidFill>
                            <a:srgbClr val="272425"/>
                          </a:solidFill>
                          <a:latin typeface="Arial" pitchFamily="34" charset="0"/>
                          <a:ea typeface="Arial" pitchFamily="34" charset="-122"/>
                          <a:cs typeface="Arial" pitchFamily="34" charset="-120"/>
                        </a:rPr>
                        <a:t>TOL-03</a:t>
                      </a:r>
                      <a:endParaRPr lang="en-US" sz="1200" dirty="0">
                        <a:latin typeface="Arial" charset="0"/>
                        <a:ea typeface="Arial" charset="0"/>
                        <a:cs typeface="Arial" charset="0"/>
                      </a:endParaRPr>
                    </a:p>
                  </a:txBody>
                  <a:tcPr marL="73152" marR="73152" marT="73152" marB="73152"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091672" y="6419088"/>
            <a:ext cx="64008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rgbClr val="696969"/>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txBox="1"/>
          <p:nvPr/>
        </p:nvSpPr>
        <p:spPr>
          <a:xfrm>
            <a:off x="548640" y="1645920"/>
            <a:ext cx="5486400" cy="411480"/>
          </a:xfrm>
          <a:prstGeom prst="rect">
            <a:avLst/>
          </a:prstGeom>
          <a:noFill/>
          <a:ln/>
        </p:spPr>
        <p:txBody>
          <a:bodyPr wrap="square" lIns="0" tIns="0" rIns="0" bIns="0" rtlCol="0" anchor="t"/>
          <a:lstStyle/>
          <a:p>
            <a:pPr indent="0" marL="0">
              <a:buNone/>
            </a:pPr>
            <a:r>
              <a:rPr lang="en-US" sz="1800" b="1" dirty="0">
                <a:solidFill>
                  <a:srgbClr val="9FD0F0"/>
                </a:solidFill>
                <a:latin typeface="Arial" pitchFamily="34" charset="0"/>
                <a:ea typeface="Arial" pitchFamily="34" charset="-122"/>
                <a:cs typeface="Arial" pitchFamily="34" charset="-120"/>
              </a:rPr>
              <a:t>Clase 1</a:t>
            </a:r>
            <a:endParaRPr lang="en-US" sz="1800" dirty="0"/>
          </a:p>
        </p:txBody>
      </p:sp>
      <p:sp>
        <p:nvSpPr>
          <p:cNvPr id="3" name="Text 2"/>
          <p:cNvSpPr/>
          <p:nvPr>
            <p:ph idx="102" type="title" hasCustomPrompt="1"/>
          </p:nvPr>
        </p:nvSpPr>
        <p:spPr>
          <a:xfrm>
            <a:off x="548640" y="2148840"/>
            <a:ext cx="11091672" cy="1005840"/>
          </a:xfrm>
          <a:prstGeom prst="rect">
            <a:avLst/>
          </a:prstGeom>
          <a:noFill/>
          <a:ln/>
        </p:spPr>
        <p:txBody>
          <a:bodyPr wrap="square" lIns="0" tIns="0" rIns="0" bIns="0" rtlCol="0" anchor="t"/>
          <a:lstStyle/>
          <a:p>
            <a:pPr algn="l" indent="0" marL="0">
              <a:buNone/>
            </a:pPr>
            <a:r>
              <a:rPr lang="en-US" sz="4000" b="1" dirty="0">
                <a:solidFill>
                  <a:srgbClr val="FFFFFF"/>
                </a:solidFill>
                <a:latin typeface="Arial" pitchFamily="34" charset="0"/>
                <a:ea typeface="Arial" pitchFamily="34" charset="-122"/>
                <a:cs typeface="Arial" pitchFamily="34" charset="-120"/>
              </a:rPr>
              <a:t>Demostración: pasos 2 a 5</a:t>
            </a:r>
            <a:endParaRPr lang="en-US" sz="4000" dirty="0"/>
          </a:p>
        </p:txBody>
      </p:sp>
      <p:sp>
        <p:nvSpPr>
          <p:cNvPr id="4" name="Text 2"/>
          <p:cNvSpPr txBox="1"/>
          <p:nvPr/>
        </p:nvSpPr>
        <p:spPr>
          <a:xfrm>
            <a:off x="548640" y="3291840"/>
            <a:ext cx="11091672" cy="822960"/>
          </a:xfrm>
          <a:prstGeom prst="rect">
            <a:avLst/>
          </a:prstGeom>
          <a:noFill/>
          <a:ln/>
        </p:spPr>
        <p:txBody>
          <a:bodyPr wrap="square" lIns="0" tIns="0" rIns="0" bIns="0" rtlCol="0" anchor="t"/>
          <a:lstStyle/>
          <a:p>
            <a:pPr indent="0" marL="0">
              <a:buNone/>
            </a:pPr>
            <a:r>
              <a:rPr lang="en-US" sz="2200" dirty="0">
                <a:solidFill>
                  <a:srgbClr val="FFFFFF"/>
                </a:solidFill>
                <a:latin typeface="Arial" pitchFamily="34" charset="0"/>
                <a:ea typeface="Arial" pitchFamily="34" charset="-122"/>
                <a:cs typeface="Arial" pitchFamily="34" charset="-120"/>
              </a:rPr>
              <a:t>Construcción del Release 1</a:t>
            </a:r>
            <a:endParaRPr lang="en-US" sz="1600" dirty="0"/>
          </a:p>
        </p:txBody>
      </p:sp>
      <p:sp>
        <p:nvSpPr>
          <p:cNvPr id="25" name="Slide Number Placeholder 0"/>
          <p:cNvSpPr>
            <a:spLocks noGrp="1"/>
          </p:cNvSpPr>
          <p:nvPr>
            <p:ph type="sldNum" sz="quarter" idx="4294967295"/>
          </p:nvPr>
        </p:nvSpPr>
        <p:spPr>
          <a:xfrm>
            <a:off x="11091672" y="6419088"/>
            <a:ext cx="64008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rgbClr val="D6E4F0"/>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3"/>
          <p:cNvSpPr/>
          <p:nvPr>
            <p:ph idx="103" type="title" hasCustomPrompt="1"/>
          </p:nvPr>
        </p:nvSpPr>
        <p:spPr>
          <a:xfrm>
            <a:off x="658368" y="365760"/>
            <a:ext cx="9244584" cy="713232"/>
          </a:xfrm>
          <a:prstGeom prst="rect">
            <a:avLst/>
          </a:prstGeom>
          <a:noFill/>
          <a:ln/>
        </p:spPr>
        <p:txBody>
          <a:bodyPr wrap="square" lIns="0" tIns="0" rIns="0" bIns="0" rtlCol="0" anchor="ctr"/>
          <a:lstStyle/>
          <a:p>
            <a:pPr algn="l" indent="0" marL="0">
              <a:buNone/>
            </a:pPr>
            <a:r>
              <a:rPr lang="en-US" sz="2400" b="1" dirty="0">
                <a:solidFill>
                  <a:srgbClr val="FFFFFF"/>
                </a:solidFill>
                <a:latin typeface="Arial" pitchFamily="34" charset="0"/>
                <a:ea typeface="Arial" pitchFamily="34" charset="-122"/>
                <a:cs typeface="Arial" pitchFamily="34" charset="-120"/>
              </a:rPr>
              <a:t>Paso 2 · El CONCERNS pasa a condición formal</a:t>
            </a:r>
            <a:endParaRPr lang="en-US" sz="2400" dirty="0"/>
          </a:p>
        </p:txBody>
      </p:sp>
      <p:sp>
        <p:nvSpPr>
          <p:cNvPr id="3" name="Text 1"/>
          <p:cNvSpPr txBox="1"/>
          <p:nvPr/>
        </p:nvSpPr>
        <p:spPr>
          <a:xfrm>
            <a:off x="457200" y="1280160"/>
            <a:ext cx="5486400" cy="292608"/>
          </a:xfrm>
          <a:prstGeom prst="rect">
            <a:avLst/>
          </a:prstGeom>
          <a:noFill/>
          <a:ln/>
        </p:spPr>
        <p:txBody>
          <a:bodyPr wrap="square" lIns="0" tIns="0" rIns="0" bIns="0" rtlCol="0" anchor="t"/>
          <a:lstStyle/>
          <a:p>
            <a:pPr indent="0" marL="0">
              <a:buNone/>
            </a:pPr>
            <a:r>
              <a:rPr lang="en-US" sz="1300" b="1" dirty="0">
                <a:solidFill>
                  <a:srgbClr val="696969"/>
                </a:solidFill>
                <a:latin typeface="Arial" pitchFamily="34" charset="0"/>
                <a:ea typeface="Arial" pitchFamily="34" charset="-122"/>
                <a:cs typeface="Arial" pitchFamily="34" charset="-120"/>
              </a:rPr>
              <a:t>Prompt · escribilo tal cual</a:t>
            </a:r>
            <a:endParaRPr lang="en-US" sz="1300" dirty="0"/>
          </a:p>
        </p:txBody>
      </p:sp>
      <p:sp>
        <p:nvSpPr>
          <p:cNvPr id="4" name="Shape 2"/>
          <p:cNvSpPr/>
          <p:nvPr/>
        </p:nvSpPr>
        <p:spPr>
          <a:xfrm>
            <a:off x="457200" y="1627632"/>
            <a:ext cx="11274552" cy="1757934"/>
          </a:xfrm>
          <a:prstGeom prst="roundRect">
            <a:avLst>
              <a:gd name="adj" fmla="val 4161"/>
            </a:avLst>
          </a:prstGeom>
          <a:solidFill>
            <a:srgbClr val="0F2238"/>
          </a:solidFill>
          <a:ln w="12700">
            <a:solidFill>
              <a:srgbClr val="0F2238"/>
            </a:solidFill>
            <a:prstDash val="solid"/>
          </a:ln>
        </p:spPr>
      </p:sp>
      <p:sp>
        <p:nvSpPr>
          <p:cNvPr id="5" name="Text 3"/>
          <p:cNvSpPr txBox="1"/>
          <p:nvPr/>
        </p:nvSpPr>
        <p:spPr>
          <a:xfrm>
            <a:off x="685800" y="1792224"/>
            <a:ext cx="10817352" cy="1428750"/>
          </a:xfrm>
          <a:prstGeom prst="rect">
            <a:avLst/>
          </a:prstGeom>
          <a:noFill/>
          <a:ln/>
        </p:spPr>
        <p:txBody>
          <a:bodyPr wrap="square" lIns="0" tIns="0" rIns="0" bIns="0" rtlCol="0" anchor="ctr"/>
          <a:lstStyle/>
          <a:p>
            <a:pPr indent="0" marL="0">
              <a:buNone/>
            </a:pPr>
            <a:r>
              <a:rPr lang="en-US" sz="1800" dirty="0">
                <a:solidFill>
                  <a:srgbClr val="E8EEF5"/>
                </a:solidFill>
                <a:latin typeface="Courier New" pitchFamily="34" charset="0"/>
                <a:ea typeface="Courier New" pitchFamily="34" charset="-122"/>
                <a:cs typeface="Courier New" pitchFamily="34" charset="-120"/>
              </a:rPr>
              <a:t>El gate de preparación de BMAD dio CONCERNS el 26/11 (lo informa Diego Ferreira, arquitecto): NFR-3 sin prueba de carga planificada. Registralo, armá el plan de la etapa 2 con tolerancias de ±10 % en tiempo y costo y preparame la puerta. Si se condiciona, planificá la prueba de carga como revisión de calidad para el 19/2 y mostrame cómo queda el seguimiento.</a:t>
            </a:r>
            <a:endParaRPr lang="en-US" sz="1800" dirty="0"/>
          </a:p>
        </p:txBody>
      </p:sp>
      <p:sp>
        <p:nvSpPr>
          <p:cNvPr id="6" name="Shape 4"/>
          <p:cNvSpPr/>
          <p:nvPr/>
        </p:nvSpPr>
        <p:spPr>
          <a:xfrm>
            <a:off x="457200" y="3659886"/>
            <a:ext cx="11274552" cy="2558034"/>
          </a:xfrm>
          <a:prstGeom prst="roundRect">
            <a:avLst>
              <a:gd name="adj" fmla="val 3575"/>
            </a:avLst>
          </a:prstGeom>
          <a:solidFill>
            <a:srgbClr val="F4F6F8"/>
          </a:solidFill>
          <a:ln w="12700">
            <a:solidFill>
              <a:srgbClr val="F4F6F8"/>
            </a:solidFill>
            <a:prstDash val="solid"/>
          </a:ln>
        </p:spPr>
      </p:sp>
      <p:sp>
        <p:nvSpPr>
          <p:cNvPr id="7" name="Text 5"/>
          <p:cNvSpPr txBox="1"/>
          <p:nvPr/>
        </p:nvSpPr>
        <p:spPr>
          <a:xfrm>
            <a:off x="685800" y="3787902"/>
            <a:ext cx="5486400" cy="329184"/>
          </a:xfrm>
          <a:prstGeom prst="rect">
            <a:avLst/>
          </a:prstGeom>
          <a:noFill/>
          <a:ln/>
        </p:spPr>
        <p:txBody>
          <a:bodyPr wrap="square" lIns="0" tIns="0" rIns="0" bIns="0" rtlCol="0" anchor="t"/>
          <a:lstStyle/>
          <a:p>
            <a:pPr indent="0" marL="0">
              <a:buNone/>
            </a:pPr>
            <a:r>
              <a:rPr lang="en-US" sz="1600" b="1" dirty="0">
                <a:solidFill>
                  <a:srgbClr val="002855"/>
                </a:solidFill>
                <a:latin typeface="Arial" pitchFamily="34" charset="0"/>
                <a:ea typeface="Arial" pitchFamily="34" charset="-122"/>
                <a:cs typeface="Arial" pitchFamily="34" charset="-120"/>
              </a:rPr>
              <a:t>Qué deberías ver</a:t>
            </a:r>
            <a:endParaRPr lang="en-US" sz="1600" dirty="0"/>
          </a:p>
        </p:txBody>
      </p:sp>
      <p:sp>
        <p:nvSpPr>
          <p:cNvPr id="8" name="Text 6"/>
          <p:cNvSpPr txBox="1"/>
          <p:nvPr/>
        </p:nvSpPr>
        <p:spPr>
          <a:xfrm>
            <a:off x="685800" y="4190238"/>
            <a:ext cx="10817352" cy="1917954"/>
          </a:xfrm>
          <a:prstGeom prst="rect">
            <a:avLst/>
          </a:prstGeom>
          <a:noFill/>
          <a:ln/>
        </p:spPr>
        <p:txBody>
          <a:bodyPr wrap="square" lIns="0" tIns="0" rIns="0" bIns="0" rtlCol="0" anchor="t"/>
          <a:lstStyle/>
          <a:p>
            <a:pPr indent="0" marL="0">
              <a:spcAft>
                <a:spcPts val="800"/>
              </a:spcAft>
              <a:buNone/>
            </a:pPr>
            <a:r>
              <a:rPr lang="en-US" sz="1800" b="1" dirty="0">
                <a:solidFill>
                  <a:srgbClr val="00629B"/>
                </a:solidFill>
                <a:latin typeface="Arial" pitchFamily="34" charset="0"/>
                <a:ea typeface="Arial" pitchFamily="34" charset="-122"/>
                <a:cs typeface="Arial" pitchFamily="34" charset="-120"/>
              </a:rPr>
              <a:t>✓  </a:t>
            </a:r>
            <a:pPr indent="0" marL="0">
              <a:spcAft>
                <a:spcPts val="800"/>
              </a:spcAft>
              <a:buNone/>
            </a:pPr>
            <a:r>
              <a:rPr lang="en-US" sz="1800" dirty="0">
                <a:solidFill>
                  <a:srgbClr val="272425"/>
                </a:solidFill>
                <a:latin typeface="Arial" pitchFamily="34" charset="0"/>
                <a:ea typeface="Arial" pitchFamily="34" charset="-122"/>
                <a:cs typeface="Arial" pitchFamily="34" charset="-120"/>
              </a:rPr>
              <a:t>Verificación: L-01 y E-10</a:t>
            </a:r>
            <a:endParaRPr lang="en-US" sz="1600" dirty="0"/>
          </a:p>
          <a:p>
            <a:pPr indent="0" marL="0">
              <a:spcAft>
                <a:spcPts val="800"/>
              </a:spcAft>
              <a:buNone/>
            </a:pPr>
            <a:r>
              <a:rPr lang="en-US" sz="1800" b="1" dirty="0">
                <a:solidFill>
                  <a:srgbClr val="00629B"/>
                </a:solidFill>
                <a:latin typeface="Arial" pitchFamily="34" charset="0"/>
                <a:ea typeface="Arial" pitchFamily="34" charset="-122"/>
                <a:cs typeface="Arial" pitchFamily="34" charset="-120"/>
              </a:rPr>
              <a:t>✓  </a:t>
            </a:r>
            <a:pPr indent="0" marL="0">
              <a:spcAft>
                <a:spcPts val="800"/>
              </a:spcAft>
              <a:buNone/>
            </a:pPr>
            <a:r>
              <a:rPr lang="en-US" sz="1800" dirty="0">
                <a:solidFill>
                  <a:srgbClr val="272425"/>
                </a:solidFill>
                <a:latin typeface="Arial" pitchFamily="34" charset="0"/>
                <a:ea typeface="Arial" pitchFamily="34" charset="-122"/>
                <a:cs typeface="Arial" pitchFamily="34" charset="-120"/>
              </a:rPr>
              <a:t>Decisión: condicionado</a:t>
            </a:r>
            <a:endParaRPr lang="en-US" sz="1600" dirty="0"/>
          </a:p>
          <a:p>
            <a:pPr indent="0" marL="0">
              <a:spcAft>
                <a:spcPts val="800"/>
              </a:spcAft>
              <a:buNone/>
            </a:pPr>
            <a:r>
              <a:rPr lang="en-US" sz="1800" b="1" dirty="0">
                <a:solidFill>
                  <a:srgbClr val="00629B"/>
                </a:solidFill>
                <a:latin typeface="Arial" pitchFamily="34" charset="0"/>
                <a:ea typeface="Arial" pitchFamily="34" charset="-122"/>
                <a:cs typeface="Arial" pitchFamily="34" charset="-120"/>
              </a:rPr>
              <a:t>✓  </a:t>
            </a:r>
            <a:pPr indent="0" marL="0">
              <a:spcAft>
                <a:spcPts val="800"/>
              </a:spcAft>
              <a:buNone/>
            </a:pPr>
            <a:r>
              <a:rPr lang="en-US" sz="1800" dirty="0">
                <a:solidFill>
                  <a:srgbClr val="272425"/>
                </a:solidFill>
                <a:latin typeface="Arial" pitchFamily="34" charset="0"/>
                <a:ea typeface="Arial" pitchFamily="34" charset="-122"/>
                <a:cs typeface="Arial" pitchFamily="34" charset="-120"/>
              </a:rPr>
              <a:t>Q-001 planificada para el 19/2</a:t>
            </a:r>
            <a:endParaRPr lang="en-US" sz="1600" dirty="0"/>
          </a:p>
          <a:p>
            <a:pPr indent="0" marL="0">
              <a:spcAft>
                <a:spcPts val="800"/>
              </a:spcAft>
              <a:buNone/>
            </a:pPr>
            <a:r>
              <a:rPr lang="en-US" sz="1800" b="1" dirty="0">
                <a:solidFill>
                  <a:srgbClr val="00629B"/>
                </a:solidFill>
                <a:latin typeface="Arial" pitchFamily="34" charset="0"/>
                <a:ea typeface="Arial" pitchFamily="34" charset="-122"/>
                <a:cs typeface="Arial" pitchFamily="34" charset="-120"/>
              </a:rPr>
              <a:t>✓  </a:t>
            </a:r>
            <a:pPr indent="0" marL="0">
              <a:spcAft>
                <a:spcPts val="800"/>
              </a:spcAft>
              <a:buNone/>
            </a:pPr>
            <a:r>
              <a:rPr lang="en-US" sz="1800" dirty="0">
                <a:solidFill>
                  <a:srgbClr val="272425"/>
                </a:solidFill>
                <a:latin typeface="Arial" pitchFamily="34" charset="0"/>
                <a:ea typeface="Arial" pitchFamily="34" charset="-122"/>
                <a:cs typeface="Arial" pitchFamily="34" charset="-120"/>
              </a:rPr>
              <a:t>Sanidad: EST-12 recuerda la condición</a:t>
            </a:r>
            <a:endParaRPr lang="en-US" sz="1600" dirty="0"/>
          </a:p>
        </p:txBody>
      </p:sp>
      <p:sp>
        <p:nvSpPr>
          <p:cNvPr id="25" name="Slide Number Placeholder 0"/>
          <p:cNvSpPr>
            <a:spLocks noGrp="1"/>
          </p:cNvSpPr>
          <p:nvPr>
            <p:ph type="sldNum" sz="quarter" idx="4294967295"/>
          </p:nvPr>
        </p:nvSpPr>
        <p:spPr>
          <a:xfrm>
            <a:off x="11091672" y="6419088"/>
            <a:ext cx="64008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rgbClr val="696969"/>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3"/>
          <p:cNvSpPr/>
          <p:nvPr>
            <p:ph idx="103" type="title" hasCustomPrompt="1"/>
          </p:nvPr>
        </p:nvSpPr>
        <p:spPr>
          <a:xfrm>
            <a:off x="658368" y="365760"/>
            <a:ext cx="9244584" cy="713232"/>
          </a:xfrm>
          <a:prstGeom prst="rect">
            <a:avLst/>
          </a:prstGeom>
          <a:noFill/>
          <a:ln/>
        </p:spPr>
        <p:txBody>
          <a:bodyPr wrap="square" lIns="0" tIns="0" rIns="0" bIns="0" rtlCol="0" anchor="ctr"/>
          <a:lstStyle/>
          <a:p>
            <a:pPr algn="l" indent="0" marL="0">
              <a:buNone/>
            </a:pPr>
            <a:r>
              <a:rPr lang="en-US" sz="2400" b="1" dirty="0">
                <a:solidFill>
                  <a:srgbClr val="FFFFFF"/>
                </a:solidFill>
                <a:latin typeface="Arial" pitchFamily="34" charset="0"/>
                <a:ea typeface="Arial" pitchFamily="34" charset="-122"/>
                <a:cs typeface="Arial" pitchFamily="34" charset="-120"/>
              </a:rPr>
              <a:t>Paso 3 · Sprint como paquete de trabajo</a:t>
            </a:r>
            <a:endParaRPr lang="en-US" sz="2400" dirty="0"/>
          </a:p>
        </p:txBody>
      </p:sp>
      <p:sp>
        <p:nvSpPr>
          <p:cNvPr id="3" name="Text 1"/>
          <p:cNvSpPr txBox="1"/>
          <p:nvPr/>
        </p:nvSpPr>
        <p:spPr>
          <a:xfrm>
            <a:off x="457200" y="1280160"/>
            <a:ext cx="5486400" cy="292608"/>
          </a:xfrm>
          <a:prstGeom prst="rect">
            <a:avLst/>
          </a:prstGeom>
          <a:noFill/>
          <a:ln/>
        </p:spPr>
        <p:txBody>
          <a:bodyPr wrap="square" lIns="0" tIns="0" rIns="0" bIns="0" rtlCol="0" anchor="t"/>
          <a:lstStyle/>
          <a:p>
            <a:pPr indent="0" marL="0">
              <a:buNone/>
            </a:pPr>
            <a:r>
              <a:rPr lang="en-US" sz="1300" b="1" dirty="0">
                <a:solidFill>
                  <a:srgbClr val="696969"/>
                </a:solidFill>
                <a:latin typeface="Arial" pitchFamily="34" charset="0"/>
                <a:ea typeface="Arial" pitchFamily="34" charset="-122"/>
                <a:cs typeface="Arial" pitchFamily="34" charset="-120"/>
              </a:rPr>
              <a:t>Prompt · escribilo tal cual</a:t>
            </a:r>
            <a:endParaRPr lang="en-US" sz="1300" dirty="0"/>
          </a:p>
        </p:txBody>
      </p:sp>
      <p:sp>
        <p:nvSpPr>
          <p:cNvPr id="4" name="Shape 2"/>
          <p:cNvSpPr/>
          <p:nvPr/>
        </p:nvSpPr>
        <p:spPr>
          <a:xfrm>
            <a:off x="457200" y="1627632"/>
            <a:ext cx="11274552" cy="1472184"/>
          </a:xfrm>
          <a:prstGeom prst="roundRect">
            <a:avLst>
              <a:gd name="adj" fmla="val 4969"/>
            </a:avLst>
          </a:prstGeom>
          <a:solidFill>
            <a:srgbClr val="0F2238"/>
          </a:solidFill>
          <a:ln w="12700">
            <a:solidFill>
              <a:srgbClr val="0F2238"/>
            </a:solidFill>
            <a:prstDash val="solid"/>
          </a:ln>
        </p:spPr>
      </p:sp>
      <p:sp>
        <p:nvSpPr>
          <p:cNvPr id="5" name="Text 3"/>
          <p:cNvSpPr txBox="1"/>
          <p:nvPr/>
        </p:nvSpPr>
        <p:spPr>
          <a:xfrm>
            <a:off x="685800" y="1792224"/>
            <a:ext cx="10817352" cy="1143000"/>
          </a:xfrm>
          <a:prstGeom prst="rect">
            <a:avLst/>
          </a:prstGeom>
          <a:noFill/>
          <a:ln/>
        </p:spPr>
        <p:txBody>
          <a:bodyPr wrap="square" lIns="0" tIns="0" rIns="0" bIns="0" rtlCol="0" anchor="ctr"/>
          <a:lstStyle/>
          <a:p>
            <a:pPr indent="0" marL="0">
              <a:buNone/>
            </a:pPr>
            <a:r>
              <a:rPr lang="en-US" sz="1800" dirty="0">
                <a:solidFill>
                  <a:srgbClr val="E8EEF5"/>
                </a:solidFill>
                <a:latin typeface="Courier New" pitchFamily="34" charset="0"/>
                <a:ea typeface="Courier New" pitchFamily="34" charset="-122"/>
                <a:cs typeface="Courier New" pitchFamily="34" charset="-120"/>
              </a:rPr>
              <a:t>Traé el avance de BMAD al 23/12 y sincronizá el backlog. Lucía (jefa de equipo) informa que la 1.1 y la 1.2 pasaron sus pruebas el 21 y el 22/12 (revisó Andrea, aprobó Sofía): registrá las revisiones y armá su informe de punto de control. Si la sanidad no marca historias terminadas sin revisión, aceptá el paquete.</a:t>
            </a:r>
            <a:endParaRPr lang="en-US" sz="1800" dirty="0"/>
          </a:p>
        </p:txBody>
      </p:sp>
      <p:sp>
        <p:nvSpPr>
          <p:cNvPr id="6" name="Shape 4"/>
          <p:cNvSpPr/>
          <p:nvPr/>
        </p:nvSpPr>
        <p:spPr>
          <a:xfrm>
            <a:off x="457200" y="3374136"/>
            <a:ext cx="11274552" cy="2843784"/>
          </a:xfrm>
          <a:prstGeom prst="roundRect">
            <a:avLst>
              <a:gd name="adj" fmla="val 3215"/>
            </a:avLst>
          </a:prstGeom>
          <a:solidFill>
            <a:srgbClr val="F4F6F8"/>
          </a:solidFill>
          <a:ln w="12700">
            <a:solidFill>
              <a:srgbClr val="F4F6F8"/>
            </a:solidFill>
            <a:prstDash val="solid"/>
          </a:ln>
        </p:spPr>
      </p:sp>
      <p:sp>
        <p:nvSpPr>
          <p:cNvPr id="7" name="Text 5"/>
          <p:cNvSpPr txBox="1"/>
          <p:nvPr/>
        </p:nvSpPr>
        <p:spPr>
          <a:xfrm>
            <a:off x="685800" y="3502152"/>
            <a:ext cx="5486400" cy="329184"/>
          </a:xfrm>
          <a:prstGeom prst="rect">
            <a:avLst/>
          </a:prstGeom>
          <a:noFill/>
          <a:ln/>
        </p:spPr>
        <p:txBody>
          <a:bodyPr wrap="square" lIns="0" tIns="0" rIns="0" bIns="0" rtlCol="0" anchor="t"/>
          <a:lstStyle/>
          <a:p>
            <a:pPr indent="0" marL="0">
              <a:buNone/>
            </a:pPr>
            <a:r>
              <a:rPr lang="en-US" sz="1600" b="1" dirty="0">
                <a:solidFill>
                  <a:srgbClr val="002855"/>
                </a:solidFill>
                <a:latin typeface="Arial" pitchFamily="34" charset="0"/>
                <a:ea typeface="Arial" pitchFamily="34" charset="-122"/>
                <a:cs typeface="Arial" pitchFamily="34" charset="-120"/>
              </a:rPr>
              <a:t>Qué deberías ver</a:t>
            </a:r>
            <a:endParaRPr lang="en-US" sz="1600" dirty="0"/>
          </a:p>
        </p:txBody>
      </p:sp>
      <p:sp>
        <p:nvSpPr>
          <p:cNvPr id="8" name="Text 6"/>
          <p:cNvSpPr txBox="1"/>
          <p:nvPr/>
        </p:nvSpPr>
        <p:spPr>
          <a:xfrm>
            <a:off x="685800" y="3904488"/>
            <a:ext cx="10817352" cy="2203704"/>
          </a:xfrm>
          <a:prstGeom prst="rect">
            <a:avLst/>
          </a:prstGeom>
          <a:noFill/>
          <a:ln/>
        </p:spPr>
        <p:txBody>
          <a:bodyPr wrap="square" lIns="0" tIns="0" rIns="0" bIns="0" rtlCol="0" anchor="t"/>
          <a:lstStyle/>
          <a:p>
            <a:pPr indent="0" marL="0">
              <a:spcAft>
                <a:spcPts val="800"/>
              </a:spcAft>
              <a:buNone/>
            </a:pPr>
            <a:r>
              <a:rPr lang="en-US" sz="1800" b="1" dirty="0">
                <a:solidFill>
                  <a:srgbClr val="00629B"/>
                </a:solidFill>
                <a:latin typeface="Arial" pitchFamily="34" charset="0"/>
                <a:ea typeface="Arial" pitchFamily="34" charset="-122"/>
                <a:cs typeface="Arial" pitchFamily="34" charset="-120"/>
              </a:rPr>
              <a:t>✓  </a:t>
            </a:r>
            <a:pPr indent="0" marL="0">
              <a:spcAft>
                <a:spcPts val="800"/>
              </a:spcAft>
              <a:buNone/>
            </a:pPr>
            <a:r>
              <a:rPr lang="en-US" sz="1800" dirty="0">
                <a:solidFill>
                  <a:srgbClr val="272425"/>
                </a:solidFill>
                <a:latin typeface="Arial" pitchFamily="34" charset="0"/>
                <a:ea typeface="Arial" pitchFamily="34" charset="-122"/>
                <a:cs typeface="Arial" pitchFamily="34" charset="-120"/>
              </a:rPr>
              <a:t>Checkpoint: completados solo con revisión</a:t>
            </a:r>
            <a:endParaRPr lang="en-US" sz="1600" dirty="0"/>
          </a:p>
          <a:p>
            <a:pPr indent="0" marL="0">
              <a:spcAft>
                <a:spcPts val="800"/>
              </a:spcAft>
              <a:buNone/>
            </a:pPr>
            <a:r>
              <a:rPr lang="en-US" sz="1800" b="1" dirty="0">
                <a:solidFill>
                  <a:srgbClr val="00629B"/>
                </a:solidFill>
                <a:latin typeface="Arial" pitchFamily="34" charset="0"/>
                <a:ea typeface="Arial" pitchFamily="34" charset="-122"/>
                <a:cs typeface="Arial" pitchFamily="34" charset="-120"/>
              </a:rPr>
              <a:t>✓  </a:t>
            </a:r>
            <a:pPr indent="0" marL="0">
              <a:spcAft>
                <a:spcPts val="800"/>
              </a:spcAft>
              <a:buNone/>
            </a:pPr>
            <a:r>
              <a:rPr lang="en-US" sz="1800" dirty="0">
                <a:solidFill>
                  <a:srgbClr val="272425"/>
                </a:solidFill>
                <a:latin typeface="Arial" pitchFamily="34" charset="0"/>
                <a:ea typeface="Arial" pitchFamily="34" charset="-122"/>
                <a:cs typeface="Arial" pitchFamily="34" charset="-120"/>
              </a:rPr>
              <a:t>Q-002 y Q-003 aprobadas</a:t>
            </a:r>
            <a:endParaRPr lang="en-US" sz="1600" dirty="0"/>
          </a:p>
          <a:p>
            <a:pPr indent="0" marL="0">
              <a:spcAft>
                <a:spcPts val="800"/>
              </a:spcAft>
              <a:buNone/>
            </a:pPr>
            <a:r>
              <a:rPr lang="en-US" sz="1800" b="1" dirty="0">
                <a:solidFill>
                  <a:srgbClr val="00629B"/>
                </a:solidFill>
                <a:latin typeface="Arial" pitchFamily="34" charset="0"/>
                <a:ea typeface="Arial" pitchFamily="34" charset="-122"/>
                <a:cs typeface="Arial" pitchFamily="34" charset="-120"/>
              </a:rPr>
              <a:t>✓  </a:t>
            </a:r>
            <a:pPr indent="0" marL="0">
              <a:spcAft>
                <a:spcPts val="800"/>
              </a:spcAft>
              <a:buNone/>
            </a:pPr>
            <a:r>
              <a:rPr lang="en-US" sz="1800" dirty="0">
                <a:solidFill>
                  <a:srgbClr val="272425"/>
                </a:solidFill>
                <a:latin typeface="Arial" pitchFamily="34" charset="0"/>
                <a:ea typeface="Arial" pitchFamily="34" charset="-122"/>
                <a:cs typeface="Arial" pitchFamily="34" charset="-120"/>
              </a:rPr>
              <a:t>Sanidad sin QUA-01</a:t>
            </a:r>
            <a:endParaRPr lang="en-US" sz="1600" dirty="0"/>
          </a:p>
          <a:p>
            <a:pPr indent="0" marL="0">
              <a:spcAft>
                <a:spcPts val="800"/>
              </a:spcAft>
              <a:buNone/>
            </a:pPr>
            <a:r>
              <a:rPr lang="en-US" sz="1800" b="1" dirty="0">
                <a:solidFill>
                  <a:srgbClr val="00629B"/>
                </a:solidFill>
                <a:latin typeface="Arial" pitchFamily="34" charset="0"/>
                <a:ea typeface="Arial" pitchFamily="34" charset="-122"/>
                <a:cs typeface="Arial" pitchFamily="34" charset="-120"/>
              </a:rPr>
              <a:t>✓  </a:t>
            </a:r>
            <a:pPr indent="0" marL="0">
              <a:spcAft>
                <a:spcPts val="800"/>
              </a:spcAft>
              <a:buNone/>
            </a:pPr>
            <a:r>
              <a:rPr lang="en-US" sz="1800" dirty="0">
                <a:solidFill>
                  <a:srgbClr val="272425"/>
                </a:solidFill>
                <a:latin typeface="Arial" pitchFamily="34" charset="0"/>
                <a:ea typeface="Arial" pitchFamily="34" charset="-122"/>
                <a:cs typeface="Arial" pitchFamily="34" charset="-120"/>
              </a:rPr>
              <a:t>Aceptación del gestor: D-015</a:t>
            </a:r>
            <a:endParaRPr lang="en-US" sz="1600" dirty="0"/>
          </a:p>
        </p:txBody>
      </p:sp>
      <p:sp>
        <p:nvSpPr>
          <p:cNvPr id="25" name="Slide Number Placeholder 0"/>
          <p:cNvSpPr>
            <a:spLocks noGrp="1"/>
          </p:cNvSpPr>
          <p:nvPr>
            <p:ph type="sldNum" sz="quarter" idx="4294967295"/>
          </p:nvPr>
        </p:nvSpPr>
        <p:spPr>
          <a:xfrm>
            <a:off x="11091672" y="6419088"/>
            <a:ext cx="64008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rgbClr val="696969"/>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3"/>
          <p:cNvSpPr/>
          <p:nvPr>
            <p:ph idx="103" type="title" hasCustomPrompt="1"/>
          </p:nvPr>
        </p:nvSpPr>
        <p:spPr>
          <a:xfrm>
            <a:off x="658368" y="365760"/>
            <a:ext cx="9244584" cy="713232"/>
          </a:xfrm>
          <a:prstGeom prst="rect">
            <a:avLst/>
          </a:prstGeom>
          <a:noFill/>
          <a:ln/>
        </p:spPr>
        <p:txBody>
          <a:bodyPr wrap="square" lIns="0" tIns="0" rIns="0" bIns="0" rtlCol="0" anchor="ctr"/>
          <a:lstStyle/>
          <a:p>
            <a:pPr algn="l" indent="0" marL="0">
              <a:buNone/>
            </a:pPr>
            <a:r>
              <a:rPr lang="en-US" sz="2400" b="1" dirty="0">
                <a:solidFill>
                  <a:srgbClr val="FFFFFF"/>
                </a:solidFill>
                <a:latin typeface="Arial" pitchFamily="34" charset="0"/>
                <a:ea typeface="Arial" pitchFamily="34" charset="-122"/>
                <a:cs typeface="Arial" pitchFamily="34" charset="-120"/>
              </a:rPr>
              <a:t>Paso 4 · Valor ganado con corte guardado</a:t>
            </a:r>
            <a:endParaRPr lang="en-US" sz="2400" dirty="0"/>
          </a:p>
        </p:txBody>
      </p:sp>
      <p:sp>
        <p:nvSpPr>
          <p:cNvPr id="3" name="Text 1"/>
          <p:cNvSpPr txBox="1"/>
          <p:nvPr/>
        </p:nvSpPr>
        <p:spPr>
          <a:xfrm>
            <a:off x="457200" y="1280160"/>
            <a:ext cx="5486400" cy="292608"/>
          </a:xfrm>
          <a:prstGeom prst="rect">
            <a:avLst/>
          </a:prstGeom>
          <a:noFill/>
          <a:ln/>
        </p:spPr>
        <p:txBody>
          <a:bodyPr wrap="square" lIns="0" tIns="0" rIns="0" bIns="0" rtlCol="0" anchor="t"/>
          <a:lstStyle/>
          <a:p>
            <a:pPr indent="0" marL="0">
              <a:buNone/>
            </a:pPr>
            <a:r>
              <a:rPr lang="en-US" sz="1300" b="1" dirty="0">
                <a:solidFill>
                  <a:srgbClr val="696969"/>
                </a:solidFill>
                <a:latin typeface="Arial" pitchFamily="34" charset="0"/>
                <a:ea typeface="Arial" pitchFamily="34" charset="-122"/>
                <a:cs typeface="Arial" pitchFamily="34" charset="-120"/>
              </a:rPr>
              <a:t>Prompt · escribilo tal cual</a:t>
            </a:r>
            <a:endParaRPr lang="en-US" sz="1300" dirty="0"/>
          </a:p>
        </p:txBody>
      </p:sp>
      <p:sp>
        <p:nvSpPr>
          <p:cNvPr id="4" name="Shape 2"/>
          <p:cNvSpPr/>
          <p:nvPr/>
        </p:nvSpPr>
        <p:spPr>
          <a:xfrm>
            <a:off x="457200" y="1627632"/>
            <a:ext cx="11274552" cy="1186434"/>
          </a:xfrm>
          <a:prstGeom prst="roundRect">
            <a:avLst>
              <a:gd name="adj" fmla="val 6166"/>
            </a:avLst>
          </a:prstGeom>
          <a:solidFill>
            <a:srgbClr val="0F2238"/>
          </a:solidFill>
          <a:ln w="12700">
            <a:solidFill>
              <a:srgbClr val="0F2238"/>
            </a:solidFill>
            <a:prstDash val="solid"/>
          </a:ln>
        </p:spPr>
      </p:sp>
      <p:sp>
        <p:nvSpPr>
          <p:cNvPr id="5" name="Text 3"/>
          <p:cNvSpPr txBox="1"/>
          <p:nvPr/>
        </p:nvSpPr>
        <p:spPr>
          <a:xfrm>
            <a:off x="685800" y="1792224"/>
            <a:ext cx="10817352" cy="857250"/>
          </a:xfrm>
          <a:prstGeom prst="rect">
            <a:avLst/>
          </a:prstGeom>
          <a:noFill/>
          <a:ln/>
        </p:spPr>
        <p:txBody>
          <a:bodyPr wrap="square" lIns="0" tIns="0" rIns="0" bIns="0" rtlCol="0" anchor="ctr"/>
          <a:lstStyle/>
          <a:p>
            <a:pPr indent="0" marL="0">
              <a:buNone/>
            </a:pPr>
            <a:r>
              <a:rPr lang="en-US" sz="1800" dirty="0">
                <a:solidFill>
                  <a:srgbClr val="E8EEF5"/>
                </a:solidFill>
                <a:latin typeface="Courier New" pitchFamily="34" charset="0"/>
                <a:ea typeface="Courier New" pitchFamily="34" charset="-122"/>
                <a:cs typeface="Courier New" pitchFamily="34" charset="-120"/>
              </a:rPr>
              <a:t>Highlight del sprint 2 al 8/1: PV 41.000, EV 38.000, AC 40.500, BAC 124.000; leelo en modo ágil con 20 % de alcance Should/Could y guardá el corte. Incluí las puertas y sus condiciones.</a:t>
            </a:r>
            <a:endParaRPr lang="en-US" sz="1800" dirty="0"/>
          </a:p>
        </p:txBody>
      </p:sp>
      <p:sp>
        <p:nvSpPr>
          <p:cNvPr id="6" name="Shape 4"/>
          <p:cNvSpPr/>
          <p:nvPr/>
        </p:nvSpPr>
        <p:spPr>
          <a:xfrm>
            <a:off x="457200" y="3088386"/>
            <a:ext cx="11274552" cy="3129534"/>
          </a:xfrm>
          <a:prstGeom prst="roundRect">
            <a:avLst>
              <a:gd name="adj" fmla="val 2922"/>
            </a:avLst>
          </a:prstGeom>
          <a:solidFill>
            <a:srgbClr val="F4F6F8"/>
          </a:solidFill>
          <a:ln w="12700">
            <a:solidFill>
              <a:srgbClr val="F4F6F8"/>
            </a:solidFill>
            <a:prstDash val="solid"/>
          </a:ln>
        </p:spPr>
      </p:sp>
      <p:sp>
        <p:nvSpPr>
          <p:cNvPr id="7" name="Text 5"/>
          <p:cNvSpPr txBox="1"/>
          <p:nvPr/>
        </p:nvSpPr>
        <p:spPr>
          <a:xfrm>
            <a:off x="685800" y="3216402"/>
            <a:ext cx="5486400" cy="329184"/>
          </a:xfrm>
          <a:prstGeom prst="rect">
            <a:avLst/>
          </a:prstGeom>
          <a:noFill/>
          <a:ln/>
        </p:spPr>
        <p:txBody>
          <a:bodyPr wrap="square" lIns="0" tIns="0" rIns="0" bIns="0" rtlCol="0" anchor="t"/>
          <a:lstStyle/>
          <a:p>
            <a:pPr indent="0" marL="0">
              <a:buNone/>
            </a:pPr>
            <a:r>
              <a:rPr lang="en-US" sz="1600" b="1" dirty="0">
                <a:solidFill>
                  <a:srgbClr val="002855"/>
                </a:solidFill>
                <a:latin typeface="Arial" pitchFamily="34" charset="0"/>
                <a:ea typeface="Arial" pitchFamily="34" charset="-122"/>
                <a:cs typeface="Arial" pitchFamily="34" charset="-120"/>
              </a:rPr>
              <a:t>Qué deberías ver</a:t>
            </a:r>
            <a:endParaRPr lang="en-US" sz="1600" dirty="0"/>
          </a:p>
        </p:txBody>
      </p:sp>
      <p:sp>
        <p:nvSpPr>
          <p:cNvPr id="8" name="Text 6"/>
          <p:cNvSpPr txBox="1"/>
          <p:nvPr/>
        </p:nvSpPr>
        <p:spPr>
          <a:xfrm>
            <a:off x="685800" y="3618738"/>
            <a:ext cx="10817352" cy="2489454"/>
          </a:xfrm>
          <a:prstGeom prst="rect">
            <a:avLst/>
          </a:prstGeom>
          <a:noFill/>
          <a:ln/>
        </p:spPr>
        <p:txBody>
          <a:bodyPr wrap="square" lIns="0" tIns="0" rIns="0" bIns="0" rtlCol="0" anchor="t"/>
          <a:lstStyle/>
          <a:p>
            <a:pPr indent="0" marL="0">
              <a:spcAft>
                <a:spcPts val="800"/>
              </a:spcAft>
              <a:buNone/>
            </a:pPr>
            <a:r>
              <a:rPr lang="en-US" sz="1800" b="1" dirty="0">
                <a:solidFill>
                  <a:srgbClr val="00629B"/>
                </a:solidFill>
                <a:latin typeface="Arial" pitchFamily="34" charset="0"/>
                <a:ea typeface="Arial" pitchFamily="34" charset="-122"/>
                <a:cs typeface="Arial" pitchFamily="34" charset="-120"/>
              </a:rPr>
              <a:t>✓  </a:t>
            </a:r>
            <a:pPr indent="0" marL="0">
              <a:spcAft>
                <a:spcPts val="800"/>
              </a:spcAft>
              <a:buNone/>
            </a:pPr>
            <a:r>
              <a:rPr lang="en-US" sz="1800" dirty="0">
                <a:solidFill>
                  <a:srgbClr val="272425"/>
                </a:solidFill>
                <a:latin typeface="Arial" pitchFamily="34" charset="0"/>
                <a:ea typeface="Arial" pitchFamily="34" charset="-122"/>
                <a:cs typeface="Arial" pitchFamily="34" charset="-120"/>
              </a:rPr>
              <a:t>SPI 0,927 · CPI 0,938</a:t>
            </a:r>
            <a:endParaRPr lang="en-US" sz="1600" dirty="0"/>
          </a:p>
          <a:p>
            <a:pPr indent="0" marL="0">
              <a:spcAft>
                <a:spcPts val="800"/>
              </a:spcAft>
              <a:buNone/>
            </a:pPr>
            <a:r>
              <a:rPr lang="en-US" sz="1800" b="1" dirty="0">
                <a:solidFill>
                  <a:srgbClr val="00629B"/>
                </a:solidFill>
                <a:latin typeface="Arial" pitchFamily="34" charset="0"/>
                <a:ea typeface="Arial" pitchFamily="34" charset="-122"/>
                <a:cs typeface="Arial" pitchFamily="34" charset="-120"/>
              </a:rPr>
              <a:t>✓  </a:t>
            </a:r>
            <a:pPr indent="0" marL="0">
              <a:spcAft>
                <a:spcPts val="800"/>
              </a:spcAft>
              <a:buNone/>
            </a:pPr>
            <a:r>
              <a:rPr lang="en-US" sz="1800" dirty="0">
                <a:solidFill>
                  <a:srgbClr val="272425"/>
                </a:solidFill>
                <a:latin typeface="Arial" pitchFamily="34" charset="0"/>
                <a:ea typeface="Arial" pitchFamily="34" charset="-122"/>
                <a:cs typeface="Arial" pitchFamily="34" charset="-120"/>
              </a:rPr>
              <a:t>Alcance no entregable 6,2 %: verde</a:t>
            </a:r>
            <a:endParaRPr lang="en-US" sz="1600" dirty="0"/>
          </a:p>
          <a:p>
            <a:pPr indent="0" marL="0">
              <a:spcAft>
                <a:spcPts val="800"/>
              </a:spcAft>
              <a:buNone/>
            </a:pPr>
            <a:r>
              <a:rPr lang="en-US" sz="1800" b="1" dirty="0">
                <a:solidFill>
                  <a:srgbClr val="00629B"/>
                </a:solidFill>
                <a:latin typeface="Arial" pitchFamily="34" charset="0"/>
                <a:ea typeface="Arial" pitchFamily="34" charset="-122"/>
                <a:cs typeface="Arial" pitchFamily="34" charset="-120"/>
              </a:rPr>
              <a:t>✓  </a:t>
            </a:r>
            <a:pPr indent="0" marL="0">
              <a:spcAft>
                <a:spcPts val="800"/>
              </a:spcAft>
              <a:buNone/>
            </a:pPr>
            <a:r>
              <a:rPr lang="en-US" sz="1800" dirty="0">
                <a:solidFill>
                  <a:srgbClr val="272425"/>
                </a:solidFill>
                <a:latin typeface="Arial" pitchFamily="34" charset="0"/>
                <a:ea typeface="Arial" pitchFamily="34" charset="-122"/>
                <a:cs typeface="Arial" pitchFamily="34" charset="-120"/>
              </a:rPr>
              <a:t>Corte guardado y vigilado</a:t>
            </a:r>
            <a:endParaRPr lang="en-US" sz="1600" dirty="0"/>
          </a:p>
          <a:p>
            <a:pPr indent="0" marL="0">
              <a:spcAft>
                <a:spcPts val="800"/>
              </a:spcAft>
              <a:buNone/>
            </a:pPr>
            <a:r>
              <a:rPr lang="en-US" sz="1800" b="1" dirty="0">
                <a:solidFill>
                  <a:srgbClr val="00629B"/>
                </a:solidFill>
                <a:latin typeface="Arial" pitchFamily="34" charset="0"/>
                <a:ea typeface="Arial" pitchFamily="34" charset="-122"/>
                <a:cs typeface="Arial" pitchFamily="34" charset="-120"/>
              </a:rPr>
              <a:t>✓  </a:t>
            </a:r>
            <a:pPr indent="0" marL="0">
              <a:spcAft>
                <a:spcPts val="800"/>
              </a:spcAft>
              <a:buNone/>
            </a:pPr>
            <a:r>
              <a:rPr lang="en-US" sz="1800" dirty="0">
                <a:solidFill>
                  <a:srgbClr val="272425"/>
                </a:solidFill>
                <a:latin typeface="Arial" pitchFamily="34" charset="0"/>
                <a:ea typeface="Arial" pitchFamily="34" charset="-122"/>
                <a:cs typeface="Arial" pitchFamily="34" charset="-120"/>
              </a:rPr>
              <a:t>Próxima puerta: G-01, E-05 y E-10</a:t>
            </a:r>
            <a:endParaRPr lang="en-US" sz="1600" dirty="0"/>
          </a:p>
        </p:txBody>
      </p:sp>
      <p:sp>
        <p:nvSpPr>
          <p:cNvPr id="25" name="Slide Number Placeholder 0"/>
          <p:cNvSpPr>
            <a:spLocks noGrp="1"/>
          </p:cNvSpPr>
          <p:nvPr>
            <p:ph type="sldNum" sz="quarter" idx="4294967295"/>
          </p:nvPr>
        </p:nvSpPr>
        <p:spPr>
          <a:xfrm>
            <a:off x="11091672" y="6419088"/>
            <a:ext cx="64008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rgbClr val="696969"/>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3"/>
          <p:cNvSpPr/>
          <p:nvPr>
            <p:ph idx="103" type="title" hasCustomPrompt="1"/>
          </p:nvPr>
        </p:nvSpPr>
        <p:spPr>
          <a:xfrm>
            <a:off x="658368" y="365760"/>
            <a:ext cx="9244584" cy="713232"/>
          </a:xfrm>
          <a:prstGeom prst="rect">
            <a:avLst/>
          </a:prstGeom>
          <a:noFill/>
          <a:ln/>
        </p:spPr>
        <p:txBody>
          <a:bodyPr wrap="square" lIns="0" tIns="0" rIns="0" bIns="0" rtlCol="0" anchor="ctr"/>
          <a:lstStyle/>
          <a:p>
            <a:pPr algn="l" indent="0" marL="0">
              <a:buNone/>
            </a:pPr>
            <a:r>
              <a:rPr lang="en-US" sz="2400" b="1" dirty="0">
                <a:solidFill>
                  <a:srgbClr val="FFFFFF"/>
                </a:solidFill>
                <a:latin typeface="Arial" pitchFamily="34" charset="0"/>
                <a:ea typeface="Arial" pitchFamily="34" charset="-122"/>
                <a:cs typeface="Arial" pitchFamily="34" charset="-120"/>
              </a:rPr>
              <a:t>Paso 5 · Cambio de rumbo con presupuesto</a:t>
            </a:r>
            <a:endParaRPr lang="en-US" sz="2400" dirty="0"/>
          </a:p>
        </p:txBody>
      </p:sp>
      <p:sp>
        <p:nvSpPr>
          <p:cNvPr id="3" name="Text 1"/>
          <p:cNvSpPr txBox="1"/>
          <p:nvPr/>
        </p:nvSpPr>
        <p:spPr>
          <a:xfrm>
            <a:off x="457200" y="1280160"/>
            <a:ext cx="5486400" cy="292608"/>
          </a:xfrm>
          <a:prstGeom prst="rect">
            <a:avLst/>
          </a:prstGeom>
          <a:noFill/>
          <a:ln/>
        </p:spPr>
        <p:txBody>
          <a:bodyPr wrap="square" lIns="0" tIns="0" rIns="0" bIns="0" rtlCol="0" anchor="t"/>
          <a:lstStyle/>
          <a:p>
            <a:pPr indent="0" marL="0">
              <a:buNone/>
            </a:pPr>
            <a:r>
              <a:rPr lang="en-US" sz="1300" b="1" dirty="0">
                <a:solidFill>
                  <a:srgbClr val="696969"/>
                </a:solidFill>
                <a:latin typeface="Arial" pitchFamily="34" charset="0"/>
                <a:ea typeface="Arial" pitchFamily="34" charset="-122"/>
                <a:cs typeface="Arial" pitchFamily="34" charset="-120"/>
              </a:rPr>
              <a:t>Prompt · escribilo tal cual</a:t>
            </a:r>
            <a:endParaRPr lang="en-US" sz="1300" dirty="0"/>
          </a:p>
        </p:txBody>
      </p:sp>
      <p:sp>
        <p:nvSpPr>
          <p:cNvPr id="4" name="Shape 2"/>
          <p:cNvSpPr/>
          <p:nvPr/>
        </p:nvSpPr>
        <p:spPr>
          <a:xfrm>
            <a:off x="457200" y="1627632"/>
            <a:ext cx="11274552" cy="1757934"/>
          </a:xfrm>
          <a:prstGeom prst="roundRect">
            <a:avLst>
              <a:gd name="adj" fmla="val 4161"/>
            </a:avLst>
          </a:prstGeom>
          <a:solidFill>
            <a:srgbClr val="0F2238"/>
          </a:solidFill>
          <a:ln w="12700">
            <a:solidFill>
              <a:srgbClr val="0F2238"/>
            </a:solidFill>
            <a:prstDash val="solid"/>
          </a:ln>
        </p:spPr>
      </p:sp>
      <p:sp>
        <p:nvSpPr>
          <p:cNvPr id="5" name="Text 3"/>
          <p:cNvSpPr txBox="1"/>
          <p:nvPr/>
        </p:nvSpPr>
        <p:spPr>
          <a:xfrm>
            <a:off x="685800" y="1792224"/>
            <a:ext cx="10817352" cy="1428750"/>
          </a:xfrm>
          <a:prstGeom prst="rect">
            <a:avLst/>
          </a:prstGeom>
          <a:noFill/>
          <a:ln/>
        </p:spPr>
        <p:txBody>
          <a:bodyPr wrap="square" lIns="0" tIns="0" rIns="0" bIns="0" rtlCol="0" anchor="ctr"/>
          <a:lstStyle/>
          <a:p>
            <a:pPr indent="0" marL="0">
              <a:buNone/>
            </a:pPr>
            <a:r>
              <a:rPr lang="en-US" sz="1800" dirty="0">
                <a:solidFill>
                  <a:srgbClr val="E8EEF5"/>
                </a:solidFill>
                <a:latin typeface="Courier New" pitchFamily="34" charset="0"/>
                <a:ea typeface="Courier New" pitchFamily="34" charset="-122"/>
                <a:cs typeface="Courier New" pitchFamily="34" charset="-120"/>
              </a:rPr>
              <a:t>Verificá la especificación contra la línea base y corré la sanidad al 12/1. Si hay cambios no controlados, registrá el issue y la solicitud de cambio con su impacto (historia nueva de 8 puntos, un sprint más en la etapa 3, costo USD 6.000 contra el presupuesto de cambio, refuerza B-01) y pedile la decisión a Sofía. Si se aprueba, emití el traspaso para el equipo BMAD.</a:t>
            </a:r>
            <a:endParaRPr lang="en-US" sz="1800" dirty="0"/>
          </a:p>
        </p:txBody>
      </p:sp>
      <p:sp>
        <p:nvSpPr>
          <p:cNvPr id="6" name="Shape 4"/>
          <p:cNvSpPr/>
          <p:nvPr/>
        </p:nvSpPr>
        <p:spPr>
          <a:xfrm>
            <a:off x="457200" y="3659886"/>
            <a:ext cx="11274552" cy="2558034"/>
          </a:xfrm>
          <a:prstGeom prst="roundRect">
            <a:avLst>
              <a:gd name="adj" fmla="val 3575"/>
            </a:avLst>
          </a:prstGeom>
          <a:solidFill>
            <a:srgbClr val="F4F6F8"/>
          </a:solidFill>
          <a:ln w="12700">
            <a:solidFill>
              <a:srgbClr val="F4F6F8"/>
            </a:solidFill>
            <a:prstDash val="solid"/>
          </a:ln>
        </p:spPr>
      </p:sp>
      <p:sp>
        <p:nvSpPr>
          <p:cNvPr id="7" name="Text 5"/>
          <p:cNvSpPr txBox="1"/>
          <p:nvPr/>
        </p:nvSpPr>
        <p:spPr>
          <a:xfrm>
            <a:off x="685800" y="3787902"/>
            <a:ext cx="5486400" cy="329184"/>
          </a:xfrm>
          <a:prstGeom prst="rect">
            <a:avLst/>
          </a:prstGeom>
          <a:noFill/>
          <a:ln/>
        </p:spPr>
        <p:txBody>
          <a:bodyPr wrap="square" lIns="0" tIns="0" rIns="0" bIns="0" rtlCol="0" anchor="t"/>
          <a:lstStyle/>
          <a:p>
            <a:pPr indent="0" marL="0">
              <a:buNone/>
            </a:pPr>
            <a:r>
              <a:rPr lang="en-US" sz="1600" b="1" dirty="0">
                <a:solidFill>
                  <a:srgbClr val="002855"/>
                </a:solidFill>
                <a:latin typeface="Arial" pitchFamily="34" charset="0"/>
                <a:ea typeface="Arial" pitchFamily="34" charset="-122"/>
                <a:cs typeface="Arial" pitchFamily="34" charset="-120"/>
              </a:rPr>
              <a:t>Qué deberías ver</a:t>
            </a:r>
            <a:endParaRPr lang="en-US" sz="1600" dirty="0"/>
          </a:p>
        </p:txBody>
      </p:sp>
      <p:sp>
        <p:nvSpPr>
          <p:cNvPr id="8" name="Text 6"/>
          <p:cNvSpPr txBox="1"/>
          <p:nvPr/>
        </p:nvSpPr>
        <p:spPr>
          <a:xfrm>
            <a:off x="685800" y="4190238"/>
            <a:ext cx="10817352" cy="1917954"/>
          </a:xfrm>
          <a:prstGeom prst="rect">
            <a:avLst/>
          </a:prstGeom>
          <a:noFill/>
          <a:ln/>
        </p:spPr>
        <p:txBody>
          <a:bodyPr wrap="square" lIns="0" tIns="0" rIns="0" bIns="0" rtlCol="0" anchor="t"/>
          <a:lstStyle/>
          <a:p>
            <a:pPr indent="0" marL="0">
              <a:spcAft>
                <a:spcPts val="800"/>
              </a:spcAft>
              <a:buNone/>
            </a:pPr>
            <a:r>
              <a:rPr lang="en-US" sz="1800" b="1" dirty="0">
                <a:solidFill>
                  <a:srgbClr val="00629B"/>
                </a:solidFill>
                <a:latin typeface="Arial" pitchFamily="34" charset="0"/>
                <a:ea typeface="Arial" pitchFamily="34" charset="-122"/>
                <a:cs typeface="Arial" pitchFamily="34" charset="-120"/>
              </a:rPr>
              <a:t>✓  </a:t>
            </a:r>
            <a:pPr indent="0" marL="0">
              <a:spcAft>
                <a:spcPts val="800"/>
              </a:spcAft>
              <a:buNone/>
            </a:pPr>
            <a:r>
              <a:rPr lang="en-US" sz="1800" dirty="0">
                <a:solidFill>
                  <a:srgbClr val="272425"/>
                </a:solidFill>
                <a:latin typeface="Arial" pitchFamily="34" charset="0"/>
                <a:ea typeface="Arial" pitchFamily="34" charset="-122"/>
                <a:cs typeface="Arial" pitchFamily="34" charset="-120"/>
              </a:rPr>
              <a:t>BMAD agrega FR-13 al PRD</a:t>
            </a:r>
            <a:endParaRPr lang="en-US" sz="1600" dirty="0"/>
          </a:p>
          <a:p>
            <a:pPr indent="0" marL="0">
              <a:spcAft>
                <a:spcPts val="800"/>
              </a:spcAft>
              <a:buNone/>
            </a:pPr>
            <a:r>
              <a:rPr lang="en-US" sz="1800" b="1" dirty="0">
                <a:solidFill>
                  <a:srgbClr val="00629B"/>
                </a:solidFill>
                <a:latin typeface="Arial" pitchFamily="34" charset="0"/>
                <a:ea typeface="Arial" pitchFamily="34" charset="-122"/>
                <a:cs typeface="Arial" pitchFamily="34" charset="-120"/>
              </a:rPr>
              <a:t>✓  </a:t>
            </a:r>
            <a:pPr indent="0" marL="0">
              <a:spcAft>
                <a:spcPts val="800"/>
              </a:spcAft>
              <a:buNone/>
            </a:pPr>
            <a:r>
              <a:rPr lang="en-US" sz="1800" dirty="0">
                <a:solidFill>
                  <a:srgbClr val="272425"/>
                </a:solidFill>
                <a:latin typeface="Arial" pitchFamily="34" charset="0"/>
                <a:ea typeface="Arial" pitchFamily="34" charset="-122"/>
                <a:cs typeface="Arial" pitchFamily="34" charset="-120"/>
              </a:rPr>
              <a:t>Sanidad: 2 ERROR (ESP-10, ESP-03)</a:t>
            </a:r>
            <a:endParaRPr lang="en-US" sz="1600" dirty="0"/>
          </a:p>
          <a:p>
            <a:pPr indent="0" marL="0">
              <a:spcAft>
                <a:spcPts val="800"/>
              </a:spcAft>
              <a:buNone/>
            </a:pPr>
            <a:r>
              <a:rPr lang="en-US" sz="1800" b="1" dirty="0">
                <a:solidFill>
                  <a:srgbClr val="00629B"/>
                </a:solidFill>
                <a:latin typeface="Arial" pitchFamily="34" charset="0"/>
                <a:ea typeface="Arial" pitchFamily="34" charset="-122"/>
                <a:cs typeface="Arial" pitchFamily="34" charset="-120"/>
              </a:rPr>
              <a:t>✓  </a:t>
            </a:r>
            <a:pPr indent="0" marL="0">
              <a:spcAft>
                <a:spcPts val="800"/>
              </a:spcAft>
              <a:buNone/>
            </a:pPr>
            <a:r>
              <a:rPr lang="en-US" sz="1800" dirty="0">
                <a:solidFill>
                  <a:srgbClr val="272425"/>
                </a:solidFill>
                <a:latin typeface="Arial" pitchFamily="34" charset="0"/>
                <a:ea typeface="Arial" pitchFamily="34" charset="-122"/>
                <a:cs typeface="Arial" pitchFamily="34" charset="-120"/>
              </a:rPr>
              <a:t>I-001 y C-001 con costo 6.000</a:t>
            </a:r>
            <a:endParaRPr lang="en-US" sz="1600" dirty="0"/>
          </a:p>
          <a:p>
            <a:pPr indent="0" marL="0">
              <a:spcAft>
                <a:spcPts val="800"/>
              </a:spcAft>
              <a:buNone/>
            </a:pPr>
            <a:r>
              <a:rPr lang="en-US" sz="1800" b="1" dirty="0">
                <a:solidFill>
                  <a:srgbClr val="00629B"/>
                </a:solidFill>
                <a:latin typeface="Arial" pitchFamily="34" charset="0"/>
                <a:ea typeface="Arial" pitchFamily="34" charset="-122"/>
                <a:cs typeface="Arial" pitchFamily="34" charset="-120"/>
              </a:rPr>
              <a:t>✓  </a:t>
            </a:r>
            <a:pPr indent="0" marL="0">
              <a:spcAft>
                <a:spcPts val="800"/>
              </a:spcAft>
              <a:buNone/>
            </a:pPr>
            <a:r>
              <a:rPr lang="en-US" sz="1800" dirty="0">
                <a:solidFill>
                  <a:srgbClr val="272425"/>
                </a:solidFill>
                <a:latin typeface="Arial" pitchFamily="34" charset="0"/>
                <a:ea typeface="Arial" pitchFamily="34" charset="-122"/>
                <a:cs typeface="Arial" pitchFamily="34" charset="-120"/>
              </a:rPr>
              <a:t>Traspaso al equipo BMAD</a:t>
            </a:r>
            <a:endParaRPr lang="en-US" sz="1600" dirty="0"/>
          </a:p>
        </p:txBody>
      </p:sp>
      <p:sp>
        <p:nvSpPr>
          <p:cNvPr id="25" name="Slide Number Placeholder 0"/>
          <p:cNvSpPr>
            <a:spLocks noGrp="1"/>
          </p:cNvSpPr>
          <p:nvPr>
            <p:ph type="sldNum" sz="quarter" idx="4294967295"/>
          </p:nvPr>
        </p:nvSpPr>
        <p:spPr>
          <a:xfrm>
            <a:off x="11091672" y="6419088"/>
            <a:ext cx="64008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rgbClr val="696969"/>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3"/>
          <p:cNvSpPr/>
          <p:nvPr>
            <p:ph idx="103" type="title" hasCustomPrompt="1"/>
          </p:nvPr>
        </p:nvSpPr>
        <p:spPr>
          <a:xfrm>
            <a:off x="658368" y="365760"/>
            <a:ext cx="9244584" cy="713232"/>
          </a:xfrm>
          <a:prstGeom prst="rect">
            <a:avLst/>
          </a:prstGeom>
          <a:noFill/>
          <a:ln/>
        </p:spPr>
        <p:txBody>
          <a:bodyPr wrap="square" lIns="0" tIns="0" rIns="0" bIns="0" rtlCol="0" anchor="ctr"/>
          <a:lstStyle/>
          <a:p>
            <a:pPr algn="l" indent="0" marL="0">
              <a:buNone/>
            </a:pPr>
            <a:r>
              <a:rPr lang="en-US" sz="2400" b="1" dirty="0">
                <a:solidFill>
                  <a:srgbClr val="FFFFFF"/>
                </a:solidFill>
                <a:latin typeface="Arial" pitchFamily="34" charset="0"/>
                <a:ea typeface="Arial" pitchFamily="34" charset="-122"/>
                <a:cs typeface="Arial" pitchFamily="34" charset="-120"/>
              </a:rPr>
              <a:t>El cambio, en números</a:t>
            </a:r>
            <a:endParaRPr lang="en-US" sz="2400" dirty="0"/>
          </a:p>
        </p:txBody>
      </p:sp>
      <p:sp>
        <p:nvSpPr>
          <p:cNvPr id="3" name="Shape 1"/>
          <p:cNvSpPr/>
          <p:nvPr/>
        </p:nvSpPr>
        <p:spPr>
          <a:xfrm>
            <a:off x="457200" y="1280160"/>
            <a:ext cx="11274552" cy="870509"/>
          </a:xfrm>
          <a:prstGeom prst="roundRect">
            <a:avLst>
              <a:gd name="adj" fmla="val 10504"/>
            </a:avLst>
          </a:prstGeom>
          <a:solidFill>
            <a:srgbClr val="E9F1F8"/>
          </a:solidFill>
          <a:ln w="12700">
            <a:solidFill>
              <a:srgbClr val="E9F1F8"/>
            </a:solidFill>
            <a:prstDash val="solid"/>
          </a:ln>
        </p:spPr>
      </p:sp>
      <p:sp>
        <p:nvSpPr>
          <p:cNvPr id="4" name="Shape 2"/>
          <p:cNvSpPr/>
          <p:nvPr/>
        </p:nvSpPr>
        <p:spPr>
          <a:xfrm>
            <a:off x="621792" y="1486814"/>
            <a:ext cx="457200" cy="457200"/>
          </a:xfrm>
          <a:prstGeom prst="roundRect">
            <a:avLst>
              <a:gd name="adj" fmla="val 16000"/>
            </a:avLst>
          </a:prstGeom>
          <a:solidFill>
            <a:srgbClr val="00629B"/>
          </a:solidFill>
          <a:ln w="12700">
            <a:solidFill>
              <a:srgbClr val="00629B"/>
            </a:solidFill>
            <a:prstDash val="solid"/>
          </a:ln>
        </p:spPr>
      </p:sp>
      <p:sp>
        <p:nvSpPr>
          <p:cNvPr id="5" name="Text 3"/>
          <p:cNvSpPr txBox="1"/>
          <p:nvPr/>
        </p:nvSpPr>
        <p:spPr>
          <a:xfrm>
            <a:off x="621792" y="1486814"/>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1</a:t>
            </a:r>
            <a:endParaRPr lang="en-US" sz="1600" dirty="0"/>
          </a:p>
        </p:txBody>
      </p:sp>
      <p:sp>
        <p:nvSpPr>
          <p:cNvPr id="6" name="Text 4"/>
          <p:cNvSpPr txBox="1"/>
          <p:nvPr/>
        </p:nvSpPr>
        <p:spPr>
          <a:xfrm>
            <a:off x="1280160" y="1335024"/>
            <a:ext cx="10222992" cy="760781"/>
          </a:xfrm>
          <a:prstGeom prst="rect">
            <a:avLst/>
          </a:prstGeom>
          <a:noFill/>
          <a:ln/>
        </p:spPr>
        <p:txBody>
          <a:bodyPr wrap="square" lIns="0" tIns="0" rIns="0" bIns="0" rtlCol="0" anchor="ctr"/>
          <a:lstStyle/>
          <a:p>
            <a:pPr indent="0" marL="0">
              <a:buNone/>
            </a:pPr>
            <a:r>
              <a:rPr lang="en-US" sz="2000" dirty="0">
                <a:solidFill>
                  <a:srgbClr val="272425"/>
                </a:solidFill>
                <a:latin typeface="Arial" pitchFamily="34" charset="0"/>
                <a:ea typeface="Arial" pitchFamily="34" charset="-122"/>
                <a:cs typeface="Arial" pitchFamily="34" charset="-120"/>
              </a:rPr>
              <a:t>C-001: costo 6.000, cargo presupuesto de cambio</a:t>
            </a:r>
            <a:endParaRPr lang="en-US" sz="1600" dirty="0"/>
          </a:p>
        </p:txBody>
      </p:sp>
      <p:sp>
        <p:nvSpPr>
          <p:cNvPr id="7" name="Shape 5"/>
          <p:cNvSpPr/>
          <p:nvPr/>
        </p:nvSpPr>
        <p:spPr>
          <a:xfrm>
            <a:off x="457200" y="2296973"/>
            <a:ext cx="11274552" cy="870509"/>
          </a:xfrm>
          <a:prstGeom prst="roundRect">
            <a:avLst>
              <a:gd name="adj" fmla="val 10504"/>
            </a:avLst>
          </a:prstGeom>
          <a:solidFill>
            <a:srgbClr val="F4F6F8"/>
          </a:solidFill>
          <a:ln w="12700">
            <a:solidFill>
              <a:srgbClr val="F4F6F8"/>
            </a:solidFill>
            <a:prstDash val="solid"/>
          </a:ln>
        </p:spPr>
      </p:sp>
      <p:sp>
        <p:nvSpPr>
          <p:cNvPr id="8" name="Shape 6"/>
          <p:cNvSpPr/>
          <p:nvPr/>
        </p:nvSpPr>
        <p:spPr>
          <a:xfrm>
            <a:off x="621792" y="2503627"/>
            <a:ext cx="457200" cy="457200"/>
          </a:xfrm>
          <a:prstGeom prst="roundRect">
            <a:avLst>
              <a:gd name="adj" fmla="val 16000"/>
            </a:avLst>
          </a:prstGeom>
          <a:solidFill>
            <a:srgbClr val="00629B"/>
          </a:solidFill>
          <a:ln w="12700">
            <a:solidFill>
              <a:srgbClr val="00629B"/>
            </a:solidFill>
            <a:prstDash val="solid"/>
          </a:ln>
        </p:spPr>
      </p:sp>
      <p:sp>
        <p:nvSpPr>
          <p:cNvPr id="9" name="Text 7"/>
          <p:cNvSpPr txBox="1"/>
          <p:nvPr/>
        </p:nvSpPr>
        <p:spPr>
          <a:xfrm>
            <a:off x="621792" y="2503627"/>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2</a:t>
            </a:r>
            <a:endParaRPr lang="en-US" sz="1600" dirty="0"/>
          </a:p>
        </p:txBody>
      </p:sp>
      <p:sp>
        <p:nvSpPr>
          <p:cNvPr id="10" name="Text 8"/>
          <p:cNvSpPr txBox="1"/>
          <p:nvPr/>
        </p:nvSpPr>
        <p:spPr>
          <a:xfrm>
            <a:off x="1280160" y="2351837"/>
            <a:ext cx="10222992" cy="760781"/>
          </a:xfrm>
          <a:prstGeom prst="rect">
            <a:avLst/>
          </a:prstGeom>
          <a:noFill/>
          <a:ln/>
        </p:spPr>
        <p:txBody>
          <a:bodyPr wrap="square" lIns="0" tIns="0" rIns="0" bIns="0" rtlCol="0" anchor="ctr"/>
          <a:lstStyle/>
          <a:p>
            <a:pPr indent="0" marL="0">
              <a:buNone/>
            </a:pPr>
            <a:r>
              <a:rPr lang="en-US" sz="2000" dirty="0">
                <a:solidFill>
                  <a:srgbClr val="272425"/>
                </a:solidFill>
                <a:latin typeface="Arial" pitchFamily="34" charset="0"/>
                <a:ea typeface="Arial" pitchFamily="34" charset="-122"/>
                <a:cs typeface="Arial" pitchFamily="34" charset="-120"/>
              </a:rPr>
              <a:t>Consumo: 6.000 de 15.000 (40 %)</a:t>
            </a:r>
            <a:endParaRPr lang="en-US" sz="1600" dirty="0"/>
          </a:p>
        </p:txBody>
      </p:sp>
      <p:sp>
        <p:nvSpPr>
          <p:cNvPr id="11" name="Shape 9"/>
          <p:cNvSpPr/>
          <p:nvPr/>
        </p:nvSpPr>
        <p:spPr>
          <a:xfrm>
            <a:off x="457200" y="3313786"/>
            <a:ext cx="11274552" cy="870509"/>
          </a:xfrm>
          <a:prstGeom prst="roundRect">
            <a:avLst>
              <a:gd name="adj" fmla="val 10504"/>
            </a:avLst>
          </a:prstGeom>
          <a:solidFill>
            <a:srgbClr val="E9F1F8"/>
          </a:solidFill>
          <a:ln w="12700">
            <a:solidFill>
              <a:srgbClr val="E9F1F8"/>
            </a:solidFill>
            <a:prstDash val="solid"/>
          </a:ln>
        </p:spPr>
      </p:sp>
      <p:sp>
        <p:nvSpPr>
          <p:cNvPr id="12" name="Shape 10"/>
          <p:cNvSpPr/>
          <p:nvPr/>
        </p:nvSpPr>
        <p:spPr>
          <a:xfrm>
            <a:off x="621792" y="3520440"/>
            <a:ext cx="457200" cy="457200"/>
          </a:xfrm>
          <a:prstGeom prst="roundRect">
            <a:avLst>
              <a:gd name="adj" fmla="val 16000"/>
            </a:avLst>
          </a:prstGeom>
          <a:solidFill>
            <a:srgbClr val="00629B"/>
          </a:solidFill>
          <a:ln w="12700">
            <a:solidFill>
              <a:srgbClr val="00629B"/>
            </a:solidFill>
            <a:prstDash val="solid"/>
          </a:ln>
        </p:spPr>
      </p:sp>
      <p:sp>
        <p:nvSpPr>
          <p:cNvPr id="13" name="Text 11"/>
          <p:cNvSpPr txBox="1"/>
          <p:nvPr/>
        </p:nvSpPr>
        <p:spPr>
          <a:xfrm>
            <a:off x="621792" y="3520440"/>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3</a:t>
            </a:r>
            <a:endParaRPr lang="en-US" sz="1600" dirty="0"/>
          </a:p>
        </p:txBody>
      </p:sp>
      <p:sp>
        <p:nvSpPr>
          <p:cNvPr id="14" name="Text 12"/>
          <p:cNvSpPr txBox="1"/>
          <p:nvPr/>
        </p:nvSpPr>
        <p:spPr>
          <a:xfrm>
            <a:off x="1280160" y="3368650"/>
            <a:ext cx="10222992" cy="760781"/>
          </a:xfrm>
          <a:prstGeom prst="rect">
            <a:avLst/>
          </a:prstGeom>
          <a:noFill/>
          <a:ln/>
        </p:spPr>
        <p:txBody>
          <a:bodyPr wrap="square" lIns="0" tIns="0" rIns="0" bIns="0" rtlCol="0" anchor="ctr"/>
          <a:lstStyle/>
          <a:p>
            <a:pPr indent="0" marL="0">
              <a:buNone/>
            </a:pPr>
            <a:r>
              <a:rPr lang="en-US" sz="2000" dirty="0">
                <a:solidFill>
                  <a:srgbClr val="272425"/>
                </a:solidFill>
                <a:latin typeface="Arial" pitchFamily="34" charset="0"/>
                <a:ea typeface="Arial" pitchFamily="34" charset="-122"/>
                <a:cs typeface="Arial" pitchFamily="34" charset="-120"/>
              </a:rPr>
              <a:t>Líneas base PRD y épicas 1.1</a:t>
            </a:r>
            <a:endParaRPr lang="en-US" sz="1600" dirty="0"/>
          </a:p>
        </p:txBody>
      </p:sp>
      <p:sp>
        <p:nvSpPr>
          <p:cNvPr id="15" name="Shape 13"/>
          <p:cNvSpPr/>
          <p:nvPr/>
        </p:nvSpPr>
        <p:spPr>
          <a:xfrm>
            <a:off x="457200" y="4330598"/>
            <a:ext cx="11274552" cy="870509"/>
          </a:xfrm>
          <a:prstGeom prst="roundRect">
            <a:avLst>
              <a:gd name="adj" fmla="val 10504"/>
            </a:avLst>
          </a:prstGeom>
          <a:solidFill>
            <a:srgbClr val="F4F6F8"/>
          </a:solidFill>
          <a:ln w="12700">
            <a:solidFill>
              <a:srgbClr val="F4F6F8"/>
            </a:solidFill>
            <a:prstDash val="solid"/>
          </a:ln>
        </p:spPr>
      </p:sp>
      <p:sp>
        <p:nvSpPr>
          <p:cNvPr id="16" name="Shape 14"/>
          <p:cNvSpPr/>
          <p:nvPr/>
        </p:nvSpPr>
        <p:spPr>
          <a:xfrm>
            <a:off x="621792" y="4537253"/>
            <a:ext cx="457200" cy="457200"/>
          </a:xfrm>
          <a:prstGeom prst="roundRect">
            <a:avLst>
              <a:gd name="adj" fmla="val 16000"/>
            </a:avLst>
          </a:prstGeom>
          <a:solidFill>
            <a:srgbClr val="00629B"/>
          </a:solidFill>
          <a:ln w="12700">
            <a:solidFill>
              <a:srgbClr val="00629B"/>
            </a:solidFill>
            <a:prstDash val="solid"/>
          </a:ln>
        </p:spPr>
      </p:sp>
      <p:sp>
        <p:nvSpPr>
          <p:cNvPr id="17" name="Text 15"/>
          <p:cNvSpPr txBox="1"/>
          <p:nvPr/>
        </p:nvSpPr>
        <p:spPr>
          <a:xfrm>
            <a:off x="621792" y="4537253"/>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4</a:t>
            </a:r>
            <a:endParaRPr lang="en-US" sz="1600" dirty="0"/>
          </a:p>
        </p:txBody>
      </p:sp>
      <p:sp>
        <p:nvSpPr>
          <p:cNvPr id="18" name="Text 16"/>
          <p:cNvSpPr txBox="1"/>
          <p:nvPr/>
        </p:nvSpPr>
        <p:spPr>
          <a:xfrm>
            <a:off x="1280160" y="4385462"/>
            <a:ext cx="10222992" cy="760781"/>
          </a:xfrm>
          <a:prstGeom prst="rect">
            <a:avLst/>
          </a:prstGeom>
          <a:noFill/>
          <a:ln/>
        </p:spPr>
        <p:txBody>
          <a:bodyPr wrap="square" lIns="0" tIns="0" rIns="0" bIns="0" rtlCol="0" anchor="ctr"/>
          <a:lstStyle/>
          <a:p>
            <a:pPr indent="0" marL="0">
              <a:buNone/>
            </a:pPr>
            <a:r>
              <a:rPr lang="en-US" sz="2000" dirty="0">
                <a:solidFill>
                  <a:srgbClr val="272425"/>
                </a:solidFill>
                <a:latin typeface="Arial" pitchFamily="34" charset="0"/>
                <a:ea typeface="Arial" pitchFamily="34" charset="-122"/>
                <a:cs typeface="Arial" pitchFamily="34" charset="-120"/>
              </a:rPr>
              <a:t>Verificación final: sin desvíos</a:t>
            </a:r>
            <a:endParaRPr lang="en-US" sz="1600" dirty="0"/>
          </a:p>
        </p:txBody>
      </p:sp>
      <p:sp>
        <p:nvSpPr>
          <p:cNvPr id="19" name="Shape 17"/>
          <p:cNvSpPr/>
          <p:nvPr/>
        </p:nvSpPr>
        <p:spPr>
          <a:xfrm>
            <a:off x="457200" y="5347411"/>
            <a:ext cx="11274552" cy="870509"/>
          </a:xfrm>
          <a:prstGeom prst="roundRect">
            <a:avLst>
              <a:gd name="adj" fmla="val 10504"/>
            </a:avLst>
          </a:prstGeom>
          <a:solidFill>
            <a:srgbClr val="E9F1F8"/>
          </a:solidFill>
          <a:ln w="12700">
            <a:solidFill>
              <a:srgbClr val="E9F1F8"/>
            </a:solidFill>
            <a:prstDash val="solid"/>
          </a:ln>
        </p:spPr>
      </p:sp>
      <p:sp>
        <p:nvSpPr>
          <p:cNvPr id="20" name="Shape 18"/>
          <p:cNvSpPr/>
          <p:nvPr/>
        </p:nvSpPr>
        <p:spPr>
          <a:xfrm>
            <a:off x="621792" y="5554066"/>
            <a:ext cx="457200" cy="457200"/>
          </a:xfrm>
          <a:prstGeom prst="roundRect">
            <a:avLst>
              <a:gd name="adj" fmla="val 16000"/>
            </a:avLst>
          </a:prstGeom>
          <a:solidFill>
            <a:srgbClr val="00629B"/>
          </a:solidFill>
          <a:ln w="12700">
            <a:solidFill>
              <a:srgbClr val="00629B"/>
            </a:solidFill>
            <a:prstDash val="solid"/>
          </a:ln>
        </p:spPr>
      </p:sp>
      <p:sp>
        <p:nvSpPr>
          <p:cNvPr id="21" name="Text 19"/>
          <p:cNvSpPr txBox="1"/>
          <p:nvPr/>
        </p:nvSpPr>
        <p:spPr>
          <a:xfrm>
            <a:off x="621792" y="5554066"/>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5</a:t>
            </a:r>
            <a:endParaRPr lang="en-US" sz="1600" dirty="0"/>
          </a:p>
        </p:txBody>
      </p:sp>
      <p:sp>
        <p:nvSpPr>
          <p:cNvPr id="22" name="Text 20"/>
          <p:cNvSpPr txBox="1"/>
          <p:nvPr/>
        </p:nvSpPr>
        <p:spPr>
          <a:xfrm>
            <a:off x="1280160" y="5402275"/>
            <a:ext cx="10222992" cy="760781"/>
          </a:xfrm>
          <a:prstGeom prst="rect">
            <a:avLst/>
          </a:prstGeom>
          <a:noFill/>
          <a:ln/>
        </p:spPr>
        <p:txBody>
          <a:bodyPr wrap="square" lIns="0" tIns="0" rIns="0" bIns="0" rtlCol="0" anchor="ctr"/>
          <a:lstStyle/>
          <a:p>
            <a:pPr indent="0" marL="0">
              <a:buNone/>
            </a:pPr>
            <a:r>
              <a:rPr lang="en-US" sz="2000" dirty="0">
                <a:solidFill>
                  <a:srgbClr val="272425"/>
                </a:solidFill>
                <a:latin typeface="Arial" pitchFamily="34" charset="0"/>
                <a:ea typeface="Arial" pitchFamily="34" charset="-122"/>
                <a:cs typeface="Arial" pitchFamily="34" charset="-120"/>
              </a:rPr>
              <a:t>Lección L-001: correct-course entra como issue</a:t>
            </a:r>
            <a:endParaRPr lang="en-US" sz="1600" dirty="0"/>
          </a:p>
        </p:txBody>
      </p:sp>
      <p:sp>
        <p:nvSpPr>
          <p:cNvPr id="25" name="Slide Number Placeholder 0"/>
          <p:cNvSpPr>
            <a:spLocks noGrp="1"/>
          </p:cNvSpPr>
          <p:nvPr>
            <p:ph type="sldNum" sz="quarter" idx="4294967295"/>
          </p:nvPr>
        </p:nvSpPr>
        <p:spPr>
          <a:xfrm>
            <a:off x="11091672" y="6419088"/>
            <a:ext cx="64008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rgbClr val="696969"/>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3"/>
          <p:cNvSpPr/>
          <p:nvPr>
            <p:ph idx="103" type="title" hasCustomPrompt="1"/>
          </p:nvPr>
        </p:nvSpPr>
        <p:spPr>
          <a:xfrm>
            <a:off x="658368" y="365760"/>
            <a:ext cx="9244584" cy="713232"/>
          </a:xfrm>
          <a:prstGeom prst="rect">
            <a:avLst/>
          </a:prstGeom>
          <a:noFill/>
          <a:ln/>
        </p:spPr>
        <p:txBody>
          <a:bodyPr wrap="square" lIns="0" tIns="0" rIns="0" bIns="0" rtlCol="0" anchor="ctr"/>
          <a:lstStyle/>
          <a:p>
            <a:pPr algn="l" indent="0" marL="0">
              <a:buNone/>
            </a:pPr>
            <a:r>
              <a:rPr lang="en-US" sz="2400" b="1" dirty="0">
                <a:solidFill>
                  <a:srgbClr val="FFFFFF"/>
                </a:solidFill>
                <a:latin typeface="Arial" pitchFamily="34" charset="0"/>
                <a:ea typeface="Arial" pitchFamily="34" charset="-122"/>
                <a:cs typeface="Arial" pitchFamily="34" charset="-120"/>
              </a:rPr>
              <a:t>C-001 sumó 8 puntos y aun así se terminó a tiempo</a:t>
            </a:r>
            <a:endParaRPr lang="en-US" sz="2400" dirty="0"/>
          </a:p>
        </p:txBody>
      </p:sp>
      <p:pic>
        <p:nvPicPr>
          <p:cNvPr id="3" name="Image 0" descr="C-001 sumó 8 puntos y aun así se terminó a tiempo">    </p:cNvPr>
          <p:cNvPicPr>
            <a:picLocks noChangeAspect="1"/>
          </p:cNvPicPr>
          <p:nvPr/>
        </p:nvPicPr>
        <p:blipFill>
          <a:blip r:embed="rId1"/>
          <a:stretch>
            <a:fillRect/>
          </a:stretch>
        </p:blipFill>
        <p:spPr>
          <a:xfrm>
            <a:off x="1705356" y="1280160"/>
            <a:ext cx="8778240" cy="4937760"/>
          </a:xfrm>
          <a:prstGeom prst="rect">
            <a:avLst/>
          </a:prstGeom>
        </p:spPr>
      </p:pic>
      <p:sp>
        <p:nvSpPr>
          <p:cNvPr id="4" name="Shape 1"/>
          <p:cNvSpPr/>
          <p:nvPr/>
        </p:nvSpPr>
        <p:spPr>
          <a:xfrm>
            <a:off x="1705356" y="1280160"/>
            <a:ext cx="8778240" cy="4937760"/>
          </a:xfrm>
          <a:prstGeom prst="rect">
            <a:avLst/>
          </a:prstGeom>
          <a:solidFill>
            <a:srgbClr val="FFFFFF">
              <a:alpha val="0"/>
            </a:srgbClr>
          </a:solidFill>
          <a:ln w="9525">
            <a:solidFill>
              <a:srgbClr val="E2E2E6"/>
            </a:solidFill>
            <a:prstDash val="solid"/>
          </a:ln>
        </p:spPr>
      </p:sp>
      <p:sp>
        <p:nvSpPr>
          <p:cNvPr id="25" name="Slide Number Placeholder 0"/>
          <p:cNvSpPr>
            <a:spLocks noGrp="1"/>
          </p:cNvSpPr>
          <p:nvPr>
            <p:ph type="sldNum" sz="quarter" idx="4294967295"/>
          </p:nvPr>
        </p:nvSpPr>
        <p:spPr>
          <a:xfrm>
            <a:off x="11091672" y="6419088"/>
            <a:ext cx="64008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rgbClr val="696969"/>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2"/>
          <p:cNvSpPr/>
          <p:nvPr>
            <p:ph idx="102" type="title" hasCustomPrompt="1"/>
          </p:nvPr>
        </p:nvSpPr>
        <p:spPr>
          <a:xfrm>
            <a:off x="548640" y="365760"/>
            <a:ext cx="9445752" cy="713232"/>
          </a:xfrm>
          <a:prstGeom prst="rect">
            <a:avLst/>
          </a:prstGeom>
          <a:noFill/>
          <a:ln/>
        </p:spPr>
        <p:txBody>
          <a:bodyPr wrap="square" lIns="0" tIns="0" rIns="0" bIns="0" rtlCol="0" anchor="ctr"/>
          <a:lstStyle/>
          <a:p>
            <a:pPr algn="l" indent="0" marL="0">
              <a:buNone/>
            </a:pPr>
            <a:r>
              <a:rPr lang="en-US" sz="2200" b="1" dirty="0">
                <a:solidFill>
                  <a:srgbClr val="9FD0F0"/>
                </a:solidFill>
                <a:latin typeface="Arial" pitchFamily="34" charset="0"/>
                <a:ea typeface="Arial" pitchFamily="34" charset="-122"/>
                <a:cs typeface="Arial" pitchFamily="34" charset="-120"/>
              </a:rPr>
              <a:t>¿Quién decide?</a:t>
            </a:r>
            <a:endParaRPr lang="en-US" sz="2200" dirty="0"/>
          </a:p>
        </p:txBody>
      </p:sp>
      <p:sp>
        <p:nvSpPr>
          <p:cNvPr id="3" name="Shape 1"/>
          <p:cNvSpPr/>
          <p:nvPr/>
        </p:nvSpPr>
        <p:spPr>
          <a:xfrm>
            <a:off x="548640" y="3131820"/>
            <a:ext cx="1188720" cy="1188720"/>
          </a:xfrm>
          <a:prstGeom prst="ellipse">
            <a:avLst/>
          </a:prstGeom>
          <a:solidFill>
            <a:srgbClr val="B5651D"/>
          </a:solidFill>
          <a:ln w="12700">
            <a:solidFill>
              <a:srgbClr val="B5651D"/>
            </a:solidFill>
            <a:prstDash val="solid"/>
          </a:ln>
        </p:spPr>
      </p:sp>
      <p:sp>
        <p:nvSpPr>
          <p:cNvPr id="4" name="Text 2"/>
          <p:cNvSpPr txBox="1"/>
          <p:nvPr/>
        </p:nvSpPr>
        <p:spPr>
          <a:xfrm>
            <a:off x="548640" y="3131820"/>
            <a:ext cx="1188720" cy="1188720"/>
          </a:xfrm>
          <a:prstGeom prst="rect">
            <a:avLst/>
          </a:prstGeom>
          <a:noFill/>
          <a:ln/>
        </p:spPr>
        <p:txBody>
          <a:bodyPr wrap="square" lIns="0" tIns="0" rIns="0" bIns="0" rtlCol="0" anchor="ctr"/>
          <a:lstStyle/>
          <a:p>
            <a:pPr algn="ctr" indent="0" marL="0">
              <a:buNone/>
            </a:pPr>
            <a:r>
              <a:rPr lang="en-US" sz="5400" b="1" dirty="0">
                <a:solidFill>
                  <a:srgbClr val="FFFFFF"/>
                </a:solidFill>
                <a:latin typeface="Arial" pitchFamily="34" charset="0"/>
                <a:ea typeface="Arial" pitchFamily="34" charset="-122"/>
                <a:cs typeface="Arial" pitchFamily="34" charset="-120"/>
              </a:rPr>
              <a:t>?</a:t>
            </a:r>
            <a:endParaRPr lang="en-US" sz="5400" dirty="0"/>
          </a:p>
        </p:txBody>
      </p:sp>
      <p:sp>
        <p:nvSpPr>
          <p:cNvPr id="5" name="Text 3"/>
          <p:cNvSpPr txBox="1"/>
          <p:nvPr/>
        </p:nvSpPr>
        <p:spPr>
          <a:xfrm>
            <a:off x="2103120" y="1417320"/>
            <a:ext cx="9537192" cy="4617720"/>
          </a:xfrm>
          <a:prstGeom prst="rect">
            <a:avLst/>
          </a:prstGeom>
          <a:noFill/>
          <a:ln/>
        </p:spPr>
        <p:txBody>
          <a:bodyPr wrap="square" lIns="0" tIns="0" rIns="0" bIns="0" rtlCol="0" anchor="ctr"/>
          <a:lstStyle/>
          <a:p>
            <a:pPr indent="0" marL="0">
              <a:buNone/>
            </a:pPr>
            <a:r>
              <a:rPr lang="en-US" sz="3200" b="1" dirty="0">
                <a:solidFill>
                  <a:srgbClr val="FFFFFF"/>
                </a:solidFill>
                <a:latin typeface="Arial" pitchFamily="34" charset="0"/>
                <a:ea typeface="Arial" pitchFamily="34" charset="-122"/>
                <a:cs typeface="Arial" pitchFamily="34" charset="-120"/>
              </a:rPr>
              <a:t>Sofía aprobó C-001 por USD 6.000. ¿Podía? ¿Y si hubiera costado USD 9.000?</a:t>
            </a:r>
            <a:endParaRPr lang="en-US" sz="1600" dirty="0"/>
          </a:p>
        </p:txBody>
      </p:sp>
      <p:sp>
        <p:nvSpPr>
          <p:cNvPr id="25" name="Slide Number Placeholder 0"/>
          <p:cNvSpPr>
            <a:spLocks noGrp="1"/>
          </p:cNvSpPr>
          <p:nvPr>
            <p:ph type="sldNum" sz="quarter" idx="4294967295"/>
          </p:nvPr>
        </p:nvSpPr>
        <p:spPr>
          <a:xfrm>
            <a:off x="11091672" y="6419088"/>
            <a:ext cx="64008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rgbClr val="D6E4F0"/>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3"/>
          <p:cNvSpPr/>
          <p:nvPr>
            <p:ph idx="103" type="title" hasCustomPrompt="1"/>
          </p:nvPr>
        </p:nvSpPr>
        <p:spPr>
          <a:xfrm>
            <a:off x="658368" y="365760"/>
            <a:ext cx="9244584" cy="713232"/>
          </a:xfrm>
          <a:prstGeom prst="rect">
            <a:avLst/>
          </a:prstGeom>
          <a:noFill/>
          <a:ln/>
        </p:spPr>
        <p:txBody>
          <a:bodyPr wrap="square" lIns="0" tIns="0" rIns="0" bIns="0" rtlCol="0" anchor="ctr"/>
          <a:lstStyle/>
          <a:p>
            <a:pPr algn="l" indent="0" marL="0">
              <a:buNone/>
            </a:pPr>
            <a:r>
              <a:rPr lang="en-US" sz="2400" b="1" dirty="0">
                <a:solidFill>
                  <a:srgbClr val="FFFFFF"/>
                </a:solidFill>
                <a:latin typeface="Arial" pitchFamily="34" charset="0"/>
                <a:ea typeface="Arial" pitchFamily="34" charset="-122"/>
                <a:cs typeface="Arial" pitchFamily="34" charset="-120"/>
              </a:rPr>
              <a:t>Mensajes clave de la clase 1</a:t>
            </a:r>
            <a:endParaRPr lang="en-US" sz="2400" dirty="0"/>
          </a:p>
        </p:txBody>
      </p:sp>
      <p:sp>
        <p:nvSpPr>
          <p:cNvPr id="3" name="Shape 1"/>
          <p:cNvSpPr/>
          <p:nvPr/>
        </p:nvSpPr>
        <p:spPr>
          <a:xfrm>
            <a:off x="457200" y="1280160"/>
            <a:ext cx="11274552" cy="1051560"/>
          </a:xfrm>
          <a:prstGeom prst="roundRect">
            <a:avLst>
              <a:gd name="adj" fmla="val 8696"/>
            </a:avLst>
          </a:prstGeom>
          <a:solidFill>
            <a:srgbClr val="E9F1F8"/>
          </a:solidFill>
          <a:ln w="12700">
            <a:solidFill>
              <a:srgbClr val="E9F1F8"/>
            </a:solidFill>
            <a:prstDash val="solid"/>
          </a:ln>
        </p:spPr>
      </p:sp>
      <p:sp>
        <p:nvSpPr>
          <p:cNvPr id="4" name="Shape 2"/>
          <p:cNvSpPr/>
          <p:nvPr/>
        </p:nvSpPr>
        <p:spPr>
          <a:xfrm>
            <a:off x="621792" y="1577340"/>
            <a:ext cx="457200" cy="457200"/>
          </a:xfrm>
          <a:prstGeom prst="roundRect">
            <a:avLst>
              <a:gd name="adj" fmla="val 16000"/>
            </a:avLst>
          </a:prstGeom>
          <a:solidFill>
            <a:srgbClr val="00629B"/>
          </a:solidFill>
          <a:ln w="12700">
            <a:solidFill>
              <a:srgbClr val="00629B"/>
            </a:solidFill>
            <a:prstDash val="solid"/>
          </a:ln>
        </p:spPr>
      </p:sp>
      <p:sp>
        <p:nvSpPr>
          <p:cNvPr id="5" name="Text 3"/>
          <p:cNvSpPr txBox="1"/>
          <p:nvPr/>
        </p:nvSpPr>
        <p:spPr>
          <a:xfrm>
            <a:off x="621792" y="1577340"/>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1</a:t>
            </a:r>
            <a:endParaRPr lang="en-US" sz="1600" dirty="0"/>
          </a:p>
        </p:txBody>
      </p:sp>
      <p:sp>
        <p:nvSpPr>
          <p:cNvPr id="6" name="Text 4"/>
          <p:cNvSpPr txBox="1"/>
          <p:nvPr/>
        </p:nvSpPr>
        <p:spPr>
          <a:xfrm>
            <a:off x="1280160" y="1335024"/>
            <a:ext cx="10222992" cy="941832"/>
          </a:xfrm>
          <a:prstGeom prst="rect">
            <a:avLst/>
          </a:prstGeom>
          <a:noFill/>
          <a:ln/>
        </p:spPr>
        <p:txBody>
          <a:bodyPr wrap="square" lIns="0" tIns="0" rIns="0" bIns="0" rtlCol="0" anchor="ctr"/>
          <a:lstStyle/>
          <a:p>
            <a:pPr indent="0" marL="0">
              <a:buNone/>
            </a:pPr>
            <a:r>
              <a:rPr lang="en-US" sz="2000" dirty="0">
                <a:solidFill>
                  <a:srgbClr val="272425"/>
                </a:solidFill>
                <a:latin typeface="Arial" pitchFamily="34" charset="0"/>
                <a:ea typeface="Arial" pitchFamily="34" charset="-122"/>
                <a:cs typeface="Arial" pitchFamily="34" charset="-120"/>
              </a:rPr>
              <a:t>Una sola fuente por dato: BMAD</a:t>
            </a:r>
            <a:endParaRPr lang="en-US" sz="1600" dirty="0"/>
          </a:p>
        </p:txBody>
      </p:sp>
      <p:sp>
        <p:nvSpPr>
          <p:cNvPr id="7" name="Shape 5"/>
          <p:cNvSpPr/>
          <p:nvPr/>
        </p:nvSpPr>
        <p:spPr>
          <a:xfrm>
            <a:off x="457200" y="2478024"/>
            <a:ext cx="11274552" cy="1051560"/>
          </a:xfrm>
          <a:prstGeom prst="roundRect">
            <a:avLst>
              <a:gd name="adj" fmla="val 8696"/>
            </a:avLst>
          </a:prstGeom>
          <a:solidFill>
            <a:srgbClr val="F4F6F8"/>
          </a:solidFill>
          <a:ln w="12700">
            <a:solidFill>
              <a:srgbClr val="F4F6F8"/>
            </a:solidFill>
            <a:prstDash val="solid"/>
          </a:ln>
        </p:spPr>
      </p:sp>
      <p:sp>
        <p:nvSpPr>
          <p:cNvPr id="8" name="Shape 6"/>
          <p:cNvSpPr/>
          <p:nvPr/>
        </p:nvSpPr>
        <p:spPr>
          <a:xfrm>
            <a:off x="621792" y="2775204"/>
            <a:ext cx="457200" cy="457200"/>
          </a:xfrm>
          <a:prstGeom prst="roundRect">
            <a:avLst>
              <a:gd name="adj" fmla="val 16000"/>
            </a:avLst>
          </a:prstGeom>
          <a:solidFill>
            <a:srgbClr val="00629B"/>
          </a:solidFill>
          <a:ln w="12700">
            <a:solidFill>
              <a:srgbClr val="00629B"/>
            </a:solidFill>
            <a:prstDash val="solid"/>
          </a:ln>
        </p:spPr>
      </p:sp>
      <p:sp>
        <p:nvSpPr>
          <p:cNvPr id="9" name="Text 7"/>
          <p:cNvSpPr txBox="1"/>
          <p:nvPr/>
        </p:nvSpPr>
        <p:spPr>
          <a:xfrm>
            <a:off x="621792" y="2775204"/>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2</a:t>
            </a:r>
            <a:endParaRPr lang="en-US" sz="1600" dirty="0"/>
          </a:p>
        </p:txBody>
      </p:sp>
      <p:sp>
        <p:nvSpPr>
          <p:cNvPr id="10" name="Text 8"/>
          <p:cNvSpPr txBox="1"/>
          <p:nvPr/>
        </p:nvSpPr>
        <p:spPr>
          <a:xfrm>
            <a:off x="1280160" y="2532888"/>
            <a:ext cx="10222992" cy="941832"/>
          </a:xfrm>
          <a:prstGeom prst="rect">
            <a:avLst/>
          </a:prstGeom>
          <a:noFill/>
          <a:ln/>
        </p:spPr>
        <p:txBody>
          <a:bodyPr wrap="square" lIns="0" tIns="0" rIns="0" bIns="0" rtlCol="0" anchor="ctr"/>
          <a:lstStyle/>
          <a:p>
            <a:pPr indent="0" marL="0">
              <a:buNone/>
            </a:pPr>
            <a:r>
              <a:rPr lang="en-US" sz="2000" dirty="0">
                <a:solidFill>
                  <a:srgbClr val="272425"/>
                </a:solidFill>
                <a:latin typeface="Arial" pitchFamily="34" charset="0"/>
                <a:ea typeface="Arial" pitchFamily="34" charset="-122"/>
                <a:cs typeface="Arial" pitchFamily="34" charset="-120"/>
              </a:rPr>
              <a:t>La condición es un registro con dueño</a:t>
            </a:r>
            <a:endParaRPr lang="en-US" sz="1600" dirty="0"/>
          </a:p>
        </p:txBody>
      </p:sp>
      <p:sp>
        <p:nvSpPr>
          <p:cNvPr id="11" name="Shape 9"/>
          <p:cNvSpPr/>
          <p:nvPr/>
        </p:nvSpPr>
        <p:spPr>
          <a:xfrm>
            <a:off x="457200" y="3675888"/>
            <a:ext cx="11274552" cy="1051560"/>
          </a:xfrm>
          <a:prstGeom prst="roundRect">
            <a:avLst>
              <a:gd name="adj" fmla="val 8696"/>
            </a:avLst>
          </a:prstGeom>
          <a:solidFill>
            <a:srgbClr val="E9F1F8"/>
          </a:solidFill>
          <a:ln w="12700">
            <a:solidFill>
              <a:srgbClr val="E9F1F8"/>
            </a:solidFill>
            <a:prstDash val="solid"/>
          </a:ln>
        </p:spPr>
      </p:sp>
      <p:sp>
        <p:nvSpPr>
          <p:cNvPr id="12" name="Shape 10"/>
          <p:cNvSpPr/>
          <p:nvPr/>
        </p:nvSpPr>
        <p:spPr>
          <a:xfrm>
            <a:off x="621792" y="3973068"/>
            <a:ext cx="457200" cy="457200"/>
          </a:xfrm>
          <a:prstGeom prst="roundRect">
            <a:avLst>
              <a:gd name="adj" fmla="val 16000"/>
            </a:avLst>
          </a:prstGeom>
          <a:solidFill>
            <a:srgbClr val="00629B"/>
          </a:solidFill>
          <a:ln w="12700">
            <a:solidFill>
              <a:srgbClr val="00629B"/>
            </a:solidFill>
            <a:prstDash val="solid"/>
          </a:ln>
        </p:spPr>
      </p:sp>
      <p:sp>
        <p:nvSpPr>
          <p:cNvPr id="13" name="Text 11"/>
          <p:cNvSpPr txBox="1"/>
          <p:nvPr/>
        </p:nvSpPr>
        <p:spPr>
          <a:xfrm>
            <a:off x="621792" y="3973068"/>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3</a:t>
            </a:r>
            <a:endParaRPr lang="en-US" sz="1600" dirty="0"/>
          </a:p>
        </p:txBody>
      </p:sp>
      <p:sp>
        <p:nvSpPr>
          <p:cNvPr id="14" name="Text 12"/>
          <p:cNvSpPr txBox="1"/>
          <p:nvPr/>
        </p:nvSpPr>
        <p:spPr>
          <a:xfrm>
            <a:off x="1280160" y="3730752"/>
            <a:ext cx="10222992" cy="941832"/>
          </a:xfrm>
          <a:prstGeom prst="rect">
            <a:avLst/>
          </a:prstGeom>
          <a:noFill/>
          <a:ln/>
        </p:spPr>
        <p:txBody>
          <a:bodyPr wrap="square" lIns="0" tIns="0" rIns="0" bIns="0" rtlCol="0" anchor="ctr"/>
          <a:lstStyle/>
          <a:p>
            <a:pPr indent="0" marL="0">
              <a:buNone/>
            </a:pPr>
            <a:r>
              <a:rPr lang="en-US" sz="2000" dirty="0">
                <a:solidFill>
                  <a:srgbClr val="272425"/>
                </a:solidFill>
                <a:latin typeface="Arial" pitchFamily="34" charset="0"/>
                <a:ea typeface="Arial" pitchFamily="34" charset="-122"/>
                <a:cs typeface="Arial" pitchFamily="34" charset="-120"/>
              </a:rPr>
              <a:t>Sin monto no hay cambio controlado</a:t>
            </a:r>
            <a:endParaRPr lang="en-US" sz="1600" dirty="0"/>
          </a:p>
        </p:txBody>
      </p:sp>
      <p:sp>
        <p:nvSpPr>
          <p:cNvPr id="15" name="Shape 13"/>
          <p:cNvSpPr/>
          <p:nvPr/>
        </p:nvSpPr>
        <p:spPr>
          <a:xfrm>
            <a:off x="457200" y="4873752"/>
            <a:ext cx="11274552" cy="1051560"/>
          </a:xfrm>
          <a:prstGeom prst="roundRect">
            <a:avLst>
              <a:gd name="adj" fmla="val 8696"/>
            </a:avLst>
          </a:prstGeom>
          <a:solidFill>
            <a:srgbClr val="F4F6F8"/>
          </a:solidFill>
          <a:ln w="12700">
            <a:solidFill>
              <a:srgbClr val="F4F6F8"/>
            </a:solidFill>
            <a:prstDash val="solid"/>
          </a:ln>
        </p:spPr>
      </p:sp>
      <p:sp>
        <p:nvSpPr>
          <p:cNvPr id="16" name="Shape 14"/>
          <p:cNvSpPr/>
          <p:nvPr/>
        </p:nvSpPr>
        <p:spPr>
          <a:xfrm>
            <a:off x="621792" y="5170932"/>
            <a:ext cx="457200" cy="457200"/>
          </a:xfrm>
          <a:prstGeom prst="roundRect">
            <a:avLst>
              <a:gd name="adj" fmla="val 16000"/>
            </a:avLst>
          </a:prstGeom>
          <a:solidFill>
            <a:srgbClr val="00629B"/>
          </a:solidFill>
          <a:ln w="12700">
            <a:solidFill>
              <a:srgbClr val="00629B"/>
            </a:solidFill>
            <a:prstDash val="solid"/>
          </a:ln>
        </p:spPr>
      </p:sp>
      <p:sp>
        <p:nvSpPr>
          <p:cNvPr id="17" name="Text 15"/>
          <p:cNvSpPr txBox="1"/>
          <p:nvPr/>
        </p:nvSpPr>
        <p:spPr>
          <a:xfrm>
            <a:off x="621792" y="5170932"/>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4</a:t>
            </a:r>
            <a:endParaRPr lang="en-US" sz="1600" dirty="0"/>
          </a:p>
        </p:txBody>
      </p:sp>
      <p:sp>
        <p:nvSpPr>
          <p:cNvPr id="18" name="Text 16"/>
          <p:cNvSpPr txBox="1"/>
          <p:nvPr/>
        </p:nvSpPr>
        <p:spPr>
          <a:xfrm>
            <a:off x="1280160" y="4928616"/>
            <a:ext cx="10222992" cy="941832"/>
          </a:xfrm>
          <a:prstGeom prst="rect">
            <a:avLst/>
          </a:prstGeom>
          <a:noFill/>
          <a:ln/>
        </p:spPr>
        <p:txBody>
          <a:bodyPr wrap="square" lIns="0" tIns="0" rIns="0" bIns="0" rtlCol="0" anchor="ctr"/>
          <a:lstStyle/>
          <a:p>
            <a:pPr indent="0" marL="0">
              <a:buNone/>
            </a:pPr>
            <a:r>
              <a:rPr lang="en-US" sz="2000" dirty="0">
                <a:solidFill>
                  <a:srgbClr val="272425"/>
                </a:solidFill>
                <a:latin typeface="Arial" pitchFamily="34" charset="0"/>
                <a:ea typeface="Arial" pitchFamily="34" charset="-122"/>
                <a:cs typeface="Arial" pitchFamily="34" charset="-120"/>
              </a:rPr>
              <a:t>El valor ganado se guarda y se vigila</a:t>
            </a:r>
            <a:endParaRPr lang="en-US" sz="1600" dirty="0"/>
          </a:p>
        </p:txBody>
      </p:sp>
      <p:sp>
        <p:nvSpPr>
          <p:cNvPr id="25" name="Slide Number Placeholder 0"/>
          <p:cNvSpPr>
            <a:spLocks noGrp="1"/>
          </p:cNvSpPr>
          <p:nvPr>
            <p:ph type="sldNum" sz="quarter" idx="4294967295"/>
          </p:nvPr>
        </p:nvSpPr>
        <p:spPr>
          <a:xfrm>
            <a:off x="11091672" y="6419088"/>
            <a:ext cx="64008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rgbClr val="696969"/>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3"/>
          <p:cNvSpPr/>
          <p:nvPr>
            <p:ph idx="103" type="title" hasCustomPrompt="1"/>
          </p:nvPr>
        </p:nvSpPr>
        <p:spPr>
          <a:xfrm>
            <a:off x="658368" y="365760"/>
            <a:ext cx="9244584" cy="713232"/>
          </a:xfrm>
          <a:prstGeom prst="rect">
            <a:avLst/>
          </a:prstGeom>
          <a:noFill/>
          <a:ln/>
        </p:spPr>
        <p:txBody>
          <a:bodyPr wrap="square" lIns="0" tIns="0" rIns="0" bIns="0" rtlCol="0" anchor="ctr"/>
          <a:lstStyle/>
          <a:p>
            <a:pPr algn="l" indent="0" marL="0">
              <a:buNone/>
            </a:pPr>
            <a:r>
              <a:rPr lang="en-US" sz="2400" b="1" dirty="0">
                <a:solidFill>
                  <a:srgbClr val="FFFFFF"/>
                </a:solidFill>
                <a:latin typeface="Arial" pitchFamily="34" charset="0"/>
                <a:ea typeface="Arial" pitchFamily="34" charset="-122"/>
                <a:cs typeface="Arial" pitchFamily="34" charset="-120"/>
              </a:rPr>
              <a:t>Ejercicio · Parte A</a:t>
            </a:r>
            <a:endParaRPr lang="en-US" sz="2400" dirty="0"/>
          </a:p>
        </p:txBody>
      </p:sp>
      <p:sp>
        <p:nvSpPr>
          <p:cNvPr id="3" name="Text 1"/>
          <p:cNvSpPr txBox="1"/>
          <p:nvPr/>
        </p:nvSpPr>
        <p:spPr>
          <a:xfrm>
            <a:off x="457200" y="1280160"/>
            <a:ext cx="11274552" cy="329184"/>
          </a:xfrm>
          <a:prstGeom prst="rect">
            <a:avLst/>
          </a:prstGeom>
          <a:noFill/>
          <a:ln/>
        </p:spPr>
        <p:txBody>
          <a:bodyPr wrap="square" lIns="0" tIns="0" rIns="0" bIns="0" rtlCol="0" anchor="t"/>
          <a:lstStyle/>
          <a:p>
            <a:pPr indent="0" marL="0">
              <a:buNone/>
            </a:pPr>
            <a:r>
              <a:rPr lang="en-US" sz="1800" b="1" dirty="0">
                <a:solidFill>
                  <a:srgbClr val="B5651D"/>
                </a:solidFill>
                <a:latin typeface="Arial" pitchFamily="34" charset="0"/>
                <a:ea typeface="Arial" pitchFamily="34" charset="-122"/>
                <a:cs typeface="Arial" pitchFamily="34" charset="-120"/>
              </a:rPr>
              <a:t>10 minutos</a:t>
            </a:r>
            <a:endParaRPr lang="en-US" sz="1600" dirty="0"/>
          </a:p>
        </p:txBody>
      </p:sp>
      <p:sp>
        <p:nvSpPr>
          <p:cNvPr id="4" name="Shape 2"/>
          <p:cNvSpPr/>
          <p:nvPr/>
        </p:nvSpPr>
        <p:spPr>
          <a:xfrm>
            <a:off x="457200" y="1792224"/>
            <a:ext cx="5500116" cy="2075688"/>
          </a:xfrm>
          <a:prstGeom prst="roundRect">
            <a:avLst>
              <a:gd name="adj" fmla="val 4405"/>
            </a:avLst>
          </a:prstGeom>
          <a:solidFill>
            <a:srgbClr val="FBF1E6"/>
          </a:solidFill>
          <a:ln w="12700">
            <a:solidFill>
              <a:srgbClr val="FBF1E6"/>
            </a:solidFill>
            <a:prstDash val="solid"/>
          </a:ln>
        </p:spPr>
      </p:sp>
      <p:sp>
        <p:nvSpPr>
          <p:cNvPr id="5" name="Text 3"/>
          <p:cNvSpPr txBox="1"/>
          <p:nvPr/>
        </p:nvSpPr>
        <p:spPr>
          <a:xfrm>
            <a:off x="658368" y="1901952"/>
            <a:ext cx="731520" cy="420624"/>
          </a:xfrm>
          <a:prstGeom prst="rect">
            <a:avLst/>
          </a:prstGeom>
          <a:noFill/>
          <a:ln/>
        </p:spPr>
        <p:txBody>
          <a:bodyPr wrap="square" lIns="0" tIns="0" rIns="0" bIns="0" rtlCol="0" anchor="t"/>
          <a:lstStyle/>
          <a:p>
            <a:pPr indent="0" marL="0">
              <a:buNone/>
            </a:pPr>
            <a:r>
              <a:rPr lang="en-US" sz="2600" b="1" dirty="0">
                <a:solidFill>
                  <a:srgbClr val="B5651D"/>
                </a:solidFill>
                <a:latin typeface="Arial" pitchFamily="34" charset="0"/>
                <a:ea typeface="Arial" pitchFamily="34" charset="-122"/>
                <a:cs typeface="Arial" pitchFamily="34" charset="-120"/>
              </a:rPr>
              <a:t>1</a:t>
            </a:r>
            <a:endParaRPr lang="en-US" sz="2600" dirty="0"/>
          </a:p>
        </p:txBody>
      </p:sp>
      <p:sp>
        <p:nvSpPr>
          <p:cNvPr id="6" name="Text 4"/>
          <p:cNvSpPr txBox="1"/>
          <p:nvPr/>
        </p:nvSpPr>
        <p:spPr>
          <a:xfrm>
            <a:off x="658368" y="2359152"/>
            <a:ext cx="5097780" cy="1325880"/>
          </a:xfrm>
          <a:prstGeom prst="rect">
            <a:avLst/>
          </a:prstGeom>
          <a:noFill/>
          <a:ln/>
        </p:spPr>
        <p:txBody>
          <a:bodyPr wrap="square" lIns="0" tIns="0" rIns="0" bIns="0" rtlCol="0" anchor="t"/>
          <a:lstStyle/>
          <a:p>
            <a:pPr indent="0" marL="0">
              <a:buNone/>
            </a:pPr>
            <a:r>
              <a:rPr lang="en-US" sz="2000" dirty="0">
                <a:solidFill>
                  <a:srgbClr val="272425"/>
                </a:solidFill>
                <a:latin typeface="Arial" pitchFamily="34" charset="0"/>
                <a:ea typeface="Arial" pitchFamily="34" charset="-122"/>
                <a:cs typeface="Arial" pitchFamily="34" charset="-120"/>
              </a:rPr>
              <a:t>A1: una condición de tu proyecto</a:t>
            </a:r>
            <a:endParaRPr lang="en-US" sz="1600" dirty="0"/>
          </a:p>
        </p:txBody>
      </p:sp>
      <p:sp>
        <p:nvSpPr>
          <p:cNvPr id="7" name="Shape 5"/>
          <p:cNvSpPr/>
          <p:nvPr/>
        </p:nvSpPr>
        <p:spPr>
          <a:xfrm>
            <a:off x="6231636" y="1792224"/>
            <a:ext cx="5500116" cy="2075688"/>
          </a:xfrm>
          <a:prstGeom prst="roundRect">
            <a:avLst>
              <a:gd name="adj" fmla="val 4405"/>
            </a:avLst>
          </a:prstGeom>
          <a:solidFill>
            <a:srgbClr val="FBF1E6"/>
          </a:solidFill>
          <a:ln w="12700">
            <a:solidFill>
              <a:srgbClr val="FBF1E6"/>
            </a:solidFill>
            <a:prstDash val="solid"/>
          </a:ln>
        </p:spPr>
      </p:sp>
      <p:sp>
        <p:nvSpPr>
          <p:cNvPr id="8" name="Text 6"/>
          <p:cNvSpPr txBox="1"/>
          <p:nvPr/>
        </p:nvSpPr>
        <p:spPr>
          <a:xfrm>
            <a:off x="6432804" y="1901952"/>
            <a:ext cx="731520" cy="420624"/>
          </a:xfrm>
          <a:prstGeom prst="rect">
            <a:avLst/>
          </a:prstGeom>
          <a:noFill/>
          <a:ln/>
        </p:spPr>
        <p:txBody>
          <a:bodyPr wrap="square" lIns="0" tIns="0" rIns="0" bIns="0" rtlCol="0" anchor="t"/>
          <a:lstStyle/>
          <a:p>
            <a:pPr indent="0" marL="0">
              <a:buNone/>
            </a:pPr>
            <a:r>
              <a:rPr lang="en-US" sz="2600" b="1" dirty="0">
                <a:solidFill>
                  <a:srgbClr val="B5651D"/>
                </a:solidFill>
                <a:latin typeface="Arial" pitchFamily="34" charset="0"/>
                <a:ea typeface="Arial" pitchFamily="34" charset="-122"/>
                <a:cs typeface="Arial" pitchFamily="34" charset="-120"/>
              </a:rPr>
              <a:t>2</a:t>
            </a:r>
            <a:endParaRPr lang="en-US" sz="2600" dirty="0"/>
          </a:p>
        </p:txBody>
      </p:sp>
      <p:sp>
        <p:nvSpPr>
          <p:cNvPr id="9" name="Text 7"/>
          <p:cNvSpPr txBox="1"/>
          <p:nvPr/>
        </p:nvSpPr>
        <p:spPr>
          <a:xfrm>
            <a:off x="6432804" y="2359152"/>
            <a:ext cx="5097780" cy="1325880"/>
          </a:xfrm>
          <a:prstGeom prst="rect">
            <a:avLst/>
          </a:prstGeom>
          <a:noFill/>
          <a:ln/>
        </p:spPr>
        <p:txBody>
          <a:bodyPr wrap="square" lIns="0" tIns="0" rIns="0" bIns="0" rtlCol="0" anchor="t"/>
          <a:lstStyle/>
          <a:p>
            <a:pPr indent="0" marL="0">
              <a:buNone/>
            </a:pPr>
            <a:r>
              <a:rPr lang="en-US" sz="2000" dirty="0">
                <a:solidFill>
                  <a:srgbClr val="272425"/>
                </a:solidFill>
                <a:latin typeface="Arial" pitchFamily="34" charset="0"/>
                <a:ea typeface="Arial" pitchFamily="34" charset="-122"/>
                <a:cs typeface="Arial" pitchFamily="34" charset="-120"/>
              </a:rPr>
              <a:t>Quién la verifica y con qué evidencia</a:t>
            </a:r>
            <a:endParaRPr lang="en-US" sz="1600" dirty="0"/>
          </a:p>
        </p:txBody>
      </p:sp>
      <p:sp>
        <p:nvSpPr>
          <p:cNvPr id="10" name="Shape 8"/>
          <p:cNvSpPr/>
          <p:nvPr/>
        </p:nvSpPr>
        <p:spPr>
          <a:xfrm>
            <a:off x="457200" y="4142232"/>
            <a:ext cx="5500116" cy="2075688"/>
          </a:xfrm>
          <a:prstGeom prst="roundRect">
            <a:avLst>
              <a:gd name="adj" fmla="val 4405"/>
            </a:avLst>
          </a:prstGeom>
          <a:solidFill>
            <a:srgbClr val="FBF1E6"/>
          </a:solidFill>
          <a:ln w="12700">
            <a:solidFill>
              <a:srgbClr val="FBF1E6"/>
            </a:solidFill>
            <a:prstDash val="solid"/>
          </a:ln>
        </p:spPr>
      </p:sp>
      <p:sp>
        <p:nvSpPr>
          <p:cNvPr id="11" name="Text 9"/>
          <p:cNvSpPr txBox="1"/>
          <p:nvPr/>
        </p:nvSpPr>
        <p:spPr>
          <a:xfrm>
            <a:off x="658368" y="4251960"/>
            <a:ext cx="731520" cy="420624"/>
          </a:xfrm>
          <a:prstGeom prst="rect">
            <a:avLst/>
          </a:prstGeom>
          <a:noFill/>
          <a:ln/>
        </p:spPr>
        <p:txBody>
          <a:bodyPr wrap="square" lIns="0" tIns="0" rIns="0" bIns="0" rtlCol="0" anchor="t"/>
          <a:lstStyle/>
          <a:p>
            <a:pPr indent="0" marL="0">
              <a:buNone/>
            </a:pPr>
            <a:r>
              <a:rPr lang="en-US" sz="2600" b="1" dirty="0">
                <a:solidFill>
                  <a:srgbClr val="B5651D"/>
                </a:solidFill>
                <a:latin typeface="Arial" pitchFamily="34" charset="0"/>
                <a:ea typeface="Arial" pitchFamily="34" charset="-122"/>
                <a:cs typeface="Arial" pitchFamily="34" charset="-120"/>
              </a:rPr>
              <a:t>3</a:t>
            </a:r>
            <a:endParaRPr lang="en-US" sz="2600" dirty="0"/>
          </a:p>
        </p:txBody>
      </p:sp>
      <p:sp>
        <p:nvSpPr>
          <p:cNvPr id="12" name="Text 10"/>
          <p:cNvSpPr txBox="1"/>
          <p:nvPr/>
        </p:nvSpPr>
        <p:spPr>
          <a:xfrm>
            <a:off x="658368" y="4709160"/>
            <a:ext cx="5097780" cy="1325880"/>
          </a:xfrm>
          <a:prstGeom prst="rect">
            <a:avLst/>
          </a:prstGeom>
          <a:noFill/>
          <a:ln/>
        </p:spPr>
        <p:txBody>
          <a:bodyPr wrap="square" lIns="0" tIns="0" rIns="0" bIns="0" rtlCol="0" anchor="t"/>
          <a:lstStyle/>
          <a:p>
            <a:pPr indent="0" marL="0">
              <a:buNone/>
            </a:pPr>
            <a:r>
              <a:rPr lang="en-US" sz="2000" dirty="0">
                <a:solidFill>
                  <a:srgbClr val="272425"/>
                </a:solidFill>
                <a:latin typeface="Arial" pitchFamily="34" charset="0"/>
                <a:ea typeface="Arial" pitchFamily="34" charset="-122"/>
                <a:cs typeface="Arial" pitchFamily="34" charset="-120"/>
              </a:rPr>
              <a:t>A2: presupuesto y límite de cambio</a:t>
            </a:r>
            <a:endParaRPr lang="en-US" sz="1600" dirty="0"/>
          </a:p>
        </p:txBody>
      </p:sp>
      <p:sp>
        <p:nvSpPr>
          <p:cNvPr id="13" name="Shape 11"/>
          <p:cNvSpPr/>
          <p:nvPr/>
        </p:nvSpPr>
        <p:spPr>
          <a:xfrm>
            <a:off x="6231636" y="4142232"/>
            <a:ext cx="5500116" cy="2075688"/>
          </a:xfrm>
          <a:prstGeom prst="roundRect">
            <a:avLst>
              <a:gd name="adj" fmla="val 4405"/>
            </a:avLst>
          </a:prstGeom>
          <a:solidFill>
            <a:srgbClr val="FBF1E6"/>
          </a:solidFill>
          <a:ln w="12700">
            <a:solidFill>
              <a:srgbClr val="FBF1E6"/>
            </a:solidFill>
            <a:prstDash val="solid"/>
          </a:ln>
        </p:spPr>
      </p:sp>
      <p:sp>
        <p:nvSpPr>
          <p:cNvPr id="14" name="Text 12"/>
          <p:cNvSpPr txBox="1"/>
          <p:nvPr/>
        </p:nvSpPr>
        <p:spPr>
          <a:xfrm>
            <a:off x="6432804" y="4251960"/>
            <a:ext cx="731520" cy="420624"/>
          </a:xfrm>
          <a:prstGeom prst="rect">
            <a:avLst/>
          </a:prstGeom>
          <a:noFill/>
          <a:ln/>
        </p:spPr>
        <p:txBody>
          <a:bodyPr wrap="square" lIns="0" tIns="0" rIns="0" bIns="0" rtlCol="0" anchor="t"/>
          <a:lstStyle/>
          <a:p>
            <a:pPr indent="0" marL="0">
              <a:buNone/>
            </a:pPr>
            <a:r>
              <a:rPr lang="en-US" sz="2600" b="1" dirty="0">
                <a:solidFill>
                  <a:srgbClr val="B5651D"/>
                </a:solidFill>
                <a:latin typeface="Arial" pitchFamily="34" charset="0"/>
                <a:ea typeface="Arial" pitchFamily="34" charset="-122"/>
                <a:cs typeface="Arial" pitchFamily="34" charset="-120"/>
              </a:rPr>
              <a:t>4</a:t>
            </a:r>
            <a:endParaRPr lang="en-US" sz="2600" dirty="0"/>
          </a:p>
        </p:txBody>
      </p:sp>
      <p:sp>
        <p:nvSpPr>
          <p:cNvPr id="15" name="Text 13"/>
          <p:cNvSpPr txBox="1"/>
          <p:nvPr/>
        </p:nvSpPr>
        <p:spPr>
          <a:xfrm>
            <a:off x="6432804" y="4709160"/>
            <a:ext cx="5097780" cy="1325880"/>
          </a:xfrm>
          <a:prstGeom prst="rect">
            <a:avLst/>
          </a:prstGeom>
          <a:noFill/>
          <a:ln/>
        </p:spPr>
        <p:txBody>
          <a:bodyPr wrap="square" lIns="0" tIns="0" rIns="0" bIns="0" rtlCol="0" anchor="t"/>
          <a:lstStyle/>
          <a:p>
            <a:pPr indent="0" marL="0">
              <a:buNone/>
            </a:pPr>
            <a:r>
              <a:rPr lang="en-US" sz="2000" dirty="0">
                <a:solidFill>
                  <a:srgbClr val="272425"/>
                </a:solidFill>
                <a:latin typeface="Arial" pitchFamily="34" charset="0"/>
                <a:ea typeface="Arial" pitchFamily="34" charset="-122"/>
                <a:cs typeface="Arial" pitchFamily="34" charset="-120"/>
              </a:rPr>
              <a:t>Autoevaluación con la lista</a:t>
            </a:r>
            <a:endParaRPr lang="en-US" sz="1600" dirty="0"/>
          </a:p>
        </p:txBody>
      </p:sp>
      <p:sp>
        <p:nvSpPr>
          <p:cNvPr id="25" name="Slide Number Placeholder 0"/>
          <p:cNvSpPr>
            <a:spLocks noGrp="1"/>
          </p:cNvSpPr>
          <p:nvPr>
            <p:ph type="sldNum" sz="quarter" idx="4294967295"/>
          </p:nvPr>
        </p:nvSpPr>
        <p:spPr>
          <a:xfrm>
            <a:off x="11091672" y="6419088"/>
            <a:ext cx="64008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rgbClr val="696969"/>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2"/>
          <p:cNvSpPr/>
          <p:nvPr>
            <p:ph idx="102" type="title" hasCustomPrompt="1"/>
          </p:nvPr>
        </p:nvSpPr>
        <p:spPr>
          <a:xfrm>
            <a:off x="548640" y="1143000"/>
            <a:ext cx="11091672" cy="914400"/>
          </a:xfrm>
          <a:prstGeom prst="rect">
            <a:avLst/>
          </a:prstGeom>
          <a:noFill/>
          <a:ln/>
        </p:spPr>
        <p:txBody>
          <a:bodyPr wrap="square" lIns="0" tIns="0" rIns="0" bIns="0" rtlCol="0" anchor="t"/>
          <a:lstStyle/>
          <a:p>
            <a:pPr algn="l" indent="0" marL="0">
              <a:buNone/>
            </a:pPr>
            <a:r>
              <a:rPr lang="en-US" sz="3600" b="1" dirty="0">
                <a:solidFill>
                  <a:srgbClr val="FFFFFF"/>
                </a:solidFill>
                <a:latin typeface="Arial" pitchFamily="34" charset="0"/>
                <a:ea typeface="Arial" pitchFamily="34" charset="-122"/>
                <a:cs typeface="Arial" pitchFamily="34" charset="-120"/>
              </a:rPr>
              <a:t>Próxima clase: calidad, cierre y beneficios</a:t>
            </a:r>
            <a:endParaRPr lang="en-US" sz="3600" dirty="0"/>
          </a:p>
        </p:txBody>
      </p:sp>
      <p:sp>
        <p:nvSpPr>
          <p:cNvPr id="3" name="Text 1"/>
          <p:cNvSpPr txBox="1"/>
          <p:nvPr/>
        </p:nvSpPr>
        <p:spPr>
          <a:xfrm>
            <a:off x="548640" y="2194560"/>
            <a:ext cx="11091672" cy="4023360"/>
          </a:xfrm>
          <a:prstGeom prst="rect">
            <a:avLst/>
          </a:prstGeom>
          <a:noFill/>
          <a:ln/>
        </p:spPr>
        <p:txBody>
          <a:bodyPr wrap="square" lIns="0" tIns="0" rIns="0" bIns="0" rtlCol="0" anchor="t"/>
          <a:lstStyle/>
          <a:p>
            <a:pPr indent="0" marL="0">
              <a:spcAft>
                <a:spcPts val="1200"/>
              </a:spcAft>
              <a:buNone/>
            </a:pPr>
            <a:r>
              <a:rPr lang="en-US" sz="2200" b="1" dirty="0">
                <a:solidFill>
                  <a:srgbClr val="9FD0F0"/>
                </a:solidFill>
                <a:latin typeface="Arial" pitchFamily="34" charset="0"/>
                <a:ea typeface="Arial" pitchFamily="34" charset="-122"/>
                <a:cs typeface="Arial" pitchFamily="34" charset="-120"/>
              </a:rPr>
              <a:t>✓  </a:t>
            </a:r>
            <a:pPr indent="0" marL="0">
              <a:spcAft>
                <a:spcPts val="1200"/>
              </a:spcAft>
              <a:buNone/>
            </a:pPr>
            <a:r>
              <a:rPr lang="en-US" sz="2200" dirty="0">
                <a:solidFill>
                  <a:srgbClr val="FFFFFF"/>
                </a:solidFill>
                <a:latin typeface="Arial" pitchFamily="34" charset="0"/>
                <a:ea typeface="Arial" pitchFamily="34" charset="-122"/>
                <a:cs typeface="Arial" pitchFamily="34" charset="-120"/>
              </a:rPr>
              <a:t>Cada entrega con su registro de calidad</a:t>
            </a:r>
            <a:endParaRPr lang="en-US" sz="1600" dirty="0"/>
          </a:p>
          <a:p>
            <a:pPr indent="0" marL="0">
              <a:spcAft>
                <a:spcPts val="1200"/>
              </a:spcAft>
              <a:buNone/>
            </a:pPr>
            <a:r>
              <a:rPr lang="en-US" sz="2200" b="1" dirty="0">
                <a:solidFill>
                  <a:srgbClr val="9FD0F0"/>
                </a:solidFill>
                <a:latin typeface="Arial" pitchFamily="34" charset="0"/>
                <a:ea typeface="Arial" pitchFamily="34" charset="-122"/>
                <a:cs typeface="Arial" pitchFamily="34" charset="-120"/>
              </a:rPr>
              <a:t>✓  </a:t>
            </a:r>
            <a:pPr indent="0" marL="0">
              <a:spcAft>
                <a:spcPts val="1200"/>
              </a:spcAft>
              <a:buNone/>
            </a:pPr>
            <a:r>
              <a:rPr lang="en-US" sz="2200" dirty="0">
                <a:solidFill>
                  <a:srgbClr val="FFFFFF"/>
                </a:solidFill>
                <a:latin typeface="Arial" pitchFamily="34" charset="0"/>
                <a:ea typeface="Arial" pitchFamily="34" charset="-122"/>
                <a:cs typeface="Arial" pitchFamily="34" charset="-120"/>
              </a:rPr>
              <a:t>Un rechazo tratado con traza</a:t>
            </a:r>
            <a:endParaRPr lang="en-US" sz="1600" dirty="0"/>
          </a:p>
          <a:p>
            <a:pPr indent="0" marL="0">
              <a:spcAft>
                <a:spcPts val="1200"/>
              </a:spcAft>
              <a:buNone/>
            </a:pPr>
            <a:r>
              <a:rPr lang="en-US" sz="2200" b="1" dirty="0">
                <a:solidFill>
                  <a:srgbClr val="9FD0F0"/>
                </a:solidFill>
                <a:latin typeface="Arial" pitchFamily="34" charset="0"/>
                <a:ea typeface="Arial" pitchFamily="34" charset="-122"/>
                <a:cs typeface="Arial" pitchFamily="34" charset="-120"/>
              </a:rPr>
              <a:t>✓  </a:t>
            </a:r>
            <a:pPr indent="0" marL="0">
              <a:spcAft>
                <a:spcPts val="1200"/>
              </a:spcAft>
              <a:buNone/>
            </a:pPr>
            <a:r>
              <a:rPr lang="en-US" sz="2200" dirty="0">
                <a:solidFill>
                  <a:srgbClr val="FFFFFF"/>
                </a:solidFill>
                <a:latin typeface="Arial" pitchFamily="34" charset="0"/>
                <a:ea typeface="Arial" pitchFamily="34" charset="-122"/>
                <a:cs typeface="Arial" pitchFamily="34" charset="-120"/>
              </a:rPr>
              <a:t>Beneficios medidos después del cierre</a:t>
            </a:r>
            <a:endParaRPr lang="en-US" sz="1600" dirty="0"/>
          </a:p>
        </p:txBody>
      </p:sp>
      <p:sp>
        <p:nvSpPr>
          <p:cNvPr id="25" name="Slide Number Placeholder 0"/>
          <p:cNvSpPr>
            <a:spLocks noGrp="1"/>
          </p:cNvSpPr>
          <p:nvPr>
            <p:ph type="sldNum" sz="quarter" idx="4294967295"/>
          </p:nvPr>
        </p:nvSpPr>
        <p:spPr>
          <a:xfrm>
            <a:off x="11091672" y="6419088"/>
            <a:ext cx="64008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rgbClr val="D6E4F0"/>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txBox="1"/>
          <p:nvPr/>
        </p:nvSpPr>
        <p:spPr>
          <a:xfrm>
            <a:off x="548640" y="640080"/>
            <a:ext cx="7315200" cy="365760"/>
          </a:xfrm>
          <a:prstGeom prst="rect">
            <a:avLst/>
          </a:prstGeom>
          <a:noFill/>
          <a:ln/>
        </p:spPr>
        <p:txBody>
          <a:bodyPr wrap="square" lIns="0" tIns="0" rIns="0" bIns="0" rtlCol="0" anchor="t"/>
          <a:lstStyle/>
          <a:p>
            <a:pPr indent="0" marL="0">
              <a:buNone/>
            </a:pPr>
            <a:r>
              <a:rPr lang="en-US" sz="1600" b="1" dirty="0">
                <a:solidFill>
                  <a:srgbClr val="9FD0F0"/>
                </a:solidFill>
                <a:latin typeface="Arial" pitchFamily="34" charset="0"/>
                <a:ea typeface="Arial" pitchFamily="34" charset="-122"/>
                <a:cs typeface="Arial" pitchFamily="34" charset="-120"/>
              </a:rPr>
              <a:t>Clase 2 · 90 minutos</a:t>
            </a:r>
            <a:endParaRPr lang="en-US" sz="1600" dirty="0"/>
          </a:p>
        </p:txBody>
      </p:sp>
      <p:sp>
        <p:nvSpPr>
          <p:cNvPr id="3" name="Text 2"/>
          <p:cNvSpPr/>
          <p:nvPr>
            <p:ph idx="102" type="title" hasCustomPrompt="1"/>
          </p:nvPr>
        </p:nvSpPr>
        <p:spPr>
          <a:xfrm>
            <a:off x="548640" y="1143000"/>
            <a:ext cx="11091672" cy="914400"/>
          </a:xfrm>
          <a:prstGeom prst="rect">
            <a:avLst/>
          </a:prstGeom>
          <a:noFill/>
          <a:ln/>
        </p:spPr>
        <p:txBody>
          <a:bodyPr wrap="square" lIns="0" tIns="0" rIns="0" bIns="0" rtlCol="0" anchor="t"/>
          <a:lstStyle/>
          <a:p>
            <a:pPr algn="l" indent="0" marL="0">
              <a:buNone/>
            </a:pPr>
            <a:r>
              <a:rPr lang="en-US" sz="3200" b="1" dirty="0">
                <a:solidFill>
                  <a:srgbClr val="FFFFFF"/>
                </a:solidFill>
                <a:latin typeface="Arial" pitchFamily="34" charset="0"/>
                <a:ea typeface="Arial" pitchFamily="34" charset="-122"/>
                <a:cs typeface="Arial" pitchFamily="34" charset="-120"/>
              </a:rPr>
              <a:t>Calidad a volumen, recorrido, cierre y beneficios</a:t>
            </a:r>
            <a:endParaRPr lang="en-US" sz="3600" dirty="0"/>
          </a:p>
        </p:txBody>
      </p:sp>
      <p:sp>
        <p:nvSpPr>
          <p:cNvPr id="4" name="Text 2"/>
          <p:cNvSpPr txBox="1"/>
          <p:nvPr/>
        </p:nvSpPr>
        <p:spPr>
          <a:xfrm>
            <a:off x="548640" y="2240280"/>
            <a:ext cx="7315200" cy="365760"/>
          </a:xfrm>
          <a:prstGeom prst="rect">
            <a:avLst/>
          </a:prstGeom>
          <a:noFill/>
          <a:ln/>
        </p:spPr>
        <p:txBody>
          <a:bodyPr wrap="square" lIns="0" tIns="0" rIns="0" bIns="0" rtlCol="0" anchor="t"/>
          <a:lstStyle/>
          <a:p>
            <a:pPr indent="0" marL="0">
              <a:buNone/>
            </a:pPr>
            <a:r>
              <a:rPr lang="en-US" sz="1800" b="1" dirty="0">
                <a:solidFill>
                  <a:srgbClr val="FFFFFF"/>
                </a:solidFill>
                <a:latin typeface="Arial" pitchFamily="34" charset="0"/>
                <a:ea typeface="Arial" pitchFamily="34" charset="-122"/>
                <a:cs typeface="Arial" pitchFamily="34" charset="-120"/>
              </a:rPr>
              <a:t>Objetivos de la clase</a:t>
            </a:r>
            <a:endParaRPr lang="en-US" sz="1800" dirty="0"/>
          </a:p>
        </p:txBody>
      </p:sp>
      <p:sp>
        <p:nvSpPr>
          <p:cNvPr id="5" name="Shape 3"/>
          <p:cNvSpPr/>
          <p:nvPr/>
        </p:nvSpPr>
        <p:spPr>
          <a:xfrm>
            <a:off x="548640" y="2743200"/>
            <a:ext cx="11091672" cy="772668"/>
          </a:xfrm>
          <a:prstGeom prst="roundRect">
            <a:avLst>
              <a:gd name="adj" fmla="val 11834"/>
            </a:avLst>
          </a:prstGeom>
          <a:solidFill>
            <a:srgbClr val="173D66"/>
          </a:solidFill>
          <a:ln w="12700">
            <a:solidFill>
              <a:srgbClr val="173D66"/>
            </a:solidFill>
            <a:prstDash val="solid"/>
          </a:ln>
        </p:spPr>
      </p:sp>
      <p:sp>
        <p:nvSpPr>
          <p:cNvPr id="6" name="Text 4"/>
          <p:cNvSpPr txBox="1"/>
          <p:nvPr/>
        </p:nvSpPr>
        <p:spPr>
          <a:xfrm>
            <a:off x="685800" y="2743200"/>
            <a:ext cx="411480" cy="772668"/>
          </a:xfrm>
          <a:prstGeom prst="rect">
            <a:avLst/>
          </a:prstGeom>
          <a:noFill/>
          <a:ln/>
        </p:spPr>
        <p:txBody>
          <a:bodyPr wrap="square" lIns="0" tIns="0" rIns="0" bIns="0" rtlCol="0" anchor="ctr"/>
          <a:lstStyle/>
          <a:p>
            <a:pPr indent="0" marL="0">
              <a:buNone/>
            </a:pPr>
            <a:r>
              <a:rPr lang="en-US" sz="2000" b="1" dirty="0">
                <a:solidFill>
                  <a:srgbClr val="9FD0F0"/>
                </a:solidFill>
                <a:latin typeface="Arial" pitchFamily="34" charset="0"/>
                <a:ea typeface="Arial" pitchFamily="34" charset="-122"/>
                <a:cs typeface="Arial" pitchFamily="34" charset="-120"/>
              </a:rPr>
              <a:t>1</a:t>
            </a:r>
            <a:endParaRPr lang="en-US" sz="2000" dirty="0"/>
          </a:p>
        </p:txBody>
      </p:sp>
      <p:sp>
        <p:nvSpPr>
          <p:cNvPr id="7" name="Text 5"/>
          <p:cNvSpPr txBox="1"/>
          <p:nvPr/>
        </p:nvSpPr>
        <p:spPr>
          <a:xfrm>
            <a:off x="1234440" y="2779776"/>
            <a:ext cx="10268712" cy="699516"/>
          </a:xfrm>
          <a:prstGeom prst="rect">
            <a:avLst/>
          </a:prstGeom>
          <a:noFill/>
          <a:ln/>
        </p:spPr>
        <p:txBody>
          <a:bodyPr wrap="square" lIns="0" tIns="0" rIns="0" bIns="0" rtlCol="0" anchor="ctr"/>
          <a:lstStyle/>
          <a:p>
            <a:pPr indent="0" marL="0">
              <a:buNone/>
            </a:pPr>
            <a:r>
              <a:rPr lang="en-US" sz="1800" dirty="0">
                <a:solidFill>
                  <a:srgbClr val="FFFFFF"/>
                </a:solidFill>
                <a:latin typeface="Arial" pitchFamily="34" charset="0"/>
                <a:ea typeface="Arial" pitchFamily="34" charset="-122"/>
                <a:cs typeface="Arial" pitchFamily="34" charset="-120"/>
              </a:rPr>
              <a:t>Registrar la calidad por entrega y tratar un rechazo con traza</a:t>
            </a:r>
            <a:endParaRPr lang="en-US" sz="1600" dirty="0"/>
          </a:p>
        </p:txBody>
      </p:sp>
      <p:sp>
        <p:nvSpPr>
          <p:cNvPr id="8" name="Shape 6"/>
          <p:cNvSpPr/>
          <p:nvPr/>
        </p:nvSpPr>
        <p:spPr>
          <a:xfrm>
            <a:off x="548640" y="3643884"/>
            <a:ext cx="11091672" cy="772668"/>
          </a:xfrm>
          <a:prstGeom prst="roundRect">
            <a:avLst>
              <a:gd name="adj" fmla="val 11834"/>
            </a:avLst>
          </a:prstGeom>
          <a:solidFill>
            <a:srgbClr val="173D66"/>
          </a:solidFill>
          <a:ln w="12700">
            <a:solidFill>
              <a:srgbClr val="173D66"/>
            </a:solidFill>
            <a:prstDash val="solid"/>
          </a:ln>
        </p:spPr>
      </p:sp>
      <p:sp>
        <p:nvSpPr>
          <p:cNvPr id="9" name="Text 7"/>
          <p:cNvSpPr txBox="1"/>
          <p:nvPr/>
        </p:nvSpPr>
        <p:spPr>
          <a:xfrm>
            <a:off x="685800" y="3643884"/>
            <a:ext cx="411480" cy="772668"/>
          </a:xfrm>
          <a:prstGeom prst="rect">
            <a:avLst/>
          </a:prstGeom>
          <a:noFill/>
          <a:ln/>
        </p:spPr>
        <p:txBody>
          <a:bodyPr wrap="square" lIns="0" tIns="0" rIns="0" bIns="0" rtlCol="0" anchor="ctr"/>
          <a:lstStyle/>
          <a:p>
            <a:pPr indent="0" marL="0">
              <a:buNone/>
            </a:pPr>
            <a:r>
              <a:rPr lang="en-US" sz="2000" b="1" dirty="0">
                <a:solidFill>
                  <a:srgbClr val="9FD0F0"/>
                </a:solidFill>
                <a:latin typeface="Arial" pitchFamily="34" charset="0"/>
                <a:ea typeface="Arial" pitchFamily="34" charset="-122"/>
                <a:cs typeface="Arial" pitchFamily="34" charset="-120"/>
              </a:rPr>
              <a:t>2</a:t>
            </a:r>
            <a:endParaRPr lang="en-US" sz="2000" dirty="0"/>
          </a:p>
        </p:txBody>
      </p:sp>
      <p:sp>
        <p:nvSpPr>
          <p:cNvPr id="10" name="Text 8"/>
          <p:cNvSpPr txBox="1"/>
          <p:nvPr/>
        </p:nvSpPr>
        <p:spPr>
          <a:xfrm>
            <a:off x="1234440" y="3680460"/>
            <a:ext cx="10268712" cy="699516"/>
          </a:xfrm>
          <a:prstGeom prst="rect">
            <a:avLst/>
          </a:prstGeom>
          <a:noFill/>
          <a:ln/>
        </p:spPr>
        <p:txBody>
          <a:bodyPr wrap="square" lIns="0" tIns="0" rIns="0" bIns="0" rtlCol="0" anchor="ctr"/>
          <a:lstStyle/>
          <a:p>
            <a:pPr indent="0" marL="0">
              <a:buNone/>
            </a:pPr>
            <a:r>
              <a:rPr lang="en-US" sz="1800" dirty="0">
                <a:solidFill>
                  <a:srgbClr val="FFFFFF"/>
                </a:solidFill>
                <a:latin typeface="Arial" pitchFamily="34" charset="0"/>
                <a:ea typeface="Arial" pitchFamily="34" charset="-122"/>
                <a:cs typeface="Arial" pitchFamily="34" charset="-120"/>
              </a:rPr>
              <a:t>Dar a cada dolor del recorrido un tratamiento con id</a:t>
            </a:r>
            <a:endParaRPr lang="en-US" sz="1600" dirty="0"/>
          </a:p>
        </p:txBody>
      </p:sp>
      <p:sp>
        <p:nvSpPr>
          <p:cNvPr id="11" name="Shape 9"/>
          <p:cNvSpPr/>
          <p:nvPr/>
        </p:nvSpPr>
        <p:spPr>
          <a:xfrm>
            <a:off x="548640" y="4544568"/>
            <a:ext cx="11091672" cy="772668"/>
          </a:xfrm>
          <a:prstGeom prst="roundRect">
            <a:avLst>
              <a:gd name="adj" fmla="val 11834"/>
            </a:avLst>
          </a:prstGeom>
          <a:solidFill>
            <a:srgbClr val="173D66"/>
          </a:solidFill>
          <a:ln w="12700">
            <a:solidFill>
              <a:srgbClr val="173D66"/>
            </a:solidFill>
            <a:prstDash val="solid"/>
          </a:ln>
        </p:spPr>
      </p:sp>
      <p:sp>
        <p:nvSpPr>
          <p:cNvPr id="12" name="Text 10"/>
          <p:cNvSpPr txBox="1"/>
          <p:nvPr/>
        </p:nvSpPr>
        <p:spPr>
          <a:xfrm>
            <a:off x="685800" y="4544568"/>
            <a:ext cx="411480" cy="772668"/>
          </a:xfrm>
          <a:prstGeom prst="rect">
            <a:avLst/>
          </a:prstGeom>
          <a:noFill/>
          <a:ln/>
        </p:spPr>
        <p:txBody>
          <a:bodyPr wrap="square" lIns="0" tIns="0" rIns="0" bIns="0" rtlCol="0" anchor="ctr"/>
          <a:lstStyle/>
          <a:p>
            <a:pPr indent="0" marL="0">
              <a:buNone/>
            </a:pPr>
            <a:r>
              <a:rPr lang="en-US" sz="2000" b="1" dirty="0">
                <a:solidFill>
                  <a:srgbClr val="9FD0F0"/>
                </a:solidFill>
                <a:latin typeface="Arial" pitchFamily="34" charset="0"/>
                <a:ea typeface="Arial" pitchFamily="34" charset="-122"/>
                <a:cs typeface="Arial" pitchFamily="34" charset="-120"/>
              </a:rPr>
              <a:t>3</a:t>
            </a:r>
            <a:endParaRPr lang="en-US" sz="2000" dirty="0"/>
          </a:p>
        </p:txBody>
      </p:sp>
      <p:sp>
        <p:nvSpPr>
          <p:cNvPr id="13" name="Text 11"/>
          <p:cNvSpPr txBox="1"/>
          <p:nvPr/>
        </p:nvSpPr>
        <p:spPr>
          <a:xfrm>
            <a:off x="1234440" y="4581144"/>
            <a:ext cx="10268712" cy="699516"/>
          </a:xfrm>
          <a:prstGeom prst="rect">
            <a:avLst/>
          </a:prstGeom>
          <a:noFill/>
          <a:ln/>
        </p:spPr>
        <p:txBody>
          <a:bodyPr wrap="square" lIns="0" tIns="0" rIns="0" bIns="0" rtlCol="0" anchor="ctr"/>
          <a:lstStyle/>
          <a:p>
            <a:pPr indent="0" marL="0">
              <a:buNone/>
            </a:pPr>
            <a:r>
              <a:rPr lang="en-US" sz="1800" dirty="0">
                <a:solidFill>
                  <a:srgbClr val="FFFFFF"/>
                </a:solidFill>
                <a:latin typeface="Arial" pitchFamily="34" charset="0"/>
                <a:ea typeface="Arial" pitchFamily="34" charset="-122"/>
                <a:cs typeface="Arial" pitchFamily="34" charset="-120"/>
              </a:rPr>
              <a:t>Cerrar con traspaso a operación y sin condiciones abiertas</a:t>
            </a:r>
            <a:endParaRPr lang="en-US" sz="1600" dirty="0"/>
          </a:p>
        </p:txBody>
      </p:sp>
      <p:sp>
        <p:nvSpPr>
          <p:cNvPr id="14" name="Shape 12"/>
          <p:cNvSpPr/>
          <p:nvPr/>
        </p:nvSpPr>
        <p:spPr>
          <a:xfrm>
            <a:off x="548640" y="5445252"/>
            <a:ext cx="11091672" cy="772668"/>
          </a:xfrm>
          <a:prstGeom prst="roundRect">
            <a:avLst>
              <a:gd name="adj" fmla="val 11834"/>
            </a:avLst>
          </a:prstGeom>
          <a:solidFill>
            <a:srgbClr val="173D66"/>
          </a:solidFill>
          <a:ln w="12700">
            <a:solidFill>
              <a:srgbClr val="173D66"/>
            </a:solidFill>
            <a:prstDash val="solid"/>
          </a:ln>
        </p:spPr>
      </p:sp>
      <p:sp>
        <p:nvSpPr>
          <p:cNvPr id="15" name="Text 13"/>
          <p:cNvSpPr txBox="1"/>
          <p:nvPr/>
        </p:nvSpPr>
        <p:spPr>
          <a:xfrm>
            <a:off x="685800" y="5445252"/>
            <a:ext cx="411480" cy="772668"/>
          </a:xfrm>
          <a:prstGeom prst="rect">
            <a:avLst/>
          </a:prstGeom>
          <a:noFill/>
          <a:ln/>
        </p:spPr>
        <p:txBody>
          <a:bodyPr wrap="square" lIns="0" tIns="0" rIns="0" bIns="0" rtlCol="0" anchor="ctr"/>
          <a:lstStyle/>
          <a:p>
            <a:pPr indent="0" marL="0">
              <a:buNone/>
            </a:pPr>
            <a:r>
              <a:rPr lang="en-US" sz="2000" b="1" dirty="0">
                <a:solidFill>
                  <a:srgbClr val="9FD0F0"/>
                </a:solidFill>
                <a:latin typeface="Arial" pitchFamily="34" charset="0"/>
                <a:ea typeface="Arial" pitchFamily="34" charset="-122"/>
                <a:cs typeface="Arial" pitchFamily="34" charset="-120"/>
              </a:rPr>
              <a:t>4</a:t>
            </a:r>
            <a:endParaRPr lang="en-US" sz="2000" dirty="0"/>
          </a:p>
        </p:txBody>
      </p:sp>
      <p:sp>
        <p:nvSpPr>
          <p:cNvPr id="16" name="Text 14"/>
          <p:cNvSpPr txBox="1"/>
          <p:nvPr/>
        </p:nvSpPr>
        <p:spPr>
          <a:xfrm>
            <a:off x="1234440" y="5481828"/>
            <a:ext cx="10268712" cy="699516"/>
          </a:xfrm>
          <a:prstGeom prst="rect">
            <a:avLst/>
          </a:prstGeom>
          <a:noFill/>
          <a:ln/>
        </p:spPr>
        <p:txBody>
          <a:bodyPr wrap="square" lIns="0" tIns="0" rIns="0" bIns="0" rtlCol="0" anchor="ctr"/>
          <a:lstStyle/>
          <a:p>
            <a:pPr indent="0" marL="0">
              <a:buNone/>
            </a:pPr>
            <a:r>
              <a:rPr lang="en-US" sz="1800" dirty="0">
                <a:solidFill>
                  <a:srgbClr val="FFFFFF"/>
                </a:solidFill>
                <a:latin typeface="Arial" pitchFamily="34" charset="0"/>
                <a:ea typeface="Arial" pitchFamily="34" charset="-122"/>
                <a:cs typeface="Arial" pitchFamily="34" charset="-120"/>
              </a:rPr>
              <a:t>Leer beneficios con puntaje, salud y tolerancia</a:t>
            </a:r>
            <a:endParaRPr lang="en-US" sz="1600" dirty="0"/>
          </a:p>
        </p:txBody>
      </p:sp>
      <p:sp>
        <p:nvSpPr>
          <p:cNvPr id="25" name="Slide Number Placeholder 0"/>
          <p:cNvSpPr>
            <a:spLocks noGrp="1"/>
          </p:cNvSpPr>
          <p:nvPr>
            <p:ph type="sldNum" sz="quarter" idx="4294967295"/>
          </p:nvPr>
        </p:nvSpPr>
        <p:spPr>
          <a:xfrm>
            <a:off x="11091672" y="6419088"/>
            <a:ext cx="64008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rgbClr val="D6E4F0"/>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3"/>
          <p:cNvSpPr/>
          <p:nvPr>
            <p:ph idx="103" type="title" hasCustomPrompt="1"/>
          </p:nvPr>
        </p:nvSpPr>
        <p:spPr>
          <a:xfrm>
            <a:off x="658368" y="365760"/>
            <a:ext cx="9244584" cy="713232"/>
          </a:xfrm>
          <a:prstGeom prst="rect">
            <a:avLst/>
          </a:prstGeom>
          <a:noFill/>
          <a:ln/>
        </p:spPr>
        <p:txBody>
          <a:bodyPr wrap="square" lIns="0" tIns="0" rIns="0" bIns="0" rtlCol="0" anchor="ctr"/>
          <a:lstStyle/>
          <a:p>
            <a:pPr algn="l" indent="0" marL="0">
              <a:buNone/>
            </a:pPr>
            <a:r>
              <a:rPr lang="en-US" sz="2400" b="1" dirty="0">
                <a:solidFill>
                  <a:srgbClr val="FFFFFF"/>
                </a:solidFill>
                <a:latin typeface="Arial" pitchFamily="34" charset="0"/>
                <a:ea typeface="Arial" pitchFamily="34" charset="-122"/>
                <a:cs typeface="Arial" pitchFamily="34" charset="-120"/>
              </a:rPr>
              <a:t>Done no es aceptado</a:t>
            </a:r>
            <a:endParaRPr lang="en-US" sz="2400" dirty="0"/>
          </a:p>
        </p:txBody>
      </p:sp>
      <p:sp>
        <p:nvSpPr>
          <p:cNvPr id="3" name="Shape 1"/>
          <p:cNvSpPr/>
          <p:nvPr/>
        </p:nvSpPr>
        <p:spPr>
          <a:xfrm>
            <a:off x="457200" y="2331720"/>
            <a:ext cx="3575304" cy="2926080"/>
          </a:xfrm>
          <a:prstGeom prst="roundRect">
            <a:avLst>
              <a:gd name="adj" fmla="val 3125"/>
            </a:avLst>
          </a:prstGeom>
          <a:solidFill>
            <a:srgbClr val="002855"/>
          </a:solidFill>
          <a:ln w="12700">
            <a:solidFill>
              <a:srgbClr val="002855"/>
            </a:solidFill>
            <a:prstDash val="solid"/>
          </a:ln>
        </p:spPr>
      </p:sp>
      <p:sp>
        <p:nvSpPr>
          <p:cNvPr id="4" name="Text 2"/>
          <p:cNvSpPr txBox="1"/>
          <p:nvPr/>
        </p:nvSpPr>
        <p:spPr>
          <a:xfrm>
            <a:off x="658368" y="2532888"/>
            <a:ext cx="3172968" cy="2542032"/>
          </a:xfrm>
          <a:prstGeom prst="rect">
            <a:avLst/>
          </a:prstGeom>
          <a:noFill/>
          <a:ln/>
        </p:spPr>
        <p:txBody>
          <a:bodyPr wrap="square" lIns="0" tIns="0" rIns="0" bIns="0" rtlCol="0" anchor="ctr"/>
          <a:lstStyle/>
          <a:p>
            <a:pPr indent="0" marL="0">
              <a:buNone/>
            </a:pPr>
            <a:r>
              <a:rPr lang="en-US" sz="2200" dirty="0">
                <a:solidFill>
                  <a:srgbClr val="FFFFFF"/>
                </a:solidFill>
                <a:latin typeface="Arial" pitchFamily="34" charset="0"/>
                <a:ea typeface="Arial" pitchFamily="34" charset="-122"/>
                <a:cs typeface="Arial" pitchFamily="34" charset="-120"/>
              </a:rPr>
              <a:t>La 2-4 pasó la revisión de código</a:t>
            </a:r>
            <a:endParaRPr lang="en-US" sz="1600" dirty="0"/>
          </a:p>
        </p:txBody>
      </p:sp>
      <p:sp>
        <p:nvSpPr>
          <p:cNvPr id="5" name="Shape 3"/>
          <p:cNvSpPr/>
          <p:nvPr/>
        </p:nvSpPr>
        <p:spPr>
          <a:xfrm>
            <a:off x="4306824" y="2331720"/>
            <a:ext cx="3575304" cy="2926080"/>
          </a:xfrm>
          <a:prstGeom prst="roundRect">
            <a:avLst>
              <a:gd name="adj" fmla="val 3125"/>
            </a:avLst>
          </a:prstGeom>
          <a:solidFill>
            <a:srgbClr val="E9F1F8"/>
          </a:solidFill>
          <a:ln w="12700">
            <a:solidFill>
              <a:srgbClr val="E9F1F8"/>
            </a:solidFill>
            <a:prstDash val="solid"/>
          </a:ln>
        </p:spPr>
      </p:sp>
      <p:sp>
        <p:nvSpPr>
          <p:cNvPr id="6" name="Text 4"/>
          <p:cNvSpPr txBox="1"/>
          <p:nvPr/>
        </p:nvSpPr>
        <p:spPr>
          <a:xfrm>
            <a:off x="4507992" y="2532888"/>
            <a:ext cx="3172968" cy="2542032"/>
          </a:xfrm>
          <a:prstGeom prst="rect">
            <a:avLst/>
          </a:prstGeom>
          <a:noFill/>
          <a:ln/>
        </p:spPr>
        <p:txBody>
          <a:bodyPr wrap="square" lIns="0" tIns="0" rIns="0" bIns="0" rtlCol="0" anchor="ctr"/>
          <a:lstStyle/>
          <a:p>
            <a:pPr indent="0" marL="0">
              <a:buNone/>
            </a:pPr>
            <a:r>
              <a:rPr lang="en-US" sz="2200" dirty="0">
                <a:solidFill>
                  <a:srgbClr val="272425"/>
                </a:solidFill>
                <a:latin typeface="Arial" pitchFamily="34" charset="0"/>
                <a:ea typeface="Arial" pitchFamily="34" charset="-122"/>
                <a:cs typeface="Arial" pitchFamily="34" charset="-120"/>
              </a:rPr>
              <a:t>La revisión contra criterios la rechazó</a:t>
            </a:r>
            <a:endParaRPr lang="en-US" sz="1600" dirty="0"/>
          </a:p>
        </p:txBody>
      </p:sp>
      <p:sp>
        <p:nvSpPr>
          <p:cNvPr id="7" name="Shape 5"/>
          <p:cNvSpPr/>
          <p:nvPr/>
        </p:nvSpPr>
        <p:spPr>
          <a:xfrm>
            <a:off x="8156448" y="2331720"/>
            <a:ext cx="3575304" cy="2926080"/>
          </a:xfrm>
          <a:prstGeom prst="roundRect">
            <a:avLst>
              <a:gd name="adj" fmla="val 3125"/>
            </a:avLst>
          </a:prstGeom>
          <a:solidFill>
            <a:srgbClr val="E9F1F8"/>
          </a:solidFill>
          <a:ln w="12700">
            <a:solidFill>
              <a:srgbClr val="E9F1F8"/>
            </a:solidFill>
            <a:prstDash val="solid"/>
          </a:ln>
        </p:spPr>
      </p:sp>
      <p:sp>
        <p:nvSpPr>
          <p:cNvPr id="8" name="Text 6"/>
          <p:cNvSpPr txBox="1"/>
          <p:nvPr/>
        </p:nvSpPr>
        <p:spPr>
          <a:xfrm>
            <a:off x="8357616" y="2532888"/>
            <a:ext cx="3172968" cy="2542032"/>
          </a:xfrm>
          <a:prstGeom prst="rect">
            <a:avLst/>
          </a:prstGeom>
          <a:noFill/>
          <a:ln/>
        </p:spPr>
        <p:txBody>
          <a:bodyPr wrap="square" lIns="0" tIns="0" rIns="0" bIns="0" rtlCol="0" anchor="ctr"/>
          <a:lstStyle/>
          <a:p>
            <a:pPr indent="0" marL="0">
              <a:buNone/>
            </a:pPr>
            <a:r>
              <a:rPr lang="en-US" sz="2200" dirty="0">
                <a:solidFill>
                  <a:srgbClr val="272425"/>
                </a:solidFill>
                <a:latin typeface="Arial" pitchFamily="34" charset="0"/>
                <a:ea typeface="Arial" pitchFamily="34" charset="-122"/>
                <a:cs typeface="Arial" pitchFamily="34" charset="-120"/>
              </a:rPr>
              <a:t>¿Dónde quedaría ese rechazo en tu proyecto?</a:t>
            </a:r>
            <a:endParaRPr lang="en-US" sz="1600" dirty="0"/>
          </a:p>
        </p:txBody>
      </p:sp>
      <p:sp>
        <p:nvSpPr>
          <p:cNvPr id="25" name="Slide Number Placeholder 0"/>
          <p:cNvSpPr>
            <a:spLocks noGrp="1"/>
          </p:cNvSpPr>
          <p:nvPr>
            <p:ph type="sldNum" sz="quarter" idx="4294967295"/>
          </p:nvPr>
        </p:nvSpPr>
        <p:spPr>
          <a:xfrm>
            <a:off x="11091672" y="6419088"/>
            <a:ext cx="64008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rgbClr val="696969"/>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3"/>
          <p:cNvSpPr/>
          <p:nvPr>
            <p:ph idx="103" type="title" hasCustomPrompt="1"/>
          </p:nvPr>
        </p:nvSpPr>
        <p:spPr>
          <a:xfrm>
            <a:off x="658368" y="365760"/>
            <a:ext cx="9244584" cy="713232"/>
          </a:xfrm>
          <a:prstGeom prst="rect">
            <a:avLst/>
          </a:prstGeom>
          <a:noFill/>
          <a:ln/>
        </p:spPr>
        <p:txBody>
          <a:bodyPr wrap="square" lIns="0" tIns="0" rIns="0" bIns="0" rtlCol="0" anchor="ctr"/>
          <a:lstStyle/>
          <a:p>
            <a:pPr algn="l" indent="0" marL="0">
              <a:buNone/>
            </a:pPr>
            <a:r>
              <a:rPr lang="en-US" sz="2400" b="1" dirty="0">
                <a:solidFill>
                  <a:srgbClr val="FFFFFF"/>
                </a:solidFill>
                <a:latin typeface="Arial" pitchFamily="34" charset="0"/>
                <a:ea typeface="Arial" pitchFamily="34" charset="-122"/>
                <a:cs typeface="Arial" pitchFamily="34" charset="-120"/>
              </a:rPr>
              <a:t>Al abrir la sesión el 26/2</a:t>
            </a:r>
            <a:endParaRPr lang="en-US" sz="2400" dirty="0"/>
          </a:p>
        </p:txBody>
      </p:sp>
      <p:sp>
        <p:nvSpPr>
          <p:cNvPr id="3" name="Text 1"/>
          <p:cNvSpPr txBox="1"/>
          <p:nvPr/>
        </p:nvSpPr>
        <p:spPr>
          <a:xfrm>
            <a:off x="457200" y="1280160"/>
            <a:ext cx="11274552" cy="329184"/>
          </a:xfrm>
          <a:prstGeom prst="rect">
            <a:avLst/>
          </a:prstGeom>
          <a:noFill/>
          <a:ln/>
        </p:spPr>
        <p:txBody>
          <a:bodyPr wrap="square" lIns="0" tIns="0" rIns="0" bIns="0" rtlCol="0" anchor="t"/>
          <a:lstStyle/>
          <a:p>
            <a:pPr indent="0" marL="0">
              <a:buNone/>
            </a:pPr>
            <a:r>
              <a:rPr lang="en-US" sz="1800" b="1" dirty="0">
                <a:solidFill>
                  <a:srgbClr val="B5651D"/>
                </a:solidFill>
                <a:latin typeface="Arial" pitchFamily="34" charset="0"/>
                <a:ea typeface="Arial" pitchFamily="34" charset="-122"/>
                <a:cs typeface="Arial" pitchFamily="34" charset="-120"/>
              </a:rPr>
              <a:t>Lo que el hook de inicio le muestra al gestor</a:t>
            </a:r>
            <a:endParaRPr lang="en-US" sz="1600" dirty="0"/>
          </a:p>
        </p:txBody>
      </p:sp>
      <p:sp>
        <p:nvSpPr>
          <p:cNvPr id="4" name="Shape 2"/>
          <p:cNvSpPr/>
          <p:nvPr/>
        </p:nvSpPr>
        <p:spPr>
          <a:xfrm>
            <a:off x="457200" y="1792224"/>
            <a:ext cx="11274552" cy="768096"/>
          </a:xfrm>
          <a:prstGeom prst="roundRect">
            <a:avLst>
              <a:gd name="adj" fmla="val 11905"/>
            </a:avLst>
          </a:prstGeom>
          <a:solidFill>
            <a:srgbClr val="E9F1F8"/>
          </a:solidFill>
          <a:ln w="12700">
            <a:solidFill>
              <a:srgbClr val="E9F1F8"/>
            </a:solidFill>
            <a:prstDash val="solid"/>
          </a:ln>
        </p:spPr>
      </p:sp>
      <p:sp>
        <p:nvSpPr>
          <p:cNvPr id="5" name="Shape 3"/>
          <p:cNvSpPr/>
          <p:nvPr/>
        </p:nvSpPr>
        <p:spPr>
          <a:xfrm>
            <a:off x="621792" y="1947672"/>
            <a:ext cx="457200" cy="457200"/>
          </a:xfrm>
          <a:prstGeom prst="roundRect">
            <a:avLst>
              <a:gd name="adj" fmla="val 16000"/>
            </a:avLst>
          </a:prstGeom>
          <a:solidFill>
            <a:srgbClr val="00629B"/>
          </a:solidFill>
          <a:ln w="12700">
            <a:solidFill>
              <a:srgbClr val="00629B"/>
            </a:solidFill>
            <a:prstDash val="solid"/>
          </a:ln>
        </p:spPr>
      </p:sp>
      <p:sp>
        <p:nvSpPr>
          <p:cNvPr id="6" name="Text 4"/>
          <p:cNvSpPr txBox="1"/>
          <p:nvPr/>
        </p:nvSpPr>
        <p:spPr>
          <a:xfrm>
            <a:off x="621792" y="1947672"/>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1</a:t>
            </a:r>
            <a:endParaRPr lang="en-US" sz="1600" dirty="0"/>
          </a:p>
        </p:txBody>
      </p:sp>
      <p:sp>
        <p:nvSpPr>
          <p:cNvPr id="7" name="Text 5"/>
          <p:cNvSpPr txBox="1"/>
          <p:nvPr/>
        </p:nvSpPr>
        <p:spPr>
          <a:xfrm>
            <a:off x="1280160" y="1847088"/>
            <a:ext cx="10222992" cy="658368"/>
          </a:xfrm>
          <a:prstGeom prst="rect">
            <a:avLst/>
          </a:prstGeom>
          <a:noFill/>
          <a:ln/>
        </p:spPr>
        <p:txBody>
          <a:bodyPr wrap="square" lIns="0" tIns="0" rIns="0" bIns="0" rtlCol="0" anchor="ctr"/>
          <a:lstStyle/>
          <a:p>
            <a:pPr indent="0" marL="0">
              <a:buNone/>
            </a:pPr>
            <a:r>
              <a:rPr lang="en-US" sz="2000" dirty="0">
                <a:solidFill>
                  <a:srgbClr val="272425"/>
                </a:solidFill>
                <a:latin typeface="Arial" pitchFamily="34" charset="0"/>
                <a:ea typeface="Arial" pitchFamily="34" charset="-122"/>
                <a:cs typeface="Arial" pitchFamily="34" charset="-120"/>
              </a:rPr>
              <a:t>Abiertos: revisiones de calidad 1</a:t>
            </a:r>
            <a:endParaRPr lang="en-US" sz="1600" dirty="0"/>
          </a:p>
        </p:txBody>
      </p:sp>
      <p:sp>
        <p:nvSpPr>
          <p:cNvPr id="8" name="Shape 6"/>
          <p:cNvSpPr/>
          <p:nvPr/>
        </p:nvSpPr>
        <p:spPr>
          <a:xfrm>
            <a:off x="457200" y="2706624"/>
            <a:ext cx="11274552" cy="768096"/>
          </a:xfrm>
          <a:prstGeom prst="roundRect">
            <a:avLst>
              <a:gd name="adj" fmla="val 11905"/>
            </a:avLst>
          </a:prstGeom>
          <a:solidFill>
            <a:srgbClr val="F4F6F8"/>
          </a:solidFill>
          <a:ln w="12700">
            <a:solidFill>
              <a:srgbClr val="F4F6F8"/>
            </a:solidFill>
            <a:prstDash val="solid"/>
          </a:ln>
        </p:spPr>
      </p:sp>
      <p:sp>
        <p:nvSpPr>
          <p:cNvPr id="9" name="Shape 7"/>
          <p:cNvSpPr/>
          <p:nvPr/>
        </p:nvSpPr>
        <p:spPr>
          <a:xfrm>
            <a:off x="621792" y="2862072"/>
            <a:ext cx="457200" cy="457200"/>
          </a:xfrm>
          <a:prstGeom prst="roundRect">
            <a:avLst>
              <a:gd name="adj" fmla="val 16000"/>
            </a:avLst>
          </a:prstGeom>
          <a:solidFill>
            <a:srgbClr val="00629B"/>
          </a:solidFill>
          <a:ln w="12700">
            <a:solidFill>
              <a:srgbClr val="00629B"/>
            </a:solidFill>
            <a:prstDash val="solid"/>
          </a:ln>
        </p:spPr>
      </p:sp>
      <p:sp>
        <p:nvSpPr>
          <p:cNvPr id="10" name="Text 8"/>
          <p:cNvSpPr txBox="1"/>
          <p:nvPr/>
        </p:nvSpPr>
        <p:spPr>
          <a:xfrm>
            <a:off x="621792" y="2862072"/>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2</a:t>
            </a:r>
            <a:endParaRPr lang="en-US" sz="1600" dirty="0"/>
          </a:p>
        </p:txBody>
      </p:sp>
      <p:sp>
        <p:nvSpPr>
          <p:cNvPr id="11" name="Text 9"/>
          <p:cNvSpPr txBox="1"/>
          <p:nvPr/>
        </p:nvSpPr>
        <p:spPr>
          <a:xfrm>
            <a:off x="1280160" y="2761488"/>
            <a:ext cx="10222992" cy="658368"/>
          </a:xfrm>
          <a:prstGeom prst="rect">
            <a:avLst/>
          </a:prstGeom>
          <a:noFill/>
          <a:ln/>
        </p:spPr>
        <p:txBody>
          <a:bodyPr wrap="square" lIns="0" tIns="0" rIns="0" bIns="0" rtlCol="0" anchor="ctr"/>
          <a:lstStyle/>
          <a:p>
            <a:pPr indent="0" marL="0">
              <a:buNone/>
            </a:pPr>
            <a:r>
              <a:rPr lang="en-US" sz="2000" dirty="0">
                <a:solidFill>
                  <a:srgbClr val="272425"/>
                </a:solidFill>
                <a:latin typeface="Arial" pitchFamily="34" charset="0"/>
                <a:ea typeface="Arial" pitchFamily="34" charset="-122"/>
                <a:cs typeface="Arial" pitchFamily="34" charset="-120"/>
              </a:rPr>
              <a:t>Condiciones abiertas: autorizar-etapa (27/11)</a:t>
            </a:r>
            <a:endParaRPr lang="en-US" sz="1600" dirty="0"/>
          </a:p>
        </p:txBody>
      </p:sp>
      <p:sp>
        <p:nvSpPr>
          <p:cNvPr id="12" name="Shape 10"/>
          <p:cNvSpPr/>
          <p:nvPr/>
        </p:nvSpPr>
        <p:spPr>
          <a:xfrm>
            <a:off x="457200" y="3621024"/>
            <a:ext cx="11274552" cy="768096"/>
          </a:xfrm>
          <a:prstGeom prst="roundRect">
            <a:avLst>
              <a:gd name="adj" fmla="val 11905"/>
            </a:avLst>
          </a:prstGeom>
          <a:solidFill>
            <a:srgbClr val="E9F1F8"/>
          </a:solidFill>
          <a:ln w="12700">
            <a:solidFill>
              <a:srgbClr val="E9F1F8"/>
            </a:solidFill>
            <a:prstDash val="solid"/>
          </a:ln>
        </p:spPr>
      </p:sp>
      <p:sp>
        <p:nvSpPr>
          <p:cNvPr id="13" name="Shape 11"/>
          <p:cNvSpPr/>
          <p:nvPr/>
        </p:nvSpPr>
        <p:spPr>
          <a:xfrm>
            <a:off x="621792" y="3776472"/>
            <a:ext cx="457200" cy="457200"/>
          </a:xfrm>
          <a:prstGeom prst="roundRect">
            <a:avLst>
              <a:gd name="adj" fmla="val 16000"/>
            </a:avLst>
          </a:prstGeom>
          <a:solidFill>
            <a:srgbClr val="00629B"/>
          </a:solidFill>
          <a:ln w="12700">
            <a:solidFill>
              <a:srgbClr val="00629B"/>
            </a:solidFill>
            <a:prstDash val="solid"/>
          </a:ln>
        </p:spPr>
      </p:sp>
      <p:sp>
        <p:nvSpPr>
          <p:cNvPr id="14" name="Text 12"/>
          <p:cNvSpPr txBox="1"/>
          <p:nvPr/>
        </p:nvSpPr>
        <p:spPr>
          <a:xfrm>
            <a:off x="621792" y="3776472"/>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3</a:t>
            </a:r>
            <a:endParaRPr lang="en-US" sz="1600" dirty="0"/>
          </a:p>
        </p:txBody>
      </p:sp>
      <p:sp>
        <p:nvSpPr>
          <p:cNvPr id="15" name="Text 13"/>
          <p:cNvSpPr txBox="1"/>
          <p:nvPr/>
        </p:nvSpPr>
        <p:spPr>
          <a:xfrm>
            <a:off x="1280160" y="3675888"/>
            <a:ext cx="10222992" cy="658368"/>
          </a:xfrm>
          <a:prstGeom prst="rect">
            <a:avLst/>
          </a:prstGeom>
          <a:noFill/>
          <a:ln/>
        </p:spPr>
        <p:txBody>
          <a:bodyPr wrap="square" lIns="0" tIns="0" rIns="0" bIns="0" rtlCol="0" anchor="ctr"/>
          <a:lstStyle/>
          <a:p>
            <a:pPr indent="0" marL="0">
              <a:buNone/>
            </a:pPr>
            <a:r>
              <a:rPr lang="en-US" sz="2000" dirty="0">
                <a:solidFill>
                  <a:srgbClr val="272425"/>
                </a:solidFill>
                <a:latin typeface="Arial" pitchFamily="34" charset="0"/>
                <a:ea typeface="Arial" pitchFamily="34" charset="-122"/>
                <a:cs typeface="Arial" pitchFamily="34" charset="-120"/>
              </a:rPr>
              <a:t>Próxima puerta: autorizar-etapa</a:t>
            </a:r>
            <a:endParaRPr lang="en-US" sz="1600" dirty="0"/>
          </a:p>
        </p:txBody>
      </p:sp>
      <p:sp>
        <p:nvSpPr>
          <p:cNvPr id="16" name="Shape 14"/>
          <p:cNvSpPr/>
          <p:nvPr/>
        </p:nvSpPr>
        <p:spPr>
          <a:xfrm>
            <a:off x="457200" y="4535424"/>
            <a:ext cx="11274552" cy="768096"/>
          </a:xfrm>
          <a:prstGeom prst="roundRect">
            <a:avLst>
              <a:gd name="adj" fmla="val 11905"/>
            </a:avLst>
          </a:prstGeom>
          <a:solidFill>
            <a:srgbClr val="F4F6F8"/>
          </a:solidFill>
          <a:ln w="12700">
            <a:solidFill>
              <a:srgbClr val="F4F6F8"/>
            </a:solidFill>
            <a:prstDash val="solid"/>
          </a:ln>
        </p:spPr>
      </p:sp>
      <p:sp>
        <p:nvSpPr>
          <p:cNvPr id="17" name="Shape 15"/>
          <p:cNvSpPr/>
          <p:nvPr/>
        </p:nvSpPr>
        <p:spPr>
          <a:xfrm>
            <a:off x="621792" y="4690872"/>
            <a:ext cx="457200" cy="457200"/>
          </a:xfrm>
          <a:prstGeom prst="roundRect">
            <a:avLst>
              <a:gd name="adj" fmla="val 16000"/>
            </a:avLst>
          </a:prstGeom>
          <a:solidFill>
            <a:srgbClr val="00629B"/>
          </a:solidFill>
          <a:ln w="12700">
            <a:solidFill>
              <a:srgbClr val="00629B"/>
            </a:solidFill>
            <a:prstDash val="solid"/>
          </a:ln>
        </p:spPr>
      </p:sp>
      <p:sp>
        <p:nvSpPr>
          <p:cNvPr id="18" name="Text 16"/>
          <p:cNvSpPr txBox="1"/>
          <p:nvPr/>
        </p:nvSpPr>
        <p:spPr>
          <a:xfrm>
            <a:off x="621792" y="4690872"/>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4</a:t>
            </a:r>
            <a:endParaRPr lang="en-US" sz="1600" dirty="0"/>
          </a:p>
        </p:txBody>
      </p:sp>
      <p:sp>
        <p:nvSpPr>
          <p:cNvPr id="19" name="Text 17"/>
          <p:cNvSpPr txBox="1"/>
          <p:nvPr/>
        </p:nvSpPr>
        <p:spPr>
          <a:xfrm>
            <a:off x="1280160" y="4590288"/>
            <a:ext cx="10222992" cy="658368"/>
          </a:xfrm>
          <a:prstGeom prst="rect">
            <a:avLst/>
          </a:prstGeom>
          <a:noFill/>
          <a:ln/>
        </p:spPr>
        <p:txBody>
          <a:bodyPr wrap="square" lIns="0" tIns="0" rIns="0" bIns="0" rtlCol="0" anchor="ctr"/>
          <a:lstStyle/>
          <a:p>
            <a:pPr indent="0" marL="0">
              <a:buNone/>
            </a:pPr>
            <a:r>
              <a:rPr lang="en-US" sz="2000" dirty="0">
                <a:solidFill>
                  <a:srgbClr val="272425"/>
                </a:solidFill>
                <a:latin typeface="Arial" pitchFamily="34" charset="0"/>
                <a:ea typeface="Arial" pitchFamily="34" charset="-122"/>
                <a:cs typeface="Arial" pitchFamily="34" charset="-120"/>
              </a:rPr>
              <a:t>Derivado de estado.json y los registros</a:t>
            </a:r>
            <a:endParaRPr lang="en-US" sz="1600" dirty="0"/>
          </a:p>
        </p:txBody>
      </p:sp>
      <p:sp>
        <p:nvSpPr>
          <p:cNvPr id="20" name="Shape 18"/>
          <p:cNvSpPr/>
          <p:nvPr/>
        </p:nvSpPr>
        <p:spPr>
          <a:xfrm>
            <a:off x="457200" y="5449824"/>
            <a:ext cx="11274552" cy="768096"/>
          </a:xfrm>
          <a:prstGeom prst="roundRect">
            <a:avLst>
              <a:gd name="adj" fmla="val 11905"/>
            </a:avLst>
          </a:prstGeom>
          <a:solidFill>
            <a:srgbClr val="E9F1F8"/>
          </a:solidFill>
          <a:ln w="12700">
            <a:solidFill>
              <a:srgbClr val="E9F1F8"/>
            </a:solidFill>
            <a:prstDash val="solid"/>
          </a:ln>
        </p:spPr>
      </p:sp>
      <p:sp>
        <p:nvSpPr>
          <p:cNvPr id="21" name="Shape 19"/>
          <p:cNvSpPr/>
          <p:nvPr/>
        </p:nvSpPr>
        <p:spPr>
          <a:xfrm>
            <a:off x="621792" y="5605272"/>
            <a:ext cx="457200" cy="457200"/>
          </a:xfrm>
          <a:prstGeom prst="roundRect">
            <a:avLst>
              <a:gd name="adj" fmla="val 16000"/>
            </a:avLst>
          </a:prstGeom>
          <a:solidFill>
            <a:srgbClr val="00629B"/>
          </a:solidFill>
          <a:ln w="12700">
            <a:solidFill>
              <a:srgbClr val="00629B"/>
            </a:solidFill>
            <a:prstDash val="solid"/>
          </a:ln>
        </p:spPr>
      </p:sp>
      <p:sp>
        <p:nvSpPr>
          <p:cNvPr id="22" name="Text 20"/>
          <p:cNvSpPr txBox="1"/>
          <p:nvPr/>
        </p:nvSpPr>
        <p:spPr>
          <a:xfrm>
            <a:off x="621792" y="5605272"/>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5</a:t>
            </a:r>
            <a:endParaRPr lang="en-US" sz="1600" dirty="0"/>
          </a:p>
        </p:txBody>
      </p:sp>
      <p:sp>
        <p:nvSpPr>
          <p:cNvPr id="23" name="Text 21"/>
          <p:cNvSpPr txBox="1"/>
          <p:nvPr/>
        </p:nvSpPr>
        <p:spPr>
          <a:xfrm>
            <a:off x="1280160" y="5504688"/>
            <a:ext cx="10222992" cy="658368"/>
          </a:xfrm>
          <a:prstGeom prst="rect">
            <a:avLst/>
          </a:prstGeom>
          <a:noFill/>
          <a:ln/>
        </p:spPr>
        <p:txBody>
          <a:bodyPr wrap="square" lIns="0" tIns="0" rIns="0" bIns="0" rtlCol="0" anchor="ctr"/>
          <a:lstStyle/>
          <a:p>
            <a:pPr indent="0" marL="0">
              <a:buNone/>
            </a:pPr>
            <a:r>
              <a:rPr lang="en-US" sz="2000" dirty="0">
                <a:solidFill>
                  <a:srgbClr val="272425"/>
                </a:solidFill>
                <a:latin typeface="Arial" pitchFamily="34" charset="0"/>
                <a:ea typeface="Arial" pitchFamily="34" charset="-122"/>
                <a:cs typeface="Arial" pitchFamily="34" charset="-120"/>
              </a:rPr>
              <a:t>Los registros mandan sobre la memoria</a:t>
            </a:r>
            <a:endParaRPr lang="en-US" sz="1600" dirty="0"/>
          </a:p>
        </p:txBody>
      </p:sp>
      <p:sp>
        <p:nvSpPr>
          <p:cNvPr id="25" name="Slide Number Placeholder 0"/>
          <p:cNvSpPr>
            <a:spLocks noGrp="1"/>
          </p:cNvSpPr>
          <p:nvPr>
            <p:ph type="sldNum" sz="quarter" idx="4294967295"/>
          </p:nvPr>
        </p:nvSpPr>
        <p:spPr>
          <a:xfrm>
            <a:off x="11091672" y="6419088"/>
            <a:ext cx="64008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rgbClr val="696969"/>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3"/>
          <p:cNvSpPr/>
          <p:nvPr>
            <p:ph idx="103" type="title" hasCustomPrompt="1"/>
          </p:nvPr>
        </p:nvSpPr>
        <p:spPr>
          <a:xfrm>
            <a:off x="658368" y="365760"/>
            <a:ext cx="9244584" cy="713232"/>
          </a:xfrm>
          <a:prstGeom prst="rect">
            <a:avLst/>
          </a:prstGeom>
          <a:noFill/>
          <a:ln/>
        </p:spPr>
        <p:txBody>
          <a:bodyPr wrap="square" lIns="0" tIns="0" rIns="0" bIns="0" rtlCol="0" anchor="ctr"/>
          <a:lstStyle/>
          <a:p>
            <a:pPr algn="l" indent="0" marL="0">
              <a:buNone/>
            </a:pPr>
            <a:r>
              <a:rPr lang="en-US" sz="2300" b="1" dirty="0">
                <a:solidFill>
                  <a:srgbClr val="FFFFFF"/>
                </a:solidFill>
                <a:latin typeface="Arial" pitchFamily="34" charset="0"/>
                <a:ea typeface="Arial" pitchFamily="34" charset="-122"/>
                <a:cs typeface="Arial" pitchFamily="34" charset="-120"/>
              </a:rPr>
              <a:t>Ninguna entrega pasó la puerta con historias sin revisión</a:t>
            </a:r>
            <a:endParaRPr lang="en-US" sz="2400" dirty="0"/>
          </a:p>
        </p:txBody>
      </p:sp>
      <p:pic>
        <p:nvPicPr>
          <p:cNvPr id="3" name="Image 0" descr="Ninguna entrega pasó la puerta con historias sin revisión">    </p:cNvPr>
          <p:cNvPicPr>
            <a:picLocks noChangeAspect="1"/>
          </p:cNvPicPr>
          <p:nvPr/>
        </p:nvPicPr>
        <p:blipFill>
          <a:blip r:embed="rId1"/>
          <a:stretch>
            <a:fillRect/>
          </a:stretch>
        </p:blipFill>
        <p:spPr>
          <a:xfrm>
            <a:off x="1705356" y="1280160"/>
            <a:ext cx="8778240" cy="4937760"/>
          </a:xfrm>
          <a:prstGeom prst="rect">
            <a:avLst/>
          </a:prstGeom>
        </p:spPr>
      </p:pic>
      <p:sp>
        <p:nvSpPr>
          <p:cNvPr id="4" name="Shape 1"/>
          <p:cNvSpPr/>
          <p:nvPr/>
        </p:nvSpPr>
        <p:spPr>
          <a:xfrm>
            <a:off x="1705356" y="1280160"/>
            <a:ext cx="8778240" cy="4937760"/>
          </a:xfrm>
          <a:prstGeom prst="rect">
            <a:avLst/>
          </a:prstGeom>
          <a:solidFill>
            <a:srgbClr val="FFFFFF">
              <a:alpha val="0"/>
            </a:srgbClr>
          </a:solidFill>
          <a:ln w="9525">
            <a:solidFill>
              <a:srgbClr val="E2E2E6"/>
            </a:solidFill>
            <a:prstDash val="solid"/>
          </a:ln>
        </p:spPr>
      </p:sp>
      <p:sp>
        <p:nvSpPr>
          <p:cNvPr id="25" name="Slide Number Placeholder 0"/>
          <p:cNvSpPr>
            <a:spLocks noGrp="1"/>
          </p:cNvSpPr>
          <p:nvPr>
            <p:ph type="sldNum" sz="quarter" idx="4294967295"/>
          </p:nvPr>
        </p:nvSpPr>
        <p:spPr>
          <a:xfrm>
            <a:off x="11091672" y="6419088"/>
            <a:ext cx="64008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rgbClr val="696969"/>
                </a:solidFil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3"/>
          <p:cNvSpPr/>
          <p:nvPr>
            <p:ph idx="103" type="title" hasCustomPrompt="1"/>
          </p:nvPr>
        </p:nvSpPr>
        <p:spPr>
          <a:xfrm>
            <a:off x="658368" y="365760"/>
            <a:ext cx="9244584" cy="713232"/>
          </a:xfrm>
          <a:prstGeom prst="rect">
            <a:avLst/>
          </a:prstGeom>
          <a:noFill/>
          <a:ln/>
        </p:spPr>
        <p:txBody>
          <a:bodyPr wrap="square" lIns="0" tIns="0" rIns="0" bIns="0" rtlCol="0" anchor="ctr"/>
          <a:lstStyle/>
          <a:p>
            <a:pPr algn="l" indent="0" marL="0">
              <a:buNone/>
            </a:pPr>
            <a:r>
              <a:rPr lang="en-US" sz="2400" b="1" dirty="0">
                <a:solidFill>
                  <a:srgbClr val="FFFFFF"/>
                </a:solidFill>
                <a:latin typeface="Arial" pitchFamily="34" charset="0"/>
                <a:ea typeface="Arial" pitchFamily="34" charset="-122"/>
                <a:cs typeface="Arial" pitchFamily="34" charset="-120"/>
              </a:rPr>
              <a:t>Calidad por entrega: el registro de calidad</a:t>
            </a:r>
            <a:endParaRPr lang="en-US" sz="2400" dirty="0"/>
          </a:p>
        </p:txBody>
      </p:sp>
      <p:sp>
        <p:nvSpPr>
          <p:cNvPr id="3" name="Shape 1"/>
          <p:cNvSpPr/>
          <p:nvPr/>
        </p:nvSpPr>
        <p:spPr>
          <a:xfrm>
            <a:off x="457200" y="1280160"/>
            <a:ext cx="11274552" cy="870509"/>
          </a:xfrm>
          <a:prstGeom prst="roundRect">
            <a:avLst>
              <a:gd name="adj" fmla="val 10504"/>
            </a:avLst>
          </a:prstGeom>
          <a:solidFill>
            <a:srgbClr val="E9F1F8"/>
          </a:solidFill>
          <a:ln w="12700">
            <a:solidFill>
              <a:srgbClr val="E9F1F8"/>
            </a:solidFill>
            <a:prstDash val="solid"/>
          </a:ln>
        </p:spPr>
      </p:sp>
      <p:sp>
        <p:nvSpPr>
          <p:cNvPr id="4" name="Shape 2"/>
          <p:cNvSpPr/>
          <p:nvPr/>
        </p:nvSpPr>
        <p:spPr>
          <a:xfrm>
            <a:off x="621792" y="1486814"/>
            <a:ext cx="457200" cy="457200"/>
          </a:xfrm>
          <a:prstGeom prst="roundRect">
            <a:avLst>
              <a:gd name="adj" fmla="val 16000"/>
            </a:avLst>
          </a:prstGeom>
          <a:solidFill>
            <a:srgbClr val="00629B"/>
          </a:solidFill>
          <a:ln w="12700">
            <a:solidFill>
              <a:srgbClr val="00629B"/>
            </a:solidFill>
            <a:prstDash val="solid"/>
          </a:ln>
        </p:spPr>
      </p:sp>
      <p:sp>
        <p:nvSpPr>
          <p:cNvPr id="5" name="Text 3"/>
          <p:cNvSpPr txBox="1"/>
          <p:nvPr/>
        </p:nvSpPr>
        <p:spPr>
          <a:xfrm>
            <a:off x="621792" y="1486814"/>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1</a:t>
            </a:r>
            <a:endParaRPr lang="en-US" sz="1600" dirty="0"/>
          </a:p>
        </p:txBody>
      </p:sp>
      <p:sp>
        <p:nvSpPr>
          <p:cNvPr id="6" name="Text 4"/>
          <p:cNvSpPr txBox="1"/>
          <p:nvPr/>
        </p:nvSpPr>
        <p:spPr>
          <a:xfrm>
            <a:off x="1280160" y="1335024"/>
            <a:ext cx="10222992" cy="760781"/>
          </a:xfrm>
          <a:prstGeom prst="rect">
            <a:avLst/>
          </a:prstGeom>
          <a:noFill/>
          <a:ln/>
        </p:spPr>
        <p:txBody>
          <a:bodyPr wrap="square" lIns="0" tIns="0" rIns="0" bIns="0" rtlCol="0" anchor="ctr"/>
          <a:lstStyle/>
          <a:p>
            <a:pPr indent="0" marL="0">
              <a:buNone/>
            </a:pPr>
            <a:r>
              <a:rPr lang="en-US" sz="2000" dirty="0">
                <a:solidFill>
                  <a:srgbClr val="272425"/>
                </a:solidFill>
                <a:latin typeface="Arial" pitchFamily="34" charset="0"/>
                <a:ea typeface="Arial" pitchFamily="34" charset="-122"/>
                <a:cs typeface="Arial" pitchFamily="34" charset="-120"/>
              </a:rPr>
              <a:t>Una revisión por historia que la cita</a:t>
            </a:r>
            <a:endParaRPr lang="en-US" sz="1600" dirty="0"/>
          </a:p>
        </p:txBody>
      </p:sp>
      <p:sp>
        <p:nvSpPr>
          <p:cNvPr id="7" name="Shape 5"/>
          <p:cNvSpPr/>
          <p:nvPr/>
        </p:nvSpPr>
        <p:spPr>
          <a:xfrm>
            <a:off x="457200" y="2296973"/>
            <a:ext cx="11274552" cy="870509"/>
          </a:xfrm>
          <a:prstGeom prst="roundRect">
            <a:avLst>
              <a:gd name="adj" fmla="val 10504"/>
            </a:avLst>
          </a:prstGeom>
          <a:solidFill>
            <a:srgbClr val="F4F6F8"/>
          </a:solidFill>
          <a:ln w="12700">
            <a:solidFill>
              <a:srgbClr val="F4F6F8"/>
            </a:solidFill>
            <a:prstDash val="solid"/>
          </a:ln>
        </p:spPr>
      </p:sp>
      <p:sp>
        <p:nvSpPr>
          <p:cNvPr id="8" name="Shape 6"/>
          <p:cNvSpPr/>
          <p:nvPr/>
        </p:nvSpPr>
        <p:spPr>
          <a:xfrm>
            <a:off x="621792" y="2503627"/>
            <a:ext cx="457200" cy="457200"/>
          </a:xfrm>
          <a:prstGeom prst="roundRect">
            <a:avLst>
              <a:gd name="adj" fmla="val 16000"/>
            </a:avLst>
          </a:prstGeom>
          <a:solidFill>
            <a:srgbClr val="00629B"/>
          </a:solidFill>
          <a:ln w="12700">
            <a:solidFill>
              <a:srgbClr val="00629B"/>
            </a:solidFill>
            <a:prstDash val="solid"/>
          </a:ln>
        </p:spPr>
      </p:sp>
      <p:sp>
        <p:nvSpPr>
          <p:cNvPr id="9" name="Text 7"/>
          <p:cNvSpPr txBox="1"/>
          <p:nvPr/>
        </p:nvSpPr>
        <p:spPr>
          <a:xfrm>
            <a:off x="621792" y="2503627"/>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2</a:t>
            </a:r>
            <a:endParaRPr lang="en-US" sz="1600" dirty="0"/>
          </a:p>
        </p:txBody>
      </p:sp>
      <p:sp>
        <p:nvSpPr>
          <p:cNvPr id="10" name="Text 8"/>
          <p:cNvSpPr txBox="1"/>
          <p:nvPr/>
        </p:nvSpPr>
        <p:spPr>
          <a:xfrm>
            <a:off x="1280160" y="2351837"/>
            <a:ext cx="10222992" cy="760781"/>
          </a:xfrm>
          <a:prstGeom prst="rect">
            <a:avLst/>
          </a:prstGeom>
          <a:noFill/>
          <a:ln/>
        </p:spPr>
        <p:txBody>
          <a:bodyPr wrap="square" lIns="0" tIns="0" rIns="0" bIns="0" rtlCol="0" anchor="ctr"/>
          <a:lstStyle/>
          <a:p>
            <a:pPr indent="0" marL="0">
              <a:buNone/>
            </a:pPr>
            <a:r>
              <a:rPr lang="en-US" sz="2000" dirty="0">
                <a:solidFill>
                  <a:srgbClr val="272425"/>
                </a:solidFill>
                <a:latin typeface="Arial" pitchFamily="34" charset="0"/>
                <a:ea typeface="Arial" pitchFamily="34" charset="-122"/>
                <a:cs typeface="Arial" pitchFamily="34" charset="-120"/>
              </a:rPr>
              <a:t>QUA-01: terminado sin revisión aprobada</a:t>
            </a:r>
            <a:endParaRPr lang="en-US" sz="1600" dirty="0"/>
          </a:p>
        </p:txBody>
      </p:sp>
      <p:sp>
        <p:nvSpPr>
          <p:cNvPr id="11" name="Shape 9"/>
          <p:cNvSpPr/>
          <p:nvPr/>
        </p:nvSpPr>
        <p:spPr>
          <a:xfrm>
            <a:off x="457200" y="3313786"/>
            <a:ext cx="11274552" cy="870509"/>
          </a:xfrm>
          <a:prstGeom prst="roundRect">
            <a:avLst>
              <a:gd name="adj" fmla="val 10504"/>
            </a:avLst>
          </a:prstGeom>
          <a:solidFill>
            <a:srgbClr val="E9F1F8"/>
          </a:solidFill>
          <a:ln w="12700">
            <a:solidFill>
              <a:srgbClr val="E9F1F8"/>
            </a:solidFill>
            <a:prstDash val="solid"/>
          </a:ln>
        </p:spPr>
      </p:sp>
      <p:sp>
        <p:nvSpPr>
          <p:cNvPr id="12" name="Shape 10"/>
          <p:cNvSpPr/>
          <p:nvPr/>
        </p:nvSpPr>
        <p:spPr>
          <a:xfrm>
            <a:off x="621792" y="3520440"/>
            <a:ext cx="457200" cy="457200"/>
          </a:xfrm>
          <a:prstGeom prst="roundRect">
            <a:avLst>
              <a:gd name="adj" fmla="val 16000"/>
            </a:avLst>
          </a:prstGeom>
          <a:solidFill>
            <a:srgbClr val="00629B"/>
          </a:solidFill>
          <a:ln w="12700">
            <a:solidFill>
              <a:srgbClr val="00629B"/>
            </a:solidFill>
            <a:prstDash val="solid"/>
          </a:ln>
        </p:spPr>
      </p:sp>
      <p:sp>
        <p:nvSpPr>
          <p:cNvPr id="13" name="Text 11"/>
          <p:cNvSpPr txBox="1"/>
          <p:nvPr/>
        </p:nvSpPr>
        <p:spPr>
          <a:xfrm>
            <a:off x="621792" y="3520440"/>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3</a:t>
            </a:r>
            <a:endParaRPr lang="en-US" sz="1600" dirty="0"/>
          </a:p>
        </p:txBody>
      </p:sp>
      <p:sp>
        <p:nvSpPr>
          <p:cNvPr id="14" name="Text 12"/>
          <p:cNvSpPr txBox="1"/>
          <p:nvPr/>
        </p:nvSpPr>
        <p:spPr>
          <a:xfrm>
            <a:off x="1280160" y="3368650"/>
            <a:ext cx="10222992" cy="760781"/>
          </a:xfrm>
          <a:prstGeom prst="rect">
            <a:avLst/>
          </a:prstGeom>
          <a:noFill/>
          <a:ln/>
        </p:spPr>
        <p:txBody>
          <a:bodyPr wrap="square" lIns="0" tIns="0" rIns="0" bIns="0" rtlCol="0" anchor="ctr"/>
          <a:lstStyle/>
          <a:p>
            <a:pPr indent="0" marL="0">
              <a:buNone/>
            </a:pPr>
            <a:r>
              <a:rPr lang="en-US" sz="2000" dirty="0">
                <a:solidFill>
                  <a:srgbClr val="272425"/>
                </a:solidFill>
                <a:latin typeface="Arial" pitchFamily="34" charset="0"/>
                <a:ea typeface="Arial" pitchFamily="34" charset="-122"/>
                <a:cs typeface="Arial" pitchFamily="34" charset="-120"/>
              </a:rPr>
              <a:t>QUA-02: revisión vencida</a:t>
            </a:r>
            <a:endParaRPr lang="en-US" sz="1600" dirty="0"/>
          </a:p>
        </p:txBody>
      </p:sp>
      <p:sp>
        <p:nvSpPr>
          <p:cNvPr id="15" name="Shape 13"/>
          <p:cNvSpPr/>
          <p:nvPr/>
        </p:nvSpPr>
        <p:spPr>
          <a:xfrm>
            <a:off x="457200" y="4330598"/>
            <a:ext cx="11274552" cy="870509"/>
          </a:xfrm>
          <a:prstGeom prst="roundRect">
            <a:avLst>
              <a:gd name="adj" fmla="val 10504"/>
            </a:avLst>
          </a:prstGeom>
          <a:solidFill>
            <a:srgbClr val="F4F6F8"/>
          </a:solidFill>
          <a:ln w="12700">
            <a:solidFill>
              <a:srgbClr val="F4F6F8"/>
            </a:solidFill>
            <a:prstDash val="solid"/>
          </a:ln>
        </p:spPr>
      </p:sp>
      <p:sp>
        <p:nvSpPr>
          <p:cNvPr id="16" name="Shape 14"/>
          <p:cNvSpPr/>
          <p:nvPr/>
        </p:nvSpPr>
        <p:spPr>
          <a:xfrm>
            <a:off x="621792" y="4537253"/>
            <a:ext cx="457200" cy="457200"/>
          </a:xfrm>
          <a:prstGeom prst="roundRect">
            <a:avLst>
              <a:gd name="adj" fmla="val 16000"/>
            </a:avLst>
          </a:prstGeom>
          <a:solidFill>
            <a:srgbClr val="00629B"/>
          </a:solidFill>
          <a:ln w="12700">
            <a:solidFill>
              <a:srgbClr val="00629B"/>
            </a:solidFill>
            <a:prstDash val="solid"/>
          </a:ln>
        </p:spPr>
      </p:sp>
      <p:sp>
        <p:nvSpPr>
          <p:cNvPr id="17" name="Text 15"/>
          <p:cNvSpPr txBox="1"/>
          <p:nvPr/>
        </p:nvSpPr>
        <p:spPr>
          <a:xfrm>
            <a:off x="621792" y="4537253"/>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4</a:t>
            </a:r>
            <a:endParaRPr lang="en-US" sz="1600" dirty="0"/>
          </a:p>
        </p:txBody>
      </p:sp>
      <p:sp>
        <p:nvSpPr>
          <p:cNvPr id="18" name="Text 16"/>
          <p:cNvSpPr txBox="1"/>
          <p:nvPr/>
        </p:nvSpPr>
        <p:spPr>
          <a:xfrm>
            <a:off x="1280160" y="4385462"/>
            <a:ext cx="10222992" cy="760781"/>
          </a:xfrm>
          <a:prstGeom prst="rect">
            <a:avLst/>
          </a:prstGeom>
          <a:noFill/>
          <a:ln/>
        </p:spPr>
        <p:txBody>
          <a:bodyPr wrap="square" lIns="0" tIns="0" rIns="0" bIns="0" rtlCol="0" anchor="ctr"/>
          <a:lstStyle/>
          <a:p>
            <a:pPr indent="0" marL="0">
              <a:buNone/>
            </a:pPr>
            <a:r>
              <a:rPr lang="en-US" sz="2000" dirty="0">
                <a:solidFill>
                  <a:srgbClr val="272425"/>
                </a:solidFill>
                <a:latin typeface="Arial" pitchFamily="34" charset="0"/>
                <a:ea typeface="Arial" pitchFamily="34" charset="-122"/>
                <a:cs typeface="Arial" pitchFamily="34" charset="-120"/>
              </a:rPr>
              <a:t>QUA-03: rechazo sin tratamiento</a:t>
            </a:r>
            <a:endParaRPr lang="en-US" sz="1600" dirty="0"/>
          </a:p>
        </p:txBody>
      </p:sp>
      <p:sp>
        <p:nvSpPr>
          <p:cNvPr id="19" name="Shape 17"/>
          <p:cNvSpPr/>
          <p:nvPr/>
        </p:nvSpPr>
        <p:spPr>
          <a:xfrm>
            <a:off x="457200" y="5347411"/>
            <a:ext cx="11274552" cy="870509"/>
          </a:xfrm>
          <a:prstGeom prst="roundRect">
            <a:avLst>
              <a:gd name="adj" fmla="val 10504"/>
            </a:avLst>
          </a:prstGeom>
          <a:solidFill>
            <a:srgbClr val="E9F1F8"/>
          </a:solidFill>
          <a:ln w="12700">
            <a:solidFill>
              <a:srgbClr val="E9F1F8"/>
            </a:solidFill>
            <a:prstDash val="solid"/>
          </a:ln>
        </p:spPr>
      </p:sp>
      <p:sp>
        <p:nvSpPr>
          <p:cNvPr id="20" name="Shape 18"/>
          <p:cNvSpPr/>
          <p:nvPr/>
        </p:nvSpPr>
        <p:spPr>
          <a:xfrm>
            <a:off x="621792" y="5554066"/>
            <a:ext cx="457200" cy="457200"/>
          </a:xfrm>
          <a:prstGeom prst="roundRect">
            <a:avLst>
              <a:gd name="adj" fmla="val 16000"/>
            </a:avLst>
          </a:prstGeom>
          <a:solidFill>
            <a:srgbClr val="00629B"/>
          </a:solidFill>
          <a:ln w="12700">
            <a:solidFill>
              <a:srgbClr val="00629B"/>
            </a:solidFill>
            <a:prstDash val="solid"/>
          </a:ln>
        </p:spPr>
      </p:sp>
      <p:sp>
        <p:nvSpPr>
          <p:cNvPr id="21" name="Text 19"/>
          <p:cNvSpPr txBox="1"/>
          <p:nvPr/>
        </p:nvSpPr>
        <p:spPr>
          <a:xfrm>
            <a:off x="621792" y="5554066"/>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5</a:t>
            </a:r>
            <a:endParaRPr lang="en-US" sz="1600" dirty="0"/>
          </a:p>
        </p:txBody>
      </p:sp>
      <p:sp>
        <p:nvSpPr>
          <p:cNvPr id="22" name="Text 20"/>
          <p:cNvSpPr txBox="1"/>
          <p:nvPr/>
        </p:nvSpPr>
        <p:spPr>
          <a:xfrm>
            <a:off x="1280160" y="5402275"/>
            <a:ext cx="10222992" cy="760781"/>
          </a:xfrm>
          <a:prstGeom prst="rect">
            <a:avLst/>
          </a:prstGeom>
          <a:noFill/>
          <a:ln/>
        </p:spPr>
        <p:txBody>
          <a:bodyPr wrap="square" lIns="0" tIns="0" rIns="0" bIns="0" rtlCol="0" anchor="ctr"/>
          <a:lstStyle/>
          <a:p>
            <a:pPr indent="0" marL="0">
              <a:buNone/>
            </a:pPr>
            <a:r>
              <a:rPr lang="en-US" sz="2000" dirty="0">
                <a:solidFill>
                  <a:srgbClr val="272425"/>
                </a:solidFill>
                <a:latin typeface="Arial" pitchFamily="34" charset="0"/>
                <a:ea typeface="Arial" pitchFamily="34" charset="-122"/>
                <a:cs typeface="Arial" pitchFamily="34" charset="-120"/>
              </a:rPr>
              <a:t>Registro en lote por entrega</a:t>
            </a:r>
            <a:endParaRPr lang="en-US" sz="1600" dirty="0"/>
          </a:p>
        </p:txBody>
      </p:sp>
      <p:sp>
        <p:nvSpPr>
          <p:cNvPr id="25" name="Slide Number Placeholder 0"/>
          <p:cNvSpPr>
            <a:spLocks noGrp="1"/>
          </p:cNvSpPr>
          <p:nvPr>
            <p:ph type="sldNum" sz="quarter" idx="4294967295"/>
          </p:nvPr>
        </p:nvSpPr>
        <p:spPr>
          <a:xfrm>
            <a:off x="11091672" y="6419088"/>
            <a:ext cx="64008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rgbClr val="696969"/>
                </a:solidFill>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3"/>
          <p:cNvSpPr/>
          <p:nvPr>
            <p:ph idx="103" type="title" hasCustomPrompt="1"/>
          </p:nvPr>
        </p:nvSpPr>
        <p:spPr>
          <a:xfrm>
            <a:off x="658368" y="365760"/>
            <a:ext cx="9244584" cy="713232"/>
          </a:xfrm>
          <a:prstGeom prst="rect">
            <a:avLst/>
          </a:prstGeom>
          <a:noFill/>
          <a:ln/>
        </p:spPr>
        <p:txBody>
          <a:bodyPr wrap="square" lIns="0" tIns="0" rIns="0" bIns="0" rtlCol="0" anchor="ctr"/>
          <a:lstStyle/>
          <a:p>
            <a:pPr algn="l" indent="0" marL="0">
              <a:buNone/>
            </a:pPr>
            <a:r>
              <a:rPr lang="en-US" sz="2400" b="1" dirty="0">
                <a:solidFill>
                  <a:srgbClr val="FFFFFF"/>
                </a:solidFill>
                <a:latin typeface="Arial" pitchFamily="34" charset="0"/>
                <a:ea typeface="Arial" pitchFamily="34" charset="-122"/>
                <a:cs typeface="Arial" pitchFamily="34" charset="-120"/>
              </a:rPr>
              <a:t>Recorrido del cliente: cada dolor con tratamiento</a:t>
            </a:r>
            <a:endParaRPr lang="en-US" sz="2400" dirty="0"/>
          </a:p>
        </p:txBody>
      </p:sp>
      <p:sp>
        <p:nvSpPr>
          <p:cNvPr id="3" name="Shape 1"/>
          <p:cNvSpPr/>
          <p:nvPr/>
        </p:nvSpPr>
        <p:spPr>
          <a:xfrm>
            <a:off x="457200" y="1280160"/>
            <a:ext cx="11274552" cy="870509"/>
          </a:xfrm>
          <a:prstGeom prst="roundRect">
            <a:avLst>
              <a:gd name="adj" fmla="val 10504"/>
            </a:avLst>
          </a:prstGeom>
          <a:solidFill>
            <a:srgbClr val="E9F1F8"/>
          </a:solidFill>
          <a:ln w="12700">
            <a:solidFill>
              <a:srgbClr val="E9F1F8"/>
            </a:solidFill>
            <a:prstDash val="solid"/>
          </a:ln>
        </p:spPr>
      </p:sp>
      <p:sp>
        <p:nvSpPr>
          <p:cNvPr id="4" name="Shape 2"/>
          <p:cNvSpPr/>
          <p:nvPr/>
        </p:nvSpPr>
        <p:spPr>
          <a:xfrm>
            <a:off x="621792" y="1486814"/>
            <a:ext cx="457200" cy="457200"/>
          </a:xfrm>
          <a:prstGeom prst="roundRect">
            <a:avLst>
              <a:gd name="adj" fmla="val 16000"/>
            </a:avLst>
          </a:prstGeom>
          <a:solidFill>
            <a:srgbClr val="00629B"/>
          </a:solidFill>
          <a:ln w="12700">
            <a:solidFill>
              <a:srgbClr val="00629B"/>
            </a:solidFill>
            <a:prstDash val="solid"/>
          </a:ln>
        </p:spPr>
      </p:sp>
      <p:sp>
        <p:nvSpPr>
          <p:cNvPr id="5" name="Text 3"/>
          <p:cNvSpPr txBox="1"/>
          <p:nvPr/>
        </p:nvSpPr>
        <p:spPr>
          <a:xfrm>
            <a:off x="621792" y="1486814"/>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1</a:t>
            </a:r>
            <a:endParaRPr lang="en-US" sz="1600" dirty="0"/>
          </a:p>
        </p:txBody>
      </p:sp>
      <p:sp>
        <p:nvSpPr>
          <p:cNvPr id="6" name="Text 4"/>
          <p:cNvSpPr txBox="1"/>
          <p:nvPr/>
        </p:nvSpPr>
        <p:spPr>
          <a:xfrm>
            <a:off x="1280160" y="1335024"/>
            <a:ext cx="10222992" cy="760781"/>
          </a:xfrm>
          <a:prstGeom prst="rect">
            <a:avLst/>
          </a:prstGeom>
          <a:noFill/>
          <a:ln/>
        </p:spPr>
        <p:txBody>
          <a:bodyPr wrap="square" lIns="0" tIns="0" rIns="0" bIns="0" rtlCol="0" anchor="ctr"/>
          <a:lstStyle/>
          <a:p>
            <a:pPr indent="0" marL="0">
              <a:buNone/>
            </a:pPr>
            <a:r>
              <a:rPr lang="en-US" sz="2000" dirty="0">
                <a:solidFill>
                  <a:srgbClr val="272425"/>
                </a:solidFill>
                <a:latin typeface="Arial" pitchFamily="34" charset="0"/>
                <a:ea typeface="Arial" pitchFamily="34" charset="-122"/>
                <a:cs typeface="Arial" pitchFamily="34" charset="-120"/>
              </a:rPr>
              <a:t>Acciones, emoción (−2 a +2) con fuente y dolores</a:t>
            </a:r>
            <a:endParaRPr lang="en-US" sz="1600" dirty="0"/>
          </a:p>
        </p:txBody>
      </p:sp>
      <p:sp>
        <p:nvSpPr>
          <p:cNvPr id="7" name="Shape 5"/>
          <p:cNvSpPr/>
          <p:nvPr/>
        </p:nvSpPr>
        <p:spPr>
          <a:xfrm>
            <a:off x="457200" y="2296973"/>
            <a:ext cx="11274552" cy="870509"/>
          </a:xfrm>
          <a:prstGeom prst="roundRect">
            <a:avLst>
              <a:gd name="adj" fmla="val 10504"/>
            </a:avLst>
          </a:prstGeom>
          <a:solidFill>
            <a:srgbClr val="F4F6F8"/>
          </a:solidFill>
          <a:ln w="12700">
            <a:solidFill>
              <a:srgbClr val="F4F6F8"/>
            </a:solidFill>
            <a:prstDash val="solid"/>
          </a:ln>
        </p:spPr>
      </p:sp>
      <p:sp>
        <p:nvSpPr>
          <p:cNvPr id="8" name="Shape 6"/>
          <p:cNvSpPr/>
          <p:nvPr/>
        </p:nvSpPr>
        <p:spPr>
          <a:xfrm>
            <a:off x="621792" y="2503627"/>
            <a:ext cx="457200" cy="457200"/>
          </a:xfrm>
          <a:prstGeom prst="roundRect">
            <a:avLst>
              <a:gd name="adj" fmla="val 16000"/>
            </a:avLst>
          </a:prstGeom>
          <a:solidFill>
            <a:srgbClr val="00629B"/>
          </a:solidFill>
          <a:ln w="12700">
            <a:solidFill>
              <a:srgbClr val="00629B"/>
            </a:solidFill>
            <a:prstDash val="solid"/>
          </a:ln>
        </p:spPr>
      </p:sp>
      <p:sp>
        <p:nvSpPr>
          <p:cNvPr id="9" name="Text 7"/>
          <p:cNvSpPr txBox="1"/>
          <p:nvPr/>
        </p:nvSpPr>
        <p:spPr>
          <a:xfrm>
            <a:off x="621792" y="2503627"/>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2</a:t>
            </a:r>
            <a:endParaRPr lang="en-US" sz="1600" dirty="0"/>
          </a:p>
        </p:txBody>
      </p:sp>
      <p:sp>
        <p:nvSpPr>
          <p:cNvPr id="10" name="Text 8"/>
          <p:cNvSpPr txBox="1"/>
          <p:nvPr/>
        </p:nvSpPr>
        <p:spPr>
          <a:xfrm>
            <a:off x="1280160" y="2351837"/>
            <a:ext cx="10222992" cy="760781"/>
          </a:xfrm>
          <a:prstGeom prst="rect">
            <a:avLst/>
          </a:prstGeom>
          <a:noFill/>
          <a:ln/>
        </p:spPr>
        <p:txBody>
          <a:bodyPr wrap="square" lIns="0" tIns="0" rIns="0" bIns="0" rtlCol="0" anchor="ctr"/>
          <a:lstStyle/>
          <a:p>
            <a:pPr indent="0" marL="0">
              <a:buNone/>
            </a:pPr>
            <a:r>
              <a:rPr lang="en-US" sz="2000" dirty="0">
                <a:solidFill>
                  <a:srgbClr val="272425"/>
                </a:solidFill>
                <a:latin typeface="Arial" pitchFamily="34" charset="0"/>
                <a:ea typeface="Arial" pitchFamily="34" charset="-122"/>
                <a:cs typeface="Arial" pitchFamily="34" charset="-120"/>
              </a:rPr>
              <a:t>Carriles: lo que ve, lo que no ve, soporte</a:t>
            </a:r>
            <a:endParaRPr lang="en-US" sz="1600" dirty="0"/>
          </a:p>
        </p:txBody>
      </p:sp>
      <p:sp>
        <p:nvSpPr>
          <p:cNvPr id="11" name="Shape 9"/>
          <p:cNvSpPr/>
          <p:nvPr/>
        </p:nvSpPr>
        <p:spPr>
          <a:xfrm>
            <a:off x="457200" y="3313786"/>
            <a:ext cx="11274552" cy="870509"/>
          </a:xfrm>
          <a:prstGeom prst="roundRect">
            <a:avLst>
              <a:gd name="adj" fmla="val 10504"/>
            </a:avLst>
          </a:prstGeom>
          <a:solidFill>
            <a:srgbClr val="E9F1F8"/>
          </a:solidFill>
          <a:ln w="12700">
            <a:solidFill>
              <a:srgbClr val="E9F1F8"/>
            </a:solidFill>
            <a:prstDash val="solid"/>
          </a:ln>
        </p:spPr>
      </p:sp>
      <p:sp>
        <p:nvSpPr>
          <p:cNvPr id="12" name="Shape 10"/>
          <p:cNvSpPr/>
          <p:nvPr/>
        </p:nvSpPr>
        <p:spPr>
          <a:xfrm>
            <a:off x="621792" y="3520440"/>
            <a:ext cx="457200" cy="457200"/>
          </a:xfrm>
          <a:prstGeom prst="roundRect">
            <a:avLst>
              <a:gd name="adj" fmla="val 16000"/>
            </a:avLst>
          </a:prstGeom>
          <a:solidFill>
            <a:srgbClr val="00629B"/>
          </a:solidFill>
          <a:ln w="12700">
            <a:solidFill>
              <a:srgbClr val="00629B"/>
            </a:solidFill>
            <a:prstDash val="solid"/>
          </a:ln>
        </p:spPr>
      </p:sp>
      <p:sp>
        <p:nvSpPr>
          <p:cNvPr id="13" name="Text 11"/>
          <p:cNvSpPr txBox="1"/>
          <p:nvPr/>
        </p:nvSpPr>
        <p:spPr>
          <a:xfrm>
            <a:off x="621792" y="3520440"/>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3</a:t>
            </a:r>
            <a:endParaRPr lang="en-US" sz="1600" dirty="0"/>
          </a:p>
        </p:txBody>
      </p:sp>
      <p:sp>
        <p:nvSpPr>
          <p:cNvPr id="14" name="Text 12"/>
          <p:cNvSpPr txBox="1"/>
          <p:nvPr/>
        </p:nvSpPr>
        <p:spPr>
          <a:xfrm>
            <a:off x="1280160" y="3368650"/>
            <a:ext cx="10222992" cy="760781"/>
          </a:xfrm>
          <a:prstGeom prst="rect">
            <a:avLst/>
          </a:prstGeom>
          <a:noFill/>
          <a:ln/>
        </p:spPr>
        <p:txBody>
          <a:bodyPr wrap="square" lIns="0" tIns="0" rIns="0" bIns="0" rtlCol="0" anchor="ctr"/>
          <a:lstStyle/>
          <a:p>
            <a:pPr indent="0" marL="0">
              <a:buNone/>
            </a:pPr>
            <a:r>
              <a:rPr lang="en-US" sz="2000" dirty="0">
                <a:solidFill>
                  <a:srgbClr val="272425"/>
                </a:solidFill>
                <a:latin typeface="Arial" pitchFamily="34" charset="0"/>
                <a:ea typeface="Arial" pitchFamily="34" charset="-122"/>
                <a:cs typeface="Arial" pitchFamily="34" charset="-120"/>
              </a:rPr>
              <a:t>Parte del recorrido UJ-1 del PRD de BMAD</a:t>
            </a:r>
            <a:endParaRPr lang="en-US" sz="1600" dirty="0"/>
          </a:p>
        </p:txBody>
      </p:sp>
      <p:sp>
        <p:nvSpPr>
          <p:cNvPr id="15" name="Shape 13"/>
          <p:cNvSpPr/>
          <p:nvPr/>
        </p:nvSpPr>
        <p:spPr>
          <a:xfrm>
            <a:off x="457200" y="4330598"/>
            <a:ext cx="11274552" cy="870509"/>
          </a:xfrm>
          <a:prstGeom prst="roundRect">
            <a:avLst>
              <a:gd name="adj" fmla="val 10504"/>
            </a:avLst>
          </a:prstGeom>
          <a:solidFill>
            <a:srgbClr val="F4F6F8"/>
          </a:solidFill>
          <a:ln w="12700">
            <a:solidFill>
              <a:srgbClr val="F4F6F8"/>
            </a:solidFill>
            <a:prstDash val="solid"/>
          </a:ln>
        </p:spPr>
      </p:sp>
      <p:sp>
        <p:nvSpPr>
          <p:cNvPr id="16" name="Shape 14"/>
          <p:cNvSpPr/>
          <p:nvPr/>
        </p:nvSpPr>
        <p:spPr>
          <a:xfrm>
            <a:off x="621792" y="4537253"/>
            <a:ext cx="457200" cy="457200"/>
          </a:xfrm>
          <a:prstGeom prst="roundRect">
            <a:avLst>
              <a:gd name="adj" fmla="val 16000"/>
            </a:avLst>
          </a:prstGeom>
          <a:solidFill>
            <a:srgbClr val="00629B"/>
          </a:solidFill>
          <a:ln w="12700">
            <a:solidFill>
              <a:srgbClr val="00629B"/>
            </a:solidFill>
            <a:prstDash val="solid"/>
          </a:ln>
        </p:spPr>
      </p:sp>
      <p:sp>
        <p:nvSpPr>
          <p:cNvPr id="17" name="Text 15"/>
          <p:cNvSpPr txBox="1"/>
          <p:nvPr/>
        </p:nvSpPr>
        <p:spPr>
          <a:xfrm>
            <a:off x="621792" y="4537253"/>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4</a:t>
            </a:r>
            <a:endParaRPr lang="en-US" sz="1600" dirty="0"/>
          </a:p>
        </p:txBody>
      </p:sp>
      <p:sp>
        <p:nvSpPr>
          <p:cNvPr id="18" name="Text 16"/>
          <p:cNvSpPr txBox="1"/>
          <p:nvPr/>
        </p:nvSpPr>
        <p:spPr>
          <a:xfrm>
            <a:off x="1280160" y="4385462"/>
            <a:ext cx="10222992" cy="760781"/>
          </a:xfrm>
          <a:prstGeom prst="rect">
            <a:avLst/>
          </a:prstGeom>
          <a:noFill/>
          <a:ln/>
        </p:spPr>
        <p:txBody>
          <a:bodyPr wrap="square" lIns="0" tIns="0" rIns="0" bIns="0" rtlCol="0" anchor="ctr"/>
          <a:lstStyle/>
          <a:p>
            <a:pPr indent="0" marL="0">
              <a:buNone/>
            </a:pPr>
            <a:r>
              <a:rPr lang="en-US" sz="2000" dirty="0">
                <a:solidFill>
                  <a:srgbClr val="272425"/>
                </a:solidFill>
                <a:latin typeface="Arial" pitchFamily="34" charset="0"/>
                <a:ea typeface="Arial" pitchFamily="34" charset="-122"/>
                <a:cs typeface="Arial" pitchFamily="34" charset="-120"/>
              </a:rPr>
              <a:t>Tratamiento: requisito, historia, riesgo, issue, decisión…</a:t>
            </a:r>
            <a:endParaRPr lang="en-US" sz="1600" dirty="0"/>
          </a:p>
        </p:txBody>
      </p:sp>
      <p:sp>
        <p:nvSpPr>
          <p:cNvPr id="19" name="Shape 17"/>
          <p:cNvSpPr/>
          <p:nvPr/>
        </p:nvSpPr>
        <p:spPr>
          <a:xfrm>
            <a:off x="457200" y="5347411"/>
            <a:ext cx="11274552" cy="870509"/>
          </a:xfrm>
          <a:prstGeom prst="roundRect">
            <a:avLst>
              <a:gd name="adj" fmla="val 10504"/>
            </a:avLst>
          </a:prstGeom>
          <a:solidFill>
            <a:srgbClr val="E9F1F8"/>
          </a:solidFill>
          <a:ln w="12700">
            <a:solidFill>
              <a:srgbClr val="E9F1F8"/>
            </a:solidFill>
            <a:prstDash val="solid"/>
          </a:ln>
        </p:spPr>
      </p:sp>
      <p:sp>
        <p:nvSpPr>
          <p:cNvPr id="20" name="Shape 18"/>
          <p:cNvSpPr/>
          <p:nvPr/>
        </p:nvSpPr>
        <p:spPr>
          <a:xfrm>
            <a:off x="621792" y="5554066"/>
            <a:ext cx="457200" cy="457200"/>
          </a:xfrm>
          <a:prstGeom prst="roundRect">
            <a:avLst>
              <a:gd name="adj" fmla="val 16000"/>
            </a:avLst>
          </a:prstGeom>
          <a:solidFill>
            <a:srgbClr val="00629B"/>
          </a:solidFill>
          <a:ln w="12700">
            <a:solidFill>
              <a:srgbClr val="00629B"/>
            </a:solidFill>
            <a:prstDash val="solid"/>
          </a:ln>
        </p:spPr>
      </p:sp>
      <p:sp>
        <p:nvSpPr>
          <p:cNvPr id="21" name="Text 19"/>
          <p:cNvSpPr txBox="1"/>
          <p:nvPr/>
        </p:nvSpPr>
        <p:spPr>
          <a:xfrm>
            <a:off x="621792" y="5554066"/>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5</a:t>
            </a:r>
            <a:endParaRPr lang="en-US" sz="1600" dirty="0"/>
          </a:p>
        </p:txBody>
      </p:sp>
      <p:sp>
        <p:nvSpPr>
          <p:cNvPr id="22" name="Text 20"/>
          <p:cNvSpPr txBox="1"/>
          <p:nvPr/>
        </p:nvSpPr>
        <p:spPr>
          <a:xfrm>
            <a:off x="1280160" y="5402275"/>
            <a:ext cx="10222992" cy="760781"/>
          </a:xfrm>
          <a:prstGeom prst="rect">
            <a:avLst/>
          </a:prstGeom>
          <a:noFill/>
          <a:ln/>
        </p:spPr>
        <p:txBody>
          <a:bodyPr wrap="square" lIns="0" tIns="0" rIns="0" bIns="0" rtlCol="0" anchor="ctr"/>
          <a:lstStyle/>
          <a:p>
            <a:pPr indent="0" marL="0">
              <a:buNone/>
            </a:pPr>
            <a:r>
              <a:rPr lang="en-US" sz="2000" dirty="0">
                <a:solidFill>
                  <a:srgbClr val="272425"/>
                </a:solidFill>
                <a:latin typeface="Arial" pitchFamily="34" charset="0"/>
                <a:ea typeface="Arial" pitchFamily="34" charset="-122"/>
                <a:cs typeface="Arial" pitchFamily="34" charset="-120"/>
              </a:rPr>
              <a:t>MAP-03: dolor sin tratamiento, en cada sanidad</a:t>
            </a:r>
            <a:endParaRPr lang="en-US" sz="1600" dirty="0"/>
          </a:p>
        </p:txBody>
      </p:sp>
      <p:sp>
        <p:nvSpPr>
          <p:cNvPr id="25" name="Slide Number Placeholder 0"/>
          <p:cNvSpPr>
            <a:spLocks noGrp="1"/>
          </p:cNvSpPr>
          <p:nvPr>
            <p:ph type="sldNum" sz="quarter" idx="4294967295"/>
          </p:nvPr>
        </p:nvSpPr>
        <p:spPr>
          <a:xfrm>
            <a:off x="11091672" y="6419088"/>
            <a:ext cx="64008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rgbClr val="696969"/>
                </a:solidFill>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3"/>
          <p:cNvSpPr/>
          <p:nvPr>
            <p:ph idx="103" type="title" hasCustomPrompt="1"/>
          </p:nvPr>
        </p:nvSpPr>
        <p:spPr>
          <a:xfrm>
            <a:off x="658368" y="365760"/>
            <a:ext cx="9244584" cy="713232"/>
          </a:xfrm>
          <a:prstGeom prst="rect">
            <a:avLst/>
          </a:prstGeom>
          <a:noFill/>
          <a:ln/>
        </p:spPr>
        <p:txBody>
          <a:bodyPr wrap="square" lIns="0" tIns="0" rIns="0" bIns="0" rtlCol="0" anchor="ctr"/>
          <a:lstStyle/>
          <a:p>
            <a:pPr algn="l" indent="0" marL="0">
              <a:buNone/>
            </a:pPr>
            <a:r>
              <a:rPr lang="en-US" sz="2400" b="1" dirty="0">
                <a:solidFill>
                  <a:srgbClr val="FFFFFF"/>
                </a:solidFill>
                <a:latin typeface="Arial" pitchFamily="34" charset="0"/>
                <a:ea typeface="Arial" pitchFamily="34" charset="-122"/>
                <a:cs typeface="Arial" pitchFamily="34" charset="-120"/>
              </a:rPr>
              <a:t>Beneficios: puntaje, salud y tolerancia</a:t>
            </a:r>
            <a:endParaRPr lang="en-US" sz="2400" dirty="0"/>
          </a:p>
        </p:txBody>
      </p:sp>
      <p:sp>
        <p:nvSpPr>
          <p:cNvPr id="3" name="Shape 1"/>
          <p:cNvSpPr/>
          <p:nvPr/>
        </p:nvSpPr>
        <p:spPr>
          <a:xfrm>
            <a:off x="457200" y="1280160"/>
            <a:ext cx="11274552" cy="1051560"/>
          </a:xfrm>
          <a:prstGeom prst="roundRect">
            <a:avLst>
              <a:gd name="adj" fmla="val 8696"/>
            </a:avLst>
          </a:prstGeom>
          <a:solidFill>
            <a:srgbClr val="E9F1F8"/>
          </a:solidFill>
          <a:ln w="12700">
            <a:solidFill>
              <a:srgbClr val="E9F1F8"/>
            </a:solidFill>
            <a:prstDash val="solid"/>
          </a:ln>
        </p:spPr>
      </p:sp>
      <p:sp>
        <p:nvSpPr>
          <p:cNvPr id="4" name="Shape 2"/>
          <p:cNvSpPr/>
          <p:nvPr/>
        </p:nvSpPr>
        <p:spPr>
          <a:xfrm>
            <a:off x="621792" y="1577340"/>
            <a:ext cx="457200" cy="457200"/>
          </a:xfrm>
          <a:prstGeom prst="roundRect">
            <a:avLst>
              <a:gd name="adj" fmla="val 16000"/>
            </a:avLst>
          </a:prstGeom>
          <a:solidFill>
            <a:srgbClr val="00629B"/>
          </a:solidFill>
          <a:ln w="12700">
            <a:solidFill>
              <a:srgbClr val="00629B"/>
            </a:solidFill>
            <a:prstDash val="solid"/>
          </a:ln>
        </p:spPr>
      </p:sp>
      <p:sp>
        <p:nvSpPr>
          <p:cNvPr id="5" name="Text 3"/>
          <p:cNvSpPr txBox="1"/>
          <p:nvPr/>
        </p:nvSpPr>
        <p:spPr>
          <a:xfrm>
            <a:off x="621792" y="1577340"/>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1</a:t>
            </a:r>
            <a:endParaRPr lang="en-US" sz="1600" dirty="0"/>
          </a:p>
        </p:txBody>
      </p:sp>
      <p:sp>
        <p:nvSpPr>
          <p:cNvPr id="6" name="Text 4"/>
          <p:cNvSpPr txBox="1"/>
          <p:nvPr/>
        </p:nvSpPr>
        <p:spPr>
          <a:xfrm>
            <a:off x="1280160" y="1335024"/>
            <a:ext cx="10222992" cy="941832"/>
          </a:xfrm>
          <a:prstGeom prst="rect">
            <a:avLst/>
          </a:prstGeom>
          <a:noFill/>
          <a:ln/>
        </p:spPr>
        <p:txBody>
          <a:bodyPr wrap="square" lIns="0" tIns="0" rIns="0" bIns="0" rtlCol="0" anchor="ctr"/>
          <a:lstStyle/>
          <a:p>
            <a:pPr indent="0" marL="0">
              <a:buNone/>
            </a:pPr>
            <a:r>
              <a:rPr lang="en-US" sz="2000" dirty="0">
                <a:solidFill>
                  <a:srgbClr val="272425"/>
                </a:solidFill>
                <a:latin typeface="Arial" pitchFamily="34" charset="0"/>
                <a:ea typeface="Arial" pitchFamily="34" charset="-122"/>
                <a:cs typeface="Arial" pitchFamily="34" charset="-120"/>
              </a:rPr>
              <a:t>Puntaje: avance hacia la meta (0 a 1)</a:t>
            </a:r>
            <a:endParaRPr lang="en-US" sz="1600" dirty="0"/>
          </a:p>
        </p:txBody>
      </p:sp>
      <p:sp>
        <p:nvSpPr>
          <p:cNvPr id="7" name="Shape 5"/>
          <p:cNvSpPr/>
          <p:nvPr/>
        </p:nvSpPr>
        <p:spPr>
          <a:xfrm>
            <a:off x="457200" y="2478024"/>
            <a:ext cx="11274552" cy="1051560"/>
          </a:xfrm>
          <a:prstGeom prst="roundRect">
            <a:avLst>
              <a:gd name="adj" fmla="val 8696"/>
            </a:avLst>
          </a:prstGeom>
          <a:solidFill>
            <a:srgbClr val="F4F6F8"/>
          </a:solidFill>
          <a:ln w="12700">
            <a:solidFill>
              <a:srgbClr val="F4F6F8"/>
            </a:solidFill>
            <a:prstDash val="solid"/>
          </a:ln>
        </p:spPr>
      </p:sp>
      <p:sp>
        <p:nvSpPr>
          <p:cNvPr id="8" name="Shape 6"/>
          <p:cNvSpPr/>
          <p:nvPr/>
        </p:nvSpPr>
        <p:spPr>
          <a:xfrm>
            <a:off x="621792" y="2775204"/>
            <a:ext cx="457200" cy="457200"/>
          </a:xfrm>
          <a:prstGeom prst="roundRect">
            <a:avLst>
              <a:gd name="adj" fmla="val 16000"/>
            </a:avLst>
          </a:prstGeom>
          <a:solidFill>
            <a:srgbClr val="00629B"/>
          </a:solidFill>
          <a:ln w="12700">
            <a:solidFill>
              <a:srgbClr val="00629B"/>
            </a:solidFill>
            <a:prstDash val="solid"/>
          </a:ln>
        </p:spPr>
      </p:sp>
      <p:sp>
        <p:nvSpPr>
          <p:cNvPr id="9" name="Text 7"/>
          <p:cNvSpPr txBox="1"/>
          <p:nvPr/>
        </p:nvSpPr>
        <p:spPr>
          <a:xfrm>
            <a:off x="621792" y="2775204"/>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2</a:t>
            </a:r>
            <a:endParaRPr lang="en-US" sz="1600" dirty="0"/>
          </a:p>
        </p:txBody>
      </p:sp>
      <p:sp>
        <p:nvSpPr>
          <p:cNvPr id="10" name="Text 8"/>
          <p:cNvSpPr txBox="1"/>
          <p:nvPr/>
        </p:nvSpPr>
        <p:spPr>
          <a:xfrm>
            <a:off x="1280160" y="2532888"/>
            <a:ext cx="10222992" cy="941832"/>
          </a:xfrm>
          <a:prstGeom prst="rect">
            <a:avLst/>
          </a:prstGeom>
          <a:noFill/>
          <a:ln/>
        </p:spPr>
        <p:txBody>
          <a:bodyPr wrap="square" lIns="0" tIns="0" rIns="0" bIns="0" rtlCol="0" anchor="ctr"/>
          <a:lstStyle/>
          <a:p>
            <a:pPr indent="0" marL="0">
              <a:buNone/>
            </a:pPr>
            <a:r>
              <a:rPr lang="en-US" sz="2000" dirty="0">
                <a:solidFill>
                  <a:srgbClr val="272425"/>
                </a:solidFill>
                <a:latin typeface="Arial" pitchFamily="34" charset="0"/>
                <a:ea typeface="Arial" pitchFamily="34" charset="-122"/>
                <a:cs typeface="Arial" pitchFamily="34" charset="-120"/>
              </a:rPr>
              <a:t>Salud: puntaje contra la trayectoria</a:t>
            </a:r>
            <a:endParaRPr lang="en-US" sz="1600" dirty="0"/>
          </a:p>
        </p:txBody>
      </p:sp>
      <p:sp>
        <p:nvSpPr>
          <p:cNvPr id="11" name="Shape 9"/>
          <p:cNvSpPr/>
          <p:nvPr/>
        </p:nvSpPr>
        <p:spPr>
          <a:xfrm>
            <a:off x="457200" y="3675888"/>
            <a:ext cx="11274552" cy="1051560"/>
          </a:xfrm>
          <a:prstGeom prst="roundRect">
            <a:avLst>
              <a:gd name="adj" fmla="val 8696"/>
            </a:avLst>
          </a:prstGeom>
          <a:solidFill>
            <a:srgbClr val="E9F1F8"/>
          </a:solidFill>
          <a:ln w="12700">
            <a:solidFill>
              <a:srgbClr val="E9F1F8"/>
            </a:solidFill>
            <a:prstDash val="solid"/>
          </a:ln>
        </p:spPr>
      </p:sp>
      <p:sp>
        <p:nvSpPr>
          <p:cNvPr id="12" name="Shape 10"/>
          <p:cNvSpPr/>
          <p:nvPr/>
        </p:nvSpPr>
        <p:spPr>
          <a:xfrm>
            <a:off x="621792" y="3973068"/>
            <a:ext cx="457200" cy="457200"/>
          </a:xfrm>
          <a:prstGeom prst="roundRect">
            <a:avLst>
              <a:gd name="adj" fmla="val 16000"/>
            </a:avLst>
          </a:prstGeom>
          <a:solidFill>
            <a:srgbClr val="00629B"/>
          </a:solidFill>
          <a:ln w="12700">
            <a:solidFill>
              <a:srgbClr val="00629B"/>
            </a:solidFill>
            <a:prstDash val="solid"/>
          </a:ln>
        </p:spPr>
      </p:sp>
      <p:sp>
        <p:nvSpPr>
          <p:cNvPr id="13" name="Text 11"/>
          <p:cNvSpPr txBox="1"/>
          <p:nvPr/>
        </p:nvSpPr>
        <p:spPr>
          <a:xfrm>
            <a:off x="621792" y="3973068"/>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3</a:t>
            </a:r>
            <a:endParaRPr lang="en-US" sz="1600" dirty="0"/>
          </a:p>
        </p:txBody>
      </p:sp>
      <p:sp>
        <p:nvSpPr>
          <p:cNvPr id="14" name="Text 12"/>
          <p:cNvSpPr txBox="1"/>
          <p:nvPr/>
        </p:nvSpPr>
        <p:spPr>
          <a:xfrm>
            <a:off x="1280160" y="3730752"/>
            <a:ext cx="10222992" cy="941832"/>
          </a:xfrm>
          <a:prstGeom prst="rect">
            <a:avLst/>
          </a:prstGeom>
          <a:noFill/>
          <a:ln/>
        </p:spPr>
        <p:txBody>
          <a:bodyPr wrap="square" lIns="0" tIns="0" rIns="0" bIns="0" rtlCol="0" anchor="ctr"/>
          <a:lstStyle/>
          <a:p>
            <a:pPr indent="0" marL="0">
              <a:buNone/>
            </a:pPr>
            <a:r>
              <a:rPr lang="en-US" sz="2000" dirty="0">
                <a:solidFill>
                  <a:srgbClr val="272425"/>
                </a:solidFill>
                <a:latin typeface="Arial" pitchFamily="34" charset="0"/>
                <a:ea typeface="Arial" pitchFamily="34" charset="-122"/>
                <a:cs typeface="Arial" pitchFamily="34" charset="-120"/>
              </a:rPr>
              <a:t>Tolerancia: cuánto desvío se admite</a:t>
            </a:r>
            <a:endParaRPr lang="en-US" sz="1600" dirty="0"/>
          </a:p>
        </p:txBody>
      </p:sp>
      <p:sp>
        <p:nvSpPr>
          <p:cNvPr id="15" name="Shape 13"/>
          <p:cNvSpPr/>
          <p:nvPr/>
        </p:nvSpPr>
        <p:spPr>
          <a:xfrm>
            <a:off x="457200" y="4873752"/>
            <a:ext cx="11274552" cy="1051560"/>
          </a:xfrm>
          <a:prstGeom prst="roundRect">
            <a:avLst>
              <a:gd name="adj" fmla="val 8696"/>
            </a:avLst>
          </a:prstGeom>
          <a:solidFill>
            <a:srgbClr val="F4F6F8"/>
          </a:solidFill>
          <a:ln w="12700">
            <a:solidFill>
              <a:srgbClr val="F4F6F8"/>
            </a:solidFill>
            <a:prstDash val="solid"/>
          </a:ln>
        </p:spPr>
      </p:sp>
      <p:sp>
        <p:nvSpPr>
          <p:cNvPr id="16" name="Shape 14"/>
          <p:cNvSpPr/>
          <p:nvPr/>
        </p:nvSpPr>
        <p:spPr>
          <a:xfrm>
            <a:off x="621792" y="5170932"/>
            <a:ext cx="457200" cy="457200"/>
          </a:xfrm>
          <a:prstGeom prst="roundRect">
            <a:avLst>
              <a:gd name="adj" fmla="val 16000"/>
            </a:avLst>
          </a:prstGeom>
          <a:solidFill>
            <a:srgbClr val="00629B"/>
          </a:solidFill>
          <a:ln w="12700">
            <a:solidFill>
              <a:srgbClr val="00629B"/>
            </a:solidFill>
            <a:prstDash val="solid"/>
          </a:ln>
        </p:spPr>
      </p:sp>
      <p:sp>
        <p:nvSpPr>
          <p:cNvPr id="17" name="Text 15"/>
          <p:cNvSpPr txBox="1"/>
          <p:nvPr/>
        </p:nvSpPr>
        <p:spPr>
          <a:xfrm>
            <a:off x="621792" y="5170932"/>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4</a:t>
            </a:r>
            <a:endParaRPr lang="en-US" sz="1600" dirty="0"/>
          </a:p>
        </p:txBody>
      </p:sp>
      <p:sp>
        <p:nvSpPr>
          <p:cNvPr id="18" name="Text 16"/>
          <p:cNvSpPr txBox="1"/>
          <p:nvPr/>
        </p:nvSpPr>
        <p:spPr>
          <a:xfrm>
            <a:off x="1280160" y="4928616"/>
            <a:ext cx="10222992" cy="941832"/>
          </a:xfrm>
          <a:prstGeom prst="rect">
            <a:avLst/>
          </a:prstGeom>
          <a:noFill/>
          <a:ln/>
        </p:spPr>
        <p:txBody>
          <a:bodyPr wrap="square" lIns="0" tIns="0" rIns="0" bIns="0" rtlCol="0" anchor="ctr"/>
          <a:lstStyle/>
          <a:p>
            <a:pPr indent="0" marL="0">
              <a:buNone/>
            </a:pPr>
            <a:r>
              <a:rPr lang="en-US" sz="2000" dirty="0">
                <a:solidFill>
                  <a:srgbClr val="272425"/>
                </a:solidFill>
                <a:latin typeface="Arial" pitchFamily="34" charset="0"/>
                <a:ea typeface="Arial" pitchFamily="34" charset="-122"/>
                <a:cs typeface="Arial" pitchFamily="34" charset="-120"/>
              </a:rPr>
              <a:t>Los mide el negocio, no el proyecto</a:t>
            </a:r>
            <a:endParaRPr lang="en-US" sz="1600" dirty="0"/>
          </a:p>
        </p:txBody>
      </p:sp>
      <p:sp>
        <p:nvSpPr>
          <p:cNvPr id="25" name="Slide Number Placeholder 0"/>
          <p:cNvSpPr>
            <a:spLocks noGrp="1"/>
          </p:cNvSpPr>
          <p:nvPr>
            <p:ph type="sldNum" sz="quarter" idx="4294967295"/>
          </p:nvPr>
        </p:nvSpPr>
        <p:spPr>
          <a:xfrm>
            <a:off x="11091672" y="6419088"/>
            <a:ext cx="64008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rgbClr val="696969"/>
                </a:solidFill>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3"/>
          <p:cNvSpPr/>
          <p:nvPr>
            <p:ph idx="103" type="title" hasCustomPrompt="1"/>
          </p:nvPr>
        </p:nvSpPr>
        <p:spPr>
          <a:xfrm>
            <a:off x="658368" y="365760"/>
            <a:ext cx="9244584" cy="713232"/>
          </a:xfrm>
          <a:prstGeom prst="rect">
            <a:avLst/>
          </a:prstGeom>
          <a:noFill/>
          <a:ln/>
        </p:spPr>
        <p:txBody>
          <a:bodyPr wrap="square" lIns="0" tIns="0" rIns="0" bIns="0" rtlCol="0" anchor="ctr"/>
          <a:lstStyle/>
          <a:p>
            <a:pPr algn="l" indent="0" marL="0">
              <a:buNone/>
            </a:pPr>
            <a:r>
              <a:rPr lang="en-US" sz="2400" b="1" dirty="0">
                <a:solidFill>
                  <a:srgbClr val="FFFFFF"/>
                </a:solidFill>
                <a:latin typeface="Arial" pitchFamily="34" charset="0"/>
                <a:ea typeface="Arial" pitchFamily="34" charset="-122"/>
                <a:cs typeface="Arial" pitchFamily="34" charset="-120"/>
              </a:rPr>
              <a:t>Del uso único al control continuo</a:t>
            </a:r>
            <a:endParaRPr lang="en-US" sz="2400" dirty="0"/>
          </a:p>
        </p:txBody>
      </p:sp>
      <p:graphicFrame>
        <p:nvGraphicFramePr>
          <p:cNvPr id="27" name="Table 0"/>
          <p:cNvGraphicFramePr>
            <a:graphicFrameLocks noGrp="1"/>
          </p:cNvGraphicFramePr>
          <p:nvPr>
            <p:extLst>
              <p:ext uri="{D42A27DB-BD31-4B8C-83A1-F6EECF244321}">
                <p14:modId xmlns:p14="http://schemas.microsoft.com/office/powerpoint/2010/main" val="1579011935"/>
              </p:ext>
            </p:extLst>
          </p:nvPr>
        </p:nvGraphicFramePr>
        <p:xfrm>
          <a:off x="457200" y="1280160"/>
          <a:ext cx="11274552" cy="914400"/>
        </p:xfrm>
        <a:graphic>
          <a:graphicData uri="http://schemas.openxmlformats.org/drawingml/2006/table">
            <a:tbl>
              <a:tblPr/>
              <a:tblGrid>
                <a:gridCol w="3006547"/>
                <a:gridCol w="3131820"/>
                <a:gridCol w="3507638"/>
                <a:gridCol w="1628546"/>
              </a:tblGrid>
              <a:tr h="0">
                <a:tc>
                  <a:txBody>
                    <a:bodyPr/>
                    <a:lstStyle/>
                    <a:p>
                      <a:pPr indent="0" marL="0">
                        <a:buNone/>
                      </a:pPr>
                      <a:r>
                        <a:rPr lang="en-US" sz="1800" b="1" dirty="0">
                          <a:solidFill>
                            <a:srgbClr val="FFFFFF"/>
                          </a:solidFill>
                          <a:latin typeface="Arial" pitchFamily="34" charset="0"/>
                          <a:ea typeface="Arial" pitchFamily="34" charset="-122"/>
                          <a:cs typeface="Arial" pitchFamily="34" charset="-120"/>
                        </a:rPr>
                        <a:t>Actividad</a:t>
                      </a:r>
                      <a:endParaRPr lang="en-US" sz="1200" dirty="0">
                        <a:latin typeface="Arial" charset="0"/>
                        <a:ea typeface="Arial" charset="0"/>
                        <a:cs typeface="Arial" charset="0"/>
                      </a:endParaRPr>
                    </a:p>
                  </a:txBody>
                  <a:tcPr marL="73152" marR="73152" marT="73152" marB="73152" anchor="ctr">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002855"/>
                    </a:solidFill>
                  </a:tcPr>
                </a:tc>
                <a:tc>
                  <a:txBody>
                    <a:bodyPr/>
                    <a:lstStyle/>
                    <a:p>
                      <a:pPr indent="0" marL="0">
                        <a:buNone/>
                      </a:pPr>
                      <a:r>
                        <a:rPr lang="en-US" sz="1800" b="1" dirty="0">
                          <a:solidFill>
                            <a:srgbClr val="FFFFFF"/>
                          </a:solidFill>
                          <a:latin typeface="Arial" pitchFamily="34" charset="0"/>
                          <a:ea typeface="Arial" pitchFamily="34" charset="-122"/>
                          <a:cs typeface="Arial" pitchFamily="34" charset="-120"/>
                        </a:rPr>
                        <a:t>Hoy</a:t>
                      </a:r>
                      <a:endParaRPr lang="en-US" sz="1200" dirty="0">
                        <a:latin typeface="Arial" charset="0"/>
                        <a:ea typeface="Arial" charset="0"/>
                        <a:cs typeface="Arial" charset="0"/>
                      </a:endParaRPr>
                    </a:p>
                  </a:txBody>
                  <a:tcPr marL="73152" marR="73152" marT="73152" marB="73152" anchor="ctr">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002855"/>
                    </a:solidFill>
                  </a:tcPr>
                </a:tc>
                <a:tc>
                  <a:txBody>
                    <a:bodyPr/>
                    <a:lstStyle/>
                    <a:p>
                      <a:pPr indent="0" marL="0">
                        <a:buNone/>
                      </a:pPr>
                      <a:r>
                        <a:rPr lang="en-US" sz="1800" b="1" dirty="0">
                          <a:solidFill>
                            <a:srgbClr val="FFFFFF"/>
                          </a:solidFill>
                          <a:latin typeface="Arial" pitchFamily="34" charset="0"/>
                          <a:ea typeface="Arial" pitchFamily="34" charset="-122"/>
                          <a:cs typeface="Arial" pitchFamily="34" charset="-120"/>
                        </a:rPr>
                        <a:t>Con pm-method</a:t>
                      </a:r>
                      <a:endParaRPr lang="en-US" sz="1200" dirty="0">
                        <a:latin typeface="Arial" charset="0"/>
                        <a:ea typeface="Arial" charset="0"/>
                        <a:cs typeface="Arial" charset="0"/>
                      </a:endParaRPr>
                    </a:p>
                  </a:txBody>
                  <a:tcPr marL="73152" marR="73152" marT="73152" marB="73152" anchor="ctr">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002855"/>
                    </a:solidFill>
                  </a:tcPr>
                </a:tc>
                <a:tc>
                  <a:txBody>
                    <a:bodyPr/>
                    <a:lstStyle/>
                    <a:p>
                      <a:pPr indent="0" marL="0">
                        <a:buNone/>
                      </a:pPr>
                      <a:r>
                        <a:rPr lang="en-US" sz="1800" b="1" dirty="0">
                          <a:solidFill>
                            <a:srgbClr val="FFFFFF"/>
                          </a:solidFill>
                          <a:latin typeface="Arial" pitchFamily="34" charset="0"/>
                          <a:ea typeface="Arial" pitchFamily="34" charset="-122"/>
                          <a:cs typeface="Arial" pitchFamily="34" charset="-120"/>
                        </a:rPr>
                        <a:t>Control</a:t>
                      </a:r>
                      <a:endParaRPr lang="en-US" sz="1200" dirty="0">
                        <a:latin typeface="Arial" charset="0"/>
                        <a:ea typeface="Arial" charset="0"/>
                        <a:cs typeface="Arial" charset="0"/>
                      </a:endParaRPr>
                    </a:p>
                  </a:txBody>
                  <a:tcPr marL="73152" marR="73152" marT="73152" marB="73152" anchor="ctr">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002855"/>
                    </a:solidFill>
                  </a:tcPr>
                </a:tc>
              </a:tr>
              <a:tr h="0">
                <a:tc>
                  <a:txBody>
                    <a:bodyPr/>
                    <a:lstStyle/>
                    <a:p>
                      <a:pPr indent="0" marL="0">
                        <a:buNone/>
                      </a:pPr>
                      <a:r>
                        <a:rPr lang="en-US" sz="1800" b="1" dirty="0">
                          <a:solidFill>
                            <a:srgbClr val="002855"/>
                          </a:solidFill>
                          <a:latin typeface="Arial" pitchFamily="34" charset="0"/>
                          <a:ea typeface="Arial" pitchFamily="34" charset="-122"/>
                          <a:cs typeface="Arial" pitchFamily="34" charset="-120"/>
                        </a:rPr>
                        <a:t>Calidad de cada historia</a:t>
                      </a:r>
                      <a:endParaRPr lang="en-US" sz="1200" dirty="0">
                        <a:latin typeface="Arial" charset="0"/>
                        <a:ea typeface="Arial" charset="0"/>
                        <a:cs typeface="Arial" charset="0"/>
                      </a:endParaRPr>
                    </a:p>
                  </a:txBody>
                  <a:tcPr marL="73152" marR="73152" marT="73152" marB="73152"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4F6F8"/>
                    </a:solidFill>
                  </a:tcPr>
                </a:tc>
                <a:tc>
                  <a:txBody>
                    <a:bodyPr/>
                    <a:lstStyle/>
                    <a:p>
                      <a:pPr indent="0" marL="0">
                        <a:buNone/>
                      </a:pPr>
                      <a:r>
                        <a:rPr lang="en-US" sz="1800" dirty="0">
                          <a:solidFill>
                            <a:srgbClr val="272425"/>
                          </a:solidFill>
                          <a:latin typeface="Arial" pitchFamily="34" charset="0"/>
                          <a:ea typeface="Arial" pitchFamily="34" charset="-122"/>
                          <a:cs typeface="Arial" pitchFamily="34" charset="-120"/>
                        </a:rPr>
                        <a:t>al final o nunca</a:t>
                      </a:r>
                      <a:endParaRPr lang="en-US" sz="1200" dirty="0">
                        <a:latin typeface="Arial" charset="0"/>
                        <a:ea typeface="Arial" charset="0"/>
                        <a:cs typeface="Arial" charset="0"/>
                      </a:endParaRPr>
                    </a:p>
                  </a:txBody>
                  <a:tcPr marL="73152" marR="73152" marT="73152" marB="73152"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4F6F8"/>
                    </a:solidFill>
                  </a:tcPr>
                </a:tc>
                <a:tc>
                  <a:txBody>
                    <a:bodyPr/>
                    <a:lstStyle/>
                    <a:p>
                      <a:pPr indent="0" marL="0">
                        <a:buNone/>
                      </a:pPr>
                      <a:r>
                        <a:rPr lang="en-US" sz="1800" dirty="0">
                          <a:solidFill>
                            <a:srgbClr val="272425"/>
                          </a:solidFill>
                          <a:latin typeface="Arial" pitchFamily="34" charset="0"/>
                          <a:ea typeface="Arial" pitchFamily="34" charset="-122"/>
                          <a:cs typeface="Arial" pitchFamily="34" charset="-120"/>
                        </a:rPr>
                        <a:t>en cada sanidad, por entrega</a:t>
                      </a:r>
                      <a:endParaRPr lang="en-US" sz="1200" dirty="0">
                        <a:latin typeface="Arial" charset="0"/>
                        <a:ea typeface="Arial" charset="0"/>
                        <a:cs typeface="Arial" charset="0"/>
                      </a:endParaRPr>
                    </a:p>
                  </a:txBody>
                  <a:tcPr marL="73152" marR="73152" marT="73152" marB="73152"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4F6F8"/>
                    </a:solidFill>
                  </a:tcPr>
                </a:tc>
                <a:tc>
                  <a:txBody>
                    <a:bodyPr/>
                    <a:lstStyle/>
                    <a:p>
                      <a:pPr indent="0" marL="0">
                        <a:buNone/>
                      </a:pPr>
                      <a:r>
                        <a:rPr lang="en-US" sz="1800" dirty="0">
                          <a:solidFill>
                            <a:srgbClr val="272425"/>
                          </a:solidFill>
                          <a:latin typeface="Arial" pitchFamily="34" charset="0"/>
                          <a:ea typeface="Arial" pitchFamily="34" charset="-122"/>
                          <a:cs typeface="Arial" pitchFamily="34" charset="-120"/>
                        </a:rPr>
                        <a:t>QUA-01</a:t>
                      </a:r>
                      <a:endParaRPr lang="en-US" sz="1200" dirty="0">
                        <a:latin typeface="Arial" charset="0"/>
                        <a:ea typeface="Arial" charset="0"/>
                        <a:cs typeface="Arial" charset="0"/>
                      </a:endParaRPr>
                    </a:p>
                  </a:txBody>
                  <a:tcPr marL="73152" marR="73152" marT="73152" marB="73152"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4F6F8"/>
                    </a:solidFill>
                  </a:tcPr>
                </a:tc>
              </a:tr>
              <a:tr h="0">
                <a:tc>
                  <a:txBody>
                    <a:bodyPr/>
                    <a:lstStyle/>
                    <a:p>
                      <a:pPr indent="0" marL="0">
                        <a:buNone/>
                      </a:pPr>
                      <a:r>
                        <a:rPr lang="en-US" sz="1800" b="1" dirty="0">
                          <a:solidFill>
                            <a:srgbClr val="002855"/>
                          </a:solidFill>
                          <a:latin typeface="Arial" pitchFamily="34" charset="0"/>
                          <a:ea typeface="Arial" pitchFamily="34" charset="-122"/>
                          <a:cs typeface="Arial" pitchFamily="34" charset="-120"/>
                        </a:rPr>
                        <a:t>Rechazo de calidad</a:t>
                      </a:r>
                      <a:endParaRPr lang="en-US" sz="1200" dirty="0">
                        <a:latin typeface="Arial" charset="0"/>
                        <a:ea typeface="Arial" charset="0"/>
                        <a:cs typeface="Arial" charset="0"/>
                      </a:endParaRPr>
                    </a:p>
                  </a:txBody>
                  <a:tcPr marL="73152" marR="73152" marT="73152" marB="73152"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FFFFF"/>
                    </a:solidFill>
                  </a:tcPr>
                </a:tc>
                <a:tc>
                  <a:txBody>
                    <a:bodyPr/>
                    <a:lstStyle/>
                    <a:p>
                      <a:pPr indent="0" marL="0">
                        <a:buNone/>
                      </a:pPr>
                      <a:r>
                        <a:rPr lang="en-US" sz="1800" dirty="0">
                          <a:solidFill>
                            <a:srgbClr val="272425"/>
                          </a:solidFill>
                          <a:latin typeface="Arial" pitchFamily="34" charset="0"/>
                          <a:ea typeface="Arial" pitchFamily="34" charset="-122"/>
                          <a:cs typeface="Arial" pitchFamily="34" charset="-120"/>
                        </a:rPr>
                        <a:t>se corrige de palabra</a:t>
                      </a:r>
                      <a:endParaRPr lang="en-US" sz="1200" dirty="0">
                        <a:latin typeface="Arial" charset="0"/>
                        <a:ea typeface="Arial" charset="0"/>
                        <a:cs typeface="Arial" charset="0"/>
                      </a:endParaRPr>
                    </a:p>
                  </a:txBody>
                  <a:tcPr marL="73152" marR="73152" marT="73152" marB="73152"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FFFFF"/>
                    </a:solidFill>
                  </a:tcPr>
                </a:tc>
                <a:tc>
                  <a:txBody>
                    <a:bodyPr/>
                    <a:lstStyle/>
                    <a:p>
                      <a:pPr indent="0" marL="0">
                        <a:buNone/>
                      </a:pPr>
                      <a:r>
                        <a:rPr lang="en-US" sz="1800" dirty="0">
                          <a:solidFill>
                            <a:srgbClr val="272425"/>
                          </a:solidFill>
                          <a:latin typeface="Arial" pitchFamily="34" charset="0"/>
                          <a:ea typeface="Arial" pitchFamily="34" charset="-122"/>
                          <a:cs typeface="Arial" pitchFamily="34" charset="-120"/>
                        </a:rPr>
                        <a:t>issue que cita el Q-###</a:t>
                      </a:r>
                      <a:endParaRPr lang="en-US" sz="1200" dirty="0">
                        <a:latin typeface="Arial" charset="0"/>
                        <a:ea typeface="Arial" charset="0"/>
                        <a:cs typeface="Arial" charset="0"/>
                      </a:endParaRPr>
                    </a:p>
                  </a:txBody>
                  <a:tcPr marL="73152" marR="73152" marT="73152" marB="73152"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FFFFF"/>
                    </a:solidFill>
                  </a:tcPr>
                </a:tc>
                <a:tc>
                  <a:txBody>
                    <a:bodyPr/>
                    <a:lstStyle/>
                    <a:p>
                      <a:pPr indent="0" marL="0">
                        <a:buNone/>
                      </a:pPr>
                      <a:r>
                        <a:rPr lang="en-US" sz="1800" dirty="0">
                          <a:solidFill>
                            <a:srgbClr val="272425"/>
                          </a:solidFill>
                          <a:latin typeface="Arial" pitchFamily="34" charset="0"/>
                          <a:ea typeface="Arial" pitchFamily="34" charset="-122"/>
                          <a:cs typeface="Arial" pitchFamily="34" charset="-120"/>
                        </a:rPr>
                        <a:t>QUA-03</a:t>
                      </a:r>
                      <a:endParaRPr lang="en-US" sz="1200" dirty="0">
                        <a:latin typeface="Arial" charset="0"/>
                        <a:ea typeface="Arial" charset="0"/>
                        <a:cs typeface="Arial" charset="0"/>
                      </a:endParaRPr>
                    </a:p>
                  </a:txBody>
                  <a:tcPr marL="73152" marR="73152" marT="73152" marB="73152"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FFFFF"/>
                    </a:solidFill>
                  </a:tcPr>
                </a:tc>
              </a:tr>
              <a:tr h="0">
                <a:tc>
                  <a:txBody>
                    <a:bodyPr/>
                    <a:lstStyle/>
                    <a:p>
                      <a:pPr indent="0" marL="0">
                        <a:buNone/>
                      </a:pPr>
                      <a:r>
                        <a:rPr lang="en-US" sz="1800" b="1" dirty="0">
                          <a:solidFill>
                            <a:srgbClr val="002855"/>
                          </a:solidFill>
                          <a:latin typeface="Arial" pitchFamily="34" charset="0"/>
                          <a:ea typeface="Arial" pitchFamily="34" charset="-122"/>
                          <a:cs typeface="Arial" pitchFamily="34" charset="-120"/>
                        </a:rPr>
                        <a:t>Revisión prometida</a:t>
                      </a:r>
                      <a:endParaRPr lang="en-US" sz="1200" dirty="0">
                        <a:latin typeface="Arial" charset="0"/>
                        <a:ea typeface="Arial" charset="0"/>
                        <a:cs typeface="Arial" charset="0"/>
                      </a:endParaRPr>
                    </a:p>
                  </a:txBody>
                  <a:tcPr marL="73152" marR="73152" marT="73152" marB="73152"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4F6F8"/>
                    </a:solidFill>
                  </a:tcPr>
                </a:tc>
                <a:tc>
                  <a:txBody>
                    <a:bodyPr/>
                    <a:lstStyle/>
                    <a:p>
                      <a:pPr indent="0" marL="0">
                        <a:buNone/>
                      </a:pPr>
                      <a:r>
                        <a:rPr lang="en-US" sz="1800" dirty="0">
                          <a:solidFill>
                            <a:srgbClr val="272425"/>
                          </a:solidFill>
                          <a:latin typeface="Arial" pitchFamily="34" charset="0"/>
                          <a:ea typeface="Arial" pitchFamily="34" charset="-122"/>
                          <a:cs typeface="Arial" pitchFamily="34" charset="-120"/>
                        </a:rPr>
                        <a:t>se recuerda vencida</a:t>
                      </a:r>
                      <a:endParaRPr lang="en-US" sz="1200" dirty="0">
                        <a:latin typeface="Arial" charset="0"/>
                        <a:ea typeface="Arial" charset="0"/>
                        <a:cs typeface="Arial" charset="0"/>
                      </a:endParaRPr>
                    </a:p>
                  </a:txBody>
                  <a:tcPr marL="73152" marR="73152" marT="73152" marB="73152"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4F6F8"/>
                    </a:solidFill>
                  </a:tcPr>
                </a:tc>
                <a:tc>
                  <a:txBody>
                    <a:bodyPr/>
                    <a:lstStyle/>
                    <a:p>
                      <a:pPr indent="0" marL="0">
                        <a:buNone/>
                      </a:pPr>
                      <a:r>
                        <a:rPr lang="en-US" sz="1800" dirty="0">
                          <a:solidFill>
                            <a:srgbClr val="272425"/>
                          </a:solidFill>
                          <a:latin typeface="Arial" pitchFamily="34" charset="0"/>
                          <a:ea typeface="Arial" pitchFamily="34" charset="-122"/>
                          <a:cs typeface="Arial" pitchFamily="34" charset="-120"/>
                        </a:rPr>
                        <a:t>fecha prevista vigilada</a:t>
                      </a:r>
                      <a:endParaRPr lang="en-US" sz="1200" dirty="0">
                        <a:latin typeface="Arial" charset="0"/>
                        <a:ea typeface="Arial" charset="0"/>
                        <a:cs typeface="Arial" charset="0"/>
                      </a:endParaRPr>
                    </a:p>
                  </a:txBody>
                  <a:tcPr marL="73152" marR="73152" marT="73152" marB="73152"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4F6F8"/>
                    </a:solidFill>
                  </a:tcPr>
                </a:tc>
                <a:tc>
                  <a:txBody>
                    <a:bodyPr/>
                    <a:lstStyle/>
                    <a:p>
                      <a:pPr indent="0" marL="0">
                        <a:buNone/>
                      </a:pPr>
                      <a:r>
                        <a:rPr lang="en-US" sz="1800" dirty="0">
                          <a:solidFill>
                            <a:srgbClr val="272425"/>
                          </a:solidFill>
                          <a:latin typeface="Arial" pitchFamily="34" charset="0"/>
                          <a:ea typeface="Arial" pitchFamily="34" charset="-122"/>
                          <a:cs typeface="Arial" pitchFamily="34" charset="-120"/>
                        </a:rPr>
                        <a:t>QUA-02</a:t>
                      </a:r>
                      <a:endParaRPr lang="en-US" sz="1200" dirty="0">
                        <a:latin typeface="Arial" charset="0"/>
                        <a:ea typeface="Arial" charset="0"/>
                        <a:cs typeface="Arial" charset="0"/>
                      </a:endParaRPr>
                    </a:p>
                  </a:txBody>
                  <a:tcPr marL="73152" marR="73152" marT="73152" marB="73152"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4F6F8"/>
                    </a:solidFill>
                  </a:tcPr>
                </a:tc>
              </a:tr>
              <a:tr h="0">
                <a:tc>
                  <a:txBody>
                    <a:bodyPr/>
                    <a:lstStyle/>
                    <a:p>
                      <a:pPr indent="0" marL="0">
                        <a:buNone/>
                      </a:pPr>
                      <a:r>
                        <a:rPr lang="en-US" sz="1800" b="1" dirty="0">
                          <a:solidFill>
                            <a:srgbClr val="002855"/>
                          </a:solidFill>
                          <a:latin typeface="Arial" pitchFamily="34" charset="0"/>
                          <a:ea typeface="Arial" pitchFamily="34" charset="-122"/>
                          <a:cs typeface="Arial" pitchFamily="34" charset="-120"/>
                        </a:rPr>
                        <a:t>Recorrido del cliente</a:t>
                      </a:r>
                      <a:endParaRPr lang="en-US" sz="1200" dirty="0">
                        <a:latin typeface="Arial" charset="0"/>
                        <a:ea typeface="Arial" charset="0"/>
                        <a:cs typeface="Arial" charset="0"/>
                      </a:endParaRPr>
                    </a:p>
                  </a:txBody>
                  <a:tcPr marL="73152" marR="73152" marT="73152" marB="73152"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FFFFF"/>
                    </a:solidFill>
                  </a:tcPr>
                </a:tc>
                <a:tc>
                  <a:txBody>
                    <a:bodyPr/>
                    <a:lstStyle/>
                    <a:p>
                      <a:pPr indent="0" marL="0">
                        <a:buNone/>
                      </a:pPr>
                      <a:r>
                        <a:rPr lang="en-US" sz="1800" dirty="0">
                          <a:solidFill>
                            <a:srgbClr val="272425"/>
                          </a:solidFill>
                          <a:latin typeface="Arial" pitchFamily="34" charset="0"/>
                          <a:ea typeface="Arial" pitchFamily="34" charset="-122"/>
                          <a:cs typeface="Arial" pitchFamily="34" charset="-120"/>
                        </a:rPr>
                        <a:t>taller de diseño, una vez</a:t>
                      </a:r>
                      <a:endParaRPr lang="en-US" sz="1200" dirty="0">
                        <a:latin typeface="Arial" charset="0"/>
                        <a:ea typeface="Arial" charset="0"/>
                        <a:cs typeface="Arial" charset="0"/>
                      </a:endParaRPr>
                    </a:p>
                  </a:txBody>
                  <a:tcPr marL="73152" marR="73152" marT="73152" marB="73152"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FFFFF"/>
                    </a:solidFill>
                  </a:tcPr>
                </a:tc>
                <a:tc>
                  <a:txBody>
                    <a:bodyPr/>
                    <a:lstStyle/>
                    <a:p>
                      <a:pPr indent="0" marL="0">
                        <a:buNone/>
                      </a:pPr>
                      <a:r>
                        <a:rPr lang="en-US" sz="1800" dirty="0">
                          <a:solidFill>
                            <a:srgbClr val="272425"/>
                          </a:solidFill>
                          <a:latin typeface="Arial" pitchFamily="34" charset="0"/>
                          <a:ea typeface="Arial" pitchFamily="34" charset="-122"/>
                          <a:cs typeface="Arial" pitchFamily="34" charset="-120"/>
                        </a:rPr>
                        <a:t>mapa sobre cada entrega</a:t>
                      </a:r>
                      <a:endParaRPr lang="en-US" sz="1200" dirty="0">
                        <a:latin typeface="Arial" charset="0"/>
                        <a:ea typeface="Arial" charset="0"/>
                        <a:cs typeface="Arial" charset="0"/>
                      </a:endParaRPr>
                    </a:p>
                  </a:txBody>
                  <a:tcPr marL="73152" marR="73152" marT="73152" marB="73152"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FFFFF"/>
                    </a:solidFill>
                  </a:tcPr>
                </a:tc>
                <a:tc>
                  <a:txBody>
                    <a:bodyPr/>
                    <a:lstStyle/>
                    <a:p>
                      <a:pPr indent="0" marL="0">
                        <a:buNone/>
                      </a:pPr>
                      <a:r>
                        <a:rPr lang="en-US" sz="1800" dirty="0">
                          <a:solidFill>
                            <a:srgbClr val="272425"/>
                          </a:solidFill>
                          <a:latin typeface="Arial" pitchFamily="34" charset="0"/>
                          <a:ea typeface="Arial" pitchFamily="34" charset="-122"/>
                          <a:cs typeface="Arial" pitchFamily="34" charset="-120"/>
                        </a:rPr>
                        <a:t>MAP-03</a:t>
                      </a:r>
                      <a:endParaRPr lang="en-US" sz="1200" dirty="0">
                        <a:latin typeface="Arial" charset="0"/>
                        <a:ea typeface="Arial" charset="0"/>
                        <a:cs typeface="Arial" charset="0"/>
                      </a:endParaRPr>
                    </a:p>
                  </a:txBody>
                  <a:tcPr marL="73152" marR="73152" marT="73152" marB="73152"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FFFFF"/>
                    </a:solidFill>
                  </a:tcPr>
                </a:tc>
              </a:tr>
              <a:tr h="0">
                <a:tc>
                  <a:txBody>
                    <a:bodyPr/>
                    <a:lstStyle/>
                    <a:p>
                      <a:pPr indent="0" marL="0">
                        <a:buNone/>
                      </a:pPr>
                      <a:r>
                        <a:rPr lang="en-US" sz="1800" b="1" dirty="0">
                          <a:solidFill>
                            <a:srgbClr val="002855"/>
                          </a:solidFill>
                          <a:latin typeface="Arial" pitchFamily="34" charset="0"/>
                          <a:ea typeface="Arial" pitchFamily="34" charset="-122"/>
                          <a:cs typeface="Arial" pitchFamily="34" charset="-120"/>
                        </a:rPr>
                        <a:t>Medir beneficios</a:t>
                      </a:r>
                      <a:endParaRPr lang="en-US" sz="1200" dirty="0">
                        <a:latin typeface="Arial" charset="0"/>
                        <a:ea typeface="Arial" charset="0"/>
                        <a:cs typeface="Arial" charset="0"/>
                      </a:endParaRPr>
                    </a:p>
                  </a:txBody>
                  <a:tcPr marL="73152" marR="73152" marT="73152" marB="73152"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4F6F8"/>
                    </a:solidFill>
                  </a:tcPr>
                </a:tc>
                <a:tc>
                  <a:txBody>
                    <a:bodyPr/>
                    <a:lstStyle/>
                    <a:p>
                      <a:pPr indent="0" marL="0">
                        <a:buNone/>
                      </a:pPr>
                      <a:r>
                        <a:rPr lang="en-US" sz="1800" dirty="0">
                          <a:solidFill>
                            <a:srgbClr val="272425"/>
                          </a:solidFill>
                          <a:latin typeface="Arial" pitchFamily="34" charset="0"/>
                          <a:ea typeface="Arial" pitchFamily="34" charset="-122"/>
                          <a:cs typeface="Arial" pitchFamily="34" charset="-120"/>
                        </a:rPr>
                        <a:t>nadie tras el cierre</a:t>
                      </a:r>
                      <a:endParaRPr lang="en-US" sz="1200" dirty="0">
                        <a:latin typeface="Arial" charset="0"/>
                        <a:ea typeface="Arial" charset="0"/>
                        <a:cs typeface="Arial" charset="0"/>
                      </a:endParaRPr>
                    </a:p>
                  </a:txBody>
                  <a:tcPr marL="73152" marR="73152" marT="73152" marB="73152"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4F6F8"/>
                    </a:solidFill>
                  </a:tcPr>
                </a:tc>
                <a:tc>
                  <a:txBody>
                    <a:bodyPr/>
                    <a:lstStyle/>
                    <a:p>
                      <a:pPr indent="0" marL="0">
                        <a:buNone/>
                      </a:pPr>
                      <a:r>
                        <a:rPr lang="en-US" sz="1800" dirty="0">
                          <a:solidFill>
                            <a:srgbClr val="272425"/>
                          </a:solidFill>
                          <a:latin typeface="Arial" pitchFamily="34" charset="0"/>
                          <a:ea typeface="Arial" pitchFamily="34" charset="-122"/>
                          <a:cs typeface="Arial" pitchFamily="34" charset="-120"/>
                        </a:rPr>
                        <a:t>plan, check-ins y criterio</a:t>
                      </a:r>
                      <a:endParaRPr lang="en-US" sz="1200" dirty="0">
                        <a:latin typeface="Arial" charset="0"/>
                        <a:ea typeface="Arial" charset="0"/>
                        <a:cs typeface="Arial" charset="0"/>
                      </a:endParaRPr>
                    </a:p>
                  </a:txBody>
                  <a:tcPr marL="73152" marR="73152" marT="73152" marB="73152"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4F6F8"/>
                    </a:solidFill>
                  </a:tcPr>
                </a:tc>
                <a:tc>
                  <a:txBody>
                    <a:bodyPr/>
                    <a:lstStyle/>
                    <a:p>
                      <a:pPr indent="0" marL="0">
                        <a:buNone/>
                      </a:pPr>
                      <a:r>
                        <a:rPr lang="en-US" sz="1800" dirty="0">
                          <a:solidFill>
                            <a:srgbClr val="272425"/>
                          </a:solidFill>
                          <a:latin typeface="Arial" pitchFamily="34" charset="0"/>
                          <a:ea typeface="Arial" pitchFamily="34" charset="-122"/>
                          <a:cs typeface="Arial" pitchFamily="34" charset="-120"/>
                        </a:rPr>
                        <a:t>P-04 · okr.py</a:t>
                      </a:r>
                      <a:endParaRPr lang="en-US" sz="1200" dirty="0">
                        <a:latin typeface="Arial" charset="0"/>
                        <a:ea typeface="Arial" charset="0"/>
                        <a:cs typeface="Arial" charset="0"/>
                      </a:endParaRPr>
                    </a:p>
                  </a:txBody>
                  <a:tcPr marL="73152" marR="73152" marT="73152" marB="73152"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4F6F8"/>
                    </a:solidFill>
                  </a:tcPr>
                </a:tc>
              </a:tr>
            </a:tbl>
          </a:graphicData>
        </a:graphic>
      </p:graphicFrame>
      <p:sp>
        <p:nvSpPr>
          <p:cNvPr id="25" name="Slide Number Placeholder 0"/>
          <p:cNvSpPr>
            <a:spLocks noGrp="1"/>
          </p:cNvSpPr>
          <p:nvPr>
            <p:ph type="sldNum" sz="quarter" idx="4294967295"/>
          </p:nvPr>
        </p:nvSpPr>
        <p:spPr>
          <a:xfrm>
            <a:off x="11091672" y="6419088"/>
            <a:ext cx="64008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rgbClr val="696969"/>
                </a:solidFill>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txBox="1"/>
          <p:nvPr/>
        </p:nvSpPr>
        <p:spPr>
          <a:xfrm>
            <a:off x="548640" y="1645920"/>
            <a:ext cx="5486400" cy="411480"/>
          </a:xfrm>
          <a:prstGeom prst="rect">
            <a:avLst/>
          </a:prstGeom>
          <a:noFill/>
          <a:ln/>
        </p:spPr>
        <p:txBody>
          <a:bodyPr wrap="square" lIns="0" tIns="0" rIns="0" bIns="0" rtlCol="0" anchor="t"/>
          <a:lstStyle/>
          <a:p>
            <a:pPr indent="0" marL="0">
              <a:buNone/>
            </a:pPr>
            <a:r>
              <a:rPr lang="en-US" sz="1800" b="1" dirty="0">
                <a:solidFill>
                  <a:srgbClr val="9FD0F0"/>
                </a:solidFill>
                <a:latin typeface="Arial" pitchFamily="34" charset="0"/>
                <a:ea typeface="Arial" pitchFamily="34" charset="-122"/>
                <a:cs typeface="Arial" pitchFamily="34" charset="-120"/>
              </a:rPr>
              <a:t>Clase 2</a:t>
            </a:r>
            <a:endParaRPr lang="en-US" sz="1800" dirty="0"/>
          </a:p>
        </p:txBody>
      </p:sp>
      <p:sp>
        <p:nvSpPr>
          <p:cNvPr id="3" name="Text 2"/>
          <p:cNvSpPr/>
          <p:nvPr>
            <p:ph idx="102" type="title" hasCustomPrompt="1"/>
          </p:nvPr>
        </p:nvSpPr>
        <p:spPr>
          <a:xfrm>
            <a:off x="548640" y="2148840"/>
            <a:ext cx="11091672" cy="1005840"/>
          </a:xfrm>
          <a:prstGeom prst="rect">
            <a:avLst/>
          </a:prstGeom>
          <a:noFill/>
          <a:ln/>
        </p:spPr>
        <p:txBody>
          <a:bodyPr wrap="square" lIns="0" tIns="0" rIns="0" bIns="0" rtlCol="0" anchor="t"/>
          <a:lstStyle/>
          <a:p>
            <a:pPr algn="l" indent="0" marL="0">
              <a:buNone/>
            </a:pPr>
            <a:r>
              <a:rPr lang="en-US" sz="4000" b="1" dirty="0">
                <a:solidFill>
                  <a:srgbClr val="FFFFFF"/>
                </a:solidFill>
                <a:latin typeface="Arial" pitchFamily="34" charset="0"/>
                <a:ea typeface="Arial" pitchFamily="34" charset="-122"/>
                <a:cs typeface="Arial" pitchFamily="34" charset="-120"/>
              </a:rPr>
              <a:t>Demostración: pasos 6 a 11</a:t>
            </a:r>
            <a:endParaRPr lang="en-US" sz="4000" dirty="0"/>
          </a:p>
        </p:txBody>
      </p:sp>
      <p:sp>
        <p:nvSpPr>
          <p:cNvPr id="4" name="Text 2"/>
          <p:cNvSpPr txBox="1"/>
          <p:nvPr/>
        </p:nvSpPr>
        <p:spPr>
          <a:xfrm>
            <a:off x="548640" y="3291840"/>
            <a:ext cx="11091672" cy="822960"/>
          </a:xfrm>
          <a:prstGeom prst="rect">
            <a:avLst/>
          </a:prstGeom>
          <a:noFill/>
          <a:ln/>
        </p:spPr>
        <p:txBody>
          <a:bodyPr wrap="square" lIns="0" tIns="0" rIns="0" bIns="0" rtlCol="0" anchor="t"/>
          <a:lstStyle/>
          <a:p>
            <a:pPr indent="0" marL="0">
              <a:buNone/>
            </a:pPr>
            <a:r>
              <a:rPr lang="en-US" sz="2200" dirty="0">
                <a:solidFill>
                  <a:srgbClr val="FFFFFF"/>
                </a:solidFill>
                <a:latin typeface="Arial" pitchFamily="34" charset="0"/>
                <a:ea typeface="Arial" pitchFamily="34" charset="-122"/>
                <a:cs typeface="Arial" pitchFamily="34" charset="-120"/>
              </a:rPr>
              <a:t>Release 1, Release 2, cierre y después</a:t>
            </a:r>
            <a:endParaRPr lang="en-US" sz="1600" dirty="0"/>
          </a:p>
        </p:txBody>
      </p:sp>
      <p:sp>
        <p:nvSpPr>
          <p:cNvPr id="25" name="Slide Number Placeholder 0"/>
          <p:cNvSpPr>
            <a:spLocks noGrp="1"/>
          </p:cNvSpPr>
          <p:nvPr>
            <p:ph type="sldNum" sz="quarter" idx="4294967295"/>
          </p:nvPr>
        </p:nvSpPr>
        <p:spPr>
          <a:xfrm>
            <a:off x="11091672" y="6419088"/>
            <a:ext cx="64008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rgbClr val="D6E4F0"/>
                </a:solidFill>
              </a:defRPr>
            </a:lvl1pPr>
          </a:lstStyle>
          <a:p>
            <a:pPr algn="r"/>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3"/>
          <p:cNvSpPr/>
          <p:nvPr>
            <p:ph idx="103" type="title" hasCustomPrompt="1"/>
          </p:nvPr>
        </p:nvSpPr>
        <p:spPr>
          <a:xfrm>
            <a:off x="658368" y="365760"/>
            <a:ext cx="9244584" cy="713232"/>
          </a:xfrm>
          <a:prstGeom prst="rect">
            <a:avLst/>
          </a:prstGeom>
          <a:noFill/>
          <a:ln/>
        </p:spPr>
        <p:txBody>
          <a:bodyPr wrap="square" lIns="0" tIns="0" rIns="0" bIns="0" rtlCol="0" anchor="ctr"/>
          <a:lstStyle/>
          <a:p>
            <a:pPr algn="l" indent="0" marL="0">
              <a:buNone/>
            </a:pPr>
            <a:r>
              <a:rPr lang="en-US" sz="2400" b="1" dirty="0">
                <a:solidFill>
                  <a:srgbClr val="FFFFFF"/>
                </a:solidFill>
                <a:latin typeface="Arial" pitchFamily="34" charset="0"/>
                <a:ea typeface="Arial" pitchFamily="34" charset="-122"/>
                <a:cs typeface="Arial" pitchFamily="34" charset="-120"/>
              </a:rPr>
              <a:t>Paso 6 · Calidad a volumen en el Release 1</a:t>
            </a:r>
            <a:endParaRPr lang="en-US" sz="2400" dirty="0"/>
          </a:p>
        </p:txBody>
      </p:sp>
      <p:sp>
        <p:nvSpPr>
          <p:cNvPr id="3" name="Text 1"/>
          <p:cNvSpPr txBox="1"/>
          <p:nvPr/>
        </p:nvSpPr>
        <p:spPr>
          <a:xfrm>
            <a:off x="457200" y="1280160"/>
            <a:ext cx="5486400" cy="292608"/>
          </a:xfrm>
          <a:prstGeom prst="rect">
            <a:avLst/>
          </a:prstGeom>
          <a:noFill/>
          <a:ln/>
        </p:spPr>
        <p:txBody>
          <a:bodyPr wrap="square" lIns="0" tIns="0" rIns="0" bIns="0" rtlCol="0" anchor="t"/>
          <a:lstStyle/>
          <a:p>
            <a:pPr indent="0" marL="0">
              <a:buNone/>
            </a:pPr>
            <a:r>
              <a:rPr lang="en-US" sz="1300" b="1" dirty="0">
                <a:solidFill>
                  <a:srgbClr val="696969"/>
                </a:solidFill>
                <a:latin typeface="Arial" pitchFamily="34" charset="0"/>
                <a:ea typeface="Arial" pitchFamily="34" charset="-122"/>
                <a:cs typeface="Arial" pitchFamily="34" charset="-120"/>
              </a:rPr>
              <a:t>Prompt · escribilo tal cual</a:t>
            </a:r>
            <a:endParaRPr lang="en-US" sz="1300" dirty="0"/>
          </a:p>
        </p:txBody>
      </p:sp>
      <p:sp>
        <p:nvSpPr>
          <p:cNvPr id="4" name="Shape 2"/>
          <p:cNvSpPr/>
          <p:nvPr/>
        </p:nvSpPr>
        <p:spPr>
          <a:xfrm>
            <a:off x="457200" y="1627632"/>
            <a:ext cx="11274552" cy="1186434"/>
          </a:xfrm>
          <a:prstGeom prst="roundRect">
            <a:avLst>
              <a:gd name="adj" fmla="val 6166"/>
            </a:avLst>
          </a:prstGeom>
          <a:solidFill>
            <a:srgbClr val="0F2238"/>
          </a:solidFill>
          <a:ln w="12700">
            <a:solidFill>
              <a:srgbClr val="0F2238"/>
            </a:solidFill>
            <a:prstDash val="solid"/>
          </a:ln>
        </p:spPr>
      </p:sp>
      <p:sp>
        <p:nvSpPr>
          <p:cNvPr id="5" name="Text 3"/>
          <p:cNvSpPr txBox="1"/>
          <p:nvPr/>
        </p:nvSpPr>
        <p:spPr>
          <a:xfrm>
            <a:off x="685800" y="1792224"/>
            <a:ext cx="10817352" cy="857250"/>
          </a:xfrm>
          <a:prstGeom prst="rect">
            <a:avLst/>
          </a:prstGeom>
          <a:noFill/>
          <a:ln/>
        </p:spPr>
        <p:txBody>
          <a:bodyPr wrap="square" lIns="0" tIns="0" rIns="0" bIns="0" rtlCol="0" anchor="ctr"/>
          <a:lstStyle/>
          <a:p>
            <a:pPr indent="0" marL="0">
              <a:buNone/>
            </a:pPr>
            <a:r>
              <a:rPr lang="en-US" sz="1800" dirty="0">
                <a:solidFill>
                  <a:srgbClr val="E8EEF5"/>
                </a:solidFill>
                <a:latin typeface="Courier New" pitchFamily="34" charset="0"/>
                <a:ea typeface="Courier New" pitchFamily="34" charset="-122"/>
                <a:cs typeface="Courier New" pitchFamily="34" charset="-120"/>
              </a:rPr>
              <a:t>Al 26/2 el equipo terminó las historias 1.3, 1.4, 3.1, 3.2 y 3.3. Sincronizá el backlog y corré la sanidad: ¿qué historias terminadas no tienen revisión de calidad y qué revisiones vencieron?</a:t>
            </a:r>
            <a:endParaRPr lang="en-US" sz="1800" dirty="0"/>
          </a:p>
        </p:txBody>
      </p:sp>
      <p:sp>
        <p:nvSpPr>
          <p:cNvPr id="6" name="Shape 4"/>
          <p:cNvSpPr/>
          <p:nvPr/>
        </p:nvSpPr>
        <p:spPr>
          <a:xfrm>
            <a:off x="457200" y="3088386"/>
            <a:ext cx="11274552" cy="3129534"/>
          </a:xfrm>
          <a:prstGeom prst="roundRect">
            <a:avLst>
              <a:gd name="adj" fmla="val 2922"/>
            </a:avLst>
          </a:prstGeom>
          <a:solidFill>
            <a:srgbClr val="F4F6F8"/>
          </a:solidFill>
          <a:ln w="12700">
            <a:solidFill>
              <a:srgbClr val="F4F6F8"/>
            </a:solidFill>
            <a:prstDash val="solid"/>
          </a:ln>
        </p:spPr>
      </p:sp>
      <p:sp>
        <p:nvSpPr>
          <p:cNvPr id="7" name="Text 5"/>
          <p:cNvSpPr txBox="1"/>
          <p:nvPr/>
        </p:nvSpPr>
        <p:spPr>
          <a:xfrm>
            <a:off x="685800" y="3216402"/>
            <a:ext cx="5486400" cy="329184"/>
          </a:xfrm>
          <a:prstGeom prst="rect">
            <a:avLst/>
          </a:prstGeom>
          <a:noFill/>
          <a:ln/>
        </p:spPr>
        <p:txBody>
          <a:bodyPr wrap="square" lIns="0" tIns="0" rIns="0" bIns="0" rtlCol="0" anchor="t"/>
          <a:lstStyle/>
          <a:p>
            <a:pPr indent="0" marL="0">
              <a:buNone/>
            </a:pPr>
            <a:r>
              <a:rPr lang="en-US" sz="1600" b="1" dirty="0">
                <a:solidFill>
                  <a:srgbClr val="002855"/>
                </a:solidFill>
                <a:latin typeface="Arial" pitchFamily="34" charset="0"/>
                <a:ea typeface="Arial" pitchFamily="34" charset="-122"/>
                <a:cs typeface="Arial" pitchFamily="34" charset="-120"/>
              </a:rPr>
              <a:t>Qué deberías ver</a:t>
            </a:r>
            <a:endParaRPr lang="en-US" sz="1600" dirty="0"/>
          </a:p>
        </p:txBody>
      </p:sp>
      <p:sp>
        <p:nvSpPr>
          <p:cNvPr id="8" name="Text 6"/>
          <p:cNvSpPr txBox="1"/>
          <p:nvPr/>
        </p:nvSpPr>
        <p:spPr>
          <a:xfrm>
            <a:off x="685800" y="3618738"/>
            <a:ext cx="10817352" cy="2489454"/>
          </a:xfrm>
          <a:prstGeom prst="rect">
            <a:avLst/>
          </a:prstGeom>
          <a:noFill/>
          <a:ln/>
        </p:spPr>
        <p:txBody>
          <a:bodyPr wrap="square" lIns="0" tIns="0" rIns="0" bIns="0" rtlCol="0" anchor="t"/>
          <a:lstStyle/>
          <a:p>
            <a:pPr indent="0" marL="0">
              <a:spcAft>
                <a:spcPts val="800"/>
              </a:spcAft>
              <a:buNone/>
            </a:pPr>
            <a:r>
              <a:rPr lang="en-US" sz="1800" b="1" dirty="0">
                <a:solidFill>
                  <a:srgbClr val="00629B"/>
                </a:solidFill>
                <a:latin typeface="Arial" pitchFamily="34" charset="0"/>
                <a:ea typeface="Arial" pitchFamily="34" charset="-122"/>
                <a:cs typeface="Arial" pitchFamily="34" charset="-120"/>
              </a:rPr>
              <a:t>✓  </a:t>
            </a:r>
            <a:pPr indent="0" marL="0">
              <a:spcAft>
                <a:spcPts val="800"/>
              </a:spcAft>
              <a:buNone/>
            </a:pPr>
            <a:r>
              <a:rPr lang="en-US" sz="1800" dirty="0">
                <a:solidFill>
                  <a:srgbClr val="272425"/>
                </a:solidFill>
                <a:latin typeface="Arial" pitchFamily="34" charset="0"/>
                <a:ea typeface="Arial" pitchFamily="34" charset="-122"/>
                <a:cs typeface="Arial" pitchFamily="34" charset="-120"/>
              </a:rPr>
              <a:t>Sanidad: 0 ERROR · 7 AVISO · 3 INFO</a:t>
            </a:r>
            <a:endParaRPr lang="en-US" sz="1600" dirty="0"/>
          </a:p>
          <a:p>
            <a:pPr indent="0" marL="0">
              <a:spcAft>
                <a:spcPts val="800"/>
              </a:spcAft>
              <a:buNone/>
            </a:pPr>
            <a:r>
              <a:rPr lang="en-US" sz="1800" b="1" dirty="0">
                <a:solidFill>
                  <a:srgbClr val="00629B"/>
                </a:solidFill>
                <a:latin typeface="Arial" pitchFamily="34" charset="0"/>
                <a:ea typeface="Arial" pitchFamily="34" charset="-122"/>
                <a:cs typeface="Arial" pitchFamily="34" charset="-120"/>
              </a:rPr>
              <a:t>✓  </a:t>
            </a:r>
            <a:pPr indent="0" marL="0">
              <a:spcAft>
                <a:spcPts val="800"/>
              </a:spcAft>
              <a:buNone/>
            </a:pPr>
            <a:r>
              <a:rPr lang="en-US" sz="1800" dirty="0">
                <a:solidFill>
                  <a:srgbClr val="272425"/>
                </a:solidFill>
                <a:latin typeface="Arial" pitchFamily="34" charset="0"/>
                <a:ea typeface="Arial" pitchFamily="34" charset="-122"/>
                <a:cs typeface="Arial" pitchFamily="34" charset="-120"/>
              </a:rPr>
              <a:t>Cinco QUA-01 y QUA-02 de Q-001</a:t>
            </a:r>
            <a:endParaRPr lang="en-US" sz="1600" dirty="0"/>
          </a:p>
          <a:p>
            <a:pPr indent="0" marL="0">
              <a:spcAft>
                <a:spcPts val="800"/>
              </a:spcAft>
              <a:buNone/>
            </a:pPr>
            <a:r>
              <a:rPr lang="en-US" sz="1800" b="1" dirty="0">
                <a:solidFill>
                  <a:srgbClr val="00629B"/>
                </a:solidFill>
                <a:latin typeface="Arial" pitchFamily="34" charset="0"/>
                <a:ea typeface="Arial" pitchFamily="34" charset="-122"/>
                <a:cs typeface="Arial" pitchFamily="34" charset="-120"/>
              </a:rPr>
              <a:t>✓  </a:t>
            </a:r>
            <a:pPr indent="0" marL="0">
              <a:spcAft>
                <a:spcPts val="800"/>
              </a:spcAft>
              <a:buNone/>
            </a:pPr>
            <a:r>
              <a:rPr lang="en-US" sz="1800" dirty="0">
                <a:solidFill>
                  <a:srgbClr val="272425"/>
                </a:solidFill>
                <a:latin typeface="Arial" pitchFamily="34" charset="0"/>
                <a:ea typeface="Arial" pitchFamily="34" charset="-122"/>
                <a:cs typeface="Arial" pitchFamily="34" charset="-120"/>
              </a:rPr>
              <a:t>Lote Q-004 a Q-008</a:t>
            </a:r>
            <a:endParaRPr lang="en-US" sz="1600" dirty="0"/>
          </a:p>
          <a:p>
            <a:pPr indent="0" marL="0">
              <a:spcAft>
                <a:spcPts val="800"/>
              </a:spcAft>
              <a:buNone/>
            </a:pPr>
            <a:r>
              <a:rPr lang="en-US" sz="1800" b="1" dirty="0">
                <a:solidFill>
                  <a:srgbClr val="00629B"/>
                </a:solidFill>
                <a:latin typeface="Arial" pitchFamily="34" charset="0"/>
                <a:ea typeface="Arial" pitchFamily="34" charset="-122"/>
                <a:cs typeface="Arial" pitchFamily="34" charset="-120"/>
              </a:rPr>
              <a:t>✓  </a:t>
            </a:r>
            <a:pPr indent="0" marL="0">
              <a:spcAft>
                <a:spcPts val="800"/>
              </a:spcAft>
              <a:buNone/>
            </a:pPr>
            <a:r>
              <a:rPr lang="en-US" sz="1800" dirty="0">
                <a:solidFill>
                  <a:srgbClr val="272425"/>
                </a:solidFill>
                <a:latin typeface="Arial" pitchFamily="34" charset="0"/>
                <a:ea typeface="Arial" pitchFamily="34" charset="-122"/>
                <a:cs typeface="Arial" pitchFamily="34" charset="-120"/>
              </a:rPr>
              <a:t>Después: 0 ERROR · 2 AVISO · 2 INFO</a:t>
            </a:r>
            <a:endParaRPr lang="en-US" sz="1600" dirty="0"/>
          </a:p>
        </p:txBody>
      </p:sp>
      <p:sp>
        <p:nvSpPr>
          <p:cNvPr id="25" name="Slide Number Placeholder 0"/>
          <p:cNvSpPr>
            <a:spLocks noGrp="1"/>
          </p:cNvSpPr>
          <p:nvPr>
            <p:ph type="sldNum" sz="quarter" idx="4294967295"/>
          </p:nvPr>
        </p:nvSpPr>
        <p:spPr>
          <a:xfrm>
            <a:off x="11091672" y="6419088"/>
            <a:ext cx="64008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rgbClr val="696969"/>
                </a:solidFill>
              </a:defRPr>
            </a:lvl1pPr>
          </a:lstStyle>
          <a:p>
            <a:pPr algn="r"/>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3"/>
          <p:cNvSpPr/>
          <p:nvPr>
            <p:ph idx="103" type="title" hasCustomPrompt="1"/>
          </p:nvPr>
        </p:nvSpPr>
        <p:spPr>
          <a:xfrm>
            <a:off x="658368" y="365760"/>
            <a:ext cx="9244584" cy="713232"/>
          </a:xfrm>
          <a:prstGeom prst="rect">
            <a:avLst/>
          </a:prstGeom>
          <a:noFill/>
          <a:ln/>
        </p:spPr>
        <p:txBody>
          <a:bodyPr wrap="square" lIns="0" tIns="0" rIns="0" bIns="0" rtlCol="0" anchor="ctr"/>
          <a:lstStyle/>
          <a:p>
            <a:pPr algn="l" indent="0" marL="0">
              <a:buNone/>
            </a:pPr>
            <a:r>
              <a:rPr lang="en-US" sz="2400" b="1" dirty="0">
                <a:solidFill>
                  <a:srgbClr val="FFFFFF"/>
                </a:solidFill>
                <a:latin typeface="Arial" pitchFamily="34" charset="0"/>
                <a:ea typeface="Arial" pitchFamily="34" charset="-122"/>
                <a:cs typeface="Arial" pitchFamily="34" charset="-120"/>
              </a:rPr>
              <a:t>Paso 6b · El recorrido de la socia</a:t>
            </a:r>
            <a:endParaRPr lang="en-US" sz="2400" dirty="0"/>
          </a:p>
        </p:txBody>
      </p:sp>
      <p:sp>
        <p:nvSpPr>
          <p:cNvPr id="3" name="Text 1"/>
          <p:cNvSpPr txBox="1"/>
          <p:nvPr/>
        </p:nvSpPr>
        <p:spPr>
          <a:xfrm>
            <a:off x="457200" y="1280160"/>
            <a:ext cx="5486400" cy="292608"/>
          </a:xfrm>
          <a:prstGeom prst="rect">
            <a:avLst/>
          </a:prstGeom>
          <a:noFill/>
          <a:ln/>
        </p:spPr>
        <p:txBody>
          <a:bodyPr wrap="square" lIns="0" tIns="0" rIns="0" bIns="0" rtlCol="0" anchor="t"/>
          <a:lstStyle/>
          <a:p>
            <a:pPr indent="0" marL="0">
              <a:buNone/>
            </a:pPr>
            <a:r>
              <a:rPr lang="en-US" sz="1300" b="1" dirty="0">
                <a:solidFill>
                  <a:srgbClr val="696969"/>
                </a:solidFill>
                <a:latin typeface="Arial" pitchFamily="34" charset="0"/>
                <a:ea typeface="Arial" pitchFamily="34" charset="-122"/>
                <a:cs typeface="Arial" pitchFamily="34" charset="-120"/>
              </a:rPr>
              <a:t>Prompt · escribilo tal cual</a:t>
            </a:r>
            <a:endParaRPr lang="en-US" sz="1300" dirty="0"/>
          </a:p>
        </p:txBody>
      </p:sp>
      <p:sp>
        <p:nvSpPr>
          <p:cNvPr id="4" name="Shape 2"/>
          <p:cNvSpPr/>
          <p:nvPr/>
        </p:nvSpPr>
        <p:spPr>
          <a:xfrm>
            <a:off x="457200" y="1627632"/>
            <a:ext cx="11274552" cy="1757934"/>
          </a:xfrm>
          <a:prstGeom prst="roundRect">
            <a:avLst>
              <a:gd name="adj" fmla="val 4161"/>
            </a:avLst>
          </a:prstGeom>
          <a:solidFill>
            <a:srgbClr val="0F2238"/>
          </a:solidFill>
          <a:ln w="12700">
            <a:solidFill>
              <a:srgbClr val="0F2238"/>
            </a:solidFill>
            <a:prstDash val="solid"/>
          </a:ln>
        </p:spPr>
      </p:sp>
      <p:sp>
        <p:nvSpPr>
          <p:cNvPr id="5" name="Text 3"/>
          <p:cNvSpPr txBox="1"/>
          <p:nvPr/>
        </p:nvSpPr>
        <p:spPr>
          <a:xfrm>
            <a:off x="685800" y="1792224"/>
            <a:ext cx="10817352" cy="1428750"/>
          </a:xfrm>
          <a:prstGeom prst="rect">
            <a:avLst/>
          </a:prstGeom>
          <a:noFill/>
          <a:ln/>
        </p:spPr>
        <p:txBody>
          <a:bodyPr wrap="square" lIns="0" tIns="0" rIns="0" bIns="0" rtlCol="0" anchor="ctr"/>
          <a:lstStyle/>
          <a:p>
            <a:pPr indent="0" marL="0">
              <a:buNone/>
            </a:pPr>
            <a:r>
              <a:rPr lang="en-US" sz="1800" dirty="0">
                <a:solidFill>
                  <a:srgbClr val="E8EEF5"/>
                </a:solidFill>
                <a:latin typeface="Courier New" pitchFamily="34" charset="0"/>
                <a:ea typeface="Courier New" pitchFamily="34" charset="-122"/>
                <a:cs typeface="Courier New" pitchFamily="34" charset="-120"/>
              </a:rPr>
              <a:t>Armá el mapa de recorrido de UJ-1 desde la especificación de BMAD, con lo que vimos en la revisión del Release 1 con seis socios el 25/2: dos pidieron ayuda en el primer ingreso con segundo factor; el resumen de cuentas tarda en aparecer y no hay indicador de carga; la constancia se descargó en el primer intento. Decime qué dolores quedan sin tratamiento.</a:t>
            </a:r>
            <a:endParaRPr lang="en-US" sz="1800" dirty="0"/>
          </a:p>
        </p:txBody>
      </p:sp>
      <p:sp>
        <p:nvSpPr>
          <p:cNvPr id="6" name="Shape 4"/>
          <p:cNvSpPr/>
          <p:nvPr/>
        </p:nvSpPr>
        <p:spPr>
          <a:xfrm>
            <a:off x="457200" y="3659886"/>
            <a:ext cx="11274552" cy="2558034"/>
          </a:xfrm>
          <a:prstGeom prst="roundRect">
            <a:avLst>
              <a:gd name="adj" fmla="val 3575"/>
            </a:avLst>
          </a:prstGeom>
          <a:solidFill>
            <a:srgbClr val="F4F6F8"/>
          </a:solidFill>
          <a:ln w="12700">
            <a:solidFill>
              <a:srgbClr val="F4F6F8"/>
            </a:solidFill>
            <a:prstDash val="solid"/>
          </a:ln>
        </p:spPr>
      </p:sp>
      <p:sp>
        <p:nvSpPr>
          <p:cNvPr id="7" name="Text 5"/>
          <p:cNvSpPr txBox="1"/>
          <p:nvPr/>
        </p:nvSpPr>
        <p:spPr>
          <a:xfrm>
            <a:off x="685800" y="3787902"/>
            <a:ext cx="5486400" cy="329184"/>
          </a:xfrm>
          <a:prstGeom prst="rect">
            <a:avLst/>
          </a:prstGeom>
          <a:noFill/>
          <a:ln/>
        </p:spPr>
        <p:txBody>
          <a:bodyPr wrap="square" lIns="0" tIns="0" rIns="0" bIns="0" rtlCol="0" anchor="t"/>
          <a:lstStyle/>
          <a:p>
            <a:pPr indent="0" marL="0">
              <a:buNone/>
            </a:pPr>
            <a:r>
              <a:rPr lang="en-US" sz="1600" b="1" dirty="0">
                <a:solidFill>
                  <a:srgbClr val="002855"/>
                </a:solidFill>
                <a:latin typeface="Arial" pitchFamily="34" charset="0"/>
                <a:ea typeface="Arial" pitchFamily="34" charset="-122"/>
                <a:cs typeface="Arial" pitchFamily="34" charset="-120"/>
              </a:rPr>
              <a:t>Qué deberías ver</a:t>
            </a:r>
            <a:endParaRPr lang="en-US" sz="1600" dirty="0"/>
          </a:p>
        </p:txBody>
      </p:sp>
      <p:sp>
        <p:nvSpPr>
          <p:cNvPr id="8" name="Text 6"/>
          <p:cNvSpPr txBox="1"/>
          <p:nvPr/>
        </p:nvSpPr>
        <p:spPr>
          <a:xfrm>
            <a:off x="685800" y="4190238"/>
            <a:ext cx="10817352" cy="1917954"/>
          </a:xfrm>
          <a:prstGeom prst="rect">
            <a:avLst/>
          </a:prstGeom>
          <a:noFill/>
          <a:ln/>
        </p:spPr>
        <p:txBody>
          <a:bodyPr wrap="square" lIns="0" tIns="0" rIns="0" bIns="0" rtlCol="0" anchor="t"/>
          <a:lstStyle/>
          <a:p>
            <a:pPr indent="0" marL="0">
              <a:spcAft>
                <a:spcPts val="800"/>
              </a:spcAft>
              <a:buNone/>
            </a:pPr>
            <a:r>
              <a:rPr lang="en-US" sz="1800" b="1" dirty="0">
                <a:solidFill>
                  <a:srgbClr val="00629B"/>
                </a:solidFill>
                <a:latin typeface="Arial" pitchFamily="34" charset="0"/>
                <a:ea typeface="Arial" pitchFamily="34" charset="-122"/>
                <a:cs typeface="Arial" pitchFamily="34" charset="-120"/>
              </a:rPr>
              <a:t>✓  </a:t>
            </a:r>
            <a:pPr indent="0" marL="0">
              <a:spcAft>
                <a:spcPts val="800"/>
              </a:spcAft>
              <a:buNone/>
            </a:pPr>
            <a:r>
              <a:rPr lang="en-US" sz="1800" dirty="0">
                <a:solidFill>
                  <a:srgbClr val="272425"/>
                </a:solidFill>
                <a:latin typeface="Arial" pitchFamily="34" charset="0"/>
                <a:ea typeface="Arial" pitchFamily="34" charset="-122"/>
                <a:cs typeface="Arial" pitchFamily="34" charset="-120"/>
              </a:rPr>
              <a:t>Semilla desde bmad.py recorridos: 6 pasos</a:t>
            </a:r>
            <a:endParaRPr lang="en-US" sz="1600" dirty="0"/>
          </a:p>
          <a:p>
            <a:pPr indent="0" marL="0">
              <a:spcAft>
                <a:spcPts val="800"/>
              </a:spcAft>
              <a:buNone/>
            </a:pPr>
            <a:r>
              <a:rPr lang="en-US" sz="1800" b="1" dirty="0">
                <a:solidFill>
                  <a:srgbClr val="00629B"/>
                </a:solidFill>
                <a:latin typeface="Arial" pitchFamily="34" charset="0"/>
                <a:ea typeface="Arial" pitchFamily="34" charset="-122"/>
                <a:cs typeface="Arial" pitchFamily="34" charset="-120"/>
              </a:rPr>
              <a:t>✓  </a:t>
            </a:r>
            <a:pPr indent="0" marL="0">
              <a:spcAft>
                <a:spcPts val="800"/>
              </a:spcAft>
              <a:buNone/>
            </a:pPr>
            <a:r>
              <a:rPr lang="en-US" sz="1800" dirty="0">
                <a:solidFill>
                  <a:srgbClr val="272425"/>
                </a:solidFill>
                <a:latin typeface="Arial" pitchFamily="34" charset="0"/>
                <a:ea typeface="Arial" pitchFamily="34" charset="-122"/>
                <a:cs typeface="Arial" pitchFamily="34" charset="-120"/>
              </a:rPr>
              <a:t>Dos MAP-03: ingreso y resumen</a:t>
            </a:r>
            <a:endParaRPr lang="en-US" sz="1600" dirty="0"/>
          </a:p>
          <a:p>
            <a:pPr indent="0" marL="0">
              <a:spcAft>
                <a:spcPts val="800"/>
              </a:spcAft>
              <a:buNone/>
            </a:pPr>
            <a:r>
              <a:rPr lang="en-US" sz="1800" b="1" dirty="0">
                <a:solidFill>
                  <a:srgbClr val="00629B"/>
                </a:solidFill>
                <a:latin typeface="Arial" pitchFamily="34" charset="0"/>
                <a:ea typeface="Arial" pitchFamily="34" charset="-122"/>
                <a:cs typeface="Arial" pitchFamily="34" charset="-120"/>
              </a:rPr>
              <a:t>✓  </a:t>
            </a:r>
            <a:pPr indent="0" marL="0">
              <a:spcAft>
                <a:spcPts val="800"/>
              </a:spcAft>
              <a:buNone/>
            </a:pPr>
            <a:r>
              <a:rPr lang="en-US" sz="1800" dirty="0">
                <a:solidFill>
                  <a:srgbClr val="272425"/>
                </a:solidFill>
                <a:latin typeface="Arial" pitchFamily="34" charset="0"/>
                <a:ea typeface="Arial" pitchFamily="34" charset="-122"/>
                <a:cs typeface="Arial" pitchFamily="34" charset="-120"/>
              </a:rPr>
              <a:t>P2 → NFR-3 y Q-001 (la condición)</a:t>
            </a:r>
            <a:endParaRPr lang="en-US" sz="1600" dirty="0"/>
          </a:p>
          <a:p>
            <a:pPr indent="0" marL="0">
              <a:spcAft>
                <a:spcPts val="800"/>
              </a:spcAft>
              <a:buNone/>
            </a:pPr>
            <a:r>
              <a:rPr lang="en-US" sz="1800" b="1" dirty="0">
                <a:solidFill>
                  <a:srgbClr val="00629B"/>
                </a:solidFill>
                <a:latin typeface="Arial" pitchFamily="34" charset="0"/>
                <a:ea typeface="Arial" pitchFamily="34" charset="-122"/>
                <a:cs typeface="Arial" pitchFamily="34" charset="-120"/>
              </a:rPr>
              <a:t>✓  </a:t>
            </a:r>
            <a:pPr indent="0" marL="0">
              <a:spcAft>
                <a:spcPts val="800"/>
              </a:spcAft>
              <a:buNone/>
            </a:pPr>
            <a:r>
              <a:rPr lang="en-US" sz="1800" dirty="0">
                <a:solidFill>
                  <a:srgbClr val="272425"/>
                </a:solidFill>
                <a:latin typeface="Arial" pitchFamily="34" charset="0"/>
                <a:ea typeface="Arial" pitchFamily="34" charset="-122"/>
                <a:cs typeface="Arial" pitchFamily="34" charset="-120"/>
              </a:rPr>
              <a:t>P1 → R-001, riesgo para B-02</a:t>
            </a:r>
            <a:endParaRPr lang="en-US" sz="1600" dirty="0"/>
          </a:p>
          <a:p>
            <a:pPr indent="0" marL="0">
              <a:spcAft>
                <a:spcPts val="800"/>
              </a:spcAft>
              <a:buNone/>
            </a:pPr>
            <a:r>
              <a:rPr lang="en-US" sz="1800" b="1" dirty="0">
                <a:solidFill>
                  <a:srgbClr val="00629B"/>
                </a:solidFill>
                <a:latin typeface="Arial" pitchFamily="34" charset="0"/>
                <a:ea typeface="Arial" pitchFamily="34" charset="-122"/>
                <a:cs typeface="Arial" pitchFamily="34" charset="-120"/>
              </a:rPr>
              <a:t>✓  </a:t>
            </a:r>
            <a:pPr indent="0" marL="0">
              <a:spcAft>
                <a:spcPts val="800"/>
              </a:spcAft>
              <a:buNone/>
            </a:pPr>
            <a:r>
              <a:rPr lang="en-US" sz="1800" dirty="0">
                <a:solidFill>
                  <a:srgbClr val="272425"/>
                </a:solidFill>
                <a:latin typeface="Arial" pitchFamily="34" charset="0"/>
                <a:ea typeface="Arial" pitchFamily="34" charset="-122"/>
                <a:cs typeface="Arial" pitchFamily="34" charset="-120"/>
              </a:rPr>
              <a:t>0 avisos de la familia MAP</a:t>
            </a:r>
            <a:endParaRPr lang="en-US" sz="1600" dirty="0"/>
          </a:p>
        </p:txBody>
      </p:sp>
      <p:sp>
        <p:nvSpPr>
          <p:cNvPr id="25" name="Slide Number Placeholder 0"/>
          <p:cNvSpPr>
            <a:spLocks noGrp="1"/>
          </p:cNvSpPr>
          <p:nvPr>
            <p:ph type="sldNum" sz="quarter" idx="4294967295"/>
          </p:nvPr>
        </p:nvSpPr>
        <p:spPr>
          <a:xfrm>
            <a:off x="11091672" y="6419088"/>
            <a:ext cx="64008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rgbClr val="696969"/>
                </a:solidFill>
              </a:defRPr>
            </a:lvl1pPr>
          </a:lstStyle>
          <a:p>
            <a:pPr algn="r"/>
            <a:fld id="{F7021451-1387-4CA6-816F-3879F97B5CBC}" type="slidenum">
              <a:rPr b="0"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3"/>
          <p:cNvSpPr/>
          <p:nvPr>
            <p:ph idx="103" type="title" hasCustomPrompt="1"/>
          </p:nvPr>
        </p:nvSpPr>
        <p:spPr>
          <a:xfrm>
            <a:off x="658368" y="365760"/>
            <a:ext cx="9244584" cy="713232"/>
          </a:xfrm>
          <a:prstGeom prst="rect">
            <a:avLst/>
          </a:prstGeom>
          <a:noFill/>
          <a:ln/>
        </p:spPr>
        <p:txBody>
          <a:bodyPr wrap="square" lIns="0" tIns="0" rIns="0" bIns="0" rtlCol="0" anchor="ctr"/>
          <a:lstStyle/>
          <a:p>
            <a:pPr algn="l" indent="0" marL="0">
              <a:buNone/>
            </a:pPr>
            <a:r>
              <a:rPr lang="en-US" sz="2400" b="1" dirty="0">
                <a:solidFill>
                  <a:srgbClr val="FFFFFF"/>
                </a:solidFill>
                <a:latin typeface="Arial" pitchFamily="34" charset="0"/>
                <a:ea typeface="Arial" pitchFamily="34" charset="-122"/>
                <a:cs typeface="Arial" pitchFamily="34" charset="-120"/>
              </a:rPr>
              <a:t>Paso 7 · Condición cumplida y puerta de la etapa 3</a:t>
            </a:r>
            <a:endParaRPr lang="en-US" sz="2400" dirty="0"/>
          </a:p>
        </p:txBody>
      </p:sp>
      <p:sp>
        <p:nvSpPr>
          <p:cNvPr id="3" name="Text 1"/>
          <p:cNvSpPr txBox="1"/>
          <p:nvPr/>
        </p:nvSpPr>
        <p:spPr>
          <a:xfrm>
            <a:off x="457200" y="1280160"/>
            <a:ext cx="5486400" cy="292608"/>
          </a:xfrm>
          <a:prstGeom prst="rect">
            <a:avLst/>
          </a:prstGeom>
          <a:noFill/>
          <a:ln/>
        </p:spPr>
        <p:txBody>
          <a:bodyPr wrap="square" lIns="0" tIns="0" rIns="0" bIns="0" rtlCol="0" anchor="t"/>
          <a:lstStyle/>
          <a:p>
            <a:pPr indent="0" marL="0">
              <a:buNone/>
            </a:pPr>
            <a:r>
              <a:rPr lang="en-US" sz="1300" b="1" dirty="0">
                <a:solidFill>
                  <a:srgbClr val="696969"/>
                </a:solidFill>
                <a:latin typeface="Arial" pitchFamily="34" charset="0"/>
                <a:ea typeface="Arial" pitchFamily="34" charset="-122"/>
                <a:cs typeface="Arial" pitchFamily="34" charset="-120"/>
              </a:rPr>
              <a:t>Prompt · escribilo tal cual</a:t>
            </a:r>
            <a:endParaRPr lang="en-US" sz="1300" dirty="0"/>
          </a:p>
        </p:txBody>
      </p:sp>
      <p:sp>
        <p:nvSpPr>
          <p:cNvPr id="4" name="Shape 2"/>
          <p:cNvSpPr/>
          <p:nvPr/>
        </p:nvSpPr>
        <p:spPr>
          <a:xfrm>
            <a:off x="457200" y="1627632"/>
            <a:ext cx="11274552" cy="1948434"/>
          </a:xfrm>
          <a:prstGeom prst="roundRect">
            <a:avLst>
              <a:gd name="adj" fmla="val 3754"/>
            </a:avLst>
          </a:prstGeom>
          <a:solidFill>
            <a:srgbClr val="0F2238"/>
          </a:solidFill>
          <a:ln w="12700">
            <a:solidFill>
              <a:srgbClr val="0F2238"/>
            </a:solidFill>
            <a:prstDash val="solid"/>
          </a:ln>
        </p:spPr>
      </p:sp>
      <p:sp>
        <p:nvSpPr>
          <p:cNvPr id="5" name="Text 3"/>
          <p:cNvSpPr txBox="1"/>
          <p:nvPr/>
        </p:nvSpPr>
        <p:spPr>
          <a:xfrm>
            <a:off x="685800" y="1792224"/>
            <a:ext cx="10817352" cy="1619250"/>
          </a:xfrm>
          <a:prstGeom prst="rect">
            <a:avLst/>
          </a:prstGeom>
          <a:noFill/>
          <a:ln/>
        </p:spPr>
        <p:txBody>
          <a:bodyPr wrap="square" lIns="0" tIns="0" rIns="0" bIns="0" rtlCol="0" anchor="ctr"/>
          <a:lstStyle/>
          <a:p>
            <a:pPr indent="0" marL="0">
              <a:buNone/>
            </a:pPr>
            <a:r>
              <a:rPr lang="en-US" sz="1700" dirty="0">
                <a:solidFill>
                  <a:srgbClr val="E8EEF5"/>
                </a:solidFill>
                <a:latin typeface="Courier New" pitchFamily="34" charset="0"/>
                <a:ea typeface="Courier New" pitchFamily="34" charset="-122"/>
                <a:cs typeface="Courier New" pitchFamily="34" charset="-120"/>
              </a:rPr>
              <a:t>La prueba de carga de NFR-3 se hizo el 2/3: p95 2,4 s con 400 sesiones concurrentes (meta menor a 3 s); aprobada. El gate de preparación de BMAD dio PASS el 3/3. Terminamos el Release 1: traé el avance al 5/3, abrí el límite de etapa, calculá el valor ganado (PV 82.000, EV 80.000, AC 83.500, BAC 130.000) y guardá el corte, actualizá el business case con reales y pronóstico, armá el informe de fin de etapa, el plan de la etapa 3 y el tablero con el recorrido de la socia, y preparame la puerta.</a:t>
            </a:r>
            <a:endParaRPr lang="en-US" sz="1700" dirty="0"/>
          </a:p>
        </p:txBody>
      </p:sp>
      <p:sp>
        <p:nvSpPr>
          <p:cNvPr id="6" name="Shape 4"/>
          <p:cNvSpPr/>
          <p:nvPr/>
        </p:nvSpPr>
        <p:spPr>
          <a:xfrm>
            <a:off x="457200" y="3850386"/>
            <a:ext cx="11274552" cy="2367534"/>
          </a:xfrm>
          <a:prstGeom prst="roundRect">
            <a:avLst>
              <a:gd name="adj" fmla="val 3862"/>
            </a:avLst>
          </a:prstGeom>
          <a:solidFill>
            <a:srgbClr val="F4F6F8"/>
          </a:solidFill>
          <a:ln w="12700">
            <a:solidFill>
              <a:srgbClr val="F4F6F8"/>
            </a:solidFill>
            <a:prstDash val="solid"/>
          </a:ln>
        </p:spPr>
      </p:sp>
      <p:sp>
        <p:nvSpPr>
          <p:cNvPr id="7" name="Text 5"/>
          <p:cNvSpPr txBox="1"/>
          <p:nvPr/>
        </p:nvSpPr>
        <p:spPr>
          <a:xfrm>
            <a:off x="685800" y="3978402"/>
            <a:ext cx="5486400" cy="329184"/>
          </a:xfrm>
          <a:prstGeom prst="rect">
            <a:avLst/>
          </a:prstGeom>
          <a:noFill/>
          <a:ln/>
        </p:spPr>
        <p:txBody>
          <a:bodyPr wrap="square" lIns="0" tIns="0" rIns="0" bIns="0" rtlCol="0" anchor="t"/>
          <a:lstStyle/>
          <a:p>
            <a:pPr indent="0" marL="0">
              <a:buNone/>
            </a:pPr>
            <a:r>
              <a:rPr lang="en-US" sz="1600" b="1" dirty="0">
                <a:solidFill>
                  <a:srgbClr val="002855"/>
                </a:solidFill>
                <a:latin typeface="Arial" pitchFamily="34" charset="0"/>
                <a:ea typeface="Arial" pitchFamily="34" charset="-122"/>
                <a:cs typeface="Arial" pitchFamily="34" charset="-120"/>
              </a:rPr>
              <a:t>Qué deberías ver</a:t>
            </a:r>
            <a:endParaRPr lang="en-US" sz="1600" dirty="0"/>
          </a:p>
        </p:txBody>
      </p:sp>
      <p:sp>
        <p:nvSpPr>
          <p:cNvPr id="8" name="Text 6"/>
          <p:cNvSpPr txBox="1"/>
          <p:nvPr/>
        </p:nvSpPr>
        <p:spPr>
          <a:xfrm>
            <a:off x="685800" y="4380738"/>
            <a:ext cx="10817352" cy="1727454"/>
          </a:xfrm>
          <a:prstGeom prst="rect">
            <a:avLst/>
          </a:prstGeom>
          <a:noFill/>
          <a:ln/>
        </p:spPr>
        <p:txBody>
          <a:bodyPr wrap="square" lIns="0" tIns="0" rIns="0" bIns="0" rtlCol="0" anchor="t"/>
          <a:lstStyle/>
          <a:p>
            <a:pPr indent="0" marL="0">
              <a:spcAft>
                <a:spcPts val="800"/>
              </a:spcAft>
              <a:buNone/>
            </a:pPr>
            <a:r>
              <a:rPr lang="en-US" sz="1800" b="1" dirty="0">
                <a:solidFill>
                  <a:srgbClr val="00629B"/>
                </a:solidFill>
                <a:latin typeface="Arial" pitchFamily="34" charset="0"/>
                <a:ea typeface="Arial" pitchFamily="34" charset="-122"/>
                <a:cs typeface="Arial" pitchFamily="34" charset="-120"/>
              </a:rPr>
              <a:t>✓  </a:t>
            </a:r>
            <a:pPr indent="0" marL="0">
              <a:spcAft>
                <a:spcPts val="800"/>
              </a:spcAft>
              <a:buNone/>
            </a:pPr>
            <a:r>
              <a:rPr lang="en-US" sz="1800" dirty="0">
                <a:solidFill>
                  <a:srgbClr val="272425"/>
                </a:solidFill>
                <a:latin typeface="Arial" pitchFamily="34" charset="0"/>
                <a:ea typeface="Arial" pitchFamily="34" charset="-122"/>
                <a:cs typeface="Arial" pitchFamily="34" charset="-120"/>
              </a:rPr>
              <a:t>Q-001: p95 2,4 s, aprobada</a:t>
            </a:r>
            <a:endParaRPr lang="en-US" sz="1600" dirty="0"/>
          </a:p>
          <a:p>
            <a:pPr indent="0" marL="0">
              <a:spcAft>
                <a:spcPts val="800"/>
              </a:spcAft>
              <a:buNone/>
            </a:pPr>
            <a:r>
              <a:rPr lang="en-US" sz="1800" b="1" dirty="0">
                <a:solidFill>
                  <a:srgbClr val="00629B"/>
                </a:solidFill>
                <a:latin typeface="Arial" pitchFamily="34" charset="0"/>
                <a:ea typeface="Arial" pitchFamily="34" charset="-122"/>
                <a:cs typeface="Arial" pitchFamily="34" charset="-120"/>
              </a:rPr>
              <a:t>✓  </a:t>
            </a:r>
            <a:pPr indent="0" marL="0">
              <a:spcAft>
                <a:spcPts val="800"/>
              </a:spcAft>
              <a:buNone/>
            </a:pPr>
            <a:r>
              <a:rPr lang="en-US" sz="1800" dirty="0">
                <a:solidFill>
                  <a:srgbClr val="272425"/>
                </a:solidFill>
                <a:latin typeface="Arial" pitchFamily="34" charset="0"/>
                <a:ea typeface="Arial" pitchFamily="34" charset="-122"/>
                <a:cs typeface="Arial" pitchFamily="34" charset="-120"/>
              </a:rPr>
              <a:t>Antes: G-01 en la verificación</a:t>
            </a:r>
            <a:endParaRPr lang="en-US" sz="1600" dirty="0"/>
          </a:p>
          <a:p>
            <a:pPr indent="0" marL="0">
              <a:spcAft>
                <a:spcPts val="800"/>
              </a:spcAft>
              <a:buNone/>
            </a:pPr>
            <a:r>
              <a:rPr lang="en-US" sz="1800" b="1" dirty="0">
                <a:solidFill>
                  <a:srgbClr val="00629B"/>
                </a:solidFill>
                <a:latin typeface="Arial" pitchFamily="34" charset="0"/>
                <a:ea typeface="Arial" pitchFamily="34" charset="-122"/>
                <a:cs typeface="Arial" pitchFamily="34" charset="-120"/>
              </a:rPr>
              <a:t>✓  </a:t>
            </a:r>
            <a:pPr indent="0" marL="0">
              <a:spcAft>
                <a:spcPts val="800"/>
              </a:spcAft>
              <a:buNone/>
            </a:pPr>
            <a:r>
              <a:rPr lang="en-US" sz="1800" dirty="0">
                <a:solidFill>
                  <a:srgbClr val="272425"/>
                </a:solidFill>
                <a:latin typeface="Arial" pitchFamily="34" charset="0"/>
                <a:ea typeface="Arial" pitchFamily="34" charset="-122"/>
                <a:cs typeface="Arial" pitchFamily="34" charset="-120"/>
              </a:rPr>
              <a:t>cumplir-condiciones por la ejecutiva</a:t>
            </a:r>
            <a:endParaRPr lang="en-US" sz="1600" dirty="0"/>
          </a:p>
          <a:p>
            <a:pPr indent="0" marL="0">
              <a:spcAft>
                <a:spcPts val="800"/>
              </a:spcAft>
              <a:buNone/>
            </a:pPr>
            <a:r>
              <a:rPr lang="en-US" sz="1800" b="1" dirty="0">
                <a:solidFill>
                  <a:srgbClr val="00629B"/>
                </a:solidFill>
                <a:latin typeface="Arial" pitchFamily="34" charset="0"/>
                <a:ea typeface="Arial" pitchFamily="34" charset="-122"/>
                <a:cs typeface="Arial" pitchFamily="34" charset="-120"/>
              </a:rPr>
              <a:t>✓  </a:t>
            </a:r>
            <a:pPr indent="0" marL="0">
              <a:spcAft>
                <a:spcPts val="800"/>
              </a:spcAft>
              <a:buNone/>
            </a:pPr>
            <a:r>
              <a:rPr lang="en-US" sz="1800" dirty="0">
                <a:solidFill>
                  <a:srgbClr val="272425"/>
                </a:solidFill>
                <a:latin typeface="Arial" pitchFamily="34" charset="0"/>
                <a:ea typeface="Arial" pitchFamily="34" charset="-122"/>
                <a:cs typeface="Arial" pitchFamily="34" charset="-120"/>
              </a:rPr>
              <a:t>Después: 0 bloqueos · 0 condiciones</a:t>
            </a:r>
            <a:endParaRPr lang="en-US" sz="1600" dirty="0"/>
          </a:p>
        </p:txBody>
      </p:sp>
      <p:sp>
        <p:nvSpPr>
          <p:cNvPr id="25" name="Slide Number Placeholder 0"/>
          <p:cNvSpPr>
            <a:spLocks noGrp="1"/>
          </p:cNvSpPr>
          <p:nvPr>
            <p:ph type="sldNum" sz="quarter" idx="4294967295"/>
          </p:nvPr>
        </p:nvSpPr>
        <p:spPr>
          <a:xfrm>
            <a:off x="11091672" y="6419088"/>
            <a:ext cx="64008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rgbClr val="696969"/>
                </a:solidFill>
              </a:defRPr>
            </a:lvl1pPr>
          </a:lstStyle>
          <a:p>
            <a:pPr algn="r"/>
            <a:fld id="{F7021451-1387-4CA6-816F-3879F97B5CBC}" type="slidenum">
              <a:rPr b="0"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3"/>
          <p:cNvSpPr/>
          <p:nvPr>
            <p:ph idx="103" type="title" hasCustomPrompt="1"/>
          </p:nvPr>
        </p:nvSpPr>
        <p:spPr>
          <a:xfrm>
            <a:off x="658368" y="365760"/>
            <a:ext cx="9244584" cy="713232"/>
          </a:xfrm>
          <a:prstGeom prst="rect">
            <a:avLst/>
          </a:prstGeom>
          <a:noFill/>
          <a:ln/>
        </p:spPr>
        <p:txBody>
          <a:bodyPr wrap="square" lIns="0" tIns="0" rIns="0" bIns="0" rtlCol="0" anchor="ctr"/>
          <a:lstStyle/>
          <a:p>
            <a:pPr algn="l" indent="0" marL="0">
              <a:buNone/>
            </a:pPr>
            <a:r>
              <a:rPr lang="en-US" sz="2400" b="1" dirty="0">
                <a:solidFill>
                  <a:srgbClr val="FFFFFF"/>
                </a:solidFill>
                <a:latin typeface="Arial" pitchFamily="34" charset="0"/>
                <a:ea typeface="Arial" pitchFamily="34" charset="-122"/>
                <a:cs typeface="Arial" pitchFamily="34" charset="-120"/>
              </a:rPr>
              <a:t>El recorrido de la socia, en el tablero del Release 1</a:t>
            </a:r>
            <a:endParaRPr lang="en-US" sz="2400" dirty="0"/>
          </a:p>
        </p:txBody>
      </p:sp>
      <p:pic>
        <p:nvPicPr>
          <p:cNvPr id="3" name="Image 0" descr="El recorrido de la socia, en el tablero del Release 1">    </p:cNvPr>
          <p:cNvPicPr>
            <a:picLocks noChangeAspect="1"/>
          </p:cNvPicPr>
          <p:nvPr/>
        </p:nvPicPr>
        <p:blipFill>
          <a:blip r:embed="rId1"/>
          <a:stretch>
            <a:fillRect/>
          </a:stretch>
        </p:blipFill>
        <p:spPr>
          <a:xfrm>
            <a:off x="1705356" y="1280160"/>
            <a:ext cx="8778240" cy="4937760"/>
          </a:xfrm>
          <a:prstGeom prst="rect">
            <a:avLst/>
          </a:prstGeom>
        </p:spPr>
      </p:pic>
      <p:sp>
        <p:nvSpPr>
          <p:cNvPr id="4" name="Shape 1"/>
          <p:cNvSpPr/>
          <p:nvPr/>
        </p:nvSpPr>
        <p:spPr>
          <a:xfrm>
            <a:off x="1705356" y="1280160"/>
            <a:ext cx="8778240" cy="4937760"/>
          </a:xfrm>
          <a:prstGeom prst="rect">
            <a:avLst/>
          </a:prstGeom>
          <a:solidFill>
            <a:srgbClr val="FFFFFF">
              <a:alpha val="0"/>
            </a:srgbClr>
          </a:solidFill>
          <a:ln w="9525">
            <a:solidFill>
              <a:srgbClr val="E2E2E6"/>
            </a:solidFill>
            <a:prstDash val="solid"/>
          </a:ln>
        </p:spPr>
      </p:sp>
      <p:sp>
        <p:nvSpPr>
          <p:cNvPr id="25" name="Slide Number Placeholder 0"/>
          <p:cNvSpPr>
            <a:spLocks noGrp="1"/>
          </p:cNvSpPr>
          <p:nvPr>
            <p:ph type="sldNum" sz="quarter" idx="4294967295"/>
          </p:nvPr>
        </p:nvSpPr>
        <p:spPr>
          <a:xfrm>
            <a:off x="11091672" y="6419088"/>
            <a:ext cx="64008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rgbClr val="696969"/>
                </a:solidFill>
              </a:defRPr>
            </a:lvl1pPr>
          </a:lstStyle>
          <a:p>
            <a:pPr algn="r"/>
            <a:fld id="{F7021451-1387-4CA6-816F-3879F97B5CBC}" type="slidenum">
              <a:rPr b="0"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3"/>
          <p:cNvSpPr/>
          <p:nvPr>
            <p:ph idx="103" type="title" hasCustomPrompt="1"/>
          </p:nvPr>
        </p:nvSpPr>
        <p:spPr>
          <a:xfrm>
            <a:off x="658368" y="365760"/>
            <a:ext cx="9244584" cy="713232"/>
          </a:xfrm>
          <a:prstGeom prst="rect">
            <a:avLst/>
          </a:prstGeom>
          <a:noFill/>
          <a:ln/>
        </p:spPr>
        <p:txBody>
          <a:bodyPr wrap="square" lIns="0" tIns="0" rIns="0" bIns="0" rtlCol="0" anchor="ctr"/>
          <a:lstStyle/>
          <a:p>
            <a:pPr algn="l" indent="0" marL="0">
              <a:buNone/>
            </a:pPr>
            <a:r>
              <a:rPr lang="en-US" sz="2400" b="1" dirty="0">
                <a:solidFill>
                  <a:srgbClr val="FFFFFF"/>
                </a:solidFill>
                <a:latin typeface="Arial" pitchFamily="34" charset="0"/>
                <a:ea typeface="Arial" pitchFamily="34" charset="-122"/>
                <a:cs typeface="Arial" pitchFamily="34" charset="-120"/>
              </a:rPr>
              <a:t>Paso 8 · Release 2 con un rechazo</a:t>
            </a:r>
            <a:endParaRPr lang="en-US" sz="2400" dirty="0"/>
          </a:p>
        </p:txBody>
      </p:sp>
      <p:sp>
        <p:nvSpPr>
          <p:cNvPr id="3" name="Text 1"/>
          <p:cNvSpPr txBox="1"/>
          <p:nvPr/>
        </p:nvSpPr>
        <p:spPr>
          <a:xfrm>
            <a:off x="457200" y="1280160"/>
            <a:ext cx="5486400" cy="292608"/>
          </a:xfrm>
          <a:prstGeom prst="rect">
            <a:avLst/>
          </a:prstGeom>
          <a:noFill/>
          <a:ln/>
        </p:spPr>
        <p:txBody>
          <a:bodyPr wrap="square" lIns="0" tIns="0" rIns="0" bIns="0" rtlCol="0" anchor="t"/>
          <a:lstStyle/>
          <a:p>
            <a:pPr indent="0" marL="0">
              <a:buNone/>
            </a:pPr>
            <a:r>
              <a:rPr lang="en-US" sz="1300" b="1" dirty="0">
                <a:solidFill>
                  <a:srgbClr val="696969"/>
                </a:solidFill>
                <a:latin typeface="Arial" pitchFamily="34" charset="0"/>
                <a:ea typeface="Arial" pitchFamily="34" charset="-122"/>
                <a:cs typeface="Arial" pitchFamily="34" charset="-120"/>
              </a:rPr>
              <a:t>Prompt · escribilo tal cual</a:t>
            </a:r>
            <a:endParaRPr lang="en-US" sz="1300" dirty="0"/>
          </a:p>
        </p:txBody>
      </p:sp>
      <p:sp>
        <p:nvSpPr>
          <p:cNvPr id="4" name="Shape 2"/>
          <p:cNvSpPr/>
          <p:nvPr/>
        </p:nvSpPr>
        <p:spPr>
          <a:xfrm>
            <a:off x="457200" y="1627632"/>
            <a:ext cx="11274552" cy="1472184"/>
          </a:xfrm>
          <a:prstGeom prst="roundRect">
            <a:avLst>
              <a:gd name="adj" fmla="val 4969"/>
            </a:avLst>
          </a:prstGeom>
          <a:solidFill>
            <a:srgbClr val="0F2238"/>
          </a:solidFill>
          <a:ln w="12700">
            <a:solidFill>
              <a:srgbClr val="0F2238"/>
            </a:solidFill>
            <a:prstDash val="solid"/>
          </a:ln>
        </p:spPr>
      </p:sp>
      <p:sp>
        <p:nvSpPr>
          <p:cNvPr id="5" name="Text 3"/>
          <p:cNvSpPr txBox="1"/>
          <p:nvPr/>
        </p:nvSpPr>
        <p:spPr>
          <a:xfrm>
            <a:off x="685800" y="1792224"/>
            <a:ext cx="10817352" cy="1143000"/>
          </a:xfrm>
          <a:prstGeom prst="rect">
            <a:avLst/>
          </a:prstGeom>
          <a:noFill/>
          <a:ln/>
        </p:spPr>
        <p:txBody>
          <a:bodyPr wrap="square" lIns="0" tIns="0" rIns="0" bIns="0" rtlCol="0" anchor="ctr"/>
          <a:lstStyle/>
          <a:p>
            <a:pPr indent="0" marL="0">
              <a:buNone/>
            </a:pPr>
            <a:r>
              <a:rPr lang="en-US" sz="1800" dirty="0">
                <a:solidFill>
                  <a:srgbClr val="E8EEF5"/>
                </a:solidFill>
                <a:latin typeface="Courier New" pitchFamily="34" charset="0"/>
                <a:ea typeface="Courier New" pitchFamily="34" charset="-122"/>
                <a:cs typeface="Courier New" pitchFamily="34" charset="-120"/>
              </a:rPr>
              <a:t>Release 2 terminado en BMAD. Sincronizá el backlog y registrá las revisiones del 6/5: 2.1, 2.2 y 2.3 aprobadas; la 2.4 rechazada porque falta la notificación al socio después del débito (criterio de aceptación de FR-13). Corré la sanidad al 7/5.</a:t>
            </a:r>
            <a:endParaRPr lang="en-US" sz="1800" dirty="0"/>
          </a:p>
        </p:txBody>
      </p:sp>
      <p:sp>
        <p:nvSpPr>
          <p:cNvPr id="6" name="Shape 4"/>
          <p:cNvSpPr/>
          <p:nvPr/>
        </p:nvSpPr>
        <p:spPr>
          <a:xfrm>
            <a:off x="457200" y="3374136"/>
            <a:ext cx="11274552" cy="2843784"/>
          </a:xfrm>
          <a:prstGeom prst="roundRect">
            <a:avLst>
              <a:gd name="adj" fmla="val 3215"/>
            </a:avLst>
          </a:prstGeom>
          <a:solidFill>
            <a:srgbClr val="F4F6F8"/>
          </a:solidFill>
          <a:ln w="12700">
            <a:solidFill>
              <a:srgbClr val="F4F6F8"/>
            </a:solidFill>
            <a:prstDash val="solid"/>
          </a:ln>
        </p:spPr>
      </p:sp>
      <p:sp>
        <p:nvSpPr>
          <p:cNvPr id="7" name="Text 5"/>
          <p:cNvSpPr txBox="1"/>
          <p:nvPr/>
        </p:nvSpPr>
        <p:spPr>
          <a:xfrm>
            <a:off x="685800" y="3502152"/>
            <a:ext cx="5486400" cy="329184"/>
          </a:xfrm>
          <a:prstGeom prst="rect">
            <a:avLst/>
          </a:prstGeom>
          <a:noFill/>
          <a:ln/>
        </p:spPr>
        <p:txBody>
          <a:bodyPr wrap="square" lIns="0" tIns="0" rIns="0" bIns="0" rtlCol="0" anchor="t"/>
          <a:lstStyle/>
          <a:p>
            <a:pPr indent="0" marL="0">
              <a:buNone/>
            </a:pPr>
            <a:r>
              <a:rPr lang="en-US" sz="1600" b="1" dirty="0">
                <a:solidFill>
                  <a:srgbClr val="002855"/>
                </a:solidFill>
                <a:latin typeface="Arial" pitchFamily="34" charset="0"/>
                <a:ea typeface="Arial" pitchFamily="34" charset="-122"/>
                <a:cs typeface="Arial" pitchFamily="34" charset="-120"/>
              </a:rPr>
              <a:t>Qué deberías ver</a:t>
            </a:r>
            <a:endParaRPr lang="en-US" sz="1600" dirty="0"/>
          </a:p>
        </p:txBody>
      </p:sp>
      <p:sp>
        <p:nvSpPr>
          <p:cNvPr id="8" name="Text 6"/>
          <p:cNvSpPr txBox="1"/>
          <p:nvPr/>
        </p:nvSpPr>
        <p:spPr>
          <a:xfrm>
            <a:off x="685800" y="3904488"/>
            <a:ext cx="10817352" cy="2203704"/>
          </a:xfrm>
          <a:prstGeom prst="rect">
            <a:avLst/>
          </a:prstGeom>
          <a:noFill/>
          <a:ln/>
        </p:spPr>
        <p:txBody>
          <a:bodyPr wrap="square" lIns="0" tIns="0" rIns="0" bIns="0" rtlCol="0" anchor="t"/>
          <a:lstStyle/>
          <a:p>
            <a:pPr indent="0" marL="0">
              <a:spcAft>
                <a:spcPts val="800"/>
              </a:spcAft>
              <a:buNone/>
            </a:pPr>
            <a:r>
              <a:rPr lang="en-US" sz="1800" b="1" dirty="0">
                <a:solidFill>
                  <a:srgbClr val="00629B"/>
                </a:solidFill>
                <a:latin typeface="Arial" pitchFamily="34" charset="0"/>
                <a:ea typeface="Arial" pitchFamily="34" charset="-122"/>
                <a:cs typeface="Arial" pitchFamily="34" charset="-120"/>
              </a:rPr>
              <a:t>✓  </a:t>
            </a:r>
            <a:pPr indent="0" marL="0">
              <a:spcAft>
                <a:spcPts val="800"/>
              </a:spcAft>
              <a:buNone/>
            </a:pPr>
            <a:r>
              <a:rPr lang="en-US" sz="1800" dirty="0">
                <a:solidFill>
                  <a:srgbClr val="272425"/>
                </a:solidFill>
                <a:latin typeface="Arial" pitchFamily="34" charset="0"/>
                <a:ea typeface="Arial" pitchFamily="34" charset="-122"/>
                <a:cs typeface="Arial" pitchFamily="34" charset="-120"/>
              </a:rPr>
              <a:t>QUA-01: 2-4 con Q-012 sin aprobar</a:t>
            </a:r>
            <a:endParaRPr lang="en-US" sz="1600" dirty="0"/>
          </a:p>
          <a:p>
            <a:pPr indent="0" marL="0">
              <a:spcAft>
                <a:spcPts val="800"/>
              </a:spcAft>
              <a:buNone/>
            </a:pPr>
            <a:r>
              <a:rPr lang="en-US" sz="1800" b="1" dirty="0">
                <a:solidFill>
                  <a:srgbClr val="00629B"/>
                </a:solidFill>
                <a:latin typeface="Arial" pitchFamily="34" charset="0"/>
                <a:ea typeface="Arial" pitchFamily="34" charset="-122"/>
                <a:cs typeface="Arial" pitchFamily="34" charset="-120"/>
              </a:rPr>
              <a:t>✓  </a:t>
            </a:r>
            <a:pPr indent="0" marL="0">
              <a:spcAft>
                <a:spcPts val="800"/>
              </a:spcAft>
              <a:buNone/>
            </a:pPr>
            <a:r>
              <a:rPr lang="en-US" sz="1800" dirty="0">
                <a:solidFill>
                  <a:srgbClr val="272425"/>
                </a:solidFill>
                <a:latin typeface="Arial" pitchFamily="34" charset="0"/>
                <a:ea typeface="Arial" pitchFamily="34" charset="-122"/>
                <a:cs typeface="Arial" pitchFamily="34" charset="-120"/>
              </a:rPr>
              <a:t>QUA-03: rechazo sin tratamiento</a:t>
            </a:r>
            <a:endParaRPr lang="en-US" sz="1600" dirty="0"/>
          </a:p>
          <a:p>
            <a:pPr indent="0" marL="0">
              <a:spcAft>
                <a:spcPts val="800"/>
              </a:spcAft>
              <a:buNone/>
            </a:pPr>
            <a:r>
              <a:rPr lang="en-US" sz="1800" b="1" dirty="0">
                <a:solidFill>
                  <a:srgbClr val="00629B"/>
                </a:solidFill>
                <a:latin typeface="Arial" pitchFamily="34" charset="0"/>
                <a:ea typeface="Arial" pitchFamily="34" charset="-122"/>
                <a:cs typeface="Arial" pitchFamily="34" charset="-120"/>
              </a:rPr>
              <a:t>✓  </a:t>
            </a:r>
            <a:pPr indent="0" marL="0">
              <a:spcAft>
                <a:spcPts val="800"/>
              </a:spcAft>
              <a:buNone/>
            </a:pPr>
            <a:r>
              <a:rPr lang="en-US" sz="1800" dirty="0">
                <a:solidFill>
                  <a:srgbClr val="272425"/>
                </a:solidFill>
                <a:latin typeface="Arial" pitchFamily="34" charset="0"/>
                <a:ea typeface="Arial" pitchFamily="34" charset="-122"/>
                <a:cs typeface="Arial" pitchFamily="34" charset="-120"/>
              </a:rPr>
              <a:t>I-002: corregir sin costo (Sofía)</a:t>
            </a:r>
            <a:endParaRPr lang="en-US" sz="1600" dirty="0"/>
          </a:p>
          <a:p>
            <a:pPr indent="0" marL="0">
              <a:spcAft>
                <a:spcPts val="800"/>
              </a:spcAft>
              <a:buNone/>
            </a:pPr>
            <a:r>
              <a:rPr lang="en-US" sz="1800" b="1" dirty="0">
                <a:solidFill>
                  <a:srgbClr val="00629B"/>
                </a:solidFill>
                <a:latin typeface="Arial" pitchFamily="34" charset="0"/>
                <a:ea typeface="Arial" pitchFamily="34" charset="-122"/>
                <a:cs typeface="Arial" pitchFamily="34" charset="-120"/>
              </a:rPr>
              <a:t>✓  </a:t>
            </a:r>
            <a:pPr indent="0" marL="0">
              <a:spcAft>
                <a:spcPts val="800"/>
              </a:spcAft>
              <a:buNone/>
            </a:pPr>
            <a:r>
              <a:rPr lang="en-US" sz="1800" dirty="0">
                <a:solidFill>
                  <a:srgbClr val="272425"/>
                </a:solidFill>
                <a:latin typeface="Arial" pitchFamily="34" charset="0"/>
                <a:ea typeface="Arial" pitchFamily="34" charset="-122"/>
                <a:cs typeface="Arial" pitchFamily="34" charset="-120"/>
              </a:rPr>
              <a:t>Q-013 aprobada el 11/5</a:t>
            </a:r>
            <a:endParaRPr lang="en-US" sz="1600" dirty="0"/>
          </a:p>
          <a:p>
            <a:pPr indent="0" marL="0">
              <a:spcAft>
                <a:spcPts val="800"/>
              </a:spcAft>
              <a:buNone/>
            </a:pPr>
            <a:r>
              <a:rPr lang="en-US" sz="1800" b="1" dirty="0">
                <a:solidFill>
                  <a:srgbClr val="00629B"/>
                </a:solidFill>
                <a:latin typeface="Arial" pitchFamily="34" charset="0"/>
                <a:ea typeface="Arial" pitchFamily="34" charset="-122"/>
                <a:cs typeface="Arial" pitchFamily="34" charset="-120"/>
              </a:rPr>
              <a:t>✓  </a:t>
            </a:r>
            <a:pPr indent="0" marL="0">
              <a:spcAft>
                <a:spcPts val="800"/>
              </a:spcAft>
              <a:buNone/>
            </a:pPr>
            <a:r>
              <a:rPr lang="en-US" sz="1800" dirty="0">
                <a:solidFill>
                  <a:srgbClr val="272425"/>
                </a:solidFill>
                <a:latin typeface="Arial" pitchFamily="34" charset="0"/>
                <a:ea typeface="Arial" pitchFamily="34" charset="-122"/>
                <a:cs typeface="Arial" pitchFamily="34" charset="-120"/>
              </a:rPr>
              <a:t>Sanidad del 12/5: 0 AVISO</a:t>
            </a:r>
            <a:endParaRPr lang="en-US" sz="1600" dirty="0"/>
          </a:p>
        </p:txBody>
      </p:sp>
      <p:sp>
        <p:nvSpPr>
          <p:cNvPr id="25" name="Slide Number Placeholder 0"/>
          <p:cNvSpPr>
            <a:spLocks noGrp="1"/>
          </p:cNvSpPr>
          <p:nvPr>
            <p:ph type="sldNum" sz="quarter" idx="4294967295"/>
          </p:nvPr>
        </p:nvSpPr>
        <p:spPr>
          <a:xfrm>
            <a:off x="11091672" y="6419088"/>
            <a:ext cx="64008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rgbClr val="696969"/>
                </a:solidFill>
              </a:defRPr>
            </a:lvl1pPr>
          </a:lstStyle>
          <a:p>
            <a:pPr algn="r"/>
            <a:fld id="{F7021451-1387-4CA6-816F-3879F97B5CBC}" type="slidenum">
              <a:rPr b="0"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3"/>
          <p:cNvSpPr/>
          <p:nvPr>
            <p:ph idx="103" type="title" hasCustomPrompt="1"/>
          </p:nvPr>
        </p:nvSpPr>
        <p:spPr>
          <a:xfrm>
            <a:off x="658368" y="365760"/>
            <a:ext cx="9244584" cy="713232"/>
          </a:xfrm>
          <a:prstGeom prst="rect">
            <a:avLst/>
          </a:prstGeom>
          <a:noFill/>
          <a:ln/>
        </p:spPr>
        <p:txBody>
          <a:bodyPr wrap="square" lIns="0" tIns="0" rIns="0" bIns="0" rtlCol="0" anchor="ctr"/>
          <a:lstStyle/>
          <a:p>
            <a:pPr algn="l" indent="0" marL="0">
              <a:buNone/>
            </a:pPr>
            <a:r>
              <a:rPr lang="en-US" sz="2400" b="1" dirty="0">
                <a:solidFill>
                  <a:srgbClr val="FFFFFF"/>
                </a:solidFill>
                <a:latin typeface="Arial" pitchFamily="34" charset="0"/>
                <a:ea typeface="Arial" pitchFamily="34" charset="-122"/>
                <a:cs typeface="Arial" pitchFamily="34" charset="-120"/>
              </a:rPr>
              <a:t>Paso 9 · La puerta de cierre en una página</a:t>
            </a:r>
            <a:endParaRPr lang="en-US" sz="2400" dirty="0"/>
          </a:p>
        </p:txBody>
      </p:sp>
      <p:pic>
        <p:nvPicPr>
          <p:cNvPr id="3" name="Image 0" descr="Paso 9 · La puerta de cierre en una página">    </p:cNvPr>
          <p:cNvPicPr>
            <a:picLocks noChangeAspect="1"/>
          </p:cNvPicPr>
          <p:nvPr/>
        </p:nvPicPr>
        <p:blipFill>
          <a:blip r:embed="rId1"/>
          <a:stretch>
            <a:fillRect/>
          </a:stretch>
        </p:blipFill>
        <p:spPr>
          <a:xfrm>
            <a:off x="1705356" y="1280160"/>
            <a:ext cx="8778240" cy="4937760"/>
          </a:xfrm>
          <a:prstGeom prst="rect">
            <a:avLst/>
          </a:prstGeom>
        </p:spPr>
      </p:pic>
      <p:sp>
        <p:nvSpPr>
          <p:cNvPr id="4" name="Shape 1"/>
          <p:cNvSpPr/>
          <p:nvPr/>
        </p:nvSpPr>
        <p:spPr>
          <a:xfrm>
            <a:off x="1705356" y="1280160"/>
            <a:ext cx="8778240" cy="4937760"/>
          </a:xfrm>
          <a:prstGeom prst="rect">
            <a:avLst/>
          </a:prstGeom>
          <a:solidFill>
            <a:srgbClr val="FFFFFF">
              <a:alpha val="0"/>
            </a:srgbClr>
          </a:solidFill>
          <a:ln w="9525">
            <a:solidFill>
              <a:srgbClr val="E2E2E6"/>
            </a:solidFill>
            <a:prstDash val="solid"/>
          </a:ln>
        </p:spPr>
      </p:sp>
      <p:sp>
        <p:nvSpPr>
          <p:cNvPr id="25" name="Slide Number Placeholder 0"/>
          <p:cNvSpPr>
            <a:spLocks noGrp="1"/>
          </p:cNvSpPr>
          <p:nvPr>
            <p:ph type="sldNum" sz="quarter" idx="4294967295"/>
          </p:nvPr>
        </p:nvSpPr>
        <p:spPr>
          <a:xfrm>
            <a:off x="11091672" y="6419088"/>
            <a:ext cx="64008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rgbClr val="696969"/>
                </a:solidFill>
              </a:defRPr>
            </a:lvl1pPr>
          </a:lstStyle>
          <a:p>
            <a:pPr algn="r"/>
            <a:fld id="{F7021451-1387-4CA6-816F-3879F97B5CBC}" type="slidenum">
              <a:rPr b="0"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3"/>
          <p:cNvSpPr/>
          <p:nvPr>
            <p:ph idx="103" type="title" hasCustomPrompt="1"/>
          </p:nvPr>
        </p:nvSpPr>
        <p:spPr>
          <a:xfrm>
            <a:off x="658368" y="365760"/>
            <a:ext cx="9244584" cy="713232"/>
          </a:xfrm>
          <a:prstGeom prst="rect">
            <a:avLst/>
          </a:prstGeom>
          <a:noFill/>
          <a:ln/>
        </p:spPr>
        <p:txBody>
          <a:bodyPr wrap="square" lIns="0" tIns="0" rIns="0" bIns="0" rtlCol="0" anchor="ctr"/>
          <a:lstStyle/>
          <a:p>
            <a:pPr algn="l" indent="0" marL="0">
              <a:buNone/>
            </a:pPr>
            <a:r>
              <a:rPr lang="en-US" sz="2400" b="1" dirty="0">
                <a:solidFill>
                  <a:srgbClr val="FFFFFF"/>
                </a:solidFill>
                <a:latin typeface="Arial" pitchFamily="34" charset="0"/>
                <a:ea typeface="Arial" pitchFamily="34" charset="-122"/>
                <a:cs typeface="Arial" pitchFamily="34" charset="-120"/>
              </a:rPr>
              <a:t>Paso 10 · Primera revisión de beneficios (30/6)</a:t>
            </a:r>
            <a:endParaRPr lang="en-US" sz="2400" dirty="0"/>
          </a:p>
        </p:txBody>
      </p:sp>
      <p:sp>
        <p:nvSpPr>
          <p:cNvPr id="3" name="Text 1"/>
          <p:cNvSpPr txBox="1"/>
          <p:nvPr/>
        </p:nvSpPr>
        <p:spPr>
          <a:xfrm>
            <a:off x="457200" y="1280160"/>
            <a:ext cx="5486400" cy="292608"/>
          </a:xfrm>
          <a:prstGeom prst="rect">
            <a:avLst/>
          </a:prstGeom>
          <a:noFill/>
          <a:ln/>
        </p:spPr>
        <p:txBody>
          <a:bodyPr wrap="square" lIns="0" tIns="0" rIns="0" bIns="0" rtlCol="0" anchor="t"/>
          <a:lstStyle/>
          <a:p>
            <a:pPr indent="0" marL="0">
              <a:buNone/>
            </a:pPr>
            <a:r>
              <a:rPr lang="en-US" sz="1300" b="1" dirty="0">
                <a:solidFill>
                  <a:srgbClr val="696969"/>
                </a:solidFill>
                <a:latin typeface="Arial" pitchFamily="34" charset="0"/>
                <a:ea typeface="Arial" pitchFamily="34" charset="-122"/>
                <a:cs typeface="Arial" pitchFamily="34" charset="-120"/>
              </a:rPr>
              <a:t>Prompt · escribilo tal cual</a:t>
            </a:r>
            <a:endParaRPr lang="en-US" sz="1300" dirty="0"/>
          </a:p>
        </p:txBody>
      </p:sp>
      <p:sp>
        <p:nvSpPr>
          <p:cNvPr id="4" name="Shape 2"/>
          <p:cNvSpPr/>
          <p:nvPr/>
        </p:nvSpPr>
        <p:spPr>
          <a:xfrm>
            <a:off x="457200" y="1627632"/>
            <a:ext cx="11274552" cy="1472184"/>
          </a:xfrm>
          <a:prstGeom prst="roundRect">
            <a:avLst>
              <a:gd name="adj" fmla="val 4969"/>
            </a:avLst>
          </a:prstGeom>
          <a:solidFill>
            <a:srgbClr val="0F2238"/>
          </a:solidFill>
          <a:ln w="12700">
            <a:solidFill>
              <a:srgbClr val="0F2238"/>
            </a:solidFill>
            <a:prstDash val="solid"/>
          </a:ln>
        </p:spPr>
      </p:sp>
      <p:sp>
        <p:nvSpPr>
          <p:cNvPr id="5" name="Text 3"/>
          <p:cNvSpPr txBox="1"/>
          <p:nvPr/>
        </p:nvSpPr>
        <p:spPr>
          <a:xfrm>
            <a:off x="685800" y="1792224"/>
            <a:ext cx="10817352" cy="1143000"/>
          </a:xfrm>
          <a:prstGeom prst="rect">
            <a:avLst/>
          </a:prstGeom>
          <a:noFill/>
          <a:ln/>
        </p:spPr>
        <p:txBody>
          <a:bodyPr wrap="square" lIns="0" tIns="0" rIns="0" bIns="0" rtlCol="0" anchor="ctr"/>
          <a:lstStyle/>
          <a:p>
            <a:pPr indent="0" marL="0">
              <a:buNone/>
            </a:pPr>
            <a:r>
              <a:rPr lang="en-US" sz="1800" dirty="0">
                <a:solidFill>
                  <a:srgbClr val="E8EEF5"/>
                </a:solidFill>
                <a:latin typeface="Courier New" pitchFamily="34" charset="0"/>
                <a:ea typeface="Courier New" pitchFamily="34" charset="-122"/>
                <a:cs typeface="Courier New" pitchFamily="34" charset="-120"/>
              </a:rPr>
              <a:t>Soy Sofía Ramírez, de servicios al socio. Registrá como check-in la línea base al entrar en operación (15/5: KR-1.1 0 %, KR-1.2 5.000 consultas, KR-1.3 96 horas) y la primera revisión al 30/6 (KR-1.1 9 %, KR-1.2 4.600, KR-1.3 70 horas; confianza 6). Puntuá los OKR y decime si vamos en camino.</a:t>
            </a:r>
            <a:endParaRPr lang="en-US" sz="1800" dirty="0"/>
          </a:p>
        </p:txBody>
      </p:sp>
      <p:sp>
        <p:nvSpPr>
          <p:cNvPr id="6" name="Shape 4"/>
          <p:cNvSpPr/>
          <p:nvPr/>
        </p:nvSpPr>
        <p:spPr>
          <a:xfrm>
            <a:off x="457200" y="3374136"/>
            <a:ext cx="11274552" cy="2843784"/>
          </a:xfrm>
          <a:prstGeom prst="roundRect">
            <a:avLst>
              <a:gd name="adj" fmla="val 3215"/>
            </a:avLst>
          </a:prstGeom>
          <a:solidFill>
            <a:srgbClr val="F4F6F8"/>
          </a:solidFill>
          <a:ln w="12700">
            <a:solidFill>
              <a:srgbClr val="F4F6F8"/>
            </a:solidFill>
            <a:prstDash val="solid"/>
          </a:ln>
        </p:spPr>
      </p:sp>
      <p:sp>
        <p:nvSpPr>
          <p:cNvPr id="7" name="Text 5"/>
          <p:cNvSpPr txBox="1"/>
          <p:nvPr/>
        </p:nvSpPr>
        <p:spPr>
          <a:xfrm>
            <a:off x="685800" y="3502152"/>
            <a:ext cx="5486400" cy="329184"/>
          </a:xfrm>
          <a:prstGeom prst="rect">
            <a:avLst/>
          </a:prstGeom>
          <a:noFill/>
          <a:ln/>
        </p:spPr>
        <p:txBody>
          <a:bodyPr wrap="square" lIns="0" tIns="0" rIns="0" bIns="0" rtlCol="0" anchor="t"/>
          <a:lstStyle/>
          <a:p>
            <a:pPr indent="0" marL="0">
              <a:buNone/>
            </a:pPr>
            <a:r>
              <a:rPr lang="en-US" sz="1600" b="1" dirty="0">
                <a:solidFill>
                  <a:srgbClr val="002855"/>
                </a:solidFill>
                <a:latin typeface="Arial" pitchFamily="34" charset="0"/>
                <a:ea typeface="Arial" pitchFamily="34" charset="-122"/>
                <a:cs typeface="Arial" pitchFamily="34" charset="-120"/>
              </a:rPr>
              <a:t>Qué deberías ver</a:t>
            </a:r>
            <a:endParaRPr lang="en-US" sz="1600" dirty="0"/>
          </a:p>
        </p:txBody>
      </p:sp>
      <p:sp>
        <p:nvSpPr>
          <p:cNvPr id="8" name="Text 6"/>
          <p:cNvSpPr txBox="1"/>
          <p:nvPr/>
        </p:nvSpPr>
        <p:spPr>
          <a:xfrm>
            <a:off x="685800" y="3904488"/>
            <a:ext cx="10817352" cy="2203704"/>
          </a:xfrm>
          <a:prstGeom prst="rect">
            <a:avLst/>
          </a:prstGeom>
          <a:noFill/>
          <a:ln/>
        </p:spPr>
        <p:txBody>
          <a:bodyPr wrap="square" lIns="0" tIns="0" rIns="0" bIns="0" rtlCol="0" anchor="t"/>
          <a:lstStyle/>
          <a:p>
            <a:pPr indent="0" marL="0">
              <a:spcAft>
                <a:spcPts val="800"/>
              </a:spcAft>
              <a:buNone/>
            </a:pPr>
            <a:r>
              <a:rPr lang="en-US" sz="1800" b="1" dirty="0">
                <a:solidFill>
                  <a:srgbClr val="00629B"/>
                </a:solidFill>
                <a:latin typeface="Arial" pitchFamily="34" charset="0"/>
                <a:ea typeface="Arial" pitchFamily="34" charset="-122"/>
                <a:cs typeface="Arial" pitchFamily="34" charset="-120"/>
              </a:rPr>
              <a:t>✓  </a:t>
            </a:r>
            <a:pPr indent="0" marL="0">
              <a:spcAft>
                <a:spcPts val="800"/>
              </a:spcAft>
              <a:buNone/>
            </a:pPr>
            <a:r>
              <a:rPr lang="en-US" sz="1800" dirty="0">
                <a:solidFill>
                  <a:srgbClr val="272425"/>
                </a:solidFill>
                <a:latin typeface="Arial" pitchFamily="34" charset="0"/>
                <a:ea typeface="Arial" pitchFamily="34" charset="-122"/>
                <a:cs typeface="Arial" pitchFamily="34" charset="-120"/>
              </a:rPr>
              <a:t>Check-ins: línea base 15/5 y 30/6</a:t>
            </a:r>
            <a:endParaRPr lang="en-US" sz="1600" dirty="0"/>
          </a:p>
          <a:p>
            <a:pPr indent="0" marL="0">
              <a:spcAft>
                <a:spcPts val="800"/>
              </a:spcAft>
              <a:buNone/>
            </a:pPr>
            <a:r>
              <a:rPr lang="en-US" sz="1800" b="1" dirty="0">
                <a:solidFill>
                  <a:srgbClr val="00629B"/>
                </a:solidFill>
                <a:latin typeface="Arial" pitchFamily="34" charset="0"/>
                <a:ea typeface="Arial" pitchFamily="34" charset="-122"/>
                <a:cs typeface="Arial" pitchFamily="34" charset="-120"/>
              </a:rPr>
              <a:t>✓  </a:t>
            </a:r>
            <a:pPr indent="0" marL="0">
              <a:spcAft>
                <a:spcPts val="800"/>
              </a:spcAft>
              <a:buNone/>
            </a:pPr>
            <a:r>
              <a:rPr lang="en-US" sz="1800" dirty="0">
                <a:solidFill>
                  <a:srgbClr val="272425"/>
                </a:solidFill>
                <a:latin typeface="Arial" pitchFamily="34" charset="0"/>
                <a:ea typeface="Arial" pitchFamily="34" charset="-122"/>
                <a:cs typeface="Arial" pitchFamily="34" charset="-120"/>
              </a:rPr>
              <a:t>O-1 0,37 en rojo</a:t>
            </a:r>
            <a:endParaRPr lang="en-US" sz="1600" dirty="0"/>
          </a:p>
          <a:p>
            <a:pPr indent="0" marL="0">
              <a:spcAft>
                <a:spcPts val="800"/>
              </a:spcAft>
              <a:buNone/>
            </a:pPr>
            <a:r>
              <a:rPr lang="en-US" sz="1800" b="1" dirty="0">
                <a:solidFill>
                  <a:srgbClr val="00629B"/>
                </a:solidFill>
                <a:latin typeface="Arial" pitchFamily="34" charset="0"/>
                <a:ea typeface="Arial" pitchFamily="34" charset="-122"/>
                <a:cs typeface="Arial" pitchFamily="34" charset="-120"/>
              </a:rPr>
              <a:t>✓  </a:t>
            </a:r>
            <a:pPr indent="0" marL="0">
              <a:spcAft>
                <a:spcPts val="800"/>
              </a:spcAft>
              <a:buNone/>
            </a:pPr>
            <a:r>
              <a:rPr lang="en-US" sz="1800" dirty="0">
                <a:solidFill>
                  <a:srgbClr val="272425"/>
                </a:solidFill>
                <a:latin typeface="Arial" pitchFamily="34" charset="0"/>
                <a:ea typeface="Arial" pitchFamily="34" charset="-122"/>
                <a:cs typeface="Arial" pitchFamily="34" charset="-120"/>
              </a:rPr>
              <a:t>Van 46 de 230 días: esperado 0,20</a:t>
            </a:r>
            <a:endParaRPr lang="en-US" sz="1600" dirty="0"/>
          </a:p>
          <a:p>
            <a:pPr indent="0" marL="0">
              <a:spcAft>
                <a:spcPts val="800"/>
              </a:spcAft>
              <a:buNone/>
            </a:pPr>
            <a:r>
              <a:rPr lang="en-US" sz="1800" b="1" dirty="0">
                <a:solidFill>
                  <a:srgbClr val="00629B"/>
                </a:solidFill>
                <a:latin typeface="Arial" pitchFamily="34" charset="0"/>
                <a:ea typeface="Arial" pitchFamily="34" charset="-122"/>
                <a:cs typeface="Arial" pitchFamily="34" charset="-120"/>
              </a:rPr>
              <a:t>✓  </a:t>
            </a:r>
            <a:pPr indent="0" marL="0">
              <a:spcAft>
                <a:spcPts val="800"/>
              </a:spcAft>
              <a:buNone/>
            </a:pPr>
            <a:r>
              <a:rPr lang="en-US" sz="1800" dirty="0">
                <a:solidFill>
                  <a:srgbClr val="272425"/>
                </a:solidFill>
                <a:latin typeface="Arial" pitchFamily="34" charset="0"/>
                <a:ea typeface="Arial" pitchFamily="34" charset="-122"/>
                <a:cs typeface="Arial" pitchFamily="34" charset="-120"/>
              </a:rPr>
              <a:t>Los tres KR en camino: sin informe</a:t>
            </a:r>
            <a:endParaRPr lang="en-US" sz="1600" dirty="0"/>
          </a:p>
        </p:txBody>
      </p:sp>
      <p:sp>
        <p:nvSpPr>
          <p:cNvPr id="25" name="Slide Number Placeholder 0"/>
          <p:cNvSpPr>
            <a:spLocks noGrp="1"/>
          </p:cNvSpPr>
          <p:nvPr>
            <p:ph type="sldNum" sz="quarter" idx="4294967295"/>
          </p:nvPr>
        </p:nvSpPr>
        <p:spPr>
          <a:xfrm>
            <a:off x="11091672" y="6419088"/>
            <a:ext cx="64008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rgbClr val="696969"/>
                </a:solidFill>
              </a:defRPr>
            </a:lvl1pPr>
          </a:lstStyle>
          <a:p>
            <a:pPr algn="r"/>
            <a:fld id="{F7021451-1387-4CA6-816F-3879F97B5CBC}" type="slidenum">
              <a:rPr b="0"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3"/>
          <p:cNvSpPr/>
          <p:nvPr>
            <p:ph idx="103" type="title" hasCustomPrompt="1"/>
          </p:nvPr>
        </p:nvSpPr>
        <p:spPr>
          <a:xfrm>
            <a:off x="658368" y="365760"/>
            <a:ext cx="9244584" cy="713232"/>
          </a:xfrm>
          <a:prstGeom prst="rect">
            <a:avLst/>
          </a:prstGeom>
          <a:noFill/>
          <a:ln/>
        </p:spPr>
        <p:txBody>
          <a:bodyPr wrap="square" lIns="0" tIns="0" rIns="0" bIns="0" rtlCol="0" anchor="ctr"/>
          <a:lstStyle/>
          <a:p>
            <a:pPr algn="l" indent="0" marL="0">
              <a:buNone/>
            </a:pPr>
            <a:r>
              <a:rPr lang="en-US" sz="2400" b="1" dirty="0">
                <a:solidFill>
                  <a:srgbClr val="FFFFFF"/>
                </a:solidFill>
                <a:latin typeface="Arial" pitchFamily="34" charset="0"/>
                <a:ea typeface="Arial" pitchFamily="34" charset="-122"/>
                <a:cs typeface="Arial" pitchFamily="34" charset="-120"/>
              </a:rPr>
              <a:t>31/12: B-02 adopción queda fuera de la tolerancia</a:t>
            </a:r>
            <a:endParaRPr lang="en-US" sz="2400" dirty="0"/>
          </a:p>
        </p:txBody>
      </p:sp>
      <p:pic>
        <p:nvPicPr>
          <p:cNvPr id="3" name="Image 0" descr="31/12: B-02 adopción queda fuera de la tolerancia">    </p:cNvPr>
          <p:cNvPicPr>
            <a:picLocks noChangeAspect="1"/>
          </p:cNvPicPr>
          <p:nvPr/>
        </p:nvPicPr>
        <p:blipFill>
          <a:blip r:embed="rId1"/>
          <a:stretch>
            <a:fillRect/>
          </a:stretch>
        </p:blipFill>
        <p:spPr>
          <a:xfrm>
            <a:off x="1705356" y="1280160"/>
            <a:ext cx="8778240" cy="4937760"/>
          </a:xfrm>
          <a:prstGeom prst="rect">
            <a:avLst/>
          </a:prstGeom>
        </p:spPr>
      </p:pic>
      <p:sp>
        <p:nvSpPr>
          <p:cNvPr id="4" name="Shape 1"/>
          <p:cNvSpPr/>
          <p:nvPr/>
        </p:nvSpPr>
        <p:spPr>
          <a:xfrm>
            <a:off x="1705356" y="1280160"/>
            <a:ext cx="8778240" cy="4937760"/>
          </a:xfrm>
          <a:prstGeom prst="rect">
            <a:avLst/>
          </a:prstGeom>
          <a:solidFill>
            <a:srgbClr val="FFFFFF">
              <a:alpha val="0"/>
            </a:srgbClr>
          </a:solidFill>
          <a:ln w="9525">
            <a:solidFill>
              <a:srgbClr val="E2E2E6"/>
            </a:solidFill>
            <a:prstDash val="solid"/>
          </a:ln>
        </p:spPr>
      </p:sp>
      <p:sp>
        <p:nvSpPr>
          <p:cNvPr id="25" name="Slide Number Placeholder 0"/>
          <p:cNvSpPr>
            <a:spLocks noGrp="1"/>
          </p:cNvSpPr>
          <p:nvPr>
            <p:ph type="sldNum" sz="quarter" idx="4294967295"/>
          </p:nvPr>
        </p:nvSpPr>
        <p:spPr>
          <a:xfrm>
            <a:off x="11091672" y="6419088"/>
            <a:ext cx="64008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rgbClr val="696969"/>
                </a:solidFill>
              </a:defRPr>
            </a:lvl1pPr>
          </a:lstStyle>
          <a:p>
            <a:pPr algn="r"/>
            <a:fld id="{F7021451-1387-4CA6-816F-3879F97B5CBC}" type="slidenum">
              <a:rPr b="0"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2"/>
          <p:cNvSpPr/>
          <p:nvPr>
            <p:ph idx="102" type="title" hasCustomPrompt="1"/>
          </p:nvPr>
        </p:nvSpPr>
        <p:spPr>
          <a:xfrm>
            <a:off x="548640" y="365760"/>
            <a:ext cx="9445752" cy="713232"/>
          </a:xfrm>
          <a:prstGeom prst="rect">
            <a:avLst/>
          </a:prstGeom>
          <a:noFill/>
          <a:ln/>
        </p:spPr>
        <p:txBody>
          <a:bodyPr wrap="square" lIns="0" tIns="0" rIns="0" bIns="0" rtlCol="0" anchor="ctr"/>
          <a:lstStyle/>
          <a:p>
            <a:pPr algn="l" indent="0" marL="0">
              <a:buNone/>
            </a:pPr>
            <a:r>
              <a:rPr lang="en-US" sz="2200" b="1" dirty="0">
                <a:solidFill>
                  <a:srgbClr val="9FD0F0"/>
                </a:solidFill>
                <a:latin typeface="Arial" pitchFamily="34" charset="0"/>
                <a:ea typeface="Arial" pitchFamily="34" charset="-122"/>
                <a:cs typeface="Arial" pitchFamily="34" charset="-120"/>
              </a:rPr>
              <a:t>¿Todo bien?</a:t>
            </a:r>
            <a:endParaRPr lang="en-US" sz="2200" dirty="0"/>
          </a:p>
        </p:txBody>
      </p:sp>
      <p:sp>
        <p:nvSpPr>
          <p:cNvPr id="3" name="Shape 1"/>
          <p:cNvSpPr/>
          <p:nvPr/>
        </p:nvSpPr>
        <p:spPr>
          <a:xfrm>
            <a:off x="548640" y="3131820"/>
            <a:ext cx="1188720" cy="1188720"/>
          </a:xfrm>
          <a:prstGeom prst="ellipse">
            <a:avLst/>
          </a:prstGeom>
          <a:solidFill>
            <a:srgbClr val="B5651D"/>
          </a:solidFill>
          <a:ln w="12700">
            <a:solidFill>
              <a:srgbClr val="B5651D"/>
            </a:solidFill>
            <a:prstDash val="solid"/>
          </a:ln>
        </p:spPr>
      </p:sp>
      <p:sp>
        <p:nvSpPr>
          <p:cNvPr id="4" name="Text 2"/>
          <p:cNvSpPr txBox="1"/>
          <p:nvPr/>
        </p:nvSpPr>
        <p:spPr>
          <a:xfrm>
            <a:off x="548640" y="3131820"/>
            <a:ext cx="1188720" cy="1188720"/>
          </a:xfrm>
          <a:prstGeom prst="rect">
            <a:avLst/>
          </a:prstGeom>
          <a:noFill/>
          <a:ln/>
        </p:spPr>
        <p:txBody>
          <a:bodyPr wrap="square" lIns="0" tIns="0" rIns="0" bIns="0" rtlCol="0" anchor="ctr"/>
          <a:lstStyle/>
          <a:p>
            <a:pPr algn="ctr" indent="0" marL="0">
              <a:buNone/>
            </a:pPr>
            <a:r>
              <a:rPr lang="en-US" sz="5400" b="1" dirty="0">
                <a:solidFill>
                  <a:srgbClr val="FFFFFF"/>
                </a:solidFill>
                <a:latin typeface="Arial" pitchFamily="34" charset="0"/>
                <a:ea typeface="Arial" pitchFamily="34" charset="-122"/>
                <a:cs typeface="Arial" pitchFamily="34" charset="-120"/>
              </a:rPr>
              <a:t>?</a:t>
            </a:r>
            <a:endParaRPr lang="en-US" sz="5400" dirty="0"/>
          </a:p>
        </p:txBody>
      </p:sp>
      <p:sp>
        <p:nvSpPr>
          <p:cNvPr id="5" name="Text 3"/>
          <p:cNvSpPr txBox="1"/>
          <p:nvPr/>
        </p:nvSpPr>
        <p:spPr>
          <a:xfrm>
            <a:off x="2103120" y="1417320"/>
            <a:ext cx="9537192" cy="4617720"/>
          </a:xfrm>
          <a:prstGeom prst="rect">
            <a:avLst/>
          </a:prstGeom>
          <a:noFill/>
          <a:ln/>
        </p:spPr>
        <p:txBody>
          <a:bodyPr wrap="square" lIns="0" tIns="0" rIns="0" bIns="0" rtlCol="0" anchor="ctr"/>
          <a:lstStyle/>
          <a:p>
            <a:pPr indent="0" marL="0">
              <a:buNone/>
            </a:pPr>
            <a:r>
              <a:rPr lang="en-US" sz="3200" b="1" dirty="0">
                <a:solidFill>
                  <a:srgbClr val="FFFFFF"/>
                </a:solidFill>
                <a:latin typeface="Arial" pitchFamily="34" charset="0"/>
                <a:ea typeface="Arial" pitchFamily="34" charset="-122"/>
                <a:cs typeface="Arial" pitchFamily="34" charset="-120"/>
              </a:rPr>
              <a:t>Al 31/12 el objetivo O-1 sale 0,91 en verde. ¿Está todo bien?</a:t>
            </a:r>
            <a:endParaRPr lang="en-US" sz="1600" dirty="0"/>
          </a:p>
        </p:txBody>
      </p:sp>
      <p:sp>
        <p:nvSpPr>
          <p:cNvPr id="25" name="Slide Number Placeholder 0"/>
          <p:cNvSpPr>
            <a:spLocks noGrp="1"/>
          </p:cNvSpPr>
          <p:nvPr>
            <p:ph type="sldNum" sz="quarter" idx="4294967295"/>
          </p:nvPr>
        </p:nvSpPr>
        <p:spPr>
          <a:xfrm>
            <a:off x="11091672" y="6419088"/>
            <a:ext cx="64008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rgbClr val="D6E4F0"/>
                </a:solidFill>
              </a:defRPr>
            </a:lvl1pPr>
          </a:lstStyle>
          <a:p>
            <a:pPr algn="r"/>
            <a:fld id="{F7021451-1387-4CA6-816F-3879F97B5CBC}" type="slidenum">
              <a:rPr b="0"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3"/>
          <p:cNvSpPr/>
          <p:nvPr>
            <p:ph idx="103" type="title" hasCustomPrompt="1"/>
          </p:nvPr>
        </p:nvSpPr>
        <p:spPr>
          <a:xfrm>
            <a:off x="658368" y="365760"/>
            <a:ext cx="9244584" cy="713232"/>
          </a:xfrm>
          <a:prstGeom prst="rect">
            <a:avLst/>
          </a:prstGeom>
          <a:noFill/>
          <a:ln/>
        </p:spPr>
        <p:txBody>
          <a:bodyPr wrap="square" lIns="0" tIns="0" rIns="0" bIns="0" rtlCol="0" anchor="ctr"/>
          <a:lstStyle/>
          <a:p>
            <a:pPr algn="l" indent="0" marL="0">
              <a:buNone/>
            </a:pPr>
            <a:r>
              <a:rPr lang="en-US" sz="2400" b="1" dirty="0">
                <a:solidFill>
                  <a:srgbClr val="FFFFFF"/>
                </a:solidFill>
                <a:latin typeface="Arial" pitchFamily="34" charset="0"/>
                <a:ea typeface="Arial" pitchFamily="34" charset="-122"/>
                <a:cs typeface="Arial" pitchFamily="34" charset="-120"/>
              </a:rPr>
              <a:t>Mensajes clave de la clase 2</a:t>
            </a:r>
            <a:endParaRPr lang="en-US" sz="2400" dirty="0"/>
          </a:p>
        </p:txBody>
      </p:sp>
      <p:sp>
        <p:nvSpPr>
          <p:cNvPr id="3" name="Shape 1"/>
          <p:cNvSpPr/>
          <p:nvPr/>
        </p:nvSpPr>
        <p:spPr>
          <a:xfrm>
            <a:off x="457200" y="1280160"/>
            <a:ext cx="11274552" cy="870509"/>
          </a:xfrm>
          <a:prstGeom prst="roundRect">
            <a:avLst>
              <a:gd name="adj" fmla="val 10504"/>
            </a:avLst>
          </a:prstGeom>
          <a:solidFill>
            <a:srgbClr val="E9F1F8"/>
          </a:solidFill>
          <a:ln w="12700">
            <a:solidFill>
              <a:srgbClr val="E9F1F8"/>
            </a:solidFill>
            <a:prstDash val="solid"/>
          </a:ln>
        </p:spPr>
      </p:sp>
      <p:sp>
        <p:nvSpPr>
          <p:cNvPr id="4" name="Shape 2"/>
          <p:cNvSpPr/>
          <p:nvPr/>
        </p:nvSpPr>
        <p:spPr>
          <a:xfrm>
            <a:off x="621792" y="1486814"/>
            <a:ext cx="457200" cy="457200"/>
          </a:xfrm>
          <a:prstGeom prst="roundRect">
            <a:avLst>
              <a:gd name="adj" fmla="val 16000"/>
            </a:avLst>
          </a:prstGeom>
          <a:solidFill>
            <a:srgbClr val="00629B"/>
          </a:solidFill>
          <a:ln w="12700">
            <a:solidFill>
              <a:srgbClr val="00629B"/>
            </a:solidFill>
            <a:prstDash val="solid"/>
          </a:ln>
        </p:spPr>
      </p:sp>
      <p:sp>
        <p:nvSpPr>
          <p:cNvPr id="5" name="Text 3"/>
          <p:cNvSpPr txBox="1"/>
          <p:nvPr/>
        </p:nvSpPr>
        <p:spPr>
          <a:xfrm>
            <a:off x="621792" y="1486814"/>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1</a:t>
            </a:r>
            <a:endParaRPr lang="en-US" sz="1600" dirty="0"/>
          </a:p>
        </p:txBody>
      </p:sp>
      <p:sp>
        <p:nvSpPr>
          <p:cNvPr id="6" name="Text 4"/>
          <p:cNvSpPr txBox="1"/>
          <p:nvPr/>
        </p:nvSpPr>
        <p:spPr>
          <a:xfrm>
            <a:off x="1280160" y="1335024"/>
            <a:ext cx="10222992" cy="760781"/>
          </a:xfrm>
          <a:prstGeom prst="rect">
            <a:avLst/>
          </a:prstGeom>
          <a:noFill/>
          <a:ln/>
        </p:spPr>
        <p:txBody>
          <a:bodyPr wrap="square" lIns="0" tIns="0" rIns="0" bIns="0" rtlCol="0" anchor="ctr"/>
          <a:lstStyle/>
          <a:p>
            <a:pPr indent="0" marL="0">
              <a:buNone/>
            </a:pPr>
            <a:r>
              <a:rPr lang="en-US" sz="2000" dirty="0">
                <a:solidFill>
                  <a:srgbClr val="272425"/>
                </a:solidFill>
                <a:latin typeface="Arial" pitchFamily="34" charset="0"/>
                <a:ea typeface="Arial" pitchFamily="34" charset="-122"/>
                <a:cs typeface="Arial" pitchFamily="34" charset="-120"/>
              </a:rPr>
              <a:t>Calidad registrada por entrega</a:t>
            </a:r>
            <a:endParaRPr lang="en-US" sz="1600" dirty="0"/>
          </a:p>
        </p:txBody>
      </p:sp>
      <p:sp>
        <p:nvSpPr>
          <p:cNvPr id="7" name="Shape 5"/>
          <p:cNvSpPr/>
          <p:nvPr/>
        </p:nvSpPr>
        <p:spPr>
          <a:xfrm>
            <a:off x="457200" y="2296973"/>
            <a:ext cx="11274552" cy="870509"/>
          </a:xfrm>
          <a:prstGeom prst="roundRect">
            <a:avLst>
              <a:gd name="adj" fmla="val 10504"/>
            </a:avLst>
          </a:prstGeom>
          <a:solidFill>
            <a:srgbClr val="F4F6F8"/>
          </a:solidFill>
          <a:ln w="12700">
            <a:solidFill>
              <a:srgbClr val="F4F6F8"/>
            </a:solidFill>
            <a:prstDash val="solid"/>
          </a:ln>
        </p:spPr>
      </p:sp>
      <p:sp>
        <p:nvSpPr>
          <p:cNvPr id="8" name="Shape 6"/>
          <p:cNvSpPr/>
          <p:nvPr/>
        </p:nvSpPr>
        <p:spPr>
          <a:xfrm>
            <a:off x="621792" y="2503627"/>
            <a:ext cx="457200" cy="457200"/>
          </a:xfrm>
          <a:prstGeom prst="roundRect">
            <a:avLst>
              <a:gd name="adj" fmla="val 16000"/>
            </a:avLst>
          </a:prstGeom>
          <a:solidFill>
            <a:srgbClr val="00629B"/>
          </a:solidFill>
          <a:ln w="12700">
            <a:solidFill>
              <a:srgbClr val="00629B"/>
            </a:solidFill>
            <a:prstDash val="solid"/>
          </a:ln>
        </p:spPr>
      </p:sp>
      <p:sp>
        <p:nvSpPr>
          <p:cNvPr id="9" name="Text 7"/>
          <p:cNvSpPr txBox="1"/>
          <p:nvPr/>
        </p:nvSpPr>
        <p:spPr>
          <a:xfrm>
            <a:off x="621792" y="2503627"/>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2</a:t>
            </a:r>
            <a:endParaRPr lang="en-US" sz="1600" dirty="0"/>
          </a:p>
        </p:txBody>
      </p:sp>
      <p:sp>
        <p:nvSpPr>
          <p:cNvPr id="10" name="Text 8"/>
          <p:cNvSpPr txBox="1"/>
          <p:nvPr/>
        </p:nvSpPr>
        <p:spPr>
          <a:xfrm>
            <a:off x="1280160" y="2351837"/>
            <a:ext cx="10222992" cy="760781"/>
          </a:xfrm>
          <a:prstGeom prst="rect">
            <a:avLst/>
          </a:prstGeom>
          <a:noFill/>
          <a:ln/>
        </p:spPr>
        <p:txBody>
          <a:bodyPr wrap="square" lIns="0" tIns="0" rIns="0" bIns="0" rtlCol="0" anchor="ctr"/>
          <a:lstStyle/>
          <a:p>
            <a:pPr indent="0" marL="0">
              <a:buNone/>
            </a:pPr>
            <a:r>
              <a:rPr lang="en-US" sz="2000" dirty="0">
                <a:solidFill>
                  <a:srgbClr val="272425"/>
                </a:solidFill>
                <a:latin typeface="Arial" pitchFamily="34" charset="0"/>
                <a:ea typeface="Arial" pitchFamily="34" charset="-122"/>
                <a:cs typeface="Arial" pitchFamily="34" charset="-120"/>
              </a:rPr>
              <a:t>Ningún rechazo sin issue que lo cite</a:t>
            </a:r>
            <a:endParaRPr lang="en-US" sz="1600" dirty="0"/>
          </a:p>
        </p:txBody>
      </p:sp>
      <p:sp>
        <p:nvSpPr>
          <p:cNvPr id="11" name="Shape 9"/>
          <p:cNvSpPr/>
          <p:nvPr/>
        </p:nvSpPr>
        <p:spPr>
          <a:xfrm>
            <a:off x="457200" y="3313786"/>
            <a:ext cx="11274552" cy="870509"/>
          </a:xfrm>
          <a:prstGeom prst="roundRect">
            <a:avLst>
              <a:gd name="adj" fmla="val 10504"/>
            </a:avLst>
          </a:prstGeom>
          <a:solidFill>
            <a:srgbClr val="E9F1F8"/>
          </a:solidFill>
          <a:ln w="12700">
            <a:solidFill>
              <a:srgbClr val="E9F1F8"/>
            </a:solidFill>
            <a:prstDash val="solid"/>
          </a:ln>
        </p:spPr>
      </p:sp>
      <p:sp>
        <p:nvSpPr>
          <p:cNvPr id="12" name="Shape 10"/>
          <p:cNvSpPr/>
          <p:nvPr/>
        </p:nvSpPr>
        <p:spPr>
          <a:xfrm>
            <a:off x="621792" y="3520440"/>
            <a:ext cx="457200" cy="457200"/>
          </a:xfrm>
          <a:prstGeom prst="roundRect">
            <a:avLst>
              <a:gd name="adj" fmla="val 16000"/>
            </a:avLst>
          </a:prstGeom>
          <a:solidFill>
            <a:srgbClr val="00629B"/>
          </a:solidFill>
          <a:ln w="12700">
            <a:solidFill>
              <a:srgbClr val="00629B"/>
            </a:solidFill>
            <a:prstDash val="solid"/>
          </a:ln>
        </p:spPr>
      </p:sp>
      <p:sp>
        <p:nvSpPr>
          <p:cNvPr id="13" name="Text 11"/>
          <p:cNvSpPr txBox="1"/>
          <p:nvPr/>
        </p:nvSpPr>
        <p:spPr>
          <a:xfrm>
            <a:off x="621792" y="3520440"/>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3</a:t>
            </a:r>
            <a:endParaRPr lang="en-US" sz="1600" dirty="0"/>
          </a:p>
        </p:txBody>
      </p:sp>
      <p:sp>
        <p:nvSpPr>
          <p:cNvPr id="14" name="Text 12"/>
          <p:cNvSpPr txBox="1"/>
          <p:nvPr/>
        </p:nvSpPr>
        <p:spPr>
          <a:xfrm>
            <a:off x="1280160" y="3368650"/>
            <a:ext cx="10222992" cy="760781"/>
          </a:xfrm>
          <a:prstGeom prst="rect">
            <a:avLst/>
          </a:prstGeom>
          <a:noFill/>
          <a:ln/>
        </p:spPr>
        <p:txBody>
          <a:bodyPr wrap="square" lIns="0" tIns="0" rIns="0" bIns="0" rtlCol="0" anchor="ctr"/>
          <a:lstStyle/>
          <a:p>
            <a:pPr indent="0" marL="0">
              <a:buNone/>
            </a:pPr>
            <a:r>
              <a:rPr lang="en-US" sz="2000" dirty="0">
                <a:solidFill>
                  <a:srgbClr val="272425"/>
                </a:solidFill>
                <a:latin typeface="Arial" pitchFamily="34" charset="0"/>
                <a:ea typeface="Arial" pitchFamily="34" charset="-122"/>
                <a:cs typeface="Arial" pitchFamily="34" charset="-120"/>
              </a:rPr>
              <a:t>Cada dolor del recorrido con un id</a:t>
            </a:r>
            <a:endParaRPr lang="en-US" sz="1600" dirty="0"/>
          </a:p>
        </p:txBody>
      </p:sp>
      <p:sp>
        <p:nvSpPr>
          <p:cNvPr id="15" name="Shape 13"/>
          <p:cNvSpPr/>
          <p:nvPr/>
        </p:nvSpPr>
        <p:spPr>
          <a:xfrm>
            <a:off x="457200" y="4330598"/>
            <a:ext cx="11274552" cy="870509"/>
          </a:xfrm>
          <a:prstGeom prst="roundRect">
            <a:avLst>
              <a:gd name="adj" fmla="val 10504"/>
            </a:avLst>
          </a:prstGeom>
          <a:solidFill>
            <a:srgbClr val="F4F6F8"/>
          </a:solidFill>
          <a:ln w="12700">
            <a:solidFill>
              <a:srgbClr val="F4F6F8"/>
            </a:solidFill>
            <a:prstDash val="solid"/>
          </a:ln>
        </p:spPr>
      </p:sp>
      <p:sp>
        <p:nvSpPr>
          <p:cNvPr id="16" name="Shape 14"/>
          <p:cNvSpPr/>
          <p:nvPr/>
        </p:nvSpPr>
        <p:spPr>
          <a:xfrm>
            <a:off x="621792" y="4537253"/>
            <a:ext cx="457200" cy="457200"/>
          </a:xfrm>
          <a:prstGeom prst="roundRect">
            <a:avLst>
              <a:gd name="adj" fmla="val 16000"/>
            </a:avLst>
          </a:prstGeom>
          <a:solidFill>
            <a:srgbClr val="00629B"/>
          </a:solidFill>
          <a:ln w="12700">
            <a:solidFill>
              <a:srgbClr val="00629B"/>
            </a:solidFill>
            <a:prstDash val="solid"/>
          </a:ln>
        </p:spPr>
      </p:sp>
      <p:sp>
        <p:nvSpPr>
          <p:cNvPr id="17" name="Text 15"/>
          <p:cNvSpPr txBox="1"/>
          <p:nvPr/>
        </p:nvSpPr>
        <p:spPr>
          <a:xfrm>
            <a:off x="621792" y="4537253"/>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4</a:t>
            </a:r>
            <a:endParaRPr lang="en-US" sz="1600" dirty="0"/>
          </a:p>
        </p:txBody>
      </p:sp>
      <p:sp>
        <p:nvSpPr>
          <p:cNvPr id="18" name="Text 16"/>
          <p:cNvSpPr txBox="1"/>
          <p:nvPr/>
        </p:nvSpPr>
        <p:spPr>
          <a:xfrm>
            <a:off x="1280160" y="4385462"/>
            <a:ext cx="10222992" cy="760781"/>
          </a:xfrm>
          <a:prstGeom prst="rect">
            <a:avLst/>
          </a:prstGeom>
          <a:noFill/>
          <a:ln/>
        </p:spPr>
        <p:txBody>
          <a:bodyPr wrap="square" lIns="0" tIns="0" rIns="0" bIns="0" rtlCol="0" anchor="ctr"/>
          <a:lstStyle/>
          <a:p>
            <a:pPr indent="0" marL="0">
              <a:buNone/>
            </a:pPr>
            <a:r>
              <a:rPr lang="en-US" sz="2000" dirty="0">
                <a:solidFill>
                  <a:srgbClr val="272425"/>
                </a:solidFill>
                <a:latin typeface="Arial" pitchFamily="34" charset="0"/>
                <a:ea typeface="Arial" pitchFamily="34" charset="-122"/>
                <a:cs typeface="Arial" pitchFamily="34" charset="-120"/>
              </a:rPr>
              <a:t>Beneficios: los mide el negocio</a:t>
            </a:r>
            <a:endParaRPr lang="en-US" sz="1600" dirty="0"/>
          </a:p>
        </p:txBody>
      </p:sp>
      <p:sp>
        <p:nvSpPr>
          <p:cNvPr id="19" name="Shape 17"/>
          <p:cNvSpPr/>
          <p:nvPr/>
        </p:nvSpPr>
        <p:spPr>
          <a:xfrm>
            <a:off x="457200" y="5347411"/>
            <a:ext cx="11274552" cy="870509"/>
          </a:xfrm>
          <a:prstGeom prst="roundRect">
            <a:avLst>
              <a:gd name="adj" fmla="val 10504"/>
            </a:avLst>
          </a:prstGeom>
          <a:solidFill>
            <a:srgbClr val="E9F1F8"/>
          </a:solidFill>
          <a:ln w="12700">
            <a:solidFill>
              <a:srgbClr val="E9F1F8"/>
            </a:solidFill>
            <a:prstDash val="solid"/>
          </a:ln>
        </p:spPr>
      </p:sp>
      <p:sp>
        <p:nvSpPr>
          <p:cNvPr id="20" name="Shape 18"/>
          <p:cNvSpPr/>
          <p:nvPr/>
        </p:nvSpPr>
        <p:spPr>
          <a:xfrm>
            <a:off x="621792" y="5554066"/>
            <a:ext cx="457200" cy="457200"/>
          </a:xfrm>
          <a:prstGeom prst="roundRect">
            <a:avLst>
              <a:gd name="adj" fmla="val 16000"/>
            </a:avLst>
          </a:prstGeom>
          <a:solidFill>
            <a:srgbClr val="00629B"/>
          </a:solidFill>
          <a:ln w="12700">
            <a:solidFill>
              <a:srgbClr val="00629B"/>
            </a:solidFill>
            <a:prstDash val="solid"/>
          </a:ln>
        </p:spPr>
      </p:sp>
      <p:sp>
        <p:nvSpPr>
          <p:cNvPr id="21" name="Text 19"/>
          <p:cNvSpPr txBox="1"/>
          <p:nvPr/>
        </p:nvSpPr>
        <p:spPr>
          <a:xfrm>
            <a:off x="621792" y="5554066"/>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5</a:t>
            </a:r>
            <a:endParaRPr lang="en-US" sz="1600" dirty="0"/>
          </a:p>
        </p:txBody>
      </p:sp>
      <p:sp>
        <p:nvSpPr>
          <p:cNvPr id="22" name="Text 20"/>
          <p:cNvSpPr txBox="1"/>
          <p:nvPr/>
        </p:nvSpPr>
        <p:spPr>
          <a:xfrm>
            <a:off x="1280160" y="5402275"/>
            <a:ext cx="10222992" cy="760781"/>
          </a:xfrm>
          <a:prstGeom prst="rect">
            <a:avLst/>
          </a:prstGeom>
          <a:noFill/>
          <a:ln/>
        </p:spPr>
        <p:txBody>
          <a:bodyPr wrap="square" lIns="0" tIns="0" rIns="0" bIns="0" rtlCol="0" anchor="ctr"/>
          <a:lstStyle/>
          <a:p>
            <a:pPr indent="0" marL="0">
              <a:buNone/>
            </a:pPr>
            <a:r>
              <a:rPr lang="en-US" sz="2000" dirty="0">
                <a:solidFill>
                  <a:srgbClr val="272425"/>
                </a:solidFill>
                <a:latin typeface="Arial" pitchFamily="34" charset="0"/>
                <a:ea typeface="Arial" pitchFamily="34" charset="-122"/>
                <a:cs typeface="Arial" pitchFamily="34" charset="-120"/>
              </a:rPr>
              <a:t>Rojo no es desvío; verde no es éxito</a:t>
            </a:r>
            <a:endParaRPr lang="en-US" sz="1600" dirty="0"/>
          </a:p>
        </p:txBody>
      </p:sp>
      <p:sp>
        <p:nvSpPr>
          <p:cNvPr id="25" name="Slide Number Placeholder 0"/>
          <p:cNvSpPr>
            <a:spLocks noGrp="1"/>
          </p:cNvSpPr>
          <p:nvPr>
            <p:ph type="sldNum" sz="quarter" idx="4294967295"/>
          </p:nvPr>
        </p:nvSpPr>
        <p:spPr>
          <a:xfrm>
            <a:off x="11091672" y="6419088"/>
            <a:ext cx="64008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rgbClr val="696969"/>
                </a:solidFill>
              </a:defRPr>
            </a:lvl1pPr>
          </a:lstStyle>
          <a:p>
            <a:pPr algn="r"/>
            <a:fld id="{F7021451-1387-4CA6-816F-3879F97B5CBC}" type="slidenum">
              <a:rPr b="0"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3"/>
          <p:cNvSpPr/>
          <p:nvPr>
            <p:ph idx="103" type="title" hasCustomPrompt="1"/>
          </p:nvPr>
        </p:nvSpPr>
        <p:spPr>
          <a:xfrm>
            <a:off x="658368" y="365760"/>
            <a:ext cx="9244584" cy="713232"/>
          </a:xfrm>
          <a:prstGeom prst="rect">
            <a:avLst/>
          </a:prstGeom>
          <a:noFill/>
          <a:ln/>
        </p:spPr>
        <p:txBody>
          <a:bodyPr wrap="square" lIns="0" tIns="0" rIns="0" bIns="0" rtlCol="0" anchor="ctr"/>
          <a:lstStyle/>
          <a:p>
            <a:pPr algn="l" indent="0" marL="0">
              <a:buNone/>
            </a:pPr>
            <a:r>
              <a:rPr lang="en-US" sz="2400" b="1" dirty="0">
                <a:solidFill>
                  <a:srgbClr val="FFFFFF"/>
                </a:solidFill>
                <a:latin typeface="Arial" pitchFamily="34" charset="0"/>
                <a:ea typeface="Arial" pitchFamily="34" charset="-122"/>
                <a:cs typeface="Arial" pitchFamily="34" charset="-120"/>
              </a:rPr>
              <a:t>Ejercicio · Parte B</a:t>
            </a:r>
            <a:endParaRPr lang="en-US" sz="2400" dirty="0"/>
          </a:p>
        </p:txBody>
      </p:sp>
      <p:sp>
        <p:nvSpPr>
          <p:cNvPr id="3" name="Text 1"/>
          <p:cNvSpPr txBox="1"/>
          <p:nvPr/>
        </p:nvSpPr>
        <p:spPr>
          <a:xfrm>
            <a:off x="457200" y="1280160"/>
            <a:ext cx="11274552" cy="329184"/>
          </a:xfrm>
          <a:prstGeom prst="rect">
            <a:avLst/>
          </a:prstGeom>
          <a:noFill/>
          <a:ln/>
        </p:spPr>
        <p:txBody>
          <a:bodyPr wrap="square" lIns="0" tIns="0" rIns="0" bIns="0" rtlCol="0" anchor="t"/>
          <a:lstStyle/>
          <a:p>
            <a:pPr indent="0" marL="0">
              <a:buNone/>
            </a:pPr>
            <a:r>
              <a:rPr lang="en-US" sz="1800" b="1" dirty="0">
                <a:solidFill>
                  <a:srgbClr val="B5651D"/>
                </a:solidFill>
                <a:latin typeface="Arial" pitchFamily="34" charset="0"/>
                <a:ea typeface="Arial" pitchFamily="34" charset="-122"/>
                <a:cs typeface="Arial" pitchFamily="34" charset="-120"/>
              </a:rPr>
              <a:t>10 minutos</a:t>
            </a:r>
            <a:endParaRPr lang="en-US" sz="1600" dirty="0"/>
          </a:p>
        </p:txBody>
      </p:sp>
      <p:sp>
        <p:nvSpPr>
          <p:cNvPr id="4" name="Shape 2"/>
          <p:cNvSpPr/>
          <p:nvPr/>
        </p:nvSpPr>
        <p:spPr>
          <a:xfrm>
            <a:off x="457200" y="1792224"/>
            <a:ext cx="5500116" cy="2075688"/>
          </a:xfrm>
          <a:prstGeom prst="roundRect">
            <a:avLst>
              <a:gd name="adj" fmla="val 4405"/>
            </a:avLst>
          </a:prstGeom>
          <a:solidFill>
            <a:srgbClr val="FBF1E6"/>
          </a:solidFill>
          <a:ln w="12700">
            <a:solidFill>
              <a:srgbClr val="FBF1E6"/>
            </a:solidFill>
            <a:prstDash val="solid"/>
          </a:ln>
        </p:spPr>
      </p:sp>
      <p:sp>
        <p:nvSpPr>
          <p:cNvPr id="5" name="Text 3"/>
          <p:cNvSpPr txBox="1"/>
          <p:nvPr/>
        </p:nvSpPr>
        <p:spPr>
          <a:xfrm>
            <a:off x="658368" y="1901952"/>
            <a:ext cx="731520" cy="420624"/>
          </a:xfrm>
          <a:prstGeom prst="rect">
            <a:avLst/>
          </a:prstGeom>
          <a:noFill/>
          <a:ln/>
        </p:spPr>
        <p:txBody>
          <a:bodyPr wrap="square" lIns="0" tIns="0" rIns="0" bIns="0" rtlCol="0" anchor="t"/>
          <a:lstStyle/>
          <a:p>
            <a:pPr indent="0" marL="0">
              <a:buNone/>
            </a:pPr>
            <a:r>
              <a:rPr lang="en-US" sz="2600" b="1" dirty="0">
                <a:solidFill>
                  <a:srgbClr val="B5651D"/>
                </a:solidFill>
                <a:latin typeface="Arial" pitchFamily="34" charset="0"/>
                <a:ea typeface="Arial" pitchFamily="34" charset="-122"/>
                <a:cs typeface="Arial" pitchFamily="34" charset="-120"/>
              </a:rPr>
              <a:t>1</a:t>
            </a:r>
            <a:endParaRPr lang="en-US" sz="2600" dirty="0"/>
          </a:p>
        </p:txBody>
      </p:sp>
      <p:sp>
        <p:nvSpPr>
          <p:cNvPr id="6" name="Text 4"/>
          <p:cNvSpPr txBox="1"/>
          <p:nvPr/>
        </p:nvSpPr>
        <p:spPr>
          <a:xfrm>
            <a:off x="658368" y="2359152"/>
            <a:ext cx="5097780" cy="1325880"/>
          </a:xfrm>
          <a:prstGeom prst="rect">
            <a:avLst/>
          </a:prstGeom>
          <a:noFill/>
          <a:ln/>
        </p:spPr>
        <p:txBody>
          <a:bodyPr wrap="square" lIns="0" tIns="0" rIns="0" bIns="0" rtlCol="0" anchor="t"/>
          <a:lstStyle/>
          <a:p>
            <a:pPr indent="0" marL="0">
              <a:buNone/>
            </a:pPr>
            <a:r>
              <a:rPr lang="en-US" sz="2000" dirty="0">
                <a:solidFill>
                  <a:srgbClr val="272425"/>
                </a:solidFill>
                <a:latin typeface="Arial" pitchFamily="34" charset="0"/>
                <a:ea typeface="Arial" pitchFamily="34" charset="-122"/>
                <a:cs typeface="Arial" pitchFamily="34" charset="-120"/>
              </a:rPr>
              <a:t>B1: calidad de tu última entrega</a:t>
            </a:r>
            <a:endParaRPr lang="en-US" sz="1600" dirty="0"/>
          </a:p>
        </p:txBody>
      </p:sp>
      <p:sp>
        <p:nvSpPr>
          <p:cNvPr id="7" name="Shape 5"/>
          <p:cNvSpPr/>
          <p:nvPr/>
        </p:nvSpPr>
        <p:spPr>
          <a:xfrm>
            <a:off x="6231636" y="1792224"/>
            <a:ext cx="5500116" cy="2075688"/>
          </a:xfrm>
          <a:prstGeom prst="roundRect">
            <a:avLst>
              <a:gd name="adj" fmla="val 4405"/>
            </a:avLst>
          </a:prstGeom>
          <a:solidFill>
            <a:srgbClr val="FBF1E6"/>
          </a:solidFill>
          <a:ln w="12700">
            <a:solidFill>
              <a:srgbClr val="FBF1E6"/>
            </a:solidFill>
            <a:prstDash val="solid"/>
          </a:ln>
        </p:spPr>
      </p:sp>
      <p:sp>
        <p:nvSpPr>
          <p:cNvPr id="8" name="Text 6"/>
          <p:cNvSpPr txBox="1"/>
          <p:nvPr/>
        </p:nvSpPr>
        <p:spPr>
          <a:xfrm>
            <a:off x="6432804" y="1901952"/>
            <a:ext cx="731520" cy="420624"/>
          </a:xfrm>
          <a:prstGeom prst="rect">
            <a:avLst/>
          </a:prstGeom>
          <a:noFill/>
          <a:ln/>
        </p:spPr>
        <p:txBody>
          <a:bodyPr wrap="square" lIns="0" tIns="0" rIns="0" bIns="0" rtlCol="0" anchor="t"/>
          <a:lstStyle/>
          <a:p>
            <a:pPr indent="0" marL="0">
              <a:buNone/>
            </a:pPr>
            <a:r>
              <a:rPr lang="en-US" sz="2600" b="1" dirty="0">
                <a:solidFill>
                  <a:srgbClr val="B5651D"/>
                </a:solidFill>
                <a:latin typeface="Arial" pitchFamily="34" charset="0"/>
                <a:ea typeface="Arial" pitchFamily="34" charset="-122"/>
                <a:cs typeface="Arial" pitchFamily="34" charset="-120"/>
              </a:rPr>
              <a:t>2</a:t>
            </a:r>
            <a:endParaRPr lang="en-US" sz="2600" dirty="0"/>
          </a:p>
        </p:txBody>
      </p:sp>
      <p:sp>
        <p:nvSpPr>
          <p:cNvPr id="9" name="Text 7"/>
          <p:cNvSpPr txBox="1"/>
          <p:nvPr/>
        </p:nvSpPr>
        <p:spPr>
          <a:xfrm>
            <a:off x="6432804" y="2359152"/>
            <a:ext cx="5097780" cy="1325880"/>
          </a:xfrm>
          <a:prstGeom prst="rect">
            <a:avLst/>
          </a:prstGeom>
          <a:noFill/>
          <a:ln/>
        </p:spPr>
        <p:txBody>
          <a:bodyPr wrap="square" lIns="0" tIns="0" rIns="0" bIns="0" rtlCol="0" anchor="t"/>
          <a:lstStyle/>
          <a:p>
            <a:pPr indent="0" marL="0">
              <a:buNone/>
            </a:pPr>
            <a:r>
              <a:rPr lang="en-US" sz="2000" dirty="0">
                <a:solidFill>
                  <a:srgbClr val="272425"/>
                </a:solidFill>
                <a:latin typeface="Arial" pitchFamily="34" charset="0"/>
                <a:ea typeface="Arial" pitchFamily="34" charset="-122"/>
                <a:cs typeface="Arial" pitchFamily="34" charset="-120"/>
              </a:rPr>
              <a:t>B2: un dolor del recorrido y su tratamiento</a:t>
            </a:r>
            <a:endParaRPr lang="en-US" sz="1600" dirty="0"/>
          </a:p>
        </p:txBody>
      </p:sp>
      <p:sp>
        <p:nvSpPr>
          <p:cNvPr id="10" name="Shape 8"/>
          <p:cNvSpPr/>
          <p:nvPr/>
        </p:nvSpPr>
        <p:spPr>
          <a:xfrm>
            <a:off x="457200" y="4142232"/>
            <a:ext cx="5500116" cy="2075688"/>
          </a:xfrm>
          <a:prstGeom prst="roundRect">
            <a:avLst>
              <a:gd name="adj" fmla="val 4405"/>
            </a:avLst>
          </a:prstGeom>
          <a:solidFill>
            <a:srgbClr val="FBF1E6"/>
          </a:solidFill>
          <a:ln w="12700">
            <a:solidFill>
              <a:srgbClr val="FBF1E6"/>
            </a:solidFill>
            <a:prstDash val="solid"/>
          </a:ln>
        </p:spPr>
      </p:sp>
      <p:sp>
        <p:nvSpPr>
          <p:cNvPr id="11" name="Text 9"/>
          <p:cNvSpPr txBox="1"/>
          <p:nvPr/>
        </p:nvSpPr>
        <p:spPr>
          <a:xfrm>
            <a:off x="658368" y="4251960"/>
            <a:ext cx="731520" cy="420624"/>
          </a:xfrm>
          <a:prstGeom prst="rect">
            <a:avLst/>
          </a:prstGeom>
          <a:noFill/>
          <a:ln/>
        </p:spPr>
        <p:txBody>
          <a:bodyPr wrap="square" lIns="0" tIns="0" rIns="0" bIns="0" rtlCol="0" anchor="t"/>
          <a:lstStyle/>
          <a:p>
            <a:pPr indent="0" marL="0">
              <a:buNone/>
            </a:pPr>
            <a:r>
              <a:rPr lang="en-US" sz="2600" b="1" dirty="0">
                <a:solidFill>
                  <a:srgbClr val="B5651D"/>
                </a:solidFill>
                <a:latin typeface="Arial" pitchFamily="34" charset="0"/>
                <a:ea typeface="Arial" pitchFamily="34" charset="-122"/>
                <a:cs typeface="Arial" pitchFamily="34" charset="-120"/>
              </a:rPr>
              <a:t>3</a:t>
            </a:r>
            <a:endParaRPr lang="en-US" sz="2600" dirty="0"/>
          </a:p>
        </p:txBody>
      </p:sp>
      <p:sp>
        <p:nvSpPr>
          <p:cNvPr id="12" name="Text 10"/>
          <p:cNvSpPr txBox="1"/>
          <p:nvPr/>
        </p:nvSpPr>
        <p:spPr>
          <a:xfrm>
            <a:off x="658368" y="4709160"/>
            <a:ext cx="5097780" cy="1325880"/>
          </a:xfrm>
          <a:prstGeom prst="rect">
            <a:avLst/>
          </a:prstGeom>
          <a:noFill/>
          <a:ln/>
        </p:spPr>
        <p:txBody>
          <a:bodyPr wrap="square" lIns="0" tIns="0" rIns="0" bIns="0" rtlCol="0" anchor="t"/>
          <a:lstStyle/>
          <a:p>
            <a:pPr indent="0" marL="0">
              <a:buNone/>
            </a:pPr>
            <a:r>
              <a:rPr lang="en-US" sz="2000" dirty="0">
                <a:solidFill>
                  <a:srgbClr val="272425"/>
                </a:solidFill>
                <a:latin typeface="Arial" pitchFamily="34" charset="0"/>
                <a:ea typeface="Arial" pitchFamily="34" charset="-122"/>
                <a:cs typeface="Arial" pitchFamily="34" charset="-120"/>
              </a:rPr>
              <a:t>B3: plan de revisión de dos beneficios</a:t>
            </a:r>
            <a:endParaRPr lang="en-US" sz="1600" dirty="0"/>
          </a:p>
        </p:txBody>
      </p:sp>
      <p:sp>
        <p:nvSpPr>
          <p:cNvPr id="13" name="Shape 11"/>
          <p:cNvSpPr/>
          <p:nvPr/>
        </p:nvSpPr>
        <p:spPr>
          <a:xfrm>
            <a:off x="6231636" y="4142232"/>
            <a:ext cx="5500116" cy="2075688"/>
          </a:xfrm>
          <a:prstGeom prst="roundRect">
            <a:avLst>
              <a:gd name="adj" fmla="val 4405"/>
            </a:avLst>
          </a:prstGeom>
          <a:solidFill>
            <a:srgbClr val="FBF1E6"/>
          </a:solidFill>
          <a:ln w="12700">
            <a:solidFill>
              <a:srgbClr val="FBF1E6"/>
            </a:solidFill>
            <a:prstDash val="solid"/>
          </a:ln>
        </p:spPr>
      </p:sp>
      <p:sp>
        <p:nvSpPr>
          <p:cNvPr id="14" name="Text 12"/>
          <p:cNvSpPr txBox="1"/>
          <p:nvPr/>
        </p:nvSpPr>
        <p:spPr>
          <a:xfrm>
            <a:off x="6432804" y="4251960"/>
            <a:ext cx="731520" cy="420624"/>
          </a:xfrm>
          <a:prstGeom prst="rect">
            <a:avLst/>
          </a:prstGeom>
          <a:noFill/>
          <a:ln/>
        </p:spPr>
        <p:txBody>
          <a:bodyPr wrap="square" lIns="0" tIns="0" rIns="0" bIns="0" rtlCol="0" anchor="t"/>
          <a:lstStyle/>
          <a:p>
            <a:pPr indent="0" marL="0">
              <a:buNone/>
            </a:pPr>
            <a:r>
              <a:rPr lang="en-US" sz="2600" b="1" dirty="0">
                <a:solidFill>
                  <a:srgbClr val="B5651D"/>
                </a:solidFill>
                <a:latin typeface="Arial" pitchFamily="34" charset="0"/>
                <a:ea typeface="Arial" pitchFamily="34" charset="-122"/>
                <a:cs typeface="Arial" pitchFamily="34" charset="-120"/>
              </a:rPr>
              <a:t>4</a:t>
            </a:r>
            <a:endParaRPr lang="en-US" sz="2600" dirty="0"/>
          </a:p>
        </p:txBody>
      </p:sp>
      <p:sp>
        <p:nvSpPr>
          <p:cNvPr id="15" name="Text 13"/>
          <p:cNvSpPr txBox="1"/>
          <p:nvPr/>
        </p:nvSpPr>
        <p:spPr>
          <a:xfrm>
            <a:off x="6432804" y="4709160"/>
            <a:ext cx="5097780" cy="1325880"/>
          </a:xfrm>
          <a:prstGeom prst="rect">
            <a:avLst/>
          </a:prstGeom>
          <a:noFill/>
          <a:ln/>
        </p:spPr>
        <p:txBody>
          <a:bodyPr wrap="square" lIns="0" tIns="0" rIns="0" bIns="0" rtlCol="0" anchor="t"/>
          <a:lstStyle/>
          <a:p>
            <a:pPr indent="0" marL="0">
              <a:buNone/>
            </a:pPr>
            <a:r>
              <a:rPr lang="en-US" sz="2000" dirty="0">
                <a:solidFill>
                  <a:srgbClr val="272425"/>
                </a:solidFill>
                <a:latin typeface="Arial" pitchFamily="34" charset="0"/>
                <a:ea typeface="Arial" pitchFamily="34" charset="-122"/>
                <a:cs typeface="Arial" pitchFamily="34" charset="-120"/>
              </a:rPr>
              <a:t>Autoevaluación con la lista</a:t>
            </a:r>
            <a:endParaRPr lang="en-US" sz="1600" dirty="0"/>
          </a:p>
        </p:txBody>
      </p:sp>
      <p:sp>
        <p:nvSpPr>
          <p:cNvPr id="25" name="Slide Number Placeholder 0"/>
          <p:cNvSpPr>
            <a:spLocks noGrp="1"/>
          </p:cNvSpPr>
          <p:nvPr>
            <p:ph type="sldNum" sz="quarter" idx="4294967295"/>
          </p:nvPr>
        </p:nvSpPr>
        <p:spPr>
          <a:xfrm>
            <a:off x="11091672" y="6419088"/>
            <a:ext cx="64008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rgbClr val="696969"/>
                </a:solidFill>
              </a:defRPr>
            </a:lvl1pPr>
          </a:lstStyle>
          <a:p>
            <a:pPr algn="r"/>
            <a:fld id="{F7021451-1387-4CA6-816F-3879F97B5CBC}" type="slidenum">
              <a:rPr b="0"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2"/>
          <p:cNvSpPr/>
          <p:nvPr>
            <p:ph idx="102" type="title" hasCustomPrompt="1"/>
          </p:nvPr>
        </p:nvSpPr>
        <p:spPr>
          <a:xfrm>
            <a:off x="548640" y="1143000"/>
            <a:ext cx="11091672" cy="914400"/>
          </a:xfrm>
          <a:prstGeom prst="rect">
            <a:avLst/>
          </a:prstGeom>
          <a:noFill/>
          <a:ln/>
        </p:spPr>
        <p:txBody>
          <a:bodyPr wrap="square" lIns="0" tIns="0" rIns="0" bIns="0" rtlCol="0" anchor="t"/>
          <a:lstStyle/>
          <a:p>
            <a:pPr algn="l" indent="0" marL="0">
              <a:buNone/>
            </a:pPr>
            <a:r>
              <a:rPr lang="en-US" sz="3600" b="1" dirty="0">
                <a:solidFill>
                  <a:srgbClr val="FFFFFF"/>
                </a:solidFill>
                <a:latin typeface="Arial" pitchFamily="34" charset="0"/>
                <a:ea typeface="Arial" pitchFamily="34" charset="-122"/>
                <a:cs typeface="Arial" pitchFamily="34" charset="-120"/>
              </a:rPr>
              <a:t>Cómo sigue</a:t>
            </a:r>
            <a:endParaRPr lang="en-US" sz="3600" dirty="0"/>
          </a:p>
        </p:txBody>
      </p:sp>
      <p:sp>
        <p:nvSpPr>
          <p:cNvPr id="3" name="Text 1"/>
          <p:cNvSpPr txBox="1"/>
          <p:nvPr/>
        </p:nvSpPr>
        <p:spPr>
          <a:xfrm>
            <a:off x="548640" y="2194560"/>
            <a:ext cx="11091672" cy="4023360"/>
          </a:xfrm>
          <a:prstGeom prst="rect">
            <a:avLst/>
          </a:prstGeom>
          <a:noFill/>
          <a:ln/>
        </p:spPr>
        <p:txBody>
          <a:bodyPr wrap="square" lIns="0" tIns="0" rIns="0" bIns="0" rtlCol="0" anchor="t"/>
          <a:lstStyle/>
          <a:p>
            <a:pPr indent="0" marL="0">
              <a:spcAft>
                <a:spcPts val="1200"/>
              </a:spcAft>
              <a:buNone/>
            </a:pPr>
            <a:r>
              <a:rPr lang="en-US" sz="2200" b="1" dirty="0">
                <a:solidFill>
                  <a:srgbClr val="9FD0F0"/>
                </a:solidFill>
                <a:latin typeface="Arial" pitchFamily="34" charset="0"/>
                <a:ea typeface="Arial" pitchFamily="34" charset="-122"/>
                <a:cs typeface="Arial" pitchFamily="34" charset="-120"/>
              </a:rPr>
              <a:t>✓  </a:t>
            </a:r>
            <a:pPr indent="0" marL="0">
              <a:spcAft>
                <a:spcPts val="1200"/>
              </a:spcAft>
              <a:buNone/>
            </a:pPr>
            <a:r>
              <a:rPr lang="en-US" sz="2200" dirty="0">
                <a:solidFill>
                  <a:srgbClr val="FFFFFF"/>
                </a:solidFill>
                <a:latin typeface="Arial" pitchFamily="34" charset="0"/>
                <a:ea typeface="Arial" pitchFamily="34" charset="-122"/>
                <a:cs typeface="Arial" pitchFamily="34" charset="-120"/>
              </a:rPr>
              <a:t>Antes: E2E-5, de la idea al proyecto</a:t>
            </a:r>
            <a:endParaRPr lang="en-US" sz="1600" dirty="0"/>
          </a:p>
          <a:p>
            <a:pPr indent="0" marL="0">
              <a:spcAft>
                <a:spcPts val="1200"/>
              </a:spcAft>
              <a:buNone/>
            </a:pPr>
            <a:r>
              <a:rPr lang="en-US" sz="2200" b="1" dirty="0">
                <a:solidFill>
                  <a:srgbClr val="9FD0F0"/>
                </a:solidFill>
                <a:latin typeface="Arial" pitchFamily="34" charset="0"/>
                <a:ea typeface="Arial" pitchFamily="34" charset="-122"/>
                <a:cs typeface="Arial" pitchFamily="34" charset="-120"/>
              </a:rPr>
              <a:t>✓  </a:t>
            </a:r>
            <a:pPr indent="0" marL="0">
              <a:spcAft>
                <a:spcPts val="1200"/>
              </a:spcAft>
              <a:buNone/>
            </a:pPr>
            <a:r>
              <a:rPr lang="en-US" sz="2200" dirty="0">
                <a:solidFill>
                  <a:srgbClr val="FFFFFF"/>
                </a:solidFill>
                <a:latin typeface="Arial" pitchFamily="34" charset="0"/>
                <a:ea typeface="Arial" pitchFamily="34" charset="-122"/>
                <a:cs typeface="Arial" pitchFamily="34" charset="-120"/>
              </a:rPr>
              <a:t>E2E-1: riesgos a fondo</a:t>
            </a:r>
            <a:endParaRPr lang="en-US" sz="1600" dirty="0"/>
          </a:p>
          <a:p>
            <a:pPr indent="0" marL="0">
              <a:spcAft>
                <a:spcPts val="1200"/>
              </a:spcAft>
              <a:buNone/>
            </a:pPr>
            <a:r>
              <a:rPr lang="en-US" sz="2200" b="1" dirty="0">
                <a:solidFill>
                  <a:srgbClr val="9FD0F0"/>
                </a:solidFill>
                <a:latin typeface="Arial" pitchFamily="34" charset="0"/>
                <a:ea typeface="Arial" pitchFamily="34" charset="-122"/>
                <a:cs typeface="Arial" pitchFamily="34" charset="-120"/>
              </a:rPr>
              <a:t>✓  </a:t>
            </a:r>
            <a:pPr indent="0" marL="0">
              <a:spcAft>
                <a:spcPts val="1200"/>
              </a:spcAft>
              <a:buNone/>
            </a:pPr>
            <a:r>
              <a:rPr lang="en-US" sz="2200" dirty="0">
                <a:solidFill>
                  <a:srgbClr val="FFFFFF"/>
                </a:solidFill>
                <a:latin typeface="Arial" pitchFamily="34" charset="0"/>
                <a:ea typeface="Arial" pitchFamily="34" charset="-122"/>
                <a:cs typeface="Arial" pitchFamily="34" charset="-120"/>
              </a:rPr>
              <a:t>E2E-2: alcance, cambios y excepción</a:t>
            </a:r>
            <a:endParaRPr lang="en-US" sz="1600" dirty="0"/>
          </a:p>
          <a:p>
            <a:pPr indent="0" marL="0">
              <a:spcAft>
                <a:spcPts val="1200"/>
              </a:spcAft>
              <a:buNone/>
            </a:pPr>
            <a:r>
              <a:rPr lang="en-US" sz="2200" b="1" dirty="0">
                <a:solidFill>
                  <a:srgbClr val="9FD0F0"/>
                </a:solidFill>
                <a:latin typeface="Arial" pitchFamily="34" charset="0"/>
                <a:ea typeface="Arial" pitchFamily="34" charset="-122"/>
                <a:cs typeface="Arial" pitchFamily="34" charset="-120"/>
              </a:rPr>
              <a:t>✓  </a:t>
            </a:r>
            <a:pPr indent="0" marL="0">
              <a:spcAft>
                <a:spcPts val="1200"/>
              </a:spcAft>
              <a:buNone/>
            </a:pPr>
            <a:r>
              <a:rPr lang="en-US" sz="2200" dirty="0">
                <a:solidFill>
                  <a:srgbClr val="FFFFFF"/>
                </a:solidFill>
                <a:latin typeface="Arial" pitchFamily="34" charset="0"/>
                <a:ea typeface="Arial" pitchFamily="34" charset="-122"/>
                <a:cs typeface="Arial" pitchFamily="34" charset="-120"/>
              </a:rPr>
              <a:t>E2E-3: interesados, OKR y avance</a:t>
            </a:r>
            <a:endParaRPr lang="en-US" sz="1600" dirty="0"/>
          </a:p>
        </p:txBody>
      </p:sp>
      <p:sp>
        <p:nvSpPr>
          <p:cNvPr id="25" name="Slide Number Placeholder 0"/>
          <p:cNvSpPr>
            <a:spLocks noGrp="1"/>
          </p:cNvSpPr>
          <p:nvPr>
            <p:ph type="sldNum" sz="quarter" idx="4294967295"/>
          </p:nvPr>
        </p:nvSpPr>
        <p:spPr>
          <a:xfrm>
            <a:off x="11091672" y="6419088"/>
            <a:ext cx="64008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rgbClr val="D6E4F0"/>
                </a:solidFill>
              </a:defRPr>
            </a:lvl1pPr>
          </a:lstStyle>
          <a:p>
            <a:pPr algn="r"/>
            <a:fld id="{F7021451-1387-4CA6-816F-3879F97B5CBC}" type="slidenum">
              <a:rPr b="0"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3"/>
          <p:cNvSpPr/>
          <p:nvPr>
            <p:ph idx="103" type="title" hasCustomPrompt="1"/>
          </p:nvPr>
        </p:nvSpPr>
        <p:spPr>
          <a:xfrm>
            <a:off x="658368" y="365760"/>
            <a:ext cx="9244584" cy="713232"/>
          </a:xfrm>
          <a:prstGeom prst="rect">
            <a:avLst/>
          </a:prstGeom>
          <a:noFill/>
          <a:ln/>
        </p:spPr>
        <p:txBody>
          <a:bodyPr wrap="square" lIns="0" tIns="0" rIns="0" bIns="0" rtlCol="0" anchor="ctr"/>
          <a:lstStyle/>
          <a:p>
            <a:pPr algn="l" indent="0" marL="0">
              <a:buNone/>
            </a:pPr>
            <a:r>
              <a:rPr lang="en-US" sz="2400" b="1" dirty="0">
                <a:solidFill>
                  <a:srgbClr val="FFFFFF"/>
                </a:solidFill>
                <a:latin typeface="Arial" pitchFamily="34" charset="0"/>
                <a:ea typeface="Arial" pitchFamily="34" charset="-122"/>
                <a:cs typeface="Arial" pitchFamily="34" charset="-120"/>
              </a:rPr>
              <a:t>Glosario (1/2)</a:t>
            </a:r>
            <a:endParaRPr lang="en-US" sz="2400" dirty="0"/>
          </a:p>
        </p:txBody>
      </p:sp>
      <p:graphicFrame>
        <p:nvGraphicFramePr>
          <p:cNvPr id="41" name="Table 0"/>
          <p:cNvGraphicFramePr>
            <a:graphicFrameLocks noGrp="1"/>
          </p:cNvGraphicFramePr>
          <p:nvPr>
            <p:extLst>
              <p:ext uri="{D42A27DB-BD31-4B8C-83A1-F6EECF244321}">
                <p14:modId xmlns:p14="http://schemas.microsoft.com/office/powerpoint/2010/main" val="1579011935"/>
              </p:ext>
            </p:extLst>
          </p:nvPr>
        </p:nvGraphicFramePr>
        <p:xfrm>
          <a:off x="457200" y="1280160"/>
          <a:ext cx="5486400" cy="914400"/>
        </p:xfrm>
        <a:graphic>
          <a:graphicData uri="http://schemas.openxmlformats.org/drawingml/2006/table">
            <a:tbl>
              <a:tblPr/>
              <a:tblGrid>
                <a:gridCol w="1965960"/>
                <a:gridCol w="3520440"/>
              </a:tblGrid>
              <a:tr h="0">
                <a:tc>
                  <a:txBody>
                    <a:bodyPr/>
                    <a:lstStyle/>
                    <a:p>
                      <a:pPr indent="0" marL="0">
                        <a:buNone/>
                      </a:pPr>
                      <a:r>
                        <a:rPr lang="en-US" sz="1200" b="1" dirty="0">
                          <a:solidFill>
                            <a:srgbClr val="FFFFFF"/>
                          </a:solidFill>
                          <a:latin typeface="Arial" pitchFamily="34" charset="0"/>
                          <a:ea typeface="Arial" pitchFamily="34" charset="-122"/>
                          <a:cs typeface="Arial" pitchFamily="34" charset="-120"/>
                        </a:rPr>
                        <a:t>Término</a:t>
                      </a:r>
                      <a:endParaRPr lang="en-US" sz="1200" dirty="0">
                        <a:latin typeface="Arial" charset="0"/>
                        <a:ea typeface="Arial" charset="0"/>
                        <a:cs typeface="Arial" charset="0"/>
                      </a:endParaRPr>
                    </a:p>
                  </a:txBody>
                  <a:tcPr marL="54864" marR="54864" marT="54864" marB="54864" anchor="ctr">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002855"/>
                    </a:solidFill>
                  </a:tcPr>
                </a:tc>
                <a:tc>
                  <a:txBody>
                    <a:bodyPr/>
                    <a:lstStyle/>
                    <a:p>
                      <a:pPr indent="0" marL="0">
                        <a:buNone/>
                      </a:pPr>
                      <a:r>
                        <a:rPr lang="en-US" sz="1200" b="1" dirty="0">
                          <a:solidFill>
                            <a:srgbClr val="FFFFFF"/>
                          </a:solidFill>
                          <a:latin typeface="Arial" pitchFamily="34" charset="0"/>
                          <a:ea typeface="Arial" pitchFamily="34" charset="-122"/>
                          <a:cs typeface="Arial" pitchFamily="34" charset="-120"/>
                        </a:rPr>
                        <a:t>Definición</a:t>
                      </a:r>
                      <a:endParaRPr lang="en-US" sz="1200" dirty="0">
                        <a:latin typeface="Arial" charset="0"/>
                        <a:ea typeface="Arial" charset="0"/>
                        <a:cs typeface="Arial" charset="0"/>
                      </a:endParaRPr>
                    </a:p>
                  </a:txBody>
                  <a:tcPr marL="54864" marR="54864" marT="54864" marB="54864" anchor="ctr">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002855"/>
                    </a:solidFill>
                  </a:tcPr>
                </a:tc>
              </a:tr>
              <a:tr h="0">
                <a:tc>
                  <a:txBody>
                    <a:bodyPr/>
                    <a:lstStyle/>
                    <a:p>
                      <a:pPr indent="0" marL="0">
                        <a:buNone/>
                      </a:pPr>
                      <a:r>
                        <a:rPr lang="en-US" sz="1200" b="1" dirty="0">
                          <a:solidFill>
                            <a:srgbClr val="002855"/>
                          </a:solidFill>
                          <a:latin typeface="Arial" pitchFamily="34" charset="0"/>
                          <a:ea typeface="Arial" pitchFamily="34" charset="-122"/>
                          <a:cs typeface="Arial" pitchFamily="34" charset="-120"/>
                        </a:rPr>
                        <a:t>Autoridad de cambio (change authority)</a:t>
                      </a:r>
                      <a:endParaRPr lang="en-US" sz="1200" dirty="0">
                        <a:latin typeface="Arial" charset="0"/>
                        <a:ea typeface="Arial" charset="0"/>
                        <a:cs typeface="Arial" charset="0"/>
                      </a:endParaRPr>
                    </a:p>
                  </a:txBody>
                  <a:tcPr marL="54864" marR="54864" marT="54864" marB="54864"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4F6F8"/>
                    </a:solidFill>
                  </a:tcPr>
                </a:tc>
                <a:tc>
                  <a:txBody>
                    <a:bodyPr/>
                    <a:lstStyle/>
                    <a:p>
                      <a:pPr indent="0" marL="0">
                        <a:buNone/>
                      </a:pPr>
                      <a:r>
                        <a:rPr lang="en-US" sz="1200" dirty="0">
                          <a:solidFill>
                            <a:srgbClr val="272425"/>
                          </a:solidFill>
                          <a:latin typeface="Arial" pitchFamily="34" charset="0"/>
                          <a:ea typeface="Arial" pitchFamily="34" charset="-122"/>
                          <a:cs typeface="Arial" pitchFamily="34" charset="-120"/>
                        </a:rPr>
                        <a:t>Rol con autoridad delegada para aprobar cambios hasta un límite por cambio.</a:t>
                      </a:r>
                      <a:endParaRPr lang="en-US" sz="1200" dirty="0">
                        <a:latin typeface="Arial" charset="0"/>
                        <a:ea typeface="Arial" charset="0"/>
                        <a:cs typeface="Arial" charset="0"/>
                      </a:endParaRPr>
                    </a:p>
                  </a:txBody>
                  <a:tcPr marL="54864" marR="54864" marT="54864" marB="54864"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4F6F8"/>
                    </a:solidFill>
                  </a:tcPr>
                </a:tc>
              </a:tr>
              <a:tr h="0">
                <a:tc>
                  <a:txBody>
                    <a:bodyPr/>
                    <a:lstStyle/>
                    <a:p>
                      <a:pPr indent="0" marL="0">
                        <a:buNone/>
                      </a:pPr>
                      <a:r>
                        <a:rPr lang="en-US" sz="1200" b="1" dirty="0">
                          <a:solidFill>
                            <a:srgbClr val="002855"/>
                          </a:solidFill>
                          <a:latin typeface="Arial" pitchFamily="34" charset="0"/>
                          <a:ea typeface="Arial" pitchFamily="34" charset="-122"/>
                          <a:cs typeface="Arial" pitchFamily="34" charset="-120"/>
                        </a:rPr>
                        <a:t>BMAD</a:t>
                      </a:r>
                      <a:endParaRPr lang="en-US" sz="1200" dirty="0">
                        <a:latin typeface="Arial" charset="0"/>
                        <a:ea typeface="Arial" charset="0"/>
                        <a:cs typeface="Arial" charset="0"/>
                      </a:endParaRPr>
                    </a:p>
                  </a:txBody>
                  <a:tcPr marL="54864" marR="54864" marT="54864" marB="54864"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FFFFF"/>
                    </a:solidFill>
                  </a:tcPr>
                </a:tc>
                <a:tc>
                  <a:txBody>
                    <a:bodyPr/>
                    <a:lstStyle/>
                    <a:p>
                      <a:pPr indent="0" marL="0">
                        <a:buNone/>
                      </a:pPr>
                      <a:r>
                        <a:rPr lang="en-US" sz="1200" dirty="0">
                          <a:solidFill>
                            <a:srgbClr val="272425"/>
                          </a:solidFill>
                          <a:latin typeface="Arial" pitchFamily="34" charset="0"/>
                          <a:ea typeface="Arial" pitchFamily="34" charset="-122"/>
                          <a:cs typeface="Arial" pitchFamily="34" charset="-120"/>
                        </a:rPr>
                        <a:t>Método de especificación y construcción con agentes; en pm-method es la fuente única de la especificación, de solo lectura.</a:t>
                      </a:r>
                      <a:endParaRPr lang="en-US" sz="1200" dirty="0">
                        <a:latin typeface="Arial" charset="0"/>
                        <a:ea typeface="Arial" charset="0"/>
                        <a:cs typeface="Arial" charset="0"/>
                      </a:endParaRPr>
                    </a:p>
                  </a:txBody>
                  <a:tcPr marL="54864" marR="54864" marT="54864" marB="54864"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FFFFF"/>
                    </a:solidFill>
                  </a:tcPr>
                </a:tc>
              </a:tr>
              <a:tr h="0">
                <a:tc>
                  <a:txBody>
                    <a:bodyPr/>
                    <a:lstStyle/>
                    <a:p>
                      <a:pPr indent="0" marL="0">
                        <a:buNone/>
                      </a:pPr>
                      <a:r>
                        <a:rPr lang="en-US" sz="1200" b="1" dirty="0">
                          <a:solidFill>
                            <a:srgbClr val="002855"/>
                          </a:solidFill>
                          <a:latin typeface="Arial" pitchFamily="34" charset="0"/>
                          <a:ea typeface="Arial" pitchFamily="34" charset="-122"/>
                          <a:cs typeface="Arial" pitchFamily="34" charset="-120"/>
                        </a:rPr>
                        <a:t>Calidad a volumen</a:t>
                      </a:r>
                      <a:endParaRPr lang="en-US" sz="1200" dirty="0">
                        <a:latin typeface="Arial" charset="0"/>
                        <a:ea typeface="Arial" charset="0"/>
                        <a:cs typeface="Arial" charset="0"/>
                      </a:endParaRPr>
                    </a:p>
                  </a:txBody>
                  <a:tcPr marL="54864" marR="54864" marT="54864" marB="54864"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4F6F8"/>
                    </a:solidFill>
                  </a:tcPr>
                </a:tc>
                <a:tc>
                  <a:txBody>
                    <a:bodyPr/>
                    <a:lstStyle/>
                    <a:p>
                      <a:pPr indent="0" marL="0">
                        <a:buNone/>
                      </a:pPr>
                      <a:r>
                        <a:rPr lang="en-US" sz="1200" dirty="0">
                          <a:solidFill>
                            <a:srgbClr val="272425"/>
                          </a:solidFill>
                          <a:latin typeface="Arial" pitchFamily="34" charset="0"/>
                          <a:ea typeface="Arial" pitchFamily="34" charset="-122"/>
                          <a:cs typeface="Arial" pitchFamily="34" charset="-120"/>
                        </a:rPr>
                        <a:t>Control de que cada historia terminada tenga su revisión aprobada, en cada entrega (QUA-01, QUA-02, QUA-03).</a:t>
                      </a:r>
                      <a:endParaRPr lang="en-US" sz="1200" dirty="0">
                        <a:latin typeface="Arial" charset="0"/>
                        <a:ea typeface="Arial" charset="0"/>
                        <a:cs typeface="Arial" charset="0"/>
                      </a:endParaRPr>
                    </a:p>
                  </a:txBody>
                  <a:tcPr marL="54864" marR="54864" marT="54864" marB="54864"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4F6F8"/>
                    </a:solidFill>
                  </a:tcPr>
                </a:tc>
              </a:tr>
              <a:tr h="0">
                <a:tc>
                  <a:txBody>
                    <a:bodyPr/>
                    <a:lstStyle/>
                    <a:p>
                      <a:pPr indent="0" marL="0">
                        <a:buNone/>
                      </a:pPr>
                      <a:r>
                        <a:rPr lang="en-US" sz="1200" b="1" dirty="0">
                          <a:solidFill>
                            <a:srgbClr val="002855"/>
                          </a:solidFill>
                          <a:latin typeface="Arial" pitchFamily="34" charset="0"/>
                          <a:ea typeface="Arial" pitchFamily="34" charset="-122"/>
                          <a:cs typeface="Arial" pitchFamily="34" charset="-120"/>
                        </a:rPr>
                        <a:t>Check-in de OKR</a:t>
                      </a:r>
                      <a:endParaRPr lang="en-US" sz="1200" dirty="0">
                        <a:latin typeface="Arial" charset="0"/>
                        <a:ea typeface="Arial" charset="0"/>
                        <a:cs typeface="Arial" charset="0"/>
                      </a:endParaRPr>
                    </a:p>
                  </a:txBody>
                  <a:tcPr marL="54864" marR="54864" marT="54864" marB="54864"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FFFFF"/>
                    </a:solidFill>
                  </a:tcPr>
                </a:tc>
                <a:tc>
                  <a:txBody>
                    <a:bodyPr/>
                    <a:lstStyle/>
                    <a:p>
                      <a:pPr indent="0" marL="0">
                        <a:buNone/>
                      </a:pPr>
                      <a:r>
                        <a:rPr lang="en-US" sz="1200" dirty="0">
                          <a:solidFill>
                            <a:srgbClr val="272425"/>
                          </a:solidFill>
                          <a:latin typeface="Arial" pitchFamily="34" charset="0"/>
                          <a:ea typeface="Arial" pitchFamily="34" charset="-122"/>
                          <a:cs typeface="Arial" pitchFamily="34" charset="-120"/>
                        </a:rPr>
                        <a:t>Medición fechada de un KR que solo se agrega (okr_checkins.csv) y deja historia.</a:t>
                      </a:r>
                      <a:endParaRPr lang="en-US" sz="1200" dirty="0">
                        <a:latin typeface="Arial" charset="0"/>
                        <a:ea typeface="Arial" charset="0"/>
                        <a:cs typeface="Arial" charset="0"/>
                      </a:endParaRPr>
                    </a:p>
                  </a:txBody>
                  <a:tcPr marL="54864" marR="54864" marT="54864" marB="54864"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FFFFF"/>
                    </a:solidFill>
                  </a:tcPr>
                </a:tc>
              </a:tr>
              <a:tr h="0">
                <a:tc>
                  <a:txBody>
                    <a:bodyPr/>
                    <a:lstStyle/>
                    <a:p>
                      <a:pPr indent="0" marL="0">
                        <a:buNone/>
                      </a:pPr>
                      <a:r>
                        <a:rPr lang="en-US" sz="1200" b="1" dirty="0">
                          <a:solidFill>
                            <a:srgbClr val="002855"/>
                          </a:solidFill>
                          <a:latin typeface="Arial" pitchFamily="34" charset="0"/>
                          <a:ea typeface="Arial" pitchFamily="34" charset="-122"/>
                          <a:cs typeface="Arial" pitchFamily="34" charset="-120"/>
                        </a:rPr>
                        <a:t>Condición formal</a:t>
                      </a:r>
                      <a:endParaRPr lang="en-US" sz="1200" dirty="0">
                        <a:latin typeface="Arial" charset="0"/>
                        <a:ea typeface="Arial" charset="0"/>
                        <a:cs typeface="Arial" charset="0"/>
                      </a:endParaRPr>
                    </a:p>
                  </a:txBody>
                  <a:tcPr marL="54864" marR="54864" marT="54864" marB="54864"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4F6F8"/>
                    </a:solidFill>
                  </a:tcPr>
                </a:tc>
                <a:tc>
                  <a:txBody>
                    <a:bodyPr/>
                    <a:lstStyle/>
                    <a:p>
                      <a:pPr indent="0" marL="0">
                        <a:buNone/>
                      </a:pPr>
                      <a:r>
                        <a:rPr lang="en-US" sz="1200" dirty="0">
                          <a:solidFill>
                            <a:srgbClr val="272425"/>
                          </a:solidFill>
                          <a:latin typeface="Arial" pitchFamily="34" charset="0"/>
                          <a:ea typeface="Arial" pitchFamily="34" charset="-122"/>
                          <a:cs typeface="Arial" pitchFamily="34" charset="-120"/>
                        </a:rPr>
                        <a:t>Requisito que la junta impone al autorizar una puerta; se sigue con EST-12 y G-01 hasta cumplir-condiciones.</a:t>
                      </a:r>
                      <a:endParaRPr lang="en-US" sz="1200" dirty="0">
                        <a:latin typeface="Arial" charset="0"/>
                        <a:ea typeface="Arial" charset="0"/>
                        <a:cs typeface="Arial" charset="0"/>
                      </a:endParaRPr>
                    </a:p>
                  </a:txBody>
                  <a:tcPr marL="54864" marR="54864" marT="54864" marB="54864"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4F6F8"/>
                    </a:solidFill>
                  </a:tcPr>
                </a:tc>
              </a:tr>
              <a:tr h="0">
                <a:tc>
                  <a:txBody>
                    <a:bodyPr/>
                    <a:lstStyle/>
                    <a:p>
                      <a:pPr indent="0" marL="0">
                        <a:buNone/>
                      </a:pPr>
                      <a:r>
                        <a:rPr lang="en-US" sz="1200" b="1" dirty="0">
                          <a:solidFill>
                            <a:srgbClr val="002855"/>
                          </a:solidFill>
                          <a:latin typeface="Arial" pitchFamily="34" charset="0"/>
                          <a:ea typeface="Arial" pitchFamily="34" charset="-122"/>
                          <a:cs typeface="Arial" pitchFamily="34" charset="-120"/>
                        </a:rPr>
                        <a:t>Enfoque de beneficios</a:t>
                      </a:r>
                      <a:endParaRPr lang="en-US" sz="1200" dirty="0">
                        <a:latin typeface="Arial" charset="0"/>
                        <a:ea typeface="Arial" charset="0"/>
                        <a:cs typeface="Arial" charset="0"/>
                      </a:endParaRPr>
                    </a:p>
                  </a:txBody>
                  <a:tcPr marL="54864" marR="54864" marT="54864" marB="54864"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FFFFF"/>
                    </a:solidFill>
                  </a:tcPr>
                </a:tc>
                <a:tc>
                  <a:txBody>
                    <a:bodyPr/>
                    <a:lstStyle/>
                    <a:p>
                      <a:pPr indent="0" marL="0">
                        <a:buNone/>
                      </a:pPr>
                      <a:r>
                        <a:rPr lang="en-US" sz="1200" dirty="0">
                          <a:solidFill>
                            <a:srgbClr val="272425"/>
                          </a:solidFill>
                          <a:latin typeface="Arial" pitchFamily="34" charset="0"/>
                          <a:ea typeface="Arial" pitchFamily="34" charset="-122"/>
                          <a:cs typeface="Arial" pitchFamily="34" charset="-120"/>
                        </a:rPr>
                        <a:t>Cómo, cuándo y quién mide cada beneficio, incluso después del proyecto; lo exige P-04.</a:t>
                      </a:r>
                      <a:endParaRPr lang="en-US" sz="1200" dirty="0">
                        <a:latin typeface="Arial" charset="0"/>
                        <a:ea typeface="Arial" charset="0"/>
                        <a:cs typeface="Arial" charset="0"/>
                      </a:endParaRPr>
                    </a:p>
                  </a:txBody>
                  <a:tcPr marL="54864" marR="54864" marT="54864" marB="54864"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FFFFF"/>
                    </a:solidFill>
                  </a:tcPr>
                </a:tc>
              </a:tr>
              <a:tr h="0">
                <a:tc>
                  <a:txBody>
                    <a:bodyPr/>
                    <a:lstStyle/>
                    <a:p>
                      <a:pPr indent="0" marL="0">
                        <a:buNone/>
                      </a:pPr>
                      <a:r>
                        <a:rPr lang="en-US" sz="1200" b="1" dirty="0">
                          <a:solidFill>
                            <a:srgbClr val="002855"/>
                          </a:solidFill>
                          <a:latin typeface="Arial" pitchFamily="34" charset="0"/>
                          <a:ea typeface="Arial" pitchFamily="34" charset="-122"/>
                          <a:cs typeface="Arial" pitchFamily="34" charset="-120"/>
                        </a:rPr>
                        <a:t>Fachada de especificación</a:t>
                      </a:r>
                      <a:endParaRPr lang="en-US" sz="1200" dirty="0">
                        <a:latin typeface="Arial" charset="0"/>
                        <a:ea typeface="Arial" charset="0"/>
                        <a:cs typeface="Arial" charset="0"/>
                      </a:endParaRPr>
                    </a:p>
                  </a:txBody>
                  <a:tcPr marL="54864" marR="54864" marT="54864" marB="54864"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4F6F8"/>
                    </a:solidFill>
                  </a:tcPr>
                </a:tc>
                <a:tc>
                  <a:txBody>
                    <a:bodyPr/>
                    <a:lstStyle/>
                    <a:p>
                      <a:pPr indent="0" marL="0">
                        <a:buNone/>
                      </a:pPr>
                      <a:r>
                        <a:rPr lang="en-US" sz="1200" dirty="0">
                          <a:solidFill>
                            <a:srgbClr val="272425"/>
                          </a:solidFill>
                          <a:latin typeface="Arial" pitchFamily="34" charset="0"/>
                          <a:ea typeface="Arial" pitchFamily="34" charset="-122"/>
                          <a:cs typeface="Arial" pitchFamily="34" charset="-120"/>
                        </a:rPr>
                        <a:t>Lectura de BMAD que hace pm-method (bmad.py, especificacion.py) sin copiar ni modificar los artefactos.</a:t>
                      </a:r>
                      <a:endParaRPr lang="en-US" sz="1200" dirty="0">
                        <a:latin typeface="Arial" charset="0"/>
                        <a:ea typeface="Arial" charset="0"/>
                        <a:cs typeface="Arial" charset="0"/>
                      </a:endParaRPr>
                    </a:p>
                  </a:txBody>
                  <a:tcPr marL="54864" marR="54864" marT="54864" marB="54864"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4F6F8"/>
                    </a:solidFill>
                  </a:tcPr>
                </a:tc>
              </a:tr>
            </a:tbl>
          </a:graphicData>
        </a:graphic>
      </p:graphicFrame>
      <p:graphicFrame>
        <p:nvGraphicFramePr>
          <p:cNvPr id="81" name="Table 1"/>
          <p:cNvGraphicFramePr>
            <a:graphicFrameLocks noGrp="1"/>
          </p:cNvGraphicFramePr>
          <p:nvPr>
            <p:extLst>
              <p:ext uri="{D42A27DB-BD31-4B8C-83A1-F6EECF244321}">
                <p14:modId xmlns:p14="http://schemas.microsoft.com/office/powerpoint/2010/main" val="1579011935"/>
              </p:ext>
            </p:extLst>
          </p:nvPr>
        </p:nvGraphicFramePr>
        <p:xfrm>
          <a:off x="6245352" y="1280160"/>
          <a:ext cx="5486400" cy="914400"/>
        </p:xfrm>
        <a:graphic>
          <a:graphicData uri="http://schemas.openxmlformats.org/drawingml/2006/table">
            <a:tbl>
              <a:tblPr/>
              <a:tblGrid>
                <a:gridCol w="1965960"/>
                <a:gridCol w="3520440"/>
              </a:tblGrid>
              <a:tr h="0">
                <a:tc>
                  <a:txBody>
                    <a:bodyPr/>
                    <a:lstStyle/>
                    <a:p>
                      <a:pPr indent="0" marL="0">
                        <a:buNone/>
                      </a:pPr>
                      <a:r>
                        <a:rPr lang="en-US" sz="1200" b="1" dirty="0">
                          <a:solidFill>
                            <a:srgbClr val="FFFFFF"/>
                          </a:solidFill>
                          <a:latin typeface="Arial" pitchFamily="34" charset="0"/>
                          <a:ea typeface="Arial" pitchFamily="34" charset="-122"/>
                          <a:cs typeface="Arial" pitchFamily="34" charset="-120"/>
                        </a:rPr>
                        <a:t>Término</a:t>
                      </a:r>
                      <a:endParaRPr lang="en-US" sz="1200" dirty="0">
                        <a:latin typeface="Arial" charset="0"/>
                        <a:ea typeface="Arial" charset="0"/>
                        <a:cs typeface="Arial" charset="0"/>
                      </a:endParaRPr>
                    </a:p>
                  </a:txBody>
                  <a:tcPr marL="54864" marR="54864" marT="54864" marB="54864" anchor="ctr">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002855"/>
                    </a:solidFill>
                  </a:tcPr>
                </a:tc>
                <a:tc>
                  <a:txBody>
                    <a:bodyPr/>
                    <a:lstStyle/>
                    <a:p>
                      <a:pPr indent="0" marL="0">
                        <a:buNone/>
                      </a:pPr>
                      <a:r>
                        <a:rPr lang="en-US" sz="1200" b="1" dirty="0">
                          <a:solidFill>
                            <a:srgbClr val="FFFFFF"/>
                          </a:solidFill>
                          <a:latin typeface="Arial" pitchFamily="34" charset="0"/>
                          <a:ea typeface="Arial" pitchFamily="34" charset="-122"/>
                          <a:cs typeface="Arial" pitchFamily="34" charset="-120"/>
                        </a:rPr>
                        <a:t>Definición</a:t>
                      </a:r>
                      <a:endParaRPr lang="en-US" sz="1200" dirty="0">
                        <a:latin typeface="Arial" charset="0"/>
                        <a:ea typeface="Arial" charset="0"/>
                        <a:cs typeface="Arial" charset="0"/>
                      </a:endParaRPr>
                    </a:p>
                  </a:txBody>
                  <a:tcPr marL="54864" marR="54864" marT="54864" marB="54864" anchor="ctr">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002855"/>
                    </a:solidFill>
                  </a:tcPr>
                </a:tc>
              </a:tr>
              <a:tr h="0">
                <a:tc>
                  <a:txBody>
                    <a:bodyPr/>
                    <a:lstStyle/>
                    <a:p>
                      <a:pPr indent="0" marL="0">
                        <a:buNone/>
                      </a:pPr>
                      <a:r>
                        <a:rPr lang="en-US" sz="1200" b="1" dirty="0">
                          <a:solidFill>
                            <a:srgbClr val="002855"/>
                          </a:solidFill>
                          <a:latin typeface="Arial" pitchFamily="34" charset="0"/>
                          <a:ea typeface="Arial" pitchFamily="34" charset="-122"/>
                          <a:cs typeface="Arial" pitchFamily="34" charset="-120"/>
                        </a:rPr>
                        <a:t>Fuera de especificación (off-specification)</a:t>
                      </a:r>
                      <a:endParaRPr lang="en-US" sz="1200" dirty="0">
                        <a:latin typeface="Arial" charset="0"/>
                        <a:ea typeface="Arial" charset="0"/>
                        <a:cs typeface="Arial" charset="0"/>
                      </a:endParaRPr>
                    </a:p>
                  </a:txBody>
                  <a:tcPr marL="54864" marR="54864" marT="54864" marB="54864"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4F6F8"/>
                    </a:solidFill>
                  </a:tcPr>
                </a:tc>
                <a:tc>
                  <a:txBody>
                    <a:bodyPr/>
                    <a:lstStyle/>
                    <a:p>
                      <a:pPr indent="0" marL="0">
                        <a:buNone/>
                      </a:pPr>
                      <a:r>
                        <a:rPr lang="en-US" sz="1200" dirty="0">
                          <a:solidFill>
                            <a:srgbClr val="272425"/>
                          </a:solidFill>
                          <a:latin typeface="Arial" pitchFamily="34" charset="0"/>
                          <a:ea typeface="Arial" pitchFamily="34" charset="-122"/>
                          <a:cs typeface="Arial" pitchFamily="34" charset="-120"/>
                        </a:rPr>
                        <a:t>Producto que no cumple su especificación; se trata como issue.</a:t>
                      </a:r>
                      <a:endParaRPr lang="en-US" sz="1200" dirty="0">
                        <a:latin typeface="Arial" charset="0"/>
                        <a:ea typeface="Arial" charset="0"/>
                        <a:cs typeface="Arial" charset="0"/>
                      </a:endParaRPr>
                    </a:p>
                  </a:txBody>
                  <a:tcPr marL="54864" marR="54864" marT="54864" marB="54864"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4F6F8"/>
                    </a:solidFill>
                  </a:tcPr>
                </a:tc>
              </a:tr>
              <a:tr h="0">
                <a:tc>
                  <a:txBody>
                    <a:bodyPr/>
                    <a:lstStyle/>
                    <a:p>
                      <a:pPr indent="0" marL="0">
                        <a:buNone/>
                      </a:pPr>
                      <a:r>
                        <a:rPr lang="en-US" sz="1200" b="1" dirty="0">
                          <a:solidFill>
                            <a:srgbClr val="002855"/>
                          </a:solidFill>
                          <a:latin typeface="Arial" pitchFamily="34" charset="0"/>
                          <a:ea typeface="Arial" pitchFamily="34" charset="-122"/>
                          <a:cs typeface="Arial" pitchFamily="34" charset="-120"/>
                        </a:rPr>
                        <a:t>Gate de preparación</a:t>
                      </a:r>
                      <a:endParaRPr lang="en-US" sz="1200" dirty="0">
                        <a:latin typeface="Arial" charset="0"/>
                        <a:ea typeface="Arial" charset="0"/>
                        <a:cs typeface="Arial" charset="0"/>
                      </a:endParaRPr>
                    </a:p>
                  </a:txBody>
                  <a:tcPr marL="54864" marR="54864" marT="54864" marB="54864"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FFFFF"/>
                    </a:solidFill>
                  </a:tcPr>
                </a:tc>
                <a:tc>
                  <a:txBody>
                    <a:bodyPr/>
                    <a:lstStyle/>
                    <a:p>
                      <a:pPr indent="0" marL="0">
                        <a:buNone/>
                      </a:pPr>
                      <a:r>
                        <a:rPr lang="en-US" sz="1200" dirty="0">
                          <a:solidFill>
                            <a:srgbClr val="272425"/>
                          </a:solidFill>
                          <a:latin typeface="Arial" pitchFamily="34" charset="0"/>
                          <a:ea typeface="Arial" pitchFamily="34" charset="-122"/>
                          <a:cs typeface="Arial" pitchFamily="34" charset="-120"/>
                        </a:rPr>
                        <a:t>Revisión de BMAD antes de construir (implementation readiness): PASS, CONCERNS o FAIL.</a:t>
                      </a:r>
                      <a:endParaRPr lang="en-US" sz="1200" dirty="0">
                        <a:latin typeface="Arial" charset="0"/>
                        <a:ea typeface="Arial" charset="0"/>
                        <a:cs typeface="Arial" charset="0"/>
                      </a:endParaRPr>
                    </a:p>
                  </a:txBody>
                  <a:tcPr marL="54864" marR="54864" marT="54864" marB="54864"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FFFFF"/>
                    </a:solidFill>
                  </a:tcPr>
                </a:tc>
              </a:tr>
              <a:tr h="0">
                <a:tc>
                  <a:txBody>
                    <a:bodyPr/>
                    <a:lstStyle/>
                    <a:p>
                      <a:pPr indent="0" marL="0">
                        <a:buNone/>
                      </a:pPr>
                      <a:r>
                        <a:rPr lang="en-US" sz="1200" b="1" dirty="0">
                          <a:solidFill>
                            <a:srgbClr val="002855"/>
                          </a:solidFill>
                          <a:latin typeface="Arial" pitchFamily="34" charset="0"/>
                          <a:ea typeface="Arial" pitchFamily="34" charset="-122"/>
                          <a:cs typeface="Arial" pitchFamily="34" charset="-120"/>
                        </a:rPr>
                        <a:t>Informe de aspectos destacados (highlight report)</a:t>
                      </a:r>
                      <a:endParaRPr lang="en-US" sz="1200" dirty="0">
                        <a:latin typeface="Arial" charset="0"/>
                        <a:ea typeface="Arial" charset="0"/>
                        <a:cs typeface="Arial" charset="0"/>
                      </a:endParaRPr>
                    </a:p>
                  </a:txBody>
                  <a:tcPr marL="54864" marR="54864" marT="54864" marB="54864"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4F6F8"/>
                    </a:solidFill>
                  </a:tcPr>
                </a:tc>
                <a:tc>
                  <a:txBody>
                    <a:bodyPr/>
                    <a:lstStyle/>
                    <a:p>
                      <a:pPr indent="0" marL="0">
                        <a:buNone/>
                      </a:pPr>
                      <a:r>
                        <a:rPr lang="en-US" sz="1200" dirty="0">
                          <a:solidFill>
                            <a:srgbClr val="272425"/>
                          </a:solidFill>
                          <a:latin typeface="Arial" pitchFamily="34" charset="0"/>
                          <a:ea typeface="Arial" pitchFamily="34" charset="-122"/>
                          <a:cs typeface="Arial" pitchFamily="34" charset="-120"/>
                        </a:rPr>
                        <a:t>Informe periódico del gestor a la junta, con avance, valor ganado y puertas.</a:t>
                      </a:r>
                      <a:endParaRPr lang="en-US" sz="1200" dirty="0">
                        <a:latin typeface="Arial" charset="0"/>
                        <a:ea typeface="Arial" charset="0"/>
                        <a:cs typeface="Arial" charset="0"/>
                      </a:endParaRPr>
                    </a:p>
                  </a:txBody>
                  <a:tcPr marL="54864" marR="54864" marT="54864" marB="54864"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4F6F8"/>
                    </a:solidFill>
                  </a:tcPr>
                </a:tc>
              </a:tr>
              <a:tr h="0">
                <a:tc>
                  <a:txBody>
                    <a:bodyPr/>
                    <a:lstStyle/>
                    <a:p>
                      <a:pPr indent="0" marL="0">
                        <a:buNone/>
                      </a:pPr>
                      <a:r>
                        <a:rPr lang="en-US" sz="1200" b="1" dirty="0">
                          <a:solidFill>
                            <a:srgbClr val="002855"/>
                          </a:solidFill>
                          <a:latin typeface="Arial" pitchFamily="34" charset="0"/>
                          <a:ea typeface="Arial" pitchFamily="34" charset="-122"/>
                          <a:cs typeface="Arial" pitchFamily="34" charset="-120"/>
                        </a:rPr>
                        <a:t>Informe de punto de control (checkpoint report)</a:t>
                      </a:r>
                      <a:endParaRPr lang="en-US" sz="1200" dirty="0">
                        <a:latin typeface="Arial" charset="0"/>
                        <a:ea typeface="Arial" charset="0"/>
                        <a:cs typeface="Arial" charset="0"/>
                      </a:endParaRPr>
                    </a:p>
                  </a:txBody>
                  <a:tcPr marL="54864" marR="54864" marT="54864" marB="54864"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FFFFF"/>
                    </a:solidFill>
                  </a:tcPr>
                </a:tc>
                <a:tc>
                  <a:txBody>
                    <a:bodyPr/>
                    <a:lstStyle/>
                    <a:p>
                      <a:pPr indent="0" marL="0">
                        <a:buNone/>
                      </a:pPr>
                      <a:r>
                        <a:rPr lang="en-US" sz="1200" dirty="0">
                          <a:solidFill>
                            <a:srgbClr val="272425"/>
                          </a:solidFill>
                          <a:latin typeface="Arial" pitchFamily="34" charset="0"/>
                          <a:ea typeface="Arial" pitchFamily="34" charset="-122"/>
                          <a:cs typeface="Arial" pitchFamily="34" charset="-120"/>
                        </a:rPr>
                        <a:t>Informe del equipo sobre un paquete; solo cuenta como completados los productos con revisión aprobada.</a:t>
                      </a:r>
                      <a:endParaRPr lang="en-US" sz="1200" dirty="0">
                        <a:latin typeface="Arial" charset="0"/>
                        <a:ea typeface="Arial" charset="0"/>
                        <a:cs typeface="Arial" charset="0"/>
                      </a:endParaRPr>
                    </a:p>
                  </a:txBody>
                  <a:tcPr marL="54864" marR="54864" marT="54864" marB="54864"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FFFFF"/>
                    </a:solidFill>
                  </a:tcPr>
                </a:tc>
              </a:tr>
              <a:tr h="0">
                <a:tc>
                  <a:txBody>
                    <a:bodyPr/>
                    <a:lstStyle/>
                    <a:p>
                      <a:pPr indent="0" marL="0">
                        <a:buNone/>
                      </a:pPr>
                      <a:r>
                        <a:rPr lang="en-US" sz="1200" b="1" dirty="0">
                          <a:solidFill>
                            <a:srgbClr val="002855"/>
                          </a:solidFill>
                          <a:latin typeface="Arial" pitchFamily="34" charset="0"/>
                          <a:ea typeface="Arial" pitchFamily="34" charset="-122"/>
                          <a:cs typeface="Arial" pitchFamily="34" charset="-120"/>
                        </a:rPr>
                        <a:t>Línea base</a:t>
                      </a:r>
                      <a:endParaRPr lang="en-US" sz="1200" dirty="0">
                        <a:latin typeface="Arial" charset="0"/>
                        <a:ea typeface="Arial" charset="0"/>
                        <a:cs typeface="Arial" charset="0"/>
                      </a:endParaRPr>
                    </a:p>
                  </a:txBody>
                  <a:tcPr marL="54864" marR="54864" marT="54864" marB="54864"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4F6F8"/>
                    </a:solidFill>
                  </a:tcPr>
                </a:tc>
                <a:tc>
                  <a:txBody>
                    <a:bodyPr/>
                    <a:lstStyle/>
                    <a:p>
                      <a:pPr indent="0" marL="0">
                        <a:buNone/>
                      </a:pPr>
                      <a:r>
                        <a:rPr lang="en-US" sz="1200" dirty="0">
                          <a:solidFill>
                            <a:srgbClr val="272425"/>
                          </a:solidFill>
                          <a:latin typeface="Arial" pitchFamily="34" charset="0"/>
                          <a:ea typeface="Arial" pitchFamily="34" charset="-122"/>
                          <a:cs typeface="Arial" pitchFamily="34" charset="-120"/>
                        </a:rPr>
                        <a:t>Versión aprobada y congelada de un artefacto (PRD, épicas) contra la que se detectan desvíos.</a:t>
                      </a:r>
                      <a:endParaRPr lang="en-US" sz="1200" dirty="0">
                        <a:latin typeface="Arial" charset="0"/>
                        <a:ea typeface="Arial" charset="0"/>
                        <a:cs typeface="Arial" charset="0"/>
                      </a:endParaRPr>
                    </a:p>
                  </a:txBody>
                  <a:tcPr marL="54864" marR="54864" marT="54864" marB="54864"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4F6F8"/>
                    </a:solidFill>
                  </a:tcPr>
                </a:tc>
              </a:tr>
              <a:tr h="0">
                <a:tc>
                  <a:txBody>
                    <a:bodyPr/>
                    <a:lstStyle/>
                    <a:p>
                      <a:pPr indent="0" marL="0">
                        <a:buNone/>
                      </a:pPr>
                      <a:r>
                        <a:rPr lang="en-US" sz="1200" b="1" dirty="0">
                          <a:solidFill>
                            <a:srgbClr val="002855"/>
                          </a:solidFill>
                          <a:latin typeface="Arial" pitchFamily="34" charset="0"/>
                          <a:ea typeface="Arial" pitchFamily="34" charset="-122"/>
                          <a:cs typeface="Arial" pitchFamily="34" charset="-120"/>
                        </a:rPr>
                        <a:t>Mapa de recorrido del cliente (customer journey map)</a:t>
                      </a:r>
                      <a:endParaRPr lang="en-US" sz="1200" dirty="0">
                        <a:latin typeface="Arial" charset="0"/>
                        <a:ea typeface="Arial" charset="0"/>
                        <a:cs typeface="Arial" charset="0"/>
                      </a:endParaRPr>
                    </a:p>
                  </a:txBody>
                  <a:tcPr marL="54864" marR="54864" marT="54864" marB="54864"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FFFFF"/>
                    </a:solidFill>
                  </a:tcPr>
                </a:tc>
                <a:tc>
                  <a:txBody>
                    <a:bodyPr/>
                    <a:lstStyle/>
                    <a:p>
                      <a:pPr indent="0" marL="0">
                        <a:buNone/>
                      </a:pPr>
                      <a:r>
                        <a:rPr lang="en-US" sz="1200" dirty="0">
                          <a:solidFill>
                            <a:srgbClr val="272425"/>
                          </a:solidFill>
                          <a:latin typeface="Arial" pitchFamily="34" charset="0"/>
                          <a:ea typeface="Arial" pitchFamily="34" charset="-122"/>
                          <a:cs typeface="Arial" pitchFamily="34" charset="-120"/>
                        </a:rPr>
                        <a:t>Acciones de una persona paso a paso, con su emoción (−2 a +2) y su fuente, dolores y oportunidades; cada dolor necesita un tratamiento (MAP-03).</a:t>
                      </a:r>
                      <a:endParaRPr lang="en-US" sz="1200" dirty="0">
                        <a:latin typeface="Arial" charset="0"/>
                        <a:ea typeface="Arial" charset="0"/>
                        <a:cs typeface="Arial" charset="0"/>
                      </a:endParaRPr>
                    </a:p>
                  </a:txBody>
                  <a:tcPr marL="54864" marR="54864" marT="54864" marB="54864"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091672" y="6419088"/>
            <a:ext cx="64008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rgbClr val="696969"/>
                </a:solidFill>
              </a:defRPr>
            </a:lvl1pPr>
          </a:lstStyle>
          <a:p>
            <a:pPr algn="r"/>
            <a:fld id="{F7021451-1387-4CA6-816F-3879F97B5CBC}" type="slidenum">
              <a:rPr b="0"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3"/>
          <p:cNvSpPr/>
          <p:nvPr>
            <p:ph idx="103" type="title" hasCustomPrompt="1"/>
          </p:nvPr>
        </p:nvSpPr>
        <p:spPr>
          <a:xfrm>
            <a:off x="658368" y="365760"/>
            <a:ext cx="9244584" cy="713232"/>
          </a:xfrm>
          <a:prstGeom prst="rect">
            <a:avLst/>
          </a:prstGeom>
          <a:noFill/>
          <a:ln/>
        </p:spPr>
        <p:txBody>
          <a:bodyPr wrap="square" lIns="0" tIns="0" rIns="0" bIns="0" rtlCol="0" anchor="ctr"/>
          <a:lstStyle/>
          <a:p>
            <a:pPr algn="l" indent="0" marL="0">
              <a:buNone/>
            </a:pPr>
            <a:r>
              <a:rPr lang="en-US" sz="2400" b="1" dirty="0">
                <a:solidFill>
                  <a:srgbClr val="FFFFFF"/>
                </a:solidFill>
                <a:latin typeface="Arial" pitchFamily="34" charset="0"/>
                <a:ea typeface="Arial" pitchFamily="34" charset="-122"/>
                <a:cs typeface="Arial" pitchFamily="34" charset="-120"/>
              </a:rPr>
              <a:t>Glosario (2/2)</a:t>
            </a:r>
            <a:endParaRPr lang="en-US" sz="2400" dirty="0"/>
          </a:p>
        </p:txBody>
      </p:sp>
      <p:graphicFrame>
        <p:nvGraphicFramePr>
          <p:cNvPr id="42" name="Table 0"/>
          <p:cNvGraphicFramePr>
            <a:graphicFrameLocks noGrp="1"/>
          </p:cNvGraphicFramePr>
          <p:nvPr>
            <p:extLst>
              <p:ext uri="{D42A27DB-BD31-4B8C-83A1-F6EECF244321}">
                <p14:modId xmlns:p14="http://schemas.microsoft.com/office/powerpoint/2010/main" val="1579011935"/>
              </p:ext>
            </p:extLst>
          </p:nvPr>
        </p:nvGraphicFramePr>
        <p:xfrm>
          <a:off x="457200" y="1280160"/>
          <a:ext cx="5486400" cy="914400"/>
        </p:xfrm>
        <a:graphic>
          <a:graphicData uri="http://schemas.openxmlformats.org/drawingml/2006/table">
            <a:tbl>
              <a:tblPr/>
              <a:tblGrid>
                <a:gridCol w="1965960"/>
                <a:gridCol w="3520440"/>
              </a:tblGrid>
              <a:tr h="0">
                <a:tc>
                  <a:txBody>
                    <a:bodyPr/>
                    <a:lstStyle/>
                    <a:p>
                      <a:pPr indent="0" marL="0">
                        <a:buNone/>
                      </a:pPr>
                      <a:r>
                        <a:rPr lang="en-US" sz="1200" b="1" dirty="0">
                          <a:solidFill>
                            <a:srgbClr val="FFFFFF"/>
                          </a:solidFill>
                          <a:latin typeface="Arial" pitchFamily="34" charset="0"/>
                          <a:ea typeface="Arial" pitchFamily="34" charset="-122"/>
                          <a:cs typeface="Arial" pitchFamily="34" charset="-120"/>
                        </a:rPr>
                        <a:t>Término</a:t>
                      </a:r>
                      <a:endParaRPr lang="en-US" sz="1200" dirty="0">
                        <a:latin typeface="Arial" charset="0"/>
                        <a:ea typeface="Arial" charset="0"/>
                        <a:cs typeface="Arial" charset="0"/>
                      </a:endParaRPr>
                    </a:p>
                  </a:txBody>
                  <a:tcPr marL="54864" marR="54864" marT="54864" marB="54864" anchor="ctr">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002855"/>
                    </a:solidFill>
                  </a:tcPr>
                </a:tc>
                <a:tc>
                  <a:txBody>
                    <a:bodyPr/>
                    <a:lstStyle/>
                    <a:p>
                      <a:pPr indent="0" marL="0">
                        <a:buNone/>
                      </a:pPr>
                      <a:r>
                        <a:rPr lang="en-US" sz="1200" b="1" dirty="0">
                          <a:solidFill>
                            <a:srgbClr val="FFFFFF"/>
                          </a:solidFill>
                          <a:latin typeface="Arial" pitchFamily="34" charset="0"/>
                          <a:ea typeface="Arial" pitchFamily="34" charset="-122"/>
                          <a:cs typeface="Arial" pitchFamily="34" charset="-120"/>
                        </a:rPr>
                        <a:t>Definición</a:t>
                      </a:r>
                      <a:endParaRPr lang="en-US" sz="1200" dirty="0">
                        <a:latin typeface="Arial" charset="0"/>
                        <a:ea typeface="Arial" charset="0"/>
                        <a:cs typeface="Arial" charset="0"/>
                      </a:endParaRPr>
                    </a:p>
                  </a:txBody>
                  <a:tcPr marL="54864" marR="54864" marT="54864" marB="54864" anchor="ctr">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002855"/>
                    </a:solidFill>
                  </a:tcPr>
                </a:tc>
              </a:tr>
              <a:tr h="0">
                <a:tc>
                  <a:txBody>
                    <a:bodyPr/>
                    <a:lstStyle/>
                    <a:p>
                      <a:pPr indent="0" marL="0">
                        <a:buNone/>
                      </a:pPr>
                      <a:r>
                        <a:rPr lang="en-US" sz="1200" b="1" dirty="0">
                          <a:solidFill>
                            <a:srgbClr val="002855"/>
                          </a:solidFill>
                          <a:latin typeface="Arial" pitchFamily="34" charset="0"/>
                          <a:ea typeface="Arial" pitchFamily="34" charset="-122"/>
                          <a:cs typeface="Arial" pitchFamily="34" charset="-120"/>
                        </a:rPr>
                        <a:t>Paquete de trabajo (work package)</a:t>
                      </a:r>
                      <a:endParaRPr lang="en-US" sz="1200" dirty="0">
                        <a:latin typeface="Arial" charset="0"/>
                        <a:ea typeface="Arial" charset="0"/>
                        <a:cs typeface="Arial" charset="0"/>
                      </a:endParaRPr>
                    </a:p>
                  </a:txBody>
                  <a:tcPr marL="54864" marR="54864" marT="54864" marB="54864"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4F6F8"/>
                    </a:solidFill>
                  </a:tcPr>
                </a:tc>
                <a:tc>
                  <a:txBody>
                    <a:bodyPr/>
                    <a:lstStyle/>
                    <a:p>
                      <a:pPr indent="0" marL="0">
                        <a:buNone/>
                      </a:pPr>
                      <a:r>
                        <a:rPr lang="en-US" sz="1200" dirty="0">
                          <a:solidFill>
                            <a:srgbClr val="272425"/>
                          </a:solidFill>
                          <a:latin typeface="Arial" pitchFamily="34" charset="0"/>
                          <a:ea typeface="Arial" pitchFamily="34" charset="-122"/>
                          <a:cs typeface="Arial" pitchFamily="34" charset="-120"/>
                        </a:rPr>
                        <a:t>Unidad de trabajo autorizada por el gestor; aquí, un sprint con sus historias y definición de terminado.</a:t>
                      </a:r>
                      <a:endParaRPr lang="en-US" sz="1200" dirty="0">
                        <a:latin typeface="Arial" charset="0"/>
                        <a:ea typeface="Arial" charset="0"/>
                        <a:cs typeface="Arial" charset="0"/>
                      </a:endParaRPr>
                    </a:p>
                  </a:txBody>
                  <a:tcPr marL="54864" marR="54864" marT="54864" marB="54864"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4F6F8"/>
                    </a:solidFill>
                  </a:tcPr>
                </a:tc>
              </a:tr>
              <a:tr h="0">
                <a:tc>
                  <a:txBody>
                    <a:bodyPr/>
                    <a:lstStyle/>
                    <a:p>
                      <a:pPr indent="0" marL="0">
                        <a:buNone/>
                      </a:pPr>
                      <a:r>
                        <a:rPr lang="en-US" sz="1200" b="1" dirty="0">
                          <a:solidFill>
                            <a:srgbClr val="002855"/>
                          </a:solidFill>
                          <a:latin typeface="Arial" pitchFamily="34" charset="0"/>
                          <a:ea typeface="Arial" pitchFamily="34" charset="-122"/>
                          <a:cs typeface="Arial" pitchFamily="34" charset="-120"/>
                        </a:rPr>
                        <a:t>Plan de revisión de beneficios (benefits review plan)</a:t>
                      </a:r>
                      <a:endParaRPr lang="en-US" sz="1200" dirty="0">
                        <a:latin typeface="Arial" charset="0"/>
                        <a:ea typeface="Arial" charset="0"/>
                        <a:cs typeface="Arial" charset="0"/>
                      </a:endParaRPr>
                    </a:p>
                  </a:txBody>
                  <a:tcPr marL="54864" marR="54864" marT="54864" marB="54864"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FFFFF"/>
                    </a:solidFill>
                  </a:tcPr>
                </a:tc>
                <a:tc>
                  <a:txBody>
                    <a:bodyPr/>
                    <a:lstStyle/>
                    <a:p>
                      <a:pPr indent="0" marL="0">
                        <a:buNone/>
                      </a:pPr>
                      <a:r>
                        <a:rPr lang="en-US" sz="1200" dirty="0">
                          <a:solidFill>
                            <a:srgbClr val="272425"/>
                          </a:solidFill>
                          <a:latin typeface="Arial" pitchFamily="34" charset="0"/>
                          <a:ea typeface="Arial" pitchFamily="34" charset="-122"/>
                          <a:cs typeface="Arial" pitchFamily="34" charset="-120"/>
                        </a:rPr>
                        <a:t>Revisiones posteriores al cierre, a cargo del negocio, con criterio de desvío.</a:t>
                      </a:r>
                      <a:endParaRPr lang="en-US" sz="1200" dirty="0">
                        <a:latin typeface="Arial" charset="0"/>
                        <a:ea typeface="Arial" charset="0"/>
                        <a:cs typeface="Arial" charset="0"/>
                      </a:endParaRPr>
                    </a:p>
                  </a:txBody>
                  <a:tcPr marL="54864" marR="54864" marT="54864" marB="54864"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FFFFF"/>
                    </a:solidFill>
                  </a:tcPr>
                </a:tc>
              </a:tr>
              <a:tr h="0">
                <a:tc>
                  <a:txBody>
                    <a:bodyPr/>
                    <a:lstStyle/>
                    <a:p>
                      <a:pPr indent="0" marL="0">
                        <a:buNone/>
                      </a:pPr>
                      <a:r>
                        <a:rPr lang="en-US" sz="1200" b="1" dirty="0">
                          <a:solidFill>
                            <a:srgbClr val="002855"/>
                          </a:solidFill>
                          <a:latin typeface="Arial" pitchFamily="34" charset="0"/>
                          <a:ea typeface="Arial" pitchFamily="34" charset="-122"/>
                          <a:cs typeface="Arial" pitchFamily="34" charset="-120"/>
                        </a:rPr>
                        <a:t>Presupuesto de cambio</a:t>
                      </a:r>
                      <a:endParaRPr lang="en-US" sz="1200" dirty="0">
                        <a:latin typeface="Arial" charset="0"/>
                        <a:ea typeface="Arial" charset="0"/>
                        <a:cs typeface="Arial" charset="0"/>
                      </a:endParaRPr>
                    </a:p>
                  </a:txBody>
                  <a:tcPr marL="54864" marR="54864" marT="54864" marB="54864"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4F6F8"/>
                    </a:solidFill>
                  </a:tcPr>
                </a:tc>
                <a:tc>
                  <a:txBody>
                    <a:bodyPr/>
                    <a:lstStyle/>
                    <a:p>
                      <a:pPr indent="0" marL="0">
                        <a:buNone/>
                      </a:pPr>
                      <a:r>
                        <a:rPr lang="en-US" sz="1200" dirty="0">
                          <a:solidFill>
                            <a:srgbClr val="272425"/>
                          </a:solidFill>
                          <a:latin typeface="Arial" pitchFamily="34" charset="0"/>
                          <a:ea typeface="Arial" pitchFamily="34" charset="-122"/>
                          <a:cs typeface="Arial" pitchFamily="34" charset="-120"/>
                        </a:rPr>
                        <a:t>Monto que la junta reserva para cambios aprobados; su consumo lo informa CAM-03.</a:t>
                      </a:r>
                      <a:endParaRPr lang="en-US" sz="1200" dirty="0">
                        <a:latin typeface="Arial" charset="0"/>
                        <a:ea typeface="Arial" charset="0"/>
                        <a:cs typeface="Arial" charset="0"/>
                      </a:endParaRPr>
                    </a:p>
                  </a:txBody>
                  <a:tcPr marL="54864" marR="54864" marT="54864" marB="54864"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4F6F8"/>
                    </a:solidFill>
                  </a:tcPr>
                </a:tc>
              </a:tr>
              <a:tr h="0">
                <a:tc>
                  <a:txBody>
                    <a:bodyPr/>
                    <a:lstStyle/>
                    <a:p>
                      <a:pPr indent="0" marL="0">
                        <a:buNone/>
                      </a:pPr>
                      <a:r>
                        <a:rPr lang="en-US" sz="1200" b="1" dirty="0">
                          <a:solidFill>
                            <a:srgbClr val="002855"/>
                          </a:solidFill>
                          <a:latin typeface="Arial" pitchFamily="34" charset="0"/>
                          <a:ea typeface="Arial" pitchFamily="34" charset="-122"/>
                          <a:cs typeface="Arial" pitchFamily="34" charset="-120"/>
                        </a:rPr>
                        <a:t>Puerta</a:t>
                      </a:r>
                      <a:endParaRPr lang="en-US" sz="1200" dirty="0">
                        <a:latin typeface="Arial" charset="0"/>
                        <a:ea typeface="Arial" charset="0"/>
                        <a:cs typeface="Arial" charset="0"/>
                      </a:endParaRPr>
                    </a:p>
                  </a:txBody>
                  <a:tcPr marL="54864" marR="54864" marT="54864" marB="54864"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FFFFF"/>
                    </a:solidFill>
                  </a:tcPr>
                </a:tc>
                <a:tc>
                  <a:txBody>
                    <a:bodyPr/>
                    <a:lstStyle/>
                    <a:p>
                      <a:pPr indent="0" marL="0">
                        <a:buNone/>
                      </a:pPr>
                      <a:r>
                        <a:rPr lang="en-US" sz="1200" dirty="0">
                          <a:solidFill>
                            <a:srgbClr val="272425"/>
                          </a:solidFill>
                          <a:latin typeface="Arial" pitchFamily="34" charset="0"/>
                          <a:ea typeface="Arial" pitchFamily="34" charset="-122"/>
                          <a:cs typeface="Arial" pitchFamily="34" charset="-120"/>
                        </a:rPr>
                        <a:t>Punto de decisión de la junta (autorizar-inicio, -proyecto, -etapa, -cierre) con verificación en tres capas.</a:t>
                      </a:r>
                      <a:endParaRPr lang="en-US" sz="1200" dirty="0">
                        <a:latin typeface="Arial" charset="0"/>
                        <a:ea typeface="Arial" charset="0"/>
                        <a:cs typeface="Arial" charset="0"/>
                      </a:endParaRPr>
                    </a:p>
                  </a:txBody>
                  <a:tcPr marL="54864" marR="54864" marT="54864" marB="54864"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FFFFF"/>
                    </a:solidFill>
                  </a:tcPr>
                </a:tc>
              </a:tr>
              <a:tr h="0">
                <a:tc>
                  <a:txBody>
                    <a:bodyPr/>
                    <a:lstStyle/>
                    <a:p>
                      <a:pPr indent="0" marL="0">
                        <a:buNone/>
                      </a:pPr>
                      <a:r>
                        <a:rPr lang="en-US" sz="1200" b="1" dirty="0">
                          <a:solidFill>
                            <a:srgbClr val="002855"/>
                          </a:solidFill>
                          <a:latin typeface="Arial" pitchFamily="34" charset="0"/>
                          <a:ea typeface="Arial" pitchFamily="34" charset="-122"/>
                          <a:cs typeface="Arial" pitchFamily="34" charset="-120"/>
                        </a:rPr>
                        <a:t>Registro de calidad (quality register)</a:t>
                      </a:r>
                      <a:endParaRPr lang="en-US" sz="1200" dirty="0">
                        <a:latin typeface="Arial" charset="0"/>
                        <a:ea typeface="Arial" charset="0"/>
                        <a:cs typeface="Arial" charset="0"/>
                      </a:endParaRPr>
                    </a:p>
                  </a:txBody>
                  <a:tcPr marL="54864" marR="54864" marT="54864" marB="54864"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4F6F8"/>
                    </a:solidFill>
                  </a:tcPr>
                </a:tc>
                <a:tc>
                  <a:txBody>
                    <a:bodyPr/>
                    <a:lstStyle/>
                    <a:p>
                      <a:pPr indent="0" marL="0">
                        <a:buNone/>
                      </a:pPr>
                      <a:r>
                        <a:rPr lang="en-US" sz="1200" dirty="0">
                          <a:solidFill>
                            <a:srgbClr val="272425"/>
                          </a:solidFill>
                          <a:latin typeface="Arial" pitchFamily="34" charset="0"/>
                          <a:ea typeface="Arial" pitchFamily="34" charset="-122"/>
                          <a:cs typeface="Arial" pitchFamily="34" charset="-120"/>
                        </a:rPr>
                        <a:t>calidad.csv: una revisión por producto con criterios, responsables, resultado y fechas.</a:t>
                      </a:r>
                      <a:endParaRPr lang="en-US" sz="1200" dirty="0">
                        <a:latin typeface="Arial" charset="0"/>
                        <a:ea typeface="Arial" charset="0"/>
                        <a:cs typeface="Arial" charset="0"/>
                      </a:endParaRPr>
                    </a:p>
                  </a:txBody>
                  <a:tcPr marL="54864" marR="54864" marT="54864" marB="54864"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4F6F8"/>
                    </a:solidFill>
                  </a:tcPr>
                </a:tc>
              </a:tr>
              <a:tr h="0">
                <a:tc>
                  <a:txBody>
                    <a:bodyPr/>
                    <a:lstStyle/>
                    <a:p>
                      <a:pPr indent="0" marL="0">
                        <a:buNone/>
                      </a:pPr>
                      <a:r>
                        <a:rPr lang="en-US" sz="1200" b="1" dirty="0">
                          <a:solidFill>
                            <a:srgbClr val="002855"/>
                          </a:solidFill>
                          <a:latin typeface="Arial" pitchFamily="34" charset="0"/>
                          <a:ea typeface="Arial" pitchFamily="34" charset="-122"/>
                          <a:cs typeface="Arial" pitchFamily="34" charset="-120"/>
                        </a:rPr>
                        <a:t>Salud del KR</a:t>
                      </a:r>
                      <a:endParaRPr lang="en-US" sz="1200" dirty="0">
                        <a:latin typeface="Arial" charset="0"/>
                        <a:ea typeface="Arial" charset="0"/>
                        <a:cs typeface="Arial" charset="0"/>
                      </a:endParaRPr>
                    </a:p>
                  </a:txBody>
                  <a:tcPr marL="54864" marR="54864" marT="54864" marB="54864"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FFFFF"/>
                    </a:solidFill>
                  </a:tcPr>
                </a:tc>
                <a:tc>
                  <a:txBody>
                    <a:bodyPr/>
                    <a:lstStyle/>
                    <a:p>
                      <a:pPr indent="0" marL="0">
                        <a:buNone/>
                      </a:pPr>
                      <a:r>
                        <a:rPr lang="en-US" sz="1200" dirty="0">
                          <a:solidFill>
                            <a:srgbClr val="272425"/>
                          </a:solidFill>
                          <a:latin typeface="Arial" pitchFamily="34" charset="0"/>
                          <a:ea typeface="Arial" pitchFamily="34" charset="-122"/>
                          <a:cs typeface="Arial" pitchFamily="34" charset="-120"/>
                        </a:rPr>
                        <a:t>Puntaje comparado con el avance esperado entre el primer check-in y la fecha meta: en camino, en riesgo o desviado.</a:t>
                      </a:r>
                      <a:endParaRPr lang="en-US" sz="1200" dirty="0">
                        <a:latin typeface="Arial" charset="0"/>
                        <a:ea typeface="Arial" charset="0"/>
                        <a:cs typeface="Arial" charset="0"/>
                      </a:endParaRPr>
                    </a:p>
                  </a:txBody>
                  <a:tcPr marL="54864" marR="54864" marT="54864" marB="54864"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FFFFF"/>
                    </a:solidFill>
                  </a:tcPr>
                </a:tc>
              </a:tr>
            </a:tbl>
          </a:graphicData>
        </a:graphic>
      </p:graphicFrame>
      <p:graphicFrame>
        <p:nvGraphicFramePr>
          <p:cNvPr id="83" name="Table 1"/>
          <p:cNvGraphicFramePr>
            <a:graphicFrameLocks noGrp="1"/>
          </p:cNvGraphicFramePr>
          <p:nvPr>
            <p:extLst>
              <p:ext uri="{D42A27DB-BD31-4B8C-83A1-F6EECF244321}">
                <p14:modId xmlns:p14="http://schemas.microsoft.com/office/powerpoint/2010/main" val="1579011935"/>
              </p:ext>
            </p:extLst>
          </p:nvPr>
        </p:nvGraphicFramePr>
        <p:xfrm>
          <a:off x="6245352" y="1280160"/>
          <a:ext cx="5486400" cy="914400"/>
        </p:xfrm>
        <a:graphic>
          <a:graphicData uri="http://schemas.openxmlformats.org/drawingml/2006/table">
            <a:tbl>
              <a:tblPr/>
              <a:tblGrid>
                <a:gridCol w="1965960"/>
                <a:gridCol w="3520440"/>
              </a:tblGrid>
              <a:tr h="0">
                <a:tc>
                  <a:txBody>
                    <a:bodyPr/>
                    <a:lstStyle/>
                    <a:p>
                      <a:pPr indent="0" marL="0">
                        <a:buNone/>
                      </a:pPr>
                      <a:r>
                        <a:rPr lang="en-US" sz="1200" b="1" dirty="0">
                          <a:solidFill>
                            <a:srgbClr val="FFFFFF"/>
                          </a:solidFill>
                          <a:latin typeface="Arial" pitchFamily="34" charset="0"/>
                          <a:ea typeface="Arial" pitchFamily="34" charset="-122"/>
                          <a:cs typeface="Arial" pitchFamily="34" charset="-120"/>
                        </a:rPr>
                        <a:t>Término</a:t>
                      </a:r>
                      <a:endParaRPr lang="en-US" sz="1200" dirty="0">
                        <a:latin typeface="Arial" charset="0"/>
                        <a:ea typeface="Arial" charset="0"/>
                        <a:cs typeface="Arial" charset="0"/>
                      </a:endParaRPr>
                    </a:p>
                  </a:txBody>
                  <a:tcPr marL="54864" marR="54864" marT="54864" marB="54864" anchor="ctr">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002855"/>
                    </a:solidFill>
                  </a:tcPr>
                </a:tc>
                <a:tc>
                  <a:txBody>
                    <a:bodyPr/>
                    <a:lstStyle/>
                    <a:p>
                      <a:pPr indent="0" marL="0">
                        <a:buNone/>
                      </a:pPr>
                      <a:r>
                        <a:rPr lang="en-US" sz="1200" b="1" dirty="0">
                          <a:solidFill>
                            <a:srgbClr val="FFFFFF"/>
                          </a:solidFill>
                          <a:latin typeface="Arial" pitchFamily="34" charset="0"/>
                          <a:ea typeface="Arial" pitchFamily="34" charset="-122"/>
                          <a:cs typeface="Arial" pitchFamily="34" charset="-120"/>
                        </a:rPr>
                        <a:t>Definición</a:t>
                      </a:r>
                      <a:endParaRPr lang="en-US" sz="1200" dirty="0">
                        <a:latin typeface="Arial" charset="0"/>
                        <a:ea typeface="Arial" charset="0"/>
                        <a:cs typeface="Arial" charset="0"/>
                      </a:endParaRPr>
                    </a:p>
                  </a:txBody>
                  <a:tcPr marL="54864" marR="54864" marT="54864" marB="54864" anchor="ctr">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002855"/>
                    </a:solidFill>
                  </a:tcPr>
                </a:tc>
              </a:tr>
              <a:tr h="0">
                <a:tc>
                  <a:txBody>
                    <a:bodyPr/>
                    <a:lstStyle/>
                    <a:p>
                      <a:pPr indent="0" marL="0">
                        <a:buNone/>
                      </a:pPr>
                      <a:r>
                        <a:rPr lang="en-US" sz="1200" b="1" dirty="0">
                          <a:solidFill>
                            <a:srgbClr val="002855"/>
                          </a:solidFill>
                          <a:latin typeface="Arial" pitchFamily="34" charset="0"/>
                          <a:ea typeface="Arial" pitchFamily="34" charset="-122"/>
                          <a:cs typeface="Arial" pitchFamily="34" charset="-120"/>
                        </a:rPr>
                        <a:t>Sanidad</a:t>
                      </a:r>
                      <a:endParaRPr lang="en-US" sz="1200" dirty="0">
                        <a:latin typeface="Arial" charset="0"/>
                        <a:ea typeface="Arial" charset="0"/>
                        <a:cs typeface="Arial" charset="0"/>
                      </a:endParaRPr>
                    </a:p>
                  </a:txBody>
                  <a:tcPr marL="54864" marR="54864" marT="54864" marB="54864"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4F6F8"/>
                    </a:solidFill>
                  </a:tcPr>
                </a:tc>
                <a:tc>
                  <a:txBody>
                    <a:bodyPr/>
                    <a:lstStyle/>
                    <a:p>
                      <a:pPr indent="0" marL="0">
                        <a:buNone/>
                      </a:pPr>
                      <a:r>
                        <a:rPr lang="en-US" sz="1200" dirty="0">
                          <a:solidFill>
                            <a:srgbClr val="272425"/>
                          </a:solidFill>
                          <a:latin typeface="Arial" pitchFamily="34" charset="0"/>
                          <a:ea typeface="Arial" pitchFamily="34" charset="-122"/>
                          <a:cs typeface="Arial" pitchFamily="34" charset="-120"/>
                        </a:rPr>
                        <a:t>Comprobación automática del proyecto (sanidad.py) con hallazgos ERROR, AVISO e INFO por código.</a:t>
                      </a:r>
                      <a:endParaRPr lang="en-US" sz="1200" dirty="0">
                        <a:latin typeface="Arial" charset="0"/>
                        <a:ea typeface="Arial" charset="0"/>
                        <a:cs typeface="Arial" charset="0"/>
                      </a:endParaRPr>
                    </a:p>
                  </a:txBody>
                  <a:tcPr marL="54864" marR="54864" marT="54864" marB="54864"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4F6F8"/>
                    </a:solidFill>
                  </a:tcPr>
                </a:tc>
              </a:tr>
              <a:tr h="0">
                <a:tc>
                  <a:txBody>
                    <a:bodyPr/>
                    <a:lstStyle/>
                    <a:p>
                      <a:pPr indent="0" marL="0">
                        <a:buNone/>
                      </a:pPr>
                      <a:r>
                        <a:rPr lang="en-US" sz="1200" b="1" dirty="0">
                          <a:solidFill>
                            <a:srgbClr val="002855"/>
                          </a:solidFill>
                          <a:latin typeface="Arial" pitchFamily="34" charset="0"/>
                          <a:ea typeface="Arial" pitchFamily="34" charset="-122"/>
                          <a:cs typeface="Arial" pitchFamily="34" charset="-120"/>
                        </a:rPr>
                        <a:t>Service blueprint</a:t>
                      </a:r>
                      <a:endParaRPr lang="en-US" sz="1200" dirty="0">
                        <a:latin typeface="Arial" charset="0"/>
                        <a:ea typeface="Arial" charset="0"/>
                        <a:cs typeface="Arial" charset="0"/>
                      </a:endParaRPr>
                    </a:p>
                  </a:txBody>
                  <a:tcPr marL="54864" marR="54864" marT="54864" marB="54864"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FFFFF"/>
                    </a:solidFill>
                  </a:tcPr>
                </a:tc>
                <a:tc>
                  <a:txBody>
                    <a:bodyPr/>
                    <a:lstStyle/>
                    <a:p>
                      <a:pPr indent="0" marL="0">
                        <a:buNone/>
                      </a:pPr>
                      <a:r>
                        <a:rPr lang="en-US" sz="1200" dirty="0">
                          <a:solidFill>
                            <a:srgbClr val="272425"/>
                          </a:solidFill>
                          <a:latin typeface="Arial" pitchFamily="34" charset="0"/>
                          <a:ea typeface="Arial" pitchFamily="34" charset="-122"/>
                          <a:cs typeface="Arial" pitchFamily="34" charset="-120"/>
                        </a:rPr>
                        <a:t>Carriles del recorrido: lo que la persona ve (frontstage), lo que no ve (backstage) y los procesos de soporte.</a:t>
                      </a:r>
                      <a:endParaRPr lang="en-US" sz="1200" dirty="0">
                        <a:latin typeface="Arial" charset="0"/>
                        <a:ea typeface="Arial" charset="0"/>
                        <a:cs typeface="Arial" charset="0"/>
                      </a:endParaRPr>
                    </a:p>
                  </a:txBody>
                  <a:tcPr marL="54864" marR="54864" marT="54864" marB="54864"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FFFFF"/>
                    </a:solidFill>
                  </a:tcPr>
                </a:tc>
              </a:tr>
              <a:tr h="0">
                <a:tc>
                  <a:txBody>
                    <a:bodyPr/>
                    <a:lstStyle/>
                    <a:p>
                      <a:pPr indent="0" marL="0">
                        <a:buNone/>
                      </a:pPr>
                      <a:r>
                        <a:rPr lang="en-US" sz="1200" b="1" dirty="0">
                          <a:solidFill>
                            <a:srgbClr val="002855"/>
                          </a:solidFill>
                          <a:latin typeface="Arial" pitchFamily="34" charset="0"/>
                          <a:ea typeface="Arial" pitchFamily="34" charset="-122"/>
                          <a:cs typeface="Arial" pitchFamily="34" charset="-120"/>
                        </a:rPr>
                        <a:t>Tolerancia de beneficios</a:t>
                      </a:r>
                      <a:endParaRPr lang="en-US" sz="1200" dirty="0">
                        <a:latin typeface="Arial" charset="0"/>
                        <a:ea typeface="Arial" charset="0"/>
                        <a:cs typeface="Arial" charset="0"/>
                      </a:endParaRPr>
                    </a:p>
                  </a:txBody>
                  <a:tcPr marL="54864" marR="54864" marT="54864" marB="54864"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4F6F8"/>
                    </a:solidFill>
                  </a:tcPr>
                </a:tc>
                <a:tc>
                  <a:txBody>
                    <a:bodyPr/>
                    <a:lstStyle/>
                    <a:p>
                      <a:pPr indent="0" marL="0">
                        <a:buNone/>
                      </a:pPr>
                      <a:r>
                        <a:rPr lang="en-US" sz="1200" dirty="0">
                          <a:solidFill>
                            <a:srgbClr val="272425"/>
                          </a:solidFill>
                          <a:latin typeface="Arial" pitchFamily="34" charset="0"/>
                          <a:ea typeface="Arial" pitchFamily="34" charset="-122"/>
                          <a:cs typeface="Arial" pitchFamily="34" charset="-120"/>
                        </a:rPr>
                        <a:t>Desvío admitido sobre la meta de un beneficio; en el caso, −10 % (avance menor que 0,90 = fuera).</a:t>
                      </a:r>
                      <a:endParaRPr lang="en-US" sz="1200" dirty="0">
                        <a:latin typeface="Arial" charset="0"/>
                        <a:ea typeface="Arial" charset="0"/>
                        <a:cs typeface="Arial" charset="0"/>
                      </a:endParaRPr>
                    </a:p>
                  </a:txBody>
                  <a:tcPr marL="54864" marR="54864" marT="54864" marB="54864"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4F6F8"/>
                    </a:solidFill>
                  </a:tcPr>
                </a:tc>
              </a:tr>
              <a:tr h="0">
                <a:tc>
                  <a:txBody>
                    <a:bodyPr/>
                    <a:lstStyle/>
                    <a:p>
                      <a:pPr indent="0" marL="0">
                        <a:buNone/>
                      </a:pPr>
                      <a:r>
                        <a:rPr lang="en-US" sz="1200" b="1" dirty="0">
                          <a:solidFill>
                            <a:srgbClr val="002855"/>
                          </a:solidFill>
                          <a:latin typeface="Arial" pitchFamily="34" charset="0"/>
                          <a:ea typeface="Arial" pitchFamily="34" charset="-122"/>
                          <a:cs typeface="Arial" pitchFamily="34" charset="-120"/>
                        </a:rPr>
                        <a:t>Traspaso (handoff)</a:t>
                      </a:r>
                      <a:endParaRPr lang="en-US" sz="1200" dirty="0">
                        <a:latin typeface="Arial" charset="0"/>
                        <a:ea typeface="Arial" charset="0"/>
                        <a:cs typeface="Arial" charset="0"/>
                      </a:endParaRPr>
                    </a:p>
                  </a:txBody>
                  <a:tcPr marL="54864" marR="54864" marT="54864" marB="54864"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FFFFF"/>
                    </a:solidFill>
                  </a:tcPr>
                </a:tc>
                <a:tc>
                  <a:txBody>
                    <a:bodyPr/>
                    <a:lstStyle/>
                    <a:p>
                      <a:pPr indent="0" marL="0">
                        <a:buNone/>
                      </a:pPr>
                      <a:r>
                        <a:rPr lang="en-US" sz="1200" dirty="0">
                          <a:solidFill>
                            <a:srgbClr val="272425"/>
                          </a:solidFill>
                          <a:latin typeface="Arial" pitchFamily="34" charset="0"/>
                          <a:ea typeface="Arial" pitchFamily="34" charset="-122"/>
                          <a:cs typeface="Arial" pitchFamily="34" charset="-120"/>
                        </a:rPr>
                        <a:t>Documento que emite pm-method con una decisión (por ejemplo, un cambio aprobado) para que el equipo BMAD la aplique.</a:t>
                      </a:r>
                      <a:endParaRPr lang="en-US" sz="1200" dirty="0">
                        <a:latin typeface="Arial" charset="0"/>
                        <a:ea typeface="Arial" charset="0"/>
                        <a:cs typeface="Arial" charset="0"/>
                      </a:endParaRPr>
                    </a:p>
                  </a:txBody>
                  <a:tcPr marL="54864" marR="54864" marT="54864" marB="54864"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FFFFF"/>
                    </a:solidFill>
                  </a:tcPr>
                </a:tc>
              </a:tr>
              <a:tr h="0">
                <a:tc>
                  <a:txBody>
                    <a:bodyPr/>
                    <a:lstStyle/>
                    <a:p>
                      <a:pPr indent="0" marL="0">
                        <a:buNone/>
                      </a:pPr>
                      <a:r>
                        <a:rPr lang="en-US" sz="1200" b="1" dirty="0">
                          <a:solidFill>
                            <a:srgbClr val="002855"/>
                          </a:solidFill>
                          <a:latin typeface="Arial" pitchFamily="34" charset="0"/>
                          <a:ea typeface="Arial" pitchFamily="34" charset="-122"/>
                          <a:cs typeface="Arial" pitchFamily="34" charset="-120"/>
                        </a:rPr>
                        <a:t>Traspaso a operación (handover)</a:t>
                      </a:r>
                      <a:endParaRPr lang="en-US" sz="1200" dirty="0">
                        <a:latin typeface="Arial" charset="0"/>
                        <a:ea typeface="Arial" charset="0"/>
                        <a:cs typeface="Arial" charset="0"/>
                      </a:endParaRPr>
                    </a:p>
                  </a:txBody>
                  <a:tcPr marL="54864" marR="54864" marT="54864" marB="54864"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4F6F8"/>
                    </a:solidFill>
                  </a:tcPr>
                </a:tc>
                <a:tc>
                  <a:txBody>
                    <a:bodyPr/>
                    <a:lstStyle/>
                    <a:p>
                      <a:pPr indent="0" marL="0">
                        <a:buNone/>
                      </a:pPr>
                      <a:r>
                        <a:rPr lang="en-US" sz="1200" dirty="0">
                          <a:solidFill>
                            <a:srgbClr val="272425"/>
                          </a:solidFill>
                          <a:latin typeface="Arial" pitchFamily="34" charset="0"/>
                          <a:ea typeface="Arial" pitchFamily="34" charset="-122"/>
                          <a:cs typeface="Arial" pitchFamily="34" charset="-120"/>
                        </a:rPr>
                        <a:t>Entrega formal del producto a quien lo opera, con evidencia de calidad y pendientes.</a:t>
                      </a:r>
                      <a:endParaRPr lang="en-US" sz="1200" dirty="0">
                        <a:latin typeface="Arial" charset="0"/>
                        <a:ea typeface="Arial" charset="0"/>
                        <a:cs typeface="Arial" charset="0"/>
                      </a:endParaRPr>
                    </a:p>
                  </a:txBody>
                  <a:tcPr marL="54864" marR="54864" marT="54864" marB="54864"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4F6F8"/>
                    </a:solidFill>
                  </a:tcPr>
                </a:tc>
              </a:tr>
              <a:tr h="0">
                <a:tc>
                  <a:txBody>
                    <a:bodyPr/>
                    <a:lstStyle/>
                    <a:p>
                      <a:pPr indent="0" marL="0">
                        <a:buNone/>
                      </a:pPr>
                      <a:r>
                        <a:rPr lang="en-US" sz="1200" b="1" dirty="0">
                          <a:solidFill>
                            <a:srgbClr val="002855"/>
                          </a:solidFill>
                          <a:latin typeface="Arial" pitchFamily="34" charset="0"/>
                          <a:ea typeface="Arial" pitchFamily="34" charset="-122"/>
                          <a:cs typeface="Arial" pitchFamily="34" charset="-120"/>
                        </a:rPr>
                        <a:t>Valor ganado (EVM)</a:t>
                      </a:r>
                      <a:endParaRPr lang="en-US" sz="1200" dirty="0">
                        <a:latin typeface="Arial" charset="0"/>
                        <a:ea typeface="Arial" charset="0"/>
                        <a:cs typeface="Arial" charset="0"/>
                      </a:endParaRPr>
                    </a:p>
                  </a:txBody>
                  <a:tcPr marL="54864" marR="54864" marT="54864" marB="54864"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FFFFF"/>
                    </a:solidFill>
                  </a:tcPr>
                </a:tc>
                <a:tc>
                  <a:txBody>
                    <a:bodyPr/>
                    <a:lstStyle/>
                    <a:p>
                      <a:pPr indent="0" marL="0">
                        <a:buNone/>
                      </a:pPr>
                      <a:r>
                        <a:rPr lang="en-US" sz="1200" dirty="0">
                          <a:solidFill>
                            <a:srgbClr val="272425"/>
                          </a:solidFill>
                          <a:latin typeface="Arial" pitchFamily="34" charset="0"/>
                          <a:ea typeface="Arial" pitchFamily="34" charset="-122"/>
                          <a:cs typeface="Arial" pitchFamily="34" charset="-120"/>
                        </a:rPr>
                        <a:t>Técnica que compara lo planificado (PV), lo ganado (EV) y lo gastado (AC); da SPI, CPI y EAC.</a:t>
                      </a:r>
                      <a:endParaRPr lang="en-US" sz="1200" dirty="0">
                        <a:latin typeface="Arial" charset="0"/>
                        <a:ea typeface="Arial" charset="0"/>
                        <a:cs typeface="Arial" charset="0"/>
                      </a:endParaRPr>
                    </a:p>
                  </a:txBody>
                  <a:tcPr marL="54864" marR="54864" marT="54864" marB="54864"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091672" y="6419088"/>
            <a:ext cx="64008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rgbClr val="696969"/>
                </a:solidFill>
              </a:defRPr>
            </a:lvl1pPr>
          </a:lstStyle>
          <a:p>
            <a:pPr algn="r"/>
            <a:fld id="{F7021451-1387-4CA6-816F-3879F97B5CBC}" type="slidenum">
              <a:rPr b="0" lang="en-US"/>
              <a:t>41</a:t>
            </a:fld>
            <a:endParaRPr lang="en-US"/>
          </a:p>
        </p:txBody>
      </p:sp>
    </p:spTree>
  </p:cSld>
  <p:clrMapOvr>
    <a:masterClrMapping/>
  </p:clrMapOvr>
</p:sld>
</file>

<file path=ppt/theme/theme1.xml><?xml version="1.0" encoding="utf-8"?>
<a:theme xmlns:a="http://schemas.openxmlformats.org/drawingml/2006/main" name="Webinar pm-method">
  <a:themeElements>
    <a:clrScheme name="Webinar pm-method">
      <a:dk1>
        <a:srgbClr val="272425"/>
      </a:dk1>
      <a:lt1>
        <a:srgbClr val="FFFFFF"/>
      </a:lt1>
      <a:dk2>
        <a:srgbClr val="002855"/>
      </a:dk2>
      <a:lt2>
        <a:srgbClr val="F4F6F8"/>
      </a:lt2>
      <a:accent1>
        <a:srgbClr val="00629B"/>
      </a:accent1>
      <a:accent2>
        <a:srgbClr val="B5651D"/>
      </a:accent2>
      <a:accent3>
        <a:srgbClr val="002855"/>
      </a:accent3>
      <a:accent4>
        <a:srgbClr val="696969"/>
      </a:accent4>
      <a:accent5>
        <a:srgbClr val="272425"/>
      </a:accent5>
      <a:accent6>
        <a:srgbClr val="00629B"/>
      </a:accent6>
      <a:hlink>
        <a:srgbClr val="00629B"/>
      </a:hlink>
      <a:folHlink>
        <a:srgbClr val="002855"/>
      </a:folHlink>
    </a:clrScheme>
    <a:fontScheme name="Webinar pm-method">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41</Slides>
  <Notes>41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41</vt:i4>
      </vt:variant>
    </vt:vector>
  </HeadingPairs>
  <TitlesOfParts>
    <vt:vector size="4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Webinar E2E-4 · Producto con BMAD gobernado con PRINCE2</dc:title>
  <dc:subject>pm-method 2.3.0</dc:subject>
  <dc:creator>pm-method</dc:creator>
  <cp:lastModifiedBy>pm-method</cp:lastModifiedBy>
  <cp:revision>1</cp:revision>
  <dcterms:created xsi:type="dcterms:W3CDTF">2026-10-20T19:31:32Z</dcterms:created>
  <dcterms:modified xsi:type="dcterms:W3CDTF">2026-10-20T19:31:32Z</dcterms:modified>
</cp:coreProperties>
</file>