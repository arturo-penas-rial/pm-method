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Ficha del taller" id="{b85c0564-4537-b217-e214-03e78baec9c6}">
          <p14:sldIdLst>
            <p14:sldId id="256"/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Abrí con una pregunta: en tu último proyecto, ¿quién comprobó que cada historia terminada tenía su revisión y quién midió los beneficios después del cierre? El taller muestra cómo gobernar con PRINCE2 lo que un equipo especifica y construye con BMAD. La imagen es real, de la corrida del caso: la puerta de cierre en una página. Cerrá con los objetivos y con para quién 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Explicá la división del trabajo: BMAD especifica y construye; pm-method lee en solo lectura, señala lo que falta y arma la evidencia; las condiciones, los cambios y el cierre los decide alguien con rol. La primera clase gobierna la construcción; la segunda llega al cierre y a los beneficios. Recomendá hacer antes E2E-5 y aclará que no hace falta conocer BMAD.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CHA_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103120"/>
          </a:xfrm>
          <a:prstGeom prst="rect">
            <a:avLst/>
          </a:prstGeom>
          <a:solidFill>
            <a:srgbClr val="002855"/>
          </a:solidFill>
          <a:ln w="12700">
            <a:solidFill>
              <a:srgbClr val="00285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68712" y="329184"/>
            <a:ext cx="1463040" cy="713232"/>
          </a:xfrm>
          <a:prstGeom prst="rect">
            <a:avLst/>
          </a:prstGeom>
          <a:solidFill>
            <a:srgbClr val="002855">
              <a:alpha val="0"/>
            </a:srgbClr>
          </a:solidFill>
          <a:ln w="12700">
            <a:solidFill>
              <a:srgbClr val="7F9BB8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10268712" y="329184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F9BB8"/>
                </a:solidFill>
              </a:rPr>
              <a:t>Logo IEEE</a:t>
            </a:r>
            <a:endParaRPr lang="en-US" sz="10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457200" y="658368"/>
            <a:ext cx="9445752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2.4.0 · Webinar E2E-4 · Ficha del taller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ICHA_DETAL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A9A9A9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10268712" y="36576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9A9A9"/>
                </a:solidFill>
              </a:rPr>
              <a:t>Logo IEEE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365760"/>
            <a:ext cx="9628632" cy="713232"/>
          </a:xfrm>
          <a:prstGeom prst="rect">
            <a:avLst>
              <a:gd name="adj" fmla="val 12821"/>
            </a:avLst>
          </a:prstGeom>
          <a:solidFill>
            <a:srgbClr val="00629B"/>
          </a:solidFill>
          <a:ln/>
        </p:spPr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45720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96969"/>
                </a:solidFill>
              </a:rPr>
              <a:t>pm-method 2.4.0 · Webinar E2E-4 · Ficha del taller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10896"/>
            <a:ext cx="9445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Taller · 2 clases de 90 minutos · Webinar pm-method 2.4.0 · E2E-4</a:t>
            </a:r>
            <a:endParaRPr lang="en-US" sz="1400" dirty="0"/>
          </a:p>
        </p:txBody>
      </p:sp>
      <p:sp>
        <p:nvSpPr>
          <p:cNvPr id="3" name="Text 3"/>
          <p:cNvSpPr/>
          <p:nvPr>
            <p:ph idx="103" type="title" hasCustomPrompt="1"/>
          </p:nvPr>
        </p:nvSpPr>
        <p:spPr>
          <a:xfrm>
            <a:off x="457200" y="658368"/>
            <a:ext cx="944575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«done» al beneficio medido: gobernar un producto hecho con BMAD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572768"/>
            <a:ext cx="112745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D6E4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Condiciones que no se olvidan, cambios con presupuesto, calidad en cada entrega, lecciones que cambian algo y un cierre que se puede auditar.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304288"/>
            <a:ext cx="6355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vas a poder hacer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2688336"/>
            <a:ext cx="6355080" cy="373075"/>
          </a:xfrm>
          <a:prstGeom prst="roundRect">
            <a:avLst>
              <a:gd name="adj" fmla="val 14706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688336"/>
            <a:ext cx="384048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05840" y="2715768"/>
            <a:ext cx="5696712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Explicar la división del trabajo: BMAD especifica y construye; pm-method gobierna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134563"/>
            <a:ext cx="6355080" cy="373075"/>
          </a:xfrm>
          <a:prstGeom prst="roundRect">
            <a:avLst>
              <a:gd name="adj" fmla="val 14706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134563"/>
            <a:ext cx="384048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3161995"/>
            <a:ext cx="5696712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Convertir una aprobación «con condiciones» en una condición formal con seguimiento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580790"/>
            <a:ext cx="6355080" cy="373075"/>
          </a:xfrm>
          <a:prstGeom prst="roundRect">
            <a:avLst>
              <a:gd name="adj" fmla="val 14706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580790"/>
            <a:ext cx="384048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608222"/>
            <a:ext cx="5696712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la calidad por entrega y tratar un rechazo con traza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457200" y="4027018"/>
            <a:ext cx="6355080" cy="373075"/>
          </a:xfrm>
          <a:prstGeom prst="roundRect">
            <a:avLst>
              <a:gd name="adj" fmla="val 14706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4027018"/>
            <a:ext cx="384048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4054450"/>
            <a:ext cx="5696712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Llevar una lección de la retrospectiva hasta el cambio verificado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57200" y="4473245"/>
            <a:ext cx="6355080" cy="373075"/>
          </a:xfrm>
          <a:prstGeom prst="roundRect">
            <a:avLst>
              <a:gd name="adj" fmla="val 14706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473245"/>
            <a:ext cx="384048" cy="373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4500677"/>
            <a:ext cx="5696712" cy="3182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Entregar un expediente de auditoría verificable y leer los beneficios después del cierre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992624"/>
            <a:ext cx="6355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quién es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5358384"/>
            <a:ext cx="635508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Gestores de proyecto y PMO de equipos ágiles o que usan BMAD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owners y jefes de equipo que entregan por sprints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Juntas, auditores internos y dueños de los beneficios</a:t>
            </a:r>
            <a:endParaRPr lang="en-US" sz="1600" dirty="0"/>
          </a:p>
        </p:txBody>
      </p:sp>
      <p:pic>
        <p:nvPicPr>
          <p:cNvPr id="23" name="Image 0" descr="Del caso: el proyecto cierra con 11 de 11 productos aceptados y 0 condiciones abierta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2304288"/>
            <a:ext cx="4599432" cy="2587181"/>
          </a:xfrm>
          <a:prstGeom prst="rect">
            <a:avLst/>
          </a:prstGeom>
        </p:spPr>
      </p:pic>
      <p:sp>
        <p:nvSpPr>
          <p:cNvPr id="24" name="Shape 21"/>
          <p:cNvSpPr/>
          <p:nvPr/>
        </p:nvSpPr>
        <p:spPr>
          <a:xfrm>
            <a:off x="7132320" y="2304288"/>
            <a:ext cx="4599432" cy="2587181"/>
          </a:xfrm>
          <a:prstGeom prst="rect">
            <a:avLst/>
          </a:prstGeom>
          <a:solidFill>
            <a:srgbClr val="FFFFFF">
              <a:alpha val="0"/>
            </a:srgbClr>
          </a:solidFill>
          <a:ln w="9525">
            <a:solidFill>
              <a:srgbClr val="E2E2E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132320" y="4946333"/>
            <a:ext cx="4599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969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caso: el proyecto cierra con 11 de 11 productos aceptados y 0 condiciones abiertas.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7132320" y="5458396"/>
            <a:ext cx="4599432" cy="805244"/>
          </a:xfrm>
          <a:prstGeom prst="roundRect">
            <a:avLst>
              <a:gd name="adj" fmla="val 9084"/>
            </a:avLst>
          </a:prstGeom>
          <a:solidFill>
            <a:srgbClr val="002855"/>
          </a:solidFill>
          <a:ln w="12700">
            <a:solidFill>
              <a:srgbClr val="002855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315200" y="5549836"/>
            <a:ext cx="4233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h en total · 2 clases de 90 minutos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7315200" y="5860733"/>
            <a:ext cx="4233672" cy="329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Fecha, horario, lugar o enlace e inscripción: a completar por quien organiza.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58368" y="365760"/>
            <a:ext cx="92445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es el taller y qué te llevás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07008"/>
            <a:ext cx="55001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28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trabajás con el agente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5500116" cy="1043559"/>
          </a:xfrm>
          <a:prstGeom prst="roundRect">
            <a:avLst>
              <a:gd name="adj" fmla="val 7010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57784" y="1700784"/>
            <a:ext cx="5298948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hace el agente (Claude Code con pm-method)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557784" y="1874139"/>
            <a:ext cx="5298948" cy="714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 la especificación de BMAD en solo lectura y devuelve decisiones por traspaso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Señala cada historia terminada sin revisión y cada rechazo sin tratar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Propone lecciones con cita y arma el expediente con la huella de cada archivo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707767"/>
            <a:ext cx="5500116" cy="1043559"/>
          </a:xfrm>
          <a:prstGeom prst="roundRect">
            <a:avLst>
              <a:gd name="adj" fmla="val 7010"/>
            </a:avLst>
          </a:prstGeom>
          <a:solidFill>
            <a:srgbClr val="FBF1E6"/>
          </a:solidFill>
          <a:ln w="12700">
            <a:solidFill>
              <a:srgbClr val="FBF1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57784" y="2808351"/>
            <a:ext cx="5298948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decidís vos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57784" y="2981706"/>
            <a:ext cx="5298948" cy="714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junta fija condiciones, aprueba cambios y autoriza el cierre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gestor confirma qué lecciones se registran y quién las acciona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negocio mide los beneficios después del cierre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457200" y="3815334"/>
            <a:ext cx="5500116" cy="576072"/>
          </a:xfrm>
          <a:prstGeom prst="roundRect">
            <a:avLst>
              <a:gd name="adj" fmla="val 12698"/>
            </a:avLst>
          </a:prstGeom>
          <a:solidFill>
            <a:srgbClr val="002855"/>
          </a:solidFill>
          <a:ln w="12700">
            <a:solidFill>
              <a:srgbClr val="00285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57784" y="3915918"/>
            <a:ext cx="529894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9FD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 humano: 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agente nunca escribe en los artefactos de BMAD ni da una condición por cumplida: lo hace alguien con rol, y queda registrado.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4455414"/>
            <a:ext cx="5500116" cy="1418463"/>
          </a:xfrm>
          <a:prstGeom prst="roundRect">
            <a:avLst>
              <a:gd name="adj" fmla="val 5157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57784" y="4555998"/>
            <a:ext cx="5298948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inscribirte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557784" y="4729353"/>
            <a:ext cx="5298948" cy="714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Nociones de etapas, puertas y business case, o experiencia liderando iniciativas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hace falta programar ni conocer BMAD; recomendado: haber hecho el taller E2E-5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B565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que instalar para las clases; para practicar, Claude Code con pm-method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5398389"/>
            <a:ext cx="5298948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Modalidad: </a:t>
            </a:r>
            <a:pPr indent="0" marL="0"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clases en vivo de 90 minutos: demostración sobre un caso real y ejercicio de 10 minutos al cierre de cada una.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231636" y="1207008"/>
            <a:ext cx="55001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28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Contenidos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231636" y="1600200"/>
            <a:ext cx="5500116" cy="1254379"/>
          </a:xfrm>
          <a:prstGeom prst="roundRect">
            <a:avLst>
              <a:gd name="adj" fmla="val 5832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332220" y="1700784"/>
            <a:ext cx="5298948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1 · 90 min · Gobernar la construcción con BMAD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332220" y="1874139"/>
            <a:ext cx="5298948" cy="925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Condición formal desde el gate de preparación de BMAD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 como paquete de trabajo y valor ganado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Cambio de rumbo con presupuesto y nueva línea base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Calidad a volumen por entrega y estado de productos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231636" y="2918587"/>
            <a:ext cx="5500116" cy="1254379"/>
          </a:xfrm>
          <a:prstGeom prst="roundRect">
            <a:avLst>
              <a:gd name="adj" fmla="val 5832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332220" y="3019171"/>
            <a:ext cx="5298948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Clase 2 · 90 min · Recorrido, lecciones, cierre y beneficios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6332220" y="3192526"/>
            <a:ext cx="5298948" cy="925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Recorrido de la socia y dolores tratados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Retrospectiva: lecciones con cita y acciones verificadas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Cierre verificado por id y expediente de auditoría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Beneficios contra trayectoria y tolerancia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231636" y="4282694"/>
            <a:ext cx="55001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28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te llevás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231636" y="4675886"/>
            <a:ext cx="5500116" cy="1624330"/>
          </a:xfrm>
          <a:prstGeom prst="roundRect">
            <a:avLst>
              <a:gd name="adj" fmla="val 4504"/>
            </a:avLst>
          </a:prstGeom>
          <a:solidFill>
            <a:srgbClr val="E9F1F8"/>
          </a:solidFill>
          <a:ln w="12700">
            <a:solidFill>
              <a:srgbClr val="E9F1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332220" y="4776470"/>
            <a:ext cx="5298948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vos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6332220" y="4949825"/>
            <a:ext cx="5298948" cy="50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forma de gobernar equipos ágiles sin frenar la construcción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recorrido de punta a punta: de la puerta al beneficio medido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332220" y="5408041"/>
            <a:ext cx="5298948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28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tu organización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332220" y="5581396"/>
            <a:ext cx="5298948" cy="6639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Calidad visible en cada entrega: en el caso, cierre con 11 de 11 productos aceptados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0062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▪  </a:t>
            </a:r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724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Evidencia verificable: una palabra cambiada en una copia del expediente se detecta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69696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ebinar pm-method">
  <a:themeElements>
    <a:clrScheme name="Webinar pm-method">
      <a:dk1>
        <a:srgbClr val="272425"/>
      </a:dk1>
      <a:lt1>
        <a:srgbClr val="FFFFFF"/>
      </a:lt1>
      <a:dk2>
        <a:srgbClr val="002855"/>
      </a:dk2>
      <a:lt2>
        <a:srgbClr val="F4F6F8"/>
      </a:lt2>
      <a:accent1>
        <a:srgbClr val="00629B"/>
      </a:accent1>
      <a:accent2>
        <a:srgbClr val="B5651D"/>
      </a:accent2>
      <a:accent3>
        <a:srgbClr val="002855"/>
      </a:accent3>
      <a:accent4>
        <a:srgbClr val="696969"/>
      </a:accent4>
      <a:accent5>
        <a:srgbClr val="272425"/>
      </a:accent5>
      <a:accent6>
        <a:srgbClr val="00629B"/>
      </a:accent6>
      <a:hlink>
        <a:srgbClr val="00629B"/>
      </a:hlink>
      <a:folHlink>
        <a:srgbClr val="002855"/>
      </a:folHlink>
    </a:clrScheme>
    <a:fontScheme name="Webinar pm-method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Ficha del taller E2E-4 · Del «done» al beneficio medido: gobernar un producto hecho con BMAD</dc:title>
  <dc:subject>pm-method 2.4.0</dc:subject>
  <dc:creator>pm-method</dc:creator>
  <cp:lastModifiedBy>pm-method</cp:lastModifiedBy>
  <cp:revision>1</cp:revision>
  <dcterms:created xsi:type="dcterms:W3CDTF">2026-10-22T12:25:53Z</dcterms:created>
  <dcterms:modified xsi:type="dcterms:W3CDTF">2026-10-22T12:25:53Z</dcterms:modified>
</cp:coreProperties>
</file>