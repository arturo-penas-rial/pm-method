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cha del taller" id="{70e63cac-3ab2-85dd-0b28-1d9808bc529e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Abrí con una pregunta: ¿quién aprobó el último cambio de tu proyecto y contra qué lo midió? El taller muestra cómo medir el impacto antes de decidir. La imagen es real, de la corrida del caso: un cambio «obligatorio» aprobado de palabra usaría el 200 % del presupuesto de cambio y el 150 % del límite de quien lo aprobó; por eso lo decide la junta. Cerrá con los objetivos y con para quién 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Explicá la división del trabajo: el agente calcula el impacto y dice quién decide; las personas deciden. La primera clase construye la línea base contra la que se mide todo cambio; la segunda recorre tres cambios de distinto tamaño, hasta la excepción. Subrayá que no hace falta programar ni instalar nada para las clases y que las cifras citadas salen del propio caso.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CHA_PORTA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103120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68712" y="329184"/>
            <a:ext cx="1463040" cy="713232"/>
          </a:xfrm>
          <a:prstGeom prst="rect">
            <a:avLst/>
          </a:prstGeom>
          <a:solidFill>
            <a:srgbClr val="002855">
              <a:alpha val="0"/>
            </a:srgbClr>
          </a:solidFill>
          <a:ln w="12700">
            <a:solidFill>
              <a:srgbClr val="7F9BB8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0268712" y="329184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9BB8"/>
                </a:solidFill>
              </a:rPr>
              <a:t>Logo IEEE</a:t>
            </a:r>
            <a:endParaRPr lang="en-US" sz="10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58368"/>
            <a:ext cx="9445752" cy="8412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96969"/>
                </a:solidFill>
              </a:rPr>
              <a:t>pm-method 2.4.0 · Webinar E2E-2 · Ficha del taller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CHA_DETAL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A9A9A9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A9A9"/>
                </a:solidFill>
              </a:rPr>
              <a:t>Logo IEEE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365760"/>
            <a:ext cx="9628632" cy="713232"/>
          </a:xfrm>
          <a:prstGeom prst="rect">
            <a:avLst>
              <a:gd name="adj" fmla="val 12821"/>
            </a:avLst>
          </a:prstGeom>
          <a:solidFill>
            <a:srgbClr val="00629B"/>
          </a:solidFill>
          <a:ln/>
        </p:spPr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96969"/>
                </a:solidFill>
              </a:rPr>
              <a:t>pm-method 2.4.0 · Webinar E2E-2 · Ficha del taller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9445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· 2 clases de 90 minutos · Webinar pm-method 2.4.0 · E2E-2</a:t>
            </a:r>
            <a:endParaRPr lang="en-US" sz="14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457200" y="658368"/>
            <a:ext cx="94457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cambio, con su impacto medido antes de decidir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11274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Fijá una línea base contra la que medir, sabé quién decide cada cambio y detectá el mismo día el que excede la autoridad delegada.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04288"/>
            <a:ext cx="6355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vas a poder hacer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688336"/>
            <a:ext cx="6355080" cy="373075"/>
          </a:xfrm>
          <a:prstGeom prst="roundRect">
            <a:avLst>
              <a:gd name="adj" fmla="val 14706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88336"/>
            <a:ext cx="384048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715768"/>
            <a:ext cx="5696712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 un alcance por productos, su trazabilidad y a qué persona de usuario sirve cada Must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134563"/>
            <a:ext cx="6355080" cy="373075"/>
          </a:xfrm>
          <a:prstGeom prst="roundRect">
            <a:avLst>
              <a:gd name="adj" fmla="val 14706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34563"/>
            <a:ext cx="384048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161995"/>
            <a:ext cx="5696712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 un camino crítico y una reserva de cronograma calculados con tres valores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580790"/>
            <a:ext cx="6355080" cy="373075"/>
          </a:xfrm>
          <a:prstGeom prst="roundRect">
            <a:avLst>
              <a:gd name="adj" fmla="val 14706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580790"/>
            <a:ext cx="384048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608222"/>
            <a:ext cx="5696712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Distinguir los tres caminos de un cambio y decir quién decide cada uno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027018"/>
            <a:ext cx="6355080" cy="373075"/>
          </a:xfrm>
          <a:prstGeom prst="roundRect">
            <a:avLst>
              <a:gd name="adj" fmla="val 14706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027018"/>
            <a:ext cx="384048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4054450"/>
            <a:ext cx="5696712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 el análisis de impacto de un cambio antes de decidirlo, con el VAN del business case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4473245"/>
            <a:ext cx="6355080" cy="373075"/>
          </a:xfrm>
          <a:prstGeom prst="roundRect">
            <a:avLst>
              <a:gd name="adj" fmla="val 14706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473245"/>
            <a:ext cx="384048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500677"/>
            <a:ext cx="5696712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Reconocer una excepción y recorrer su ruta hasta la puerta de la junta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992624"/>
            <a:ext cx="6355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quién 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5358384"/>
            <a:ext cx="635508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Gestores de proyecto y product owners que reciben pedidos de cambio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Autoridades de cambio y juntas que aprueban alcance, plazo y presupuesto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Líderes de negocio que necesitan saber qué le hace un cambio al business case</a:t>
            </a:r>
            <a:endParaRPr lang="en-US" sz="1600" dirty="0"/>
          </a:p>
        </p:txBody>
      </p:sp>
      <p:pic>
        <p:nvPicPr>
          <p:cNvPr id="23" name="Image 0" descr="Del caso: C-002 supera los cinco límites del análisis de impacto; lo decide la junt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2304288"/>
            <a:ext cx="4599432" cy="2587181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7132320" y="2304288"/>
            <a:ext cx="4599432" cy="2587181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132320" y="4946333"/>
            <a:ext cx="4599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969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caso: C-002 supera los cinco límites del análisis de impacto; lo decide la junta.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132320" y="5458396"/>
            <a:ext cx="4599432" cy="805244"/>
          </a:xfrm>
          <a:prstGeom prst="roundRect">
            <a:avLst>
              <a:gd name="adj" fmla="val 9084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15200" y="5549836"/>
            <a:ext cx="4233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 en total · 2 clases de 90 minutos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7315200" y="5860733"/>
            <a:ext cx="4233672" cy="32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Fecha, horario, lugar o enlace e inscripción: a completar por quien organiza.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es el taller y qué te llevás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07008"/>
            <a:ext cx="5500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2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trabajás con el agente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500116" cy="1043559"/>
          </a:xfrm>
          <a:prstGeom prst="roundRect">
            <a:avLst>
              <a:gd name="adj" fmla="val 7010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57784" y="1700784"/>
            <a:ext cx="5298948" cy="17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2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hace el agente (Claude Code con pm-method)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57784" y="1874139"/>
            <a:ext cx="5298948" cy="714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Recalcula la trazabilidad requisito → historia → paquete en cada sincronización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 camino crítico, reserva, capacidad del release e impacto de cada cambio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Rechaza registrar una aprobación de quien no tiene autoridad para darla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707767"/>
            <a:ext cx="5500116" cy="1043559"/>
          </a:xfrm>
          <a:prstGeom prst="roundRect">
            <a:avLst>
              <a:gd name="adj" fmla="val 7010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57784" y="2808351"/>
            <a:ext cx="5298948" cy="17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decidís vos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57784" y="2981706"/>
            <a:ext cx="5298948" cy="714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product owner decide los intercambios dentro del release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autoridad de cambio decide dentro de su límite; lo que lo excede va a la junta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junta aprueba el plan de excepción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815334"/>
            <a:ext cx="5500116" cy="576072"/>
          </a:xfrm>
          <a:prstGeom prst="roundRect">
            <a:avLst>
              <a:gd name="adj" fmla="val 12698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7784" y="3915918"/>
            <a:ext cx="52989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humano: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agente mide e informa quién tiene que decidir; no aprueba cambios. Cada decisión queda registrada con su autor y su motivo.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4455414"/>
            <a:ext cx="5500116" cy="1418463"/>
          </a:xfrm>
          <a:prstGeom prst="roundRect">
            <a:avLst>
              <a:gd name="adj" fmla="val 515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7784" y="4555998"/>
            <a:ext cx="5298948" cy="17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inscribirte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57784" y="4729353"/>
            <a:ext cx="5298948" cy="714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Saber qué es una WBS, un backlog y un presupuesto; no hace falta programar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proyecto propio con un cambio de alcance reciente, o el escenario del caso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que instalar para las clases; para practicar, Claude Code con pm-method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" y="5398389"/>
            <a:ext cx="52989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2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Modalidad: </a:t>
            </a:r>
            <a:pPr indent="0" marL="0"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clases en vivo de 90 minutos: demostración sobre un caso real y ejercicio de 10 minutos al cierre de cada una.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31636" y="1207008"/>
            <a:ext cx="5500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2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31636" y="1600200"/>
            <a:ext cx="5500116" cy="1254379"/>
          </a:xfrm>
          <a:prstGeom prst="roundRect">
            <a:avLst>
              <a:gd name="adj" fmla="val 5832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32220" y="1700784"/>
            <a:ext cx="5298948" cy="17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2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1 · 90 min · Del alcance a la línea base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332220" y="1874139"/>
            <a:ext cx="5298948" cy="92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 por productos, WBS y trazabilidad a BMAD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valores, camino crítico y reserva de cronograma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MoSCoW, capacidad del release y personas de usuario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Presupuesto, business case, tolerancias y autoridad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31636" y="2918587"/>
            <a:ext cx="5500116" cy="1254379"/>
          </a:xfrm>
          <a:prstGeom prst="roundRect">
            <a:avLst>
              <a:gd name="adj" fmla="val 5832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32220" y="3019171"/>
            <a:ext cx="5298948" cy="17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2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2 · 90 min · El cambio bajo control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332220" y="3192526"/>
            <a:ext cx="5298948" cy="92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Intercambio del product owner sin solicitud de cambio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 de alcance con análisis de impacto y decisión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Nuevas líneas base, trazabilidad y valor ganado ágil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Excepción: informe, plan y puerta de la junta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231636" y="4282694"/>
            <a:ext cx="5500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2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te llevás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31636" y="4675886"/>
            <a:ext cx="5500116" cy="1464310"/>
          </a:xfrm>
          <a:prstGeom prst="roundRect">
            <a:avLst>
              <a:gd name="adj" fmla="val 4996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32220" y="4776470"/>
            <a:ext cx="5298948" cy="17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2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vos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332220" y="4949825"/>
            <a:ext cx="5298948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tabla de impacto que podés llevar a cualquier comité de cambios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criterio para decir, con datos, quién decide cada pedido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332220" y="5408041"/>
            <a:ext cx="5298948" cy="17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2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tu organización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332220" y="5581396"/>
            <a:ext cx="5298948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Cambios que no se aprueban de palabra: en el caso, C-002 se frenó el mismo día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business case que se revisa con cada cambio, no solo para aprobar el proyecto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binar pm-method">
  <a:themeElements>
    <a:clrScheme name="Webinar pm-method">
      <a:dk1>
        <a:srgbClr val="272425"/>
      </a:dk1>
      <a:lt1>
        <a:srgbClr val="FFFFFF"/>
      </a:lt1>
      <a:dk2>
        <a:srgbClr val="002855"/>
      </a:dk2>
      <a:lt2>
        <a:srgbClr val="F4F6F8"/>
      </a:lt2>
      <a:accent1>
        <a:srgbClr val="00629B"/>
      </a:accent1>
      <a:accent2>
        <a:srgbClr val="B5651D"/>
      </a:accent2>
      <a:accent3>
        <a:srgbClr val="002855"/>
      </a:accent3>
      <a:accent4>
        <a:srgbClr val="696969"/>
      </a:accent4>
      <a:accent5>
        <a:srgbClr val="272425"/>
      </a:accent5>
      <a:accent6>
        <a:srgbClr val="00629B"/>
      </a:accent6>
      <a:hlink>
        <a:srgbClr val="00629B"/>
      </a:hlink>
      <a:folHlink>
        <a:srgbClr val="002855"/>
      </a:folHlink>
    </a:clrScheme>
    <a:fontScheme name="Webinar pm-metho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Ficha del taller E2E-2 · Cada cambio, con su impacto medido antes de decidir</dc:title>
  <dc:subject>pm-method 2.4.0</dc:subject>
  <dc:creator>pm-method</dc:creator>
  <cp:lastModifiedBy>pm-method</cp:lastModifiedBy>
  <cp:revision>1</cp:revision>
  <dcterms:created xsi:type="dcterms:W3CDTF">2026-10-22T12:25:52Z</dcterms:created>
  <dcterms:modified xsi:type="dcterms:W3CDTF">2026-10-22T12:25:52Z</dcterms:modified>
</cp:coreProperties>
</file>