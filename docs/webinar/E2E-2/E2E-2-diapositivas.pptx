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3a4cb566-a597-39c1-4b1f-b1ae8030a9af}">
          <p14:sldIdLst>
            <p14:sldId id="256"/>
          </p14:sldIdLst>
        </p14:section>
        <p14:section name="Clase 1 · Del alcance a la línea base" id="{bab9ff8e-61d8-85fd-5511-8bc8bdc2c06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Clase 2 · El cambio bajo control" id="{fb162230-8137-92e3-9e2e-7d6b7a53b314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Glosario" id="{91e779c7-b102-08b9-8bf8-5ca0d79852ee}">
          <p14:sldIdLst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E2E-2: Alcance, cambio y mapa de ruta. 2 clases de 90 minutos. Presentá el problema que resuelve el caso y qué se van a llevar los asistentes.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1 (90 minutos): Del alcance a la línea base. Objetivos: Leer un alcance por productos con criterios de calidad y su cobertura de trazabilidad; Leer un camino crítico y calcular una reserva a 2σ con PERT; Fijar la línea base de cambio: tolerancias, límite por cambio, presupuesto de cambio y 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Contá la historia al revés: primero el resultado, después la pregunta. No expliques todavía cómo se detectó: es el cierre de la clase 2. Pedí que levanten la mano quienes lo habrían visto a tiempo en su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Esperá pocas manos. Respuesta esperada: se arma una vez en la planificación y se abandona con el primer cambio. En el paso 8 vamos a ver que se puede recalcular en cada sincronización.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tesis del caso: actividades que hoy se hacen una vez, a mano o nunca, pasan a ser controles que corren solos. Cada fila tiene un código de control y un indicador que vamos a ver en las dos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PRINCE2 planifica por productos. La descripción de producto evita que la calidad se discuta en la UAT: fija medidas y quién acepta. La columna ref de la WBS cita los ids de BMAD, y eso permite trazar.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Copiá el prompt tal cual. Si pregunta por los criterios de calidad, respondé con el texto de Sofía de la guía. Señalá en la salida el total de la WBS y la línea de trazabilidad sin huecos.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cifras salen de la evidencia de referencia. Remarcá que la cobertura es un número que se puede volver a calcular: lo vamos a comparar en el paso 8, después del primer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público de negocio: el camino crítico es la cadena que fija la fecha; si una actividad se atrasa, se atrasa el proyecto. La reserva a 2σ cubre lo que no sabemos de las estimaciones, no los cambios de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 por los valores, usá la tabla de Lucía de la guía. Mostrá en la salida la duración total, el fin previsto y la línea del camino crítico, y después la reserva calculada.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actividades sin holgura, en naranja, fijan el fin. A04 tiene 3 días de holgura y A02, 34. La reserva a 2σ es de 13,0 días laborables, dentro de la tolerancia de 15 que fija la junta en el paso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un proyecto de costo y fecha fijos, Should y Could son el colchón. El PO puede intercambiarlos sin pedir permiso, siempre que no toque Must, fecha ni costo. Ese 20 % vuelve en el EVM de la clase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línea base de cambio. Sin estos números escritos, la autoridad de cambio aprueba lo razonable y nadie suma. Con ellos en estado.json, registro.py no deja registrar una aprobación que los supere y sanidad compara cada cambio aprobado de forma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Respondé como Sofía y Laura con el texto de la guía, incluida la tabla de flujos del business case. Mostrá el VAN de inversion.py, el comando estado.py presupuesto que registra la decisión y la verificación de la puerta de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VAN sale de inversion.py con los flujos que da Sofía y la tasa de 10 % de la cooperativa; B-01 puede caer 23 % antes de que el VAN llegue a 0. El bloqueo L-01 es la lista de control, que Laura confirma; P-09 y P-10 se trabajan en E2E-3. Desde acá, todo cambio se mide contra esta foto.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9.000 lo aprueba la autoridad de cambio si queda saldo en el presupuesto de cambio. 15.000 supera el límite de 10.000 y lo decide la junta. Dejá la pregunta abierta: es el hilo de la clase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Repartí la hoja de ejercicio.md. Si alguien no tiene esos números, ese es el hallazgo: anotarlo como no definido. Pedí uno o dos voluntarios para compartir su respuesta en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Resumí los tres mensajes y anticipá la clase 2: un intercambio del PO, un cambio de alcance y una excepción. Pedí que traigan un cambio real de su proyecto para la parte B del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2 (90 minutos): El cambio bajo control. Objetivos: Distinguir los tres caminos de un cambio y su dueño; Armar una tabla de impacto antes de decidir, con el VAN del business case; Reconocer y recorrer una excepción hasta la puerta de la junta.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Repasá en un minuto la línea base de la clase 1 con estos tres números y prepará la imagen siguiente. La pregunta queda abierta hasta el paso 10, donde se ve cómo se detectó.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75 % tras C-001; el 19/2, el 200 % que habría sumado C-002 si se registraba la aprobación de Sofía (registro.py la rechazó y el consumo siguió en 75 %); 75 % cuando la junta amplía el tope a 32.000 y aprueba C-002.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camino tiene dueño. La pregunta no es si el cambio es bueno, sino quién tiene autoridad para decidirlo. Vamos a recorrer los tres con el mismo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camino, el más liviano. pm-agil-hibrido verifica que el intercambio está permitido y lo registra como decisión del PO. El equipo BMAD recibe las prioridades para el sprint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Copiá el prompt tal cual. Si pregunta la decisión, respondé como Sofía: aprobado contra el presupuesto de cambio. Antes de esa respuesta, mostrá la tabla de impacto en la salida.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Recorré la tabla fila por fila. La pregunta habitual es cuánto cuesta; las que se olvidan son la reserva, la capacidad, la autoridad y el valor. Con esta tabla la decisión de Sofía es informada y sale con condiciones: R-001 y el sprint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Release 1 sigue en el día 68. UAT y puesta en producción pasan de 110 a 121 días laborables: del 3/5 al 18/5, dentro de la tolerancia de 15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8: el equipo BMAD aplicó el traspaso y la cobertura se recalculó sola. La barra ámbar indica que BMAD traza 12 requisitos a nivel de épica: una mejora para el equipo de producto, no un hueco de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público de negocio: en ágil no se pide más plata, se recorta alcance. Mientras lo que no entra quepa en Should y Could, el PO lo resuelve: es la respuesta que R-001 ya tenía prevista. TOL-02 deja el ámbar a la vista y el corte queda guardado.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Corré solo el prompt 1 en vivo. Los prompts 2 y 3, de la junta, se leen en voz alta y se muestran en la evidencia para no depender de dos rondas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clave del caso: la aprobación fuera de la autoridad se frena el mismo día, antes de comprometer el gasto. C-002 espera la decisión de la junta y no consume presupuesto; sanidad marca a la vez el pronóstico fuera de tolerancia (TOL-01).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la aprobación del 17/2 no miró: tres límites superados, los Must en riesgo y 15.000 menos de VAN. El caso sigue justificado, con menos margen. El fin del proyecto no se recalcula en la guía: lo actualiza el plan de proyecto junto con el plan de excepción.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mismo indicador, guardado por corte, pasa de ámbar a rojo. El segundo corte supera el margen de Should/Could y dispara TOL-01: ya no lo puede resolver el 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C-001 suma 6.163 de VAN; C-002 no suma beneficio y resta 15.000. Con los dos, el VAN es 30.939 y B-01 puede caer 18 % antes de llegar a 0, más que su tolerancia de −10 %. Es la pregunta que PRINCE2 hace en cada puerta: ¿sigue valiendo la pena?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excepción no es un fracaso: es la ruta prevista. En una semana la junta recibió el informe, pidió un plan, verificó el business case, amplió el presupuesto y autorizó el fin de etapa del 19/3. Ese día sanidad recordó con REG-09 que R-001 tenía la revisión vencida: el gestor la hizo y la probabilidad subió de 3 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la necesidad no se discute; la autoridad sí. 15.000 supera su límite de 10.000 y deja el presupuesto al 200 %: debía escalar a la junta, y por eso registro.py no registra su aprobación. Obligatorio responde si hay que hacerlo, no quién lo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Cerrá el recorrido con las seis tarjetas: VAN de 30.939 con los dos cambios, fin el 18/5, 2 días de reserva, presupuesto al 75 %, 22,1 % de alcance en riesgo en el corte del 19/2 y 13 de 13 requisitos trazados.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camino que correspondía no coincide con quien aprobó, encontraron un caso de autoridad excedida: es el hallazgo más valioso del ejercicio. La solución de referencia está en ejercicio.md.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lo que vimos lo decidieron la junta, la PO y el equipo. En E2E-3 sumamos al resto: quiénes son los interesados, qué quieren saber y cómo se verifica que el contacto prometido se cumple.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E2E-2: 25 términos, página 1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E2E-2: 25 términos, página 2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E2E-2: 25 términos, página 3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9BB8"/>
                </a:solidFill>
              </a:rPr>
              <a:t>Logo IEEE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2.3.0 · Webinar E2E-2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G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2.3.0 · Webinar E2E-2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1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2.3.0 · Webinar E2E-2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2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2.3.0 · Webinar E2E-2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· pm-method 2.3.0 · E2E-2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Alcance, cambio y mapa de ruta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alcance por productos a la gestión por excepción, con impacto medido antes de cada decisión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alcance a la línea base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 bajo control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alcance a la línea base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alcance por productos con criterios de calidad y su cobertura de trazabilidad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48456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4845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85032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camino crítico y calcular una reserva a 2σ con PERT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5371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55371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90288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la línea base de cambio: tolerancias, límite por cambio, presupuesto de cambio y VAN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19/2 un cambio iba a llevar el presupuesto al 200 %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Venía "aprobado" de palabra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418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5586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obligatorio de 15.000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1636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lo aprobó tenía un límite de 10.000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18854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0022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habrías frenado antes de comprometer el gasto?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alzada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tienen hoy una matriz de trazabilidad actualizada?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uso único al control continuo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023638"/>
                <a:gridCol w="2312729"/>
                <a:gridCol w="4047275"/>
                <a:gridCol w="28909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pm-method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armada una vez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recalcula en cada sincronización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de 13 requisitos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de un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ojo o nunca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 de impacto antes de decidir, con 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 días; 200 %; VAN 30.939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Nadie lo suma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registro.py y CAM-03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75 %: C-002 no entra sin saldo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delegada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tope escrito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registro.py contra el límite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sobre 10.000: rechazado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Pronóstico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Planilla al fin de etapa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Corte guardado · TOL-01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10,3 % → 22,1 %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explica al cierre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Informe, plan y puerta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Aprobada el 26/2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antes que tarea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PBS: qué se entrega; WBS: con qué trabajo y costo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 producto: qué significa terminado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CA-02: consultas con p95 menor a 3 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acepta: Sofía Ramírez, usuaria sénior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paquete de la WBS cita sus requisitos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Paso 2: WBS, descripciones y trazabilidad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3758184"/>
          </a:xfrm>
          <a:prstGeom prst="roundRect">
            <a:avLst>
              <a:gd name="adj" fmla="val 1946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Armá la WBS por productos con estos paquetes y su referencia a la especificación (USD 50 la hora): 1.1 Gestión de etapas 400 h · 2.1 Brief, PRD, UX y arquitectura (BMAD) 240 h (UJ-1, UJ-2, UJ-3) · 3.1 Acceso seguro 420 h (FR-1, FR-2, FR-11, historias 1.1 y 1.2) · 3.2 Consulta y constancias 380 h (FR-3, FR-4, FR-5, historias 1.3 y 1.4) · 3.3 Solicitudes del socio 440 h (FR-6, FR-7, FR-8, FR-12, historias 2.1 a 2.3) · 4.1 Bandeja y resolución 400 h (FR-9, FR-10, historias 3.1 a 3.3) · 5.1 UAT, prueba de carga y capacitación 200 h (NFR-2, NFR-3) · 5.2 Puesta en producción (hito). Generá el diagrama, el diccionario y la matriz de trazabilidad, y decime si queda algún requisito sin cubrir. Escribí también la descripción del producto del proyecto con los criterios de aceptación priorizados y la descripción de producto del 3.1 Acceso seguro con sus especificaciones de calidad, métodos de calidad y quién acepta.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deberías ver en el paso 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elementos, 8 hojas · 2.480 h · 124.000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requisito funcional sin historia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referencia de la WBS a ids inexistentes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Cobertura: 12 de 12 con historia y paquete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Sanidad: 0 ERROR · 0 AVISO · 0 INFO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 y camino crítico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estimaciones: optimista, más probable, pesimista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 = (O + 4M + P) / 6 · σ = (P − O) / 6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crítico: actividades sin holgura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del camino = √Σσ² · reserva a 2σ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reserva cubre la incertidumbre, no los cambios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Paso 3: PERT, camino crítico y reserva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1186434"/>
          </a:xfrm>
          <a:prstGeom prst="roundRect">
            <a:avLst>
              <a:gd name="adj" fmla="val 6166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Estimá con PERT de tres puntos las actividades y armá el cronograma con camino crítico desde el 30/11, con exportación a MS Project. Lucía va a validar los valores. Calculá la reserva de cronograma a 2σ del camino crítico.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crítico: 110 días, fin el 3/5/2027</a:t>
            </a:r>
            <a:endParaRPr lang="en-US" sz="2400" dirty="0"/>
          </a:p>
        </p:txBody>
      </p:sp>
      <p:pic>
        <p:nvPicPr>
          <p:cNvPr id="3" name="Image 0" descr="Camino crítico: 110 días, fin el 3/5/202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MoSCoW: el margen del product owner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Must: sin esto no hay producto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y Could: lo que se puede mover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Orden: MoSCoW y después valor sobre puntos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R1: 47 de 48 puntos · R2: 21 de 24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de alcance: 20 % Should/Could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números que fija la junta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382366"/>
                <a:gridCol w="1610650"/>
                <a:gridCol w="3060236"/>
                <a:gridCol w="32213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lo usa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 de 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±3 semanas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 y junta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 de costo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 y junta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por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registro.py · CAM-04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registro.py · CAM-03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Paso 5: presupuesto, business case y línea base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329434"/>
          </a:xfrm>
          <a:prstGeom prst="roundRect">
            <a:avLst>
              <a:gd name="adj" fmla="val 3140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Calculá el presupuesto desde la WBS, armá el release plan y el roadmap por etapas con las puertas, y preparame las puertas de inicio, proyecto y etapa 2. Antes de la de proyecto: documentá las tolerancias y la autoridad delegada (Sofía decide cambios de hasta 10.000 cada uno, con un presupuesto de cambio de 12.000 que fija la junta) y el enfoque de beneficios (B-01 a B-03, quién los mide y cuándo). En la de proyecto fijá la línea base del PRD y de las épicas, y que Sofía apruebe el backlog como línea base.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deja la línea base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BAC: 124.000 desde la WBS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case: VAN 39.776 a 5 años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PRD, épicas y backlog v1.0 con copia congelada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 de proyecto: L-01, P-09 y P-10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aviso P-04: enfoque de beneficios registrado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aprueba un cambio de 9.000? ¿Y uno de 15.000?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A: tu línea base de cambio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Completá los tres números de tu proyecto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Calculá tu margen de Should/Could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¿Cuándo se actualizó tu trazabilidad?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Autoevaluate con la tabla de criterios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clave de la clase 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alcance es una lista de productos con criterios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trazabilidad sirve si se recalcula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base de cambio son tres números de la junta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tres cambios bajo control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 bajo control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los tres caminos de un cambio y su dueño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48456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48456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85032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una tabla de impacto antes de decidir, con el VAN del business case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553712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55371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90288"/>
            <a:ext cx="10268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Reconocer y recorrer una excepción hasta la puerta de la junta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aprobó esto y cuándo se enteró la junta?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de cambio: 12.000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418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5586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por cambio: 10.000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1636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Tolerancia de tiempo: ±3 semanas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18854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0022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Mirá la barra roja de la próxima diapositiva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saldo para C-002: quedó pendiente de la junta</a:t>
            </a:r>
            <a:endParaRPr lang="en-US" sz="2400" dirty="0"/>
          </a:p>
        </p:txBody>
      </p:sp>
      <p:pic>
        <p:nvPicPr>
          <p:cNvPr id="3" name="Image 0" descr="Sin saldo para C-002: quedó pendiente de la j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caminos de un cambio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060940"/>
                <a:gridCol w="2303403"/>
                <a:gridCol w="5212965"/>
                <a:gridCol w="16972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decide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caso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Should/Could sin tocar Must, fecha ni costo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D-009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de alcance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 del límite y del saldo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C-001 · 9.000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Supera límite, presupuesto o tolerancia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C-002 · 15.000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6 · El intercambio del product owner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2.3 (Could) pasa a R1 y la 1.4 (Should) a R2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tocar Must, fecha ni costo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D-009, nivel product-owner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solicitud de cambio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de prioridades a BMAD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Paso 7: cambio de alcance con análisis de impacto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043684"/>
          </a:xfrm>
          <a:prstGeom prst="roundRect">
            <a:avLst>
              <a:gd name="adj" fmla="val 357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Verificá la especificación contra la línea base. Si hay algo nuevo, registralo como solicitud de cambio y analizá el impacto antes de decidir: paquete de la WBS nuevo, esfuerzo, camino crítico, reserva de cronograma, costo, presupuesto de cambio, autoridad, capacidad del release y beneficios. Estimá el simulador en O 8, M 10, P 16 días después de los sprints de solicitudes. Si la reserva de cronograma queda chica, registralo como riesgo.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impacto de C-001, antes de decidir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997033"/>
                <a:gridCol w="3139749"/>
                <a:gridCol w="2854317"/>
                <a:gridCol w="22834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C-001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 qué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 días (+11)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±3 semanas = 15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Dentro: 73 %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13,0 − 11 = 2,0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Atraso posible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 R-001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9.000 de 12.000 (75 %)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Dentro del saldo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9.000 en un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10.000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del R2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pts de 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 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 sprint (32)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45.939 (+6.163)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de la línea 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paga solo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C-001 no mueve el Release 1 y corre 11 días la puesta en producción</a:t>
            </a:r>
            <a:endParaRPr lang="en-US" sz="2400" dirty="0"/>
          </a:p>
        </p:txBody>
      </p:sp>
      <p:pic>
        <p:nvPicPr>
          <p:cNvPr id="3" name="Image 0" descr="C-001 no mueve el Release 1 y corre 11 días la puesta en prod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C-001: 13 de 13 requisitos con historia y paquete</a:t>
            </a:r>
            <a:endParaRPr lang="en-US" sz="2400" dirty="0"/>
          </a:p>
        </p:txBody>
      </p:sp>
      <p:pic>
        <p:nvPicPr>
          <p:cNvPr id="3" name="Image 0" descr="Tras C-001: 13 de 13 requisitos con historia y paque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9 · EVM ágil: alcance que no entra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29/1: SPI 0,867 · CPI 0,897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costo y fecha fijos, EAC &gt; BAC = alcance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entra el 10,3 %: menos que el 20 % de margen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 &lt; 0,90 activa el disparador de R-001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Q-001 cubre lo terminado: sin QUA-01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Paso 10: el cambio que excede la autoridad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043684"/>
          </a:xfrm>
          <a:prstGeom prst="roundRect">
            <a:avLst>
              <a:gd name="adj" fmla="val 357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Registrá el requisito regulatorio como solicitud de cambio: paquete nuevo 3.5, 13 puntos Must en R1, +1 sprint en la etapa 2, USD 15.000. Sofía lo aprobó el 17/2 porque es obligatorio: registralo. Guardá el corte de EVM del 19/2 (PV 75.000, EV 60.000, AC 77.000, BAC 133.000, ágil, 20 % Should/Could), corré sanidad al 19/2 y armá la tabla de impacto de C-002. Si hay excepción, prepará el informe de excepción para la junta y registrá el issue.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19/2: la aprobación fuera de la autoridad no se registra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registro.py rechaza la aprobación de Sofía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15.000 supera su límite de 10.000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saldo: 24.000 de 12.000 (200 %)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C-002 queda pendiente-decision y se escala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TOL-01: alcance en rojo, sin excepción abierta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impacto de C-002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415975"/>
                <a:gridCol w="2761115"/>
                <a:gridCol w="3451393"/>
                <a:gridCol w="26460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C-002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 qué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Lectura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24.000 de 12.000 (200 %)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de la junta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alcanza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en un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Límite 10.000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Excedida: rechazada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del R1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pts sin la 2-3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 8 ×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 sprint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de la etapa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 2027-03-19 (+14)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±10 % = 9,8 días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 (EVM)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entra el 22,1 %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 20 %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en 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30.939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 de beneficios −10 %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Justificado, B-01 −18 %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19/2 no entra el 22 % del alcance, más que el 20 % de margen</a:t>
            </a:r>
            <a:endParaRPr lang="en-US" sz="2400" dirty="0"/>
          </a:p>
        </p:txBody>
      </p:sp>
      <p:pic>
        <p:nvPicPr>
          <p:cNvPr id="3" name="Image 0" descr="El 19/2 no entra el 22 % del alcance, más que el 20 % de mar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dos cambios el business case sigue justificado</a:t>
            </a:r>
            <a:endParaRPr lang="en-US" sz="2400" dirty="0"/>
          </a:p>
        </p:txBody>
      </p:sp>
      <p:pic>
        <p:nvPicPr>
          <p:cNvPr id="3" name="Image 0" descr="Con los dos cambios el business case sigue justifi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de la excepción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19/2: informe de excepción X-001 e issue I-003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22/2: la junta pide plan de excepción; límite de etapa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24/2: plan y business case actualizado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26/2: presupuesto de 32.000 y C-002 aprobado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26/2: puerta aprobada; REG-09 y revisión de R-001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Sofía aprobó C-002 porque era obligatorio. ¿Estuvo mal?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26/2 cada cambio quedó medido; la reserva casi se agotó</a:t>
            </a:r>
            <a:endParaRPr lang="en-US" sz="2400" dirty="0"/>
          </a:p>
        </p:txBody>
      </p:sp>
      <p:pic>
        <p:nvPicPr>
          <p:cNvPr id="3" name="Image 0" descr="Al 26/2 cada cambio quedó medido; la reserva casi se agot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B: la tabla de impacto de tu cambio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Elegí un cambio real ya aprobado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Completá la tabla como si fuera antes de decidir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camino le correspondía?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Compará con quién lo aprobó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clave de la clase 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caminos, tres dueños: PO, autoridad de cambio, junta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se mira antes, en todos los objetivos y en el VAN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 no define quién decide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caso, E2E-3: interesados y comunicación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(1/3)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 que no entra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EVM ágil, parte del alcance que al ritmo actual no se entrega con el costo y la fecha fijos.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o grupo al que la junta delega decidir cambios dentro de un límite y un presupuesto (change authority).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 la conclusión (budget at completion); en el caso, 124.000 y 133.000 tras C-001.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 del proyecto: costos, beneficios, riesgos y opciones. Se verifica en cada puerta y se actualiza con un plan de excepción.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Camino crítico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Cadena de actividades sin holgura: si una se atrasa, se atrasa el fin del proyecto.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 de producto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 que fija qué significa terminado para un producto: medidas, tolerancias de calidad y quién acepta (product description).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por 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nivel decide dentro de su tolerancia y escala solo cuando un pronóstico la supera (management by exception).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de 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 con el que el gestor informa a la junta un desvío fuera de tolerancia, con opciones y recomendación.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Intercambio del product owner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 de Should/Could equivalentes sin tocar Must, fecha ni costo; no requiere solicitud de cambio.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(2/3)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Versión aprobada del alcance, el cronograma o el costo contra la que se mide todo cambio.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MoSCoW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Clasificación del alcance en Must, Should, Could y Won't; Should y Could son el margen del product owner.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PBS (estructura de productos)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Descomposición de lo que el proyecto entrega, producto por producto (product breakdown structure).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 de tres puntos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Estimación con valores optimista, más probable y pesimista: tE = (O + 4M + P)/6 y σ = (P − O)/6.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de excepción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que reemplaza al vigente cuando la junta lo pide tras un informe de excepción; se aprueba en una puerta.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Monto que la junta reserva para pagar cambios aprobados, separado de la reserva de riesgo (change budget).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 formal de la junta; pm-method la verifica y la bloquea si sanidad tiene un ERROR.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Reserva de cronograma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Margen para la incertidumbre de las estimaciones del camino crítico; en el caso, 2σ = 13,0 días.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(3/3)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Conjunto de controles automáticos de pm-method (sanidad.py) que marcan ERROR, AVISO o INFO con un código.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Solicitud de cambio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 formal de cambiar una línea base, registrado como issue y como cambio con su impacto (request for change).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Tabla de impacto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de un cambio antes de decidirlo: tiempo, reserva, costo, presupuesto, autoridad, capacidad y beneficios.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Desvío que un nivel de gestión puede absorber sin escalar al nivel de arriba (tolerance).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Trazabilidad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requisito → historia → paquete de la WBS; en pm-method se recalcula en cada sincronización con BMAD.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ganado (EVM)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 que compara lo planificado (PV), lo ganado (EV) y lo gastado (AC) para pronosticar.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(valor actual neto)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Suma de los flujos de cada año descontados a la tasa de la organización. Positivo: el proyecto crea valor. En el caso, lo calcula inversion.py.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WBS (estructura de desglose del trabajo)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PBS con el trabajo, el esfuerzo y el costo de cada paquete; su suma da el BAC.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inar pm-method">
  <a:themeElements>
    <a:clrScheme name="Webinar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72425"/>
      </a:accent5>
      <a:accent6>
        <a:srgbClr val="00629B"/>
      </a:accent6>
      <a:hlink>
        <a:srgbClr val="00629B"/>
      </a:hlink>
      <a:folHlink>
        <a:srgbClr val="002855"/>
      </a:folHlink>
    </a:clrScheme>
    <a:fontScheme name="Webinar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 E2E-2 · Alcance, cambio y mapa de ruta</dc:title>
  <dc:subject>pm-method 2.3.0</dc:subject>
  <dc:creator>pm-method</dc:creator>
  <cp:lastModifiedBy>pm-method</cp:lastModifiedBy>
  <cp:revision>1</cp:revision>
  <dcterms:created xsi:type="dcterms:W3CDTF">2026-10-20T16:54:25Z</dcterms:created>
  <dcterms:modified xsi:type="dcterms:W3CDTF">2026-10-20T16:54:25Z</dcterms:modified>
</cp:coreProperties>
</file>