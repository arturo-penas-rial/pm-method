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notesMasterIdLst>
    <p:notesMasterId r:id="rId4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ortada" id="{5fde07bd-58ff-994b-1843-f2a66a036541}">
          <p14:sldIdLst>
            <p14:sldId id="256"/>
          </p14:sldIdLst>
        </p14:section>
        <p14:section name="Clase 1 · Del alcance a la línea base" id="{65e4a4ff-d458-da1e-7825-ff6c3c50c532}">
          <p14:sldIdLst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</p14:sldIdLst>
        </p14:section>
        <p14:section name="Clase 2 · El cambio bajo control" id="{349e0cf9-92af-e8c4-0362-eaea46393b88}">
          <p14:sldIdLst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  <p14:sldId id="294"/>
            <p14:sldId id="295"/>
            <p14:sldId id="296"/>
            <p14:sldId id="297"/>
          </p14:sldIdLst>
        </p14:section>
        <p14:section name="Glosario" id="{3e120df9-70b0-a7ac-b359-8c13c3d6d48e}">
          <p14:sldIdLst>
            <p14:sldId id="298"/>
            <p14:sldId id="299"/>
            <p14:sldId id="30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notesMaster" Target="notesMasters/notes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Caso E2E-2: Alcance, cambio y mapa de ruta. 2 clases de 90 minutos. Presentá el problema que resuelve el caso y qué se van a llevar los asistentes.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Clase 1 (90 minutos): Del alcance a la línea base. Objetivos: Leer un alcance por productos con criterios de calidad, su cobertura de trazabilidad y a qué persona sirve cada Must; Leer un camino crítico y una reserva a 2σ calculados con tres valores y la fórmula declarada; Fijar la línea base de cambio: tolerancias, límite por cambio, presupuesto de cambio y VAN; Leer una matriz de decisión con pesos explícitos y decir qué dice su sensibilidad.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Contá la historia al revés: primero el resultado, después la pregunta. No expliques todavía cómo se detectó: es el cierre de la clase 2. Pedí que levanten la mano quienes lo habrían visto a tiempo en su proyecto.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Esperá pocas manos. Respuesta esperada: se arma una vez en la planificación y se abandona con el primer cambio. En el paso 8 vamos a ver que se puede recalcular en cada sincronización.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es la tesis del caso: actividades que hoy se hacen una vez, a mano o nunca, pasan a ser controles que corren solos. Cada fila tiene un código de control y un indicador que vamos a ver en las dos clases.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PRINCE2 planifica por productos. La descripción de producto evita que la calidad se discuta en la UAT: fija medidas y quién acepta. La columna ref de la WBS cita los ids de BMAD, y eso permite trazar.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Copiá el prompt tal cual. Si pregunta por los criterios de calidad, respondé con el texto de Sofía de la guía. Señalá en la salida el total de la WBS y la línea de trazabilidad sin huecos.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Estas cifras salen de la evidencia de referencia. Remarcá que la cobertura es un número que se puede volver a calcular: lo vamos a comparar en el paso 8, después del primer cambio.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el público de negocio: el camino crítico es la cadena que fija la fecha; si una actividad se atrasa, se atrasa el proyecto. Las dos fórmulas son válidas, pero no dan lo mismo: por eso la elige el plan de gestión, no el modelo. La reserva a 2σ cubre lo que no sabemos de las estimaciones, no los cambios de alcance.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 pregunta por los valores, usá la tabla de Lucía de la guía. Mostrá en la salida de cpm.py la duración total, el fin previsto y el camino crítico, la línea de la fórmula (beta-PERT, rotulada) y la reserva con el fin con reserva. El modelo no hace las cuentas: las hace el script y deja estimacion-pert.csv para el análisis de impacto.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Cinco actividades sin holgura, en naranja, fijan el fin. A04 tiene 3 días de holgura y A02, 34. La reserva a 2σ es de 13,0 días laborables (fin con reserva el 24/5), dentro de la tolerancia de 15 que fija la junta en el paso 5. Con la triangular, la misma red daría 116 días y 16,2 de reserva: más que la tolerancia.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 un proyecto de costo y fecha fijos, Should y Could son el colchón que el PO puede intercambiar sin pedir permiso; ese 20 % vuelve en el EVM de la clase 2. Las personas de usuario salen de los recorridos de BMAD y las confirma Sofía. Un Must sin persona es una pregunta: acá faltaba el vínculo, que estaba escrito en el recorrido de Diego.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release.py capacidad suma los puntos por MoSCoW contra la velocidad por las iteraciones de cada release. El R1 entra, pero los Must son el 88 % de la capacidad, contra la regla práctica de 60 %: casi no queda Should o Could para absorber un cambio sin tocar un Must. Guardá esta imagen: en la clase 2, C-002 cae justo ahí.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es la línea base de cambio. Sin estos números escritos, la autoridad de cambio aprueba lo razonable y nadie suma. Con ellos en estado.json, registro.py no deja registrar una aprobación que los supere y sanidad compara cada cambio aprobado de forma continua.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Respondé como Sofía, Lucía, Laura y Martín con el texto de la guía, incluida la tabla de flujos del business case y los puntajes de la matriz del R1. Mostrá el VAN de inversion.py, el comando estado.py presupuesto que registra la decisión, la matriz release-1 y la verificación de la puerta de proyecto.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VAN sale de inversion.py con los flujos que da Sofía y la tasa de 10 % de la cooperativa; B-01 puede caer 23 % antes de que el VAN llegue a 0. El bloqueo L-01 es la lista de control, que Laura confirma; P-09 y P-10 se trabajan en E2E-3. Desde acá, todo cambio se mide contra esta foto.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Sofía pidió las solicitudes en el R1. release.py mide las dos alternativas: la B tiene 5 puntos más de holgura, pero las solicitudes esperan la bandeja y la resolución de la consola, que está en el camino crítico. El expediente reúne el contexto con su fuente, la matriz calcula y Martín elige la recomendada: no hace falta motivo porque el menor movimiento de un peso que cambia la primera es de 6 puntos.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barra es el aporte de un criterio. La A gana por valor y dependencias; la B, solo por capacidad. Si la capacidad pesara 31 en lugar de 25, ganaría la B: ese es el costo que se acepta al decidir, y la clase 2 lo cobra.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Respuesta esperada: 9.000 lo aprueba la autoridad de cambio si queda saldo en el presupuesto de cambio. 15.000 supera el límite de 10.000 y lo decide la junta. Dejá la pregunta abierta: es el hilo de la clase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Repartí la hoja de ejercicio.md. Si alguien no tiene esos números, ese es el hallazgo: anotarlo como no definido. Pedí uno o dos voluntarios para compartir su respuesta en el cierre.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Resumí los cuatro mensajes y anticipá la clase 2: un intercambio del PO, un cambio de alcance y una excepción, que llega a la junta con su matriz. Pedí que traigan un cambio real de su proyecto para la parte B del ejercicio.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Clase 2 (90 minutos): El cambio bajo control. Objetivos: Distinguir los tres caminos de un cambio y su dueño; Armar una tabla de impacto antes de decidir, con el VAN del business case; Reconocer y recorrer una excepción hasta la puerta de la junta; Leer la matriz que recibe la junta: eliminatorios, dominadas y pregunta tipada.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Repasá en un minuto la línea base de la clase 1 con estos tres números y prepará la imagen siguiente. La pregunta queda abierta hasta el paso 10, donde se ve cómo se detectó.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75 % tras C-001; el 19/2, el 200 % que habría sumado C-002 si se registraba la aprobación de Sofía (registro.py la rechazó y el consumo siguió en 75 %); 75 % cuando la junta amplía el tope a 32.000 y aprueba C-002.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camino tiene dueño. La pregunta no es si el cambio es bueno, sino quién tiene autoridad para decidirlo. Vamos a recorrer los tres con el mismo proyecto.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Primer camino, el más liviano. pm-agil-hibrido verifica que el intercambio está permitido y lo registra como decisión del PO. El equipo BMAD recibe las prioridades para el sprint planning.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Copiá el prompt tal cual. Si pregunta a quién afecta, respondé como Sofía: lo usa Diego (UJ-2). Antes de la decisión, mostrá la tabla de impacto.py, la línea «Decide» y el borrador de la solicitud de cambio; recién entonces respondé: aprobado contra el presupuesto de cambio.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Recorré la tabla fila por fila. La pregunta habitual es cuánto cuesta; las que se olvidan son la reserva, la capacidad, la autoridad y el valor. El análisis suma a quién sirve (lo pide el Consejo, lo usa Diego) y dice quién decide. La decisión de Sofía sale informada y con condiciones: R-001 y el sprint 10.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Release 1 sigue en el día 69. UAT y puesta en producción pasan de 112 a 123 días laborables: del 5/5 al 20/5, dentro de la tolerancia de 15 días.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Paso 8: el equipo BMAD aplicó el traspaso y la cobertura se recalculó sola. La barra ámbar indica que BMAD traza 12 requisitos a nivel de épica: una mejora para el equipo de producto, no un hueco de alcance.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el público de negocio: en ágil no se pide más plata, se recorta alcance. Mientras lo que no entra quepa en Should y Could, el PO lo resuelve: es la respuesta que R-001 ya tenía prevista. TOL-02 deja el ámbar a la vista y el corte queda guardado.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Corré solo el prompt 1 en vivo. Los prompts 2 y 3, de la junta, se leen en voz alta y se muestran en la evidencia para no depender de dos rondas más.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es el momento clave del caso: la aprobación fuera de la autoridad se frena el mismo día, antes de comprometer el gasto. C-002 espera la decisión de la junta y no consume presupuesto; sanidad marca a la vez el pronóstico fuera de tolerancia (TOL-01).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que la aprobación del 17/2 no miró. El análisis da cuatro motivos para que decida la junta (límite, saldo, tiempo de la etapa y Must en riesgo) y recomienda pedir un plan de excepción. El caso sigue justificado, con menos margen. El fin del proyecto lo actualiza el plan de proyecto junto con el plan de excepción.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barra es cuánto del límite usaría C-002: 200 % del presupuesto de cambio, 150 % del límite de Sofía, 143 % de la tolerancia de la etapa, 115 % de la capacidad del R1 y 110 % del margen de Should/Could. Con un solo límite superado ya no decide la autoridad de cambio.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Rechazar sale por el eliminatorio: es obligatorio por la Ley 18.331. Diferir se midió con el mismo análisis: +2 sprints en el R2, la misma autoridad y el mismo presupuesto excedidos, y B-01 demorado; queda dominada. Los puntajes son bajos porque ninguna opción entra en las tolerancias: es una excepción. La pregunta tipada no acepta la opción eliminada como respuesta, y la junta registra su elección en D-013 con la matriz.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C-001 suma 6.163 de VAN; C-002 no suma beneficio y resta 15.000. Con los dos, el VAN es 30.939 y B-01 puede caer 18 % antes de llegar a 0, más que su tolerancia de −10 %. Es la pregunta que PRINCE2 hace en cada puerta: ¿sigue valiendo la pena?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excepción no es un fracaso: es la ruta prevista. En una semana la junta recibió el informe con la matriz, pidió un plan, verificó el business case, amplió el presupuesto y autorizó el fin de etapa del 19/3. Ese día sanidad recordó con REG-09 que R-001 tenía la revisión vencida: el gestor la hizo y la probabilidad subió de 3 a 4. Las decisiones vigentes del presupuesto de cambio son dos: D-002 fija el límite de 10.000 y D-015 el tope de 32.000.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Respuesta esperada: la necesidad no se discute; la autoridad sí. 15.000 supera su límite de 10.000 y deja el presupuesto al 200 %: debía escalar a la junta, y por eso registro.py no registra su aprobación. Obligatorio responde si hay que hacerlo, no quién lo decide.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Cerrá el recorrido con las seis tarjetas: VAN de 30.939 con los dos cambios, fin el 20/5, 2 días de reserva, presupuesto al 75 %, 22,1 % de alcance en riesgo en el corte del 19/2 y 13 de 13 requisitos trazados.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 el camino que correspondía no coincide con quien aprobó, encontraron un caso de autoridad excedida: es el hallazgo más valioso del ejercicio. El ejemplo resuelto, plegado al final de ejercicio.md, se muestra al terminar.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Todo lo que vimos lo decidieron la junta, la PO y el equipo. En E2E-3 sumamos al resto: quiénes son los interesados, qué quieren saber y cómo se verifica que el contacto prometido se cumple.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Glosario del caso E2E-2: 25 términos, página 1 de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Glosario del caso E2E-2: 25 términos, página 2 de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Glosario del caso E2E-2: 25 términos, página 3 de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rgbClr val="0028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2011680" cy="804672"/>
          </a:xfrm>
          <a:prstGeom prst="rect">
            <a:avLst/>
          </a:prstGeom>
          <a:solidFill>
            <a:srgbClr val="002855">
              <a:alpha val="0"/>
            </a:srgbClr>
          </a:solidFill>
          <a:ln w="12700">
            <a:solidFill>
              <a:srgbClr val="7F9BB8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548640" y="457200"/>
            <a:ext cx="20116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F9BB8"/>
                </a:solidFill>
              </a:rPr>
              <a:t>Logo IEEE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6355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6E4F0"/>
                </a:solidFill>
              </a:rPr>
              <a:t>pm-method 2.7.0 · Webinar E2E-2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_G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A9A9A9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9A9A9"/>
                </a:solidFill>
              </a:rPr>
              <a:t>Logo IEEE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365760"/>
            <a:ext cx="9628632" cy="713232"/>
          </a:xfrm>
          <a:prstGeom prst="rect">
            <a:avLst>
              <a:gd name="adj" fmla="val 12821"/>
            </a:avLst>
          </a:prstGeom>
          <a:solidFill>
            <a:srgbClr val="00629B"/>
          </a:solidFill>
          <a:ln/>
        </p:spPr>
      </p:sp>
      <p:sp>
        <p:nvSpPr>
          <p:cNvPr id="5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6" name="Text 3"/>
          <p:cNvSpPr/>
          <p:nvPr/>
        </p:nvSpPr>
        <p:spPr>
          <a:xfrm>
            <a:off x="45720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96969"/>
                </a:solidFill>
              </a:rPr>
              <a:t>pm-method 2.7.0 · Webinar E2E-2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SCURO_G">
    <p:bg>
      <p:bgPr>
        <a:solidFill>
          <a:srgbClr val="0028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solidFill>
            <a:srgbClr val="002855">
              <a:alpha val="0"/>
            </a:srgbClr>
          </a:solidFill>
          <a:ln w="12700">
            <a:solidFill>
              <a:srgbClr val="7F9BB8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F9BB8"/>
                </a:solidFill>
              </a:rPr>
              <a:t>Logo IEEE</a:t>
            </a:r>
            <a:endParaRPr lang="en-US" sz="1000" dirty="0"/>
          </a:p>
        </p:txBody>
      </p:sp>
      <p:sp>
        <p:nvSpPr>
          <p:cNvPr id="4" name="Text 2"/>
          <p:cNvSpPr/>
          <p:nvPr>
            <p:ph idx="102" type="title" hasCustomPrompt="1"/>
          </p:nvPr>
        </p:nvSpPr>
        <p:spPr>
          <a:xfrm>
            <a:off x="548640" y="1143000"/>
            <a:ext cx="11091672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45720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6E4F0"/>
                </a:solidFill>
              </a:rPr>
              <a:t>pm-method 2.7.0 · Webinar E2E-2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CION_G">
    <p:bg>
      <p:bgPr>
        <a:solidFill>
          <a:srgbClr val="00629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solidFill>
            <a:srgbClr val="002855">
              <a:alpha val="0"/>
            </a:srgbClr>
          </a:solidFill>
          <a:ln w="12700">
            <a:solidFill>
              <a:srgbClr val="7F9BB8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F9BB8"/>
                </a:solidFill>
              </a:rPr>
              <a:t>Logo IEEE</a:t>
            </a:r>
            <a:endParaRPr lang="en-US" sz="1000" dirty="0"/>
          </a:p>
        </p:txBody>
      </p:sp>
      <p:sp>
        <p:nvSpPr>
          <p:cNvPr id="4" name="Text 2"/>
          <p:cNvSpPr/>
          <p:nvPr>
            <p:ph idx="102" type="title" hasCustomPrompt="1"/>
          </p:nvPr>
        </p:nvSpPr>
        <p:spPr>
          <a:xfrm>
            <a:off x="548640" y="2148840"/>
            <a:ext cx="11091672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45720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6E4F0"/>
                </a:solidFill>
              </a:rPr>
              <a:t>pm-method 2.7.0 · Webinar E2E-2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REGUNTA_G">
    <p:bg>
      <p:bgPr>
        <a:solidFill>
          <a:srgbClr val="0028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solidFill>
            <a:srgbClr val="002855">
              <a:alpha val="0"/>
            </a:srgbClr>
          </a:solidFill>
          <a:ln w="12700">
            <a:solidFill>
              <a:srgbClr val="7F9BB8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F9BB8"/>
                </a:solidFill>
              </a:rPr>
              <a:t>Logo IEEE</a:t>
            </a:r>
            <a:endParaRPr lang="en-US" sz="1000" dirty="0"/>
          </a:p>
        </p:txBody>
      </p:sp>
      <p:sp>
        <p:nvSpPr>
          <p:cNvPr id="4" name="Text 2"/>
          <p:cNvSpPr/>
          <p:nvPr>
            <p:ph idx="102" type="title" hasCustomPrompt="1"/>
          </p:nvPr>
        </p:nvSpPr>
        <p:spPr>
          <a:xfrm>
            <a:off x="548640" y="365760"/>
            <a:ext cx="944575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45720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6E4F0"/>
                </a:solidFill>
              </a:rPr>
              <a:t>pm-method 2.7.0 · Webinar E2E-2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_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A9A9A9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9A9A9"/>
                </a:solidFill>
              </a:rPr>
              <a:t>Logo IEEE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365760"/>
            <a:ext cx="9628632" cy="713232"/>
          </a:xfrm>
          <a:prstGeom prst="rect">
            <a:avLst>
              <a:gd name="adj" fmla="val 12821"/>
            </a:avLst>
          </a:prstGeom>
          <a:solidFill>
            <a:srgbClr val="00629B"/>
          </a:solidFill>
          <a:ln/>
        </p:spPr>
      </p:sp>
      <p:sp>
        <p:nvSpPr>
          <p:cNvPr id="5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6" name="Text 3"/>
          <p:cNvSpPr/>
          <p:nvPr/>
        </p:nvSpPr>
        <p:spPr>
          <a:xfrm>
            <a:off x="45720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96969"/>
                </a:solidFill>
              </a:rPr>
              <a:t>pm-method 2.7.0 · Webinar E2E-2 · Clase 1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SCURO_1">
    <p:bg>
      <p:bgPr>
        <a:solidFill>
          <a:srgbClr val="0028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solidFill>
            <a:srgbClr val="002855">
              <a:alpha val="0"/>
            </a:srgbClr>
          </a:solidFill>
          <a:ln w="12700">
            <a:solidFill>
              <a:srgbClr val="7F9BB8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F9BB8"/>
                </a:solidFill>
              </a:rPr>
              <a:t>Logo IEEE</a:t>
            </a:r>
            <a:endParaRPr lang="en-US" sz="1000" dirty="0"/>
          </a:p>
        </p:txBody>
      </p:sp>
      <p:sp>
        <p:nvSpPr>
          <p:cNvPr id="4" name="Text 2"/>
          <p:cNvSpPr/>
          <p:nvPr>
            <p:ph idx="102" type="title" hasCustomPrompt="1"/>
          </p:nvPr>
        </p:nvSpPr>
        <p:spPr>
          <a:xfrm>
            <a:off x="548640" y="1143000"/>
            <a:ext cx="11091672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45720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6E4F0"/>
                </a:solidFill>
              </a:rPr>
              <a:t>pm-method 2.7.0 · Webinar E2E-2 · Clase 1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CION_1">
    <p:bg>
      <p:bgPr>
        <a:solidFill>
          <a:srgbClr val="00629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solidFill>
            <a:srgbClr val="002855">
              <a:alpha val="0"/>
            </a:srgbClr>
          </a:solidFill>
          <a:ln w="12700">
            <a:solidFill>
              <a:srgbClr val="7F9BB8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F9BB8"/>
                </a:solidFill>
              </a:rPr>
              <a:t>Logo IEEE</a:t>
            </a:r>
            <a:endParaRPr lang="en-US" sz="1000" dirty="0"/>
          </a:p>
        </p:txBody>
      </p:sp>
      <p:sp>
        <p:nvSpPr>
          <p:cNvPr id="4" name="Text 2"/>
          <p:cNvSpPr/>
          <p:nvPr>
            <p:ph idx="102" type="title" hasCustomPrompt="1"/>
          </p:nvPr>
        </p:nvSpPr>
        <p:spPr>
          <a:xfrm>
            <a:off x="548640" y="2148840"/>
            <a:ext cx="11091672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45720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6E4F0"/>
                </a:solidFill>
              </a:rPr>
              <a:t>pm-method 2.7.0 · Webinar E2E-2 · Clase 1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1009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REGUNTA_1">
    <p:bg>
      <p:bgPr>
        <a:solidFill>
          <a:srgbClr val="0028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solidFill>
            <a:srgbClr val="002855">
              <a:alpha val="0"/>
            </a:srgbClr>
          </a:solidFill>
          <a:ln w="12700">
            <a:solidFill>
              <a:srgbClr val="7F9BB8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F9BB8"/>
                </a:solidFill>
              </a:rPr>
              <a:t>Logo IEEE</a:t>
            </a:r>
            <a:endParaRPr lang="en-US" sz="1000" dirty="0"/>
          </a:p>
        </p:txBody>
      </p:sp>
      <p:sp>
        <p:nvSpPr>
          <p:cNvPr id="4" name="Text 2"/>
          <p:cNvSpPr/>
          <p:nvPr>
            <p:ph idx="102" type="title" hasCustomPrompt="1"/>
          </p:nvPr>
        </p:nvSpPr>
        <p:spPr>
          <a:xfrm>
            <a:off x="548640" y="365760"/>
            <a:ext cx="944575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45720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6E4F0"/>
                </a:solidFill>
              </a:rPr>
              <a:t>pm-method 2.7.0 · Webinar E2E-2 · Clase 1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1010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_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A9A9A9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9A9A9"/>
                </a:solidFill>
              </a:rPr>
              <a:t>Logo IEEE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365760"/>
            <a:ext cx="9628632" cy="713232"/>
          </a:xfrm>
          <a:prstGeom prst="rect">
            <a:avLst>
              <a:gd name="adj" fmla="val 12821"/>
            </a:avLst>
          </a:prstGeom>
          <a:solidFill>
            <a:srgbClr val="00629B"/>
          </a:solidFill>
          <a:ln/>
        </p:spPr>
      </p:sp>
      <p:sp>
        <p:nvSpPr>
          <p:cNvPr id="5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6" name="Text 3"/>
          <p:cNvSpPr/>
          <p:nvPr/>
        </p:nvSpPr>
        <p:spPr>
          <a:xfrm>
            <a:off x="45720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96969"/>
                </a:solidFill>
              </a:rPr>
              <a:t>pm-method 2.7.0 · Webinar E2E-2 · Clase 2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1011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SCURO_2">
    <p:bg>
      <p:bgPr>
        <a:solidFill>
          <a:srgbClr val="0028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solidFill>
            <a:srgbClr val="002855">
              <a:alpha val="0"/>
            </a:srgbClr>
          </a:solidFill>
          <a:ln w="12700">
            <a:solidFill>
              <a:srgbClr val="7F9BB8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F9BB8"/>
                </a:solidFill>
              </a:rPr>
              <a:t>Logo IEEE</a:t>
            </a:r>
            <a:endParaRPr lang="en-US" sz="1000" dirty="0"/>
          </a:p>
        </p:txBody>
      </p:sp>
      <p:sp>
        <p:nvSpPr>
          <p:cNvPr id="4" name="Text 2"/>
          <p:cNvSpPr/>
          <p:nvPr>
            <p:ph idx="102" type="title" hasCustomPrompt="1"/>
          </p:nvPr>
        </p:nvSpPr>
        <p:spPr>
          <a:xfrm>
            <a:off x="548640" y="1143000"/>
            <a:ext cx="11091672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45720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6E4F0"/>
                </a:solidFill>
              </a:rPr>
              <a:t>pm-method 2.7.0 · Webinar E2E-2 · Clase 2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1012</a:t>
            </a:fld>
            <a:endParaRPr 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CION_2">
    <p:bg>
      <p:bgPr>
        <a:solidFill>
          <a:srgbClr val="00629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solidFill>
            <a:srgbClr val="002855">
              <a:alpha val="0"/>
            </a:srgbClr>
          </a:solidFill>
          <a:ln w="12700">
            <a:solidFill>
              <a:srgbClr val="7F9BB8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F9BB8"/>
                </a:solidFill>
              </a:rPr>
              <a:t>Logo IEEE</a:t>
            </a:r>
            <a:endParaRPr lang="en-US" sz="1000" dirty="0"/>
          </a:p>
        </p:txBody>
      </p:sp>
      <p:sp>
        <p:nvSpPr>
          <p:cNvPr id="4" name="Text 2"/>
          <p:cNvSpPr/>
          <p:nvPr>
            <p:ph idx="102" type="title" hasCustomPrompt="1"/>
          </p:nvPr>
        </p:nvSpPr>
        <p:spPr>
          <a:xfrm>
            <a:off x="548640" y="2148840"/>
            <a:ext cx="11091672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45720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6E4F0"/>
                </a:solidFill>
              </a:rPr>
              <a:t>pm-method 2.7.0 · Webinar E2E-2 · Clase 2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1013</a:t>
            </a:fld>
            <a:endParaRPr 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REGUNTA_2">
    <p:bg>
      <p:bgPr>
        <a:solidFill>
          <a:srgbClr val="0028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solidFill>
            <a:srgbClr val="002855">
              <a:alpha val="0"/>
            </a:srgbClr>
          </a:solidFill>
          <a:ln w="12700">
            <a:solidFill>
              <a:srgbClr val="7F9BB8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F9BB8"/>
                </a:solidFill>
              </a:rPr>
              <a:t>Logo IEEE</a:t>
            </a:r>
            <a:endParaRPr lang="en-US" sz="1000" dirty="0"/>
          </a:p>
        </p:txBody>
      </p:sp>
      <p:sp>
        <p:nvSpPr>
          <p:cNvPr id="4" name="Text 2"/>
          <p:cNvSpPr/>
          <p:nvPr>
            <p:ph idx="102" type="title" hasCustomPrompt="1"/>
          </p:nvPr>
        </p:nvSpPr>
        <p:spPr>
          <a:xfrm>
            <a:off x="548640" y="365760"/>
            <a:ext cx="944575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45720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6E4F0"/>
                </a:solidFill>
              </a:rPr>
              <a:t>pm-method 2.7.0 · Webinar E2E-2 · Clase 2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1014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1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1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1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00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Webinar · pm-method 2.7.0 · E2E-2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057400"/>
            <a:ext cx="10789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Alcance, cambio y mapa de ruta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52044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D6E4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 alcance por productos a la gestión por excepción, con impacto medido antes de cada decisión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4617720"/>
            <a:ext cx="3657600" cy="1325880"/>
          </a:xfrm>
          <a:prstGeom prst="roundRect">
            <a:avLst>
              <a:gd name="adj" fmla="val 6897"/>
            </a:avLst>
          </a:prstGeom>
          <a:solidFill>
            <a:srgbClr val="173D66"/>
          </a:solidFill>
          <a:ln w="12700">
            <a:solidFill>
              <a:srgbClr val="173D6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49808" y="4727448"/>
            <a:ext cx="32552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Clase 1 · 90 min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49808" y="5074920"/>
            <a:ext cx="32552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 alcance a la línea base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480560" y="4617720"/>
            <a:ext cx="3657600" cy="1325880"/>
          </a:xfrm>
          <a:prstGeom prst="roundRect">
            <a:avLst>
              <a:gd name="adj" fmla="val 6897"/>
            </a:avLst>
          </a:prstGeom>
          <a:solidFill>
            <a:srgbClr val="173D66"/>
          </a:solidFill>
          <a:ln w="12700">
            <a:solidFill>
              <a:srgbClr val="173D6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681728" y="4727448"/>
            <a:ext cx="32552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Clase 2 · 90 min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681728" y="5074920"/>
            <a:ext cx="32552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cambio bajo control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00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Clase 1 · 90 minutos</a:t>
            </a:r>
            <a:endParaRPr lang="en-US" sz="1600" dirty="0"/>
          </a:p>
        </p:txBody>
      </p:sp>
      <p:sp>
        <p:nvSpPr>
          <p:cNvPr id="3" name="Text 2"/>
          <p:cNvSpPr/>
          <p:nvPr>
            <p:ph idx="102" type="title" hasCustomPrompt="1"/>
          </p:nvPr>
        </p:nvSpPr>
        <p:spPr>
          <a:xfrm>
            <a:off x="548640" y="11430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 alcance a la línea base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2402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Objetivos de la clase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2743200"/>
            <a:ext cx="11091672" cy="772668"/>
          </a:xfrm>
          <a:prstGeom prst="roundRect">
            <a:avLst>
              <a:gd name="adj" fmla="val 11834"/>
            </a:avLst>
          </a:prstGeom>
          <a:solidFill>
            <a:srgbClr val="173D66"/>
          </a:solidFill>
          <a:ln w="12700">
            <a:solidFill>
              <a:srgbClr val="173D6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2743200"/>
            <a:ext cx="411480" cy="772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2779776"/>
            <a:ext cx="10268712" cy="6995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Leer un alcance por productos con criterios de calidad, su cobertura de trazabilidad y a qué persona sirve cada Must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3643884"/>
            <a:ext cx="11091672" cy="772668"/>
          </a:xfrm>
          <a:prstGeom prst="roundRect">
            <a:avLst>
              <a:gd name="adj" fmla="val 11834"/>
            </a:avLst>
          </a:prstGeom>
          <a:solidFill>
            <a:srgbClr val="173D66"/>
          </a:solidFill>
          <a:ln w="12700">
            <a:solidFill>
              <a:srgbClr val="173D6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" y="3643884"/>
            <a:ext cx="411480" cy="772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3680460"/>
            <a:ext cx="10268712" cy="6995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Leer un camino crítico y una reserva a 2σ calculados con tres valores y la fórmula declarada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48640" y="4544568"/>
            <a:ext cx="11091672" cy="772668"/>
          </a:xfrm>
          <a:prstGeom prst="roundRect">
            <a:avLst>
              <a:gd name="adj" fmla="val 11834"/>
            </a:avLst>
          </a:prstGeom>
          <a:solidFill>
            <a:srgbClr val="173D66"/>
          </a:solidFill>
          <a:ln w="12700">
            <a:solidFill>
              <a:srgbClr val="173D6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4544568"/>
            <a:ext cx="411480" cy="772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234440" y="4581144"/>
            <a:ext cx="10268712" cy="6995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Fijar la línea base de cambio: tolerancias, límite por cambio, presupuesto de cambio y VAN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48640" y="5445252"/>
            <a:ext cx="11091672" cy="772668"/>
          </a:xfrm>
          <a:prstGeom prst="roundRect">
            <a:avLst>
              <a:gd name="adj" fmla="val 11834"/>
            </a:avLst>
          </a:prstGeom>
          <a:solidFill>
            <a:srgbClr val="173D66"/>
          </a:solidFill>
          <a:ln w="12700">
            <a:solidFill>
              <a:srgbClr val="173D6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85800" y="5445252"/>
            <a:ext cx="411480" cy="772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234440" y="5481828"/>
            <a:ext cx="10268712" cy="6995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Leer una matriz de decisión con pesos explícitos y decir qué dice su sensibilidad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19/2 un cambio iba a llevar el presupuesto al 200 %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2331720"/>
            <a:ext cx="2612898" cy="2926080"/>
          </a:xfrm>
          <a:prstGeom prst="roundRect">
            <a:avLst>
              <a:gd name="adj" fmla="val 3500"/>
            </a:avLst>
          </a:prstGeom>
          <a:solidFill>
            <a:srgbClr val="002855"/>
          </a:solidFill>
          <a:ln w="12700">
            <a:solidFill>
              <a:srgbClr val="002855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8368" y="2532888"/>
            <a:ext cx="2210562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Venía "aprobado" de palabra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344418" y="2331720"/>
            <a:ext cx="2612898" cy="2926080"/>
          </a:xfrm>
          <a:prstGeom prst="roundRect">
            <a:avLst>
              <a:gd name="adj" fmla="val 3500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545586" y="2532888"/>
            <a:ext cx="2210562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cambio obligatorio de 15.000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231636" y="2331720"/>
            <a:ext cx="2612898" cy="2926080"/>
          </a:xfrm>
          <a:prstGeom prst="roundRect">
            <a:avLst>
              <a:gd name="adj" fmla="val 3500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32804" y="2532888"/>
            <a:ext cx="2210562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Quien lo aprobó tenía un límite de 10.000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9118854" y="2331720"/>
            <a:ext cx="2612898" cy="2926080"/>
          </a:xfrm>
          <a:prstGeom prst="roundRect">
            <a:avLst>
              <a:gd name="adj" fmla="val 3500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0022" y="2532888"/>
            <a:ext cx="2210562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¿Lo habrías frenado antes de comprometer el gasto?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48640" y="365760"/>
            <a:ext cx="94457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Mano alzada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48640" y="3131820"/>
            <a:ext cx="1188720" cy="1188720"/>
          </a:xfrm>
          <a:prstGeom prst="ellipse">
            <a:avLst/>
          </a:prstGeom>
          <a:solidFill>
            <a:srgbClr val="B5651D"/>
          </a:solidFill>
          <a:ln w="12700">
            <a:solidFill>
              <a:srgbClr val="B5651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313182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5400" dirty="0"/>
          </a:p>
        </p:txBody>
      </p:sp>
      <p:sp>
        <p:nvSpPr>
          <p:cNvPr id="5" name="Text 3"/>
          <p:cNvSpPr txBox="1"/>
          <p:nvPr/>
        </p:nvSpPr>
        <p:spPr>
          <a:xfrm>
            <a:off x="2103120" y="1417320"/>
            <a:ext cx="9537192" cy="4617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¿Cuántos tienen hoy una matriz de trazabilidad actualizada?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 uso único al control continuo</a:t>
            </a:r>
            <a:endParaRPr lang="en-US" sz="2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74552" cy="914400"/>
        </p:xfrm>
        <a:graphic>
          <a:graphicData uri="http://schemas.openxmlformats.org/drawingml/2006/table">
            <a:tbl>
              <a:tblPr/>
              <a:tblGrid>
                <a:gridCol w="2184991"/>
                <a:gridCol w="2796788"/>
                <a:gridCol w="3670784"/>
                <a:gridCol w="2621989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Actividad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Hoy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 pm-method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Indicador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Trazabilidad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Matriz armada una vez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 recalcula en cada sincronización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 de 13 requisitos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Impacto de un cambio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ojo o nunca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Tabla de impacto antes de decidir, con VAN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 días; 200 %; VAN 30.939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Elegir entre alternativas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 una reunión, sin pesos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Expediente y matriz con sensibilidad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R1: 56,2 contra 47,5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Presupuesto y autoridad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Nadie los suma; sin tope escrito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registro.py contra límite y saldo · CAM-03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15.000 sobre 10.000: rechazado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Pronóstico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Planilla al fin de etapa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Corte guardado · TOL-01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10,3 % → 22,1 %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Excepción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 explica al cierre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Informe, plan y puerta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Aprobada el 26/2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Producto antes que tarea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" y="148681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681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335024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PBS: qué se entrega; WBS: con qué trabajo y costo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2296973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1792" y="250362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1792" y="2503627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351837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Descripción de producto: qué significa terminado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3313786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368650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CA-02: consultas con p95 menor a 3 s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57200" y="4330598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" y="4537253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" y="4537253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385462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Quién acepta: Sofía Ramírez, usuaria sénior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57200" y="5347411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1792" y="555406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21792" y="555406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280160" y="5402275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paquete de la WBS cita sus requisitos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· Paso 2: WBS, descripciones y trazabilidad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8016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6969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· escribilo tal cual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627632"/>
            <a:ext cx="11274552" cy="3758184"/>
          </a:xfrm>
          <a:prstGeom prst="roundRect">
            <a:avLst>
              <a:gd name="adj" fmla="val 1946"/>
            </a:avLst>
          </a:prstGeom>
          <a:solidFill>
            <a:srgbClr val="0F2238"/>
          </a:solidFill>
          <a:ln w="12700">
            <a:solidFill>
              <a:srgbClr val="0F223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792224"/>
            <a:ext cx="1081735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Armá la WBS por productos con estos paquetes y su referencia a la especificación (USD 50 la hora): 1.1 Gestión de etapas 400 h · 2.1 Brief, PRD, UX y arquitectura (BMAD) 240 h (UJ-1, UJ-2, UJ-3) · 3.1 Acceso seguro 420 h (FR-1, FR-2, FR-11, historias 1.1 y 1.2) · 3.2 Consulta y constancias 380 h (FR-3, FR-4, FR-5, historias 1.3 y 1.4) · 3.3 Solicitudes del socio 440 h (FR-6, FR-7, FR-8, FR-12, historias 2.1 a 2.3) · 4.1 Bandeja y resolución 400 h (FR-9, FR-10, historias 3.1 a 3.3) · 5.1 UAT, prueba de carga y capacitación 200 h (NFR-2, NFR-3) · 5.2 Puesta en producción (hito). Generá el diagrama, el diccionario y la matriz de trazabilidad, y decime si queda algún requisito sin cubrir. Escribí también la descripción del producto del proyecto con los criterios de aceptación priorizados y la descripción de producto del 3.1 Acceso seguro con sus especificaciones de calidad, métodos de calidad y quién acepta.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deberías ver en el paso 2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" y="148681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681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335024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elementos, 8 hojas · 2.480 h · 124.000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2296973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1792" y="250362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1792" y="2503627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351837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Ningún requisito funcional sin historia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3313786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368650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Ninguna referencia de la WBS a ids inexistentes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57200" y="4330598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" y="4537253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" y="4537253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385462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Cobertura: 12 de 12 con historia y paquete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57200" y="5347411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1792" y="555406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21792" y="555406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280160" y="5402275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Sanidad: 0 ERROR · 0 AVISO · 0 INFO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Tres valores y camino crítico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" y="148681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681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335024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Tres estimaciones: optimista, más probable y pesimista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2296973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1792" y="250362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1792" y="2503627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351837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Beta-PERT (práctica difundida): tE = (O + 4M + P) / 6 · σ = (P − O) / 6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3313786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368650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Triangular (la que cita la Guía PMBOK): tE = (O + M + P) / 3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57200" y="4330598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" y="4537253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" y="4537253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385462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σ del camino = √Σσ² · reserva a 2σ ≈ 95 %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57200" y="5347411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1792" y="555406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21792" y="555406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280160" y="5402275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fórmula se declara; la reserva cubre la incertidumbre, no los cambios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· Paso 3: tres valores, camino crítico y reserva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8016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6969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· escribilo tal cual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627632"/>
            <a:ext cx="11274552" cy="1472184"/>
          </a:xfrm>
          <a:prstGeom prst="roundRect">
            <a:avLst>
              <a:gd name="adj" fmla="val 4969"/>
            </a:avLst>
          </a:prstGeom>
          <a:solidFill>
            <a:srgbClr val="0F2238"/>
          </a:solidFill>
          <a:ln w="12700">
            <a:solidFill>
              <a:srgbClr val="0F223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792224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Estimá con tres valores las actividades, con la fórmula beta-PERT que fijamos para el proyecto, y armá el cronograma con camino crítico desde el 30/11, con exportación a MS Project. Lucía va a validar los valores. Calculá la reserva de cronograma a 2σ del camino crítico.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Camino crítico: 112 días, fin el 5/5/2027</a:t>
            </a:r>
            <a:endParaRPr lang="en-US" sz="2400" dirty="0"/>
          </a:p>
        </p:txBody>
      </p:sp>
      <p:pic>
        <p:nvPicPr>
          <p:cNvPr id="3" name="Image 0" descr="Camino crítico: 112 días, fin el 5/5/202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05356" y="1280160"/>
            <a:ext cx="8778240" cy="49377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705356" y="1280160"/>
            <a:ext cx="8778240" cy="493776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2E2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MoSCoW: el margen del PO y a quién sirve cada Must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" y="148681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681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335024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Must: sin esto no hay producto; Should y Could, el margen del PO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2296973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1792" y="250362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1792" y="2503627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351837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Orden: MoSCoW y después valor sobre puntos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3313786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368650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Capacidad = velocidad × iteraciones: R1 47 de 48 · R2 21 de 24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57200" y="4330598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" y="4537253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" y="4537253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385462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Personas desde los recorridos de BMAD: Marta, Diego y Lucía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57200" y="5347411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1792" y="555406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21792" y="555406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280160" y="5402275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Must sin persona: FR-8 y FR-12 → ninguno (STK-13)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R1 entra con 1 punto de holgura y 88 % de Must</a:t>
            </a:r>
            <a:endParaRPr lang="en-US" sz="2400" dirty="0"/>
          </a:p>
        </p:txBody>
      </p:sp>
      <p:pic>
        <p:nvPicPr>
          <p:cNvPr id="3" name="Image 0" descr="El R1 entra con 1 punto de holgura y 88 % de Mus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05356" y="1280160"/>
            <a:ext cx="8778240" cy="49377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705356" y="1280160"/>
            <a:ext cx="8778240" cy="493776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2E2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Tres números que fija la junta</a:t>
            </a:r>
            <a:endParaRPr lang="en-US" sz="24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74552" cy="914400"/>
        </p:xfrm>
        <a:graphic>
          <a:graphicData uri="http://schemas.openxmlformats.org/drawingml/2006/table">
            <a:tbl>
              <a:tblPr/>
              <a:tblGrid>
                <a:gridCol w="3382366"/>
                <a:gridCol w="1610650"/>
                <a:gridCol w="3060236"/>
                <a:gridCol w="3221301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Elemento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Valor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Quién lo usa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Tolerancia de tiempo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±3 semanas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Gestor y junta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TOL-01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Tolerancia de costo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±8 %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Gestor y junta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TOL-01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Límite por cambio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10.000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Autoridad de cambio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registro.py · CAM-04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Presupuesto de cambio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12.000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Autoridad de cambio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registro.py · CAM-03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· Paso 5: línea base y decisión del R1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8016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6969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· escribilo tal cual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627632"/>
            <a:ext cx="11274552" cy="3186684"/>
          </a:xfrm>
          <a:prstGeom prst="roundRect">
            <a:avLst>
              <a:gd name="adj" fmla="val 2296"/>
            </a:avLst>
          </a:prstGeom>
          <a:solidFill>
            <a:srgbClr val="0F2238"/>
          </a:solidFill>
          <a:ln w="12700">
            <a:solidFill>
              <a:srgbClr val="0F223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792224"/>
            <a:ext cx="10817352" cy="285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Calculá el presupuesto desde la WBS, armá el release plan y el roadmap por etapas con las puertas, y preparame las puertas de inicio, proyecto y etapa 2. Antes de la de proyecto: documentá las tolerancias y la autoridad delegada (Sofía decide cambios de hasta 10.000 cada uno, con un presupuesto de cambio de 12.000 que fija la junta), el enfoque de beneficios (B-01 a B-03, quién los mide y cuándo) y el business case con su VAN a 5 años. En la de proyecto fijá la línea base del PRD y de las épicas, y que Sofía apruebe el backlog como línea base. Sofía pide que el R1 lleve las solicitudes del socio en lugar de la consola de operador: compará las dos alternativas con la capacidad de cada una y armame la matriz; decido yo.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deja la línea base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" y="148681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681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335024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BAC: 124.000 desde la WBS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2296973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1792" y="250362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1792" y="2503627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351837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case: VAN 39.776 a 5 años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3313786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368650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PRD, épicas y backlog v1.0 con copia congelada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57200" y="4330598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" y="4537253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" y="4537253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385462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Puerta de proyecto: L-01, P-09 y P-10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57200" y="5347411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1792" y="555406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21792" y="555406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280160" y="5402275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aviso P-04: enfoque de beneficios registrado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 5 · ¿Consola o solicitudes en el R1?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" y="148681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681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335024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A: acceso, consulta y consola · holgura 1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2296973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1792" y="250362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1792" y="2503627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351837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B: acceso, consulta y solicitudes · holgura 6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3313786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368650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holgura entra de release.py, sin recalcular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57200" y="4330598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" y="4537253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" y="4537253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385462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Pesos de la plantilla, confirmados antes de puntuar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57200" y="5347411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1792" y="555406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21792" y="555406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280160" y="5402275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56,2 · B 47,5: decide el gestor (D-003)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R1 lleva la consola, aun con menos holgura</a:t>
            </a:r>
            <a:endParaRPr lang="en-US" sz="2400" dirty="0"/>
          </a:p>
        </p:txBody>
      </p:sp>
      <p:pic>
        <p:nvPicPr>
          <p:cNvPr id="3" name="Image 0" descr="El R1 lleva la consola, aun con menos holgu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05356" y="1280160"/>
            <a:ext cx="8778240" cy="49377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705356" y="1280160"/>
            <a:ext cx="8778240" cy="493776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2E2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48640" y="365760"/>
            <a:ext cx="94457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Discusión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48640" y="3131820"/>
            <a:ext cx="1188720" cy="1188720"/>
          </a:xfrm>
          <a:prstGeom prst="ellipse">
            <a:avLst/>
          </a:prstGeom>
          <a:solidFill>
            <a:srgbClr val="B5651D"/>
          </a:solidFill>
          <a:ln w="12700">
            <a:solidFill>
              <a:srgbClr val="B5651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313182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5400" dirty="0"/>
          </a:p>
        </p:txBody>
      </p:sp>
      <p:sp>
        <p:nvSpPr>
          <p:cNvPr id="5" name="Text 3"/>
          <p:cNvSpPr txBox="1"/>
          <p:nvPr/>
        </p:nvSpPr>
        <p:spPr>
          <a:xfrm>
            <a:off x="2103120" y="1417320"/>
            <a:ext cx="9537192" cy="4617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¿Quién aprueba un cambio de 9.000? ¿Y uno de 15.000?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Ejercicio · Parte A: tu línea base de cambio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3575304" cy="2331720"/>
          </a:xfrm>
          <a:prstGeom prst="roundRect">
            <a:avLst>
              <a:gd name="adj" fmla="val 3922"/>
            </a:avLst>
          </a:prstGeom>
          <a:solidFill>
            <a:srgbClr val="FBF1E6"/>
          </a:solidFill>
          <a:ln w="12700">
            <a:solidFill>
              <a:srgbClr val="FBF1E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8368" y="1389888"/>
            <a:ext cx="731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B565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1847088"/>
            <a:ext cx="317296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Completá los tres números de tu proyecto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306824" y="1280160"/>
            <a:ext cx="3575304" cy="2331720"/>
          </a:xfrm>
          <a:prstGeom prst="roundRect">
            <a:avLst>
              <a:gd name="adj" fmla="val 3922"/>
            </a:avLst>
          </a:prstGeom>
          <a:solidFill>
            <a:srgbClr val="FBF1E6"/>
          </a:solidFill>
          <a:ln w="12700">
            <a:solidFill>
              <a:srgbClr val="FBF1E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07992" y="1389888"/>
            <a:ext cx="731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B565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4507992" y="1847088"/>
            <a:ext cx="317296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Calculá tu margen de Should/Could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8156448" y="1280160"/>
            <a:ext cx="3575304" cy="2331720"/>
          </a:xfrm>
          <a:prstGeom prst="roundRect">
            <a:avLst>
              <a:gd name="adj" fmla="val 3922"/>
            </a:avLst>
          </a:prstGeom>
          <a:solidFill>
            <a:srgbClr val="FBF1E6"/>
          </a:solidFill>
          <a:ln w="12700">
            <a:solidFill>
              <a:srgbClr val="FBF1E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57616" y="1389888"/>
            <a:ext cx="731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B565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8357616" y="1847088"/>
            <a:ext cx="317296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¿Cuándo se actualizó tu trazabilidad?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57200" y="3886200"/>
            <a:ext cx="3575304" cy="2331720"/>
          </a:xfrm>
          <a:prstGeom prst="roundRect">
            <a:avLst>
              <a:gd name="adj" fmla="val 3922"/>
            </a:avLst>
          </a:prstGeom>
          <a:solidFill>
            <a:srgbClr val="FBF1E6"/>
          </a:solidFill>
          <a:ln w="12700">
            <a:solidFill>
              <a:srgbClr val="FBF1E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58368" y="3995928"/>
            <a:ext cx="731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B565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658368" y="4453128"/>
            <a:ext cx="317296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Autoevaluate con la tabla de criterios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306824" y="3886200"/>
            <a:ext cx="3575304" cy="2331720"/>
          </a:xfrm>
          <a:prstGeom prst="roundRect">
            <a:avLst>
              <a:gd name="adj" fmla="val 3922"/>
            </a:avLst>
          </a:prstGeom>
          <a:solidFill>
            <a:srgbClr val="FBF1E6"/>
          </a:solidFill>
          <a:ln w="12700">
            <a:solidFill>
              <a:srgbClr val="FBF1E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07992" y="3995928"/>
            <a:ext cx="731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B565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600" dirty="0"/>
          </a:p>
        </p:txBody>
      </p:sp>
      <p:sp>
        <p:nvSpPr>
          <p:cNvPr id="17" name="Text 15"/>
          <p:cNvSpPr txBox="1"/>
          <p:nvPr/>
        </p:nvSpPr>
        <p:spPr>
          <a:xfrm>
            <a:off x="4507992" y="4453128"/>
            <a:ext cx="317296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minutos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48640" y="11430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Mensajes clave de la clase 1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194560"/>
            <a:ext cx="11091672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pPr indent="0" marL="0">
              <a:spcAft>
                <a:spcPts val="1200"/>
              </a:spcAft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alcance es una lista de productos con criterios</a:t>
            </a:r>
            <a:endParaRPr lang="en-US" sz="16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pPr indent="0" marL="0">
              <a:spcAft>
                <a:spcPts val="1200"/>
              </a:spcAft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trazabilidad sirve si se recalcula</a:t>
            </a:r>
            <a:endParaRPr lang="en-US" sz="16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pPr indent="0" marL="0">
              <a:spcAft>
                <a:spcPts val="1200"/>
              </a:spcAft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línea base de cambio son tres números de la junta</a:t>
            </a:r>
            <a:endParaRPr lang="en-US" sz="16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pPr indent="0" marL="0">
              <a:spcAft>
                <a:spcPts val="1200"/>
              </a:spcAft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decisión con alternativas deja escrito su costo</a:t>
            </a:r>
            <a:endParaRPr lang="en-US" sz="16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pPr indent="0" marL="0">
              <a:spcAft>
                <a:spcPts val="1200"/>
              </a:spcAft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Próxima clase: tres cambios bajo control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00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Clase 2 · 90 minutos</a:t>
            </a:r>
            <a:endParaRPr lang="en-US" sz="1600" dirty="0"/>
          </a:p>
        </p:txBody>
      </p:sp>
      <p:sp>
        <p:nvSpPr>
          <p:cNvPr id="3" name="Text 2"/>
          <p:cNvSpPr/>
          <p:nvPr>
            <p:ph idx="102" type="title" hasCustomPrompt="1"/>
          </p:nvPr>
        </p:nvSpPr>
        <p:spPr>
          <a:xfrm>
            <a:off x="548640" y="11430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cambio bajo control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2402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Objetivos de la clase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2743200"/>
            <a:ext cx="11091672" cy="772668"/>
          </a:xfrm>
          <a:prstGeom prst="roundRect">
            <a:avLst>
              <a:gd name="adj" fmla="val 11834"/>
            </a:avLst>
          </a:prstGeom>
          <a:solidFill>
            <a:srgbClr val="173D66"/>
          </a:solidFill>
          <a:ln w="12700">
            <a:solidFill>
              <a:srgbClr val="173D6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2743200"/>
            <a:ext cx="411480" cy="772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2779776"/>
            <a:ext cx="10268712" cy="6995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Distinguir los tres caminos de un cambio y su dueño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3643884"/>
            <a:ext cx="11091672" cy="772668"/>
          </a:xfrm>
          <a:prstGeom prst="roundRect">
            <a:avLst>
              <a:gd name="adj" fmla="val 11834"/>
            </a:avLst>
          </a:prstGeom>
          <a:solidFill>
            <a:srgbClr val="173D66"/>
          </a:solidFill>
          <a:ln w="12700">
            <a:solidFill>
              <a:srgbClr val="173D6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" y="3643884"/>
            <a:ext cx="411480" cy="772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3680460"/>
            <a:ext cx="10268712" cy="6995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Armar una tabla de impacto antes de decidir, con el VAN del business case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48640" y="4544568"/>
            <a:ext cx="11091672" cy="772668"/>
          </a:xfrm>
          <a:prstGeom prst="roundRect">
            <a:avLst>
              <a:gd name="adj" fmla="val 11834"/>
            </a:avLst>
          </a:prstGeom>
          <a:solidFill>
            <a:srgbClr val="173D66"/>
          </a:solidFill>
          <a:ln w="12700">
            <a:solidFill>
              <a:srgbClr val="173D6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4544568"/>
            <a:ext cx="411480" cy="772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234440" y="4581144"/>
            <a:ext cx="10268712" cy="6995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Reconocer y recorrer una excepción hasta la puerta de la junta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48640" y="5445252"/>
            <a:ext cx="11091672" cy="772668"/>
          </a:xfrm>
          <a:prstGeom prst="roundRect">
            <a:avLst>
              <a:gd name="adj" fmla="val 11834"/>
            </a:avLst>
          </a:prstGeom>
          <a:solidFill>
            <a:srgbClr val="173D66"/>
          </a:solidFill>
          <a:ln w="12700">
            <a:solidFill>
              <a:srgbClr val="173D6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85800" y="5445252"/>
            <a:ext cx="411480" cy="772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234440" y="5481828"/>
            <a:ext cx="10268712" cy="6995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Leer la matriz que recibe la junta: eliminatorios, dominadas y pregunta tipada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¿Quién aprobó esto y cuándo se enteró la junta?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2331720"/>
            <a:ext cx="2612898" cy="2926080"/>
          </a:xfrm>
          <a:prstGeom prst="roundRect">
            <a:avLst>
              <a:gd name="adj" fmla="val 3500"/>
            </a:avLst>
          </a:prstGeom>
          <a:solidFill>
            <a:srgbClr val="002855"/>
          </a:solidFill>
          <a:ln w="12700">
            <a:solidFill>
              <a:srgbClr val="002855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8368" y="2532888"/>
            <a:ext cx="2210562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Presupuesto de cambio: 12.000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344418" y="2331720"/>
            <a:ext cx="2612898" cy="2926080"/>
          </a:xfrm>
          <a:prstGeom prst="roundRect">
            <a:avLst>
              <a:gd name="adj" fmla="val 3500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545586" y="2532888"/>
            <a:ext cx="2210562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Límite por cambio: 10.000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231636" y="2331720"/>
            <a:ext cx="2612898" cy="2926080"/>
          </a:xfrm>
          <a:prstGeom prst="roundRect">
            <a:avLst>
              <a:gd name="adj" fmla="val 3500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32804" y="2532888"/>
            <a:ext cx="2210562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Tolerancia de tiempo: ±3 semanas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9118854" y="2331720"/>
            <a:ext cx="2612898" cy="2926080"/>
          </a:xfrm>
          <a:prstGeom prst="roundRect">
            <a:avLst>
              <a:gd name="adj" fmla="val 3500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0022" y="2532888"/>
            <a:ext cx="2210562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Mirá la barra roja de la próxima diapositiva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saldo para C-002: quedó pendiente de la junta</a:t>
            </a:r>
            <a:endParaRPr lang="en-US" sz="2400" dirty="0"/>
          </a:p>
        </p:txBody>
      </p:sp>
      <p:pic>
        <p:nvPicPr>
          <p:cNvPr id="3" name="Image 0" descr="Sin saldo para C-002: quedó pendiente de la junt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05356" y="1280160"/>
            <a:ext cx="8778240" cy="49377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705356" y="1280160"/>
            <a:ext cx="8778240" cy="493776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2E2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Tres caminos de un cambio</a:t>
            </a:r>
            <a:endParaRPr lang="en-US" sz="24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74552" cy="914400"/>
        </p:xfrm>
        <a:graphic>
          <a:graphicData uri="http://schemas.openxmlformats.org/drawingml/2006/table">
            <a:tbl>
              <a:tblPr/>
              <a:tblGrid>
                <a:gridCol w="2060940"/>
                <a:gridCol w="2303403"/>
                <a:gridCol w="5212965"/>
                <a:gridCol w="169724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Camino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Quién decide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Cuándo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 el caso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Intercambio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Product owner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Should/Could sin tocar Must, fecha ni costo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D-010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Cambio de alcance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Autoridad de cambio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Dentro del límite y del saldo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C-001 · 9.000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Excepción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Junta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Supera límite, presupuesto o tolerancia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C-002 · 15.000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 6 · El intercambio del product owner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" y="148681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681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335024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2.3 (Could) pasa a R1 y la 1.4 (Should) a R2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2296973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1792" y="250362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1792" y="2503627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351837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tocar Must, fecha ni costo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3313786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368650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Decisión D-010, nivel product-owner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57200" y="4330598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" y="4537253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" y="4537253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385462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solicitud de cambio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57200" y="5347411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1792" y="555406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21792" y="555406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280160" y="5402275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Traspaso de prioridades a BMAD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· Paso 7: cambio de alcance con análisis de impacto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8016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6969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· escribilo tal cual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627632"/>
            <a:ext cx="11274552" cy="2329434"/>
          </a:xfrm>
          <a:prstGeom prst="roundRect">
            <a:avLst>
              <a:gd name="adj" fmla="val 3140"/>
            </a:avLst>
          </a:prstGeom>
          <a:solidFill>
            <a:srgbClr val="0F2238"/>
          </a:solidFill>
          <a:ln w="12700">
            <a:solidFill>
              <a:srgbClr val="0F223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792224"/>
            <a:ext cx="10817352" cy="2000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Verificá la especificación contra la línea base. Si hay algo nuevo, registralo como solicitud de cambio y analizá el impacto antes de decidir: paquete de la WBS nuevo, esfuerzo, camino crítico, reserva de cronograma, costo, presupuesto de cambio, autoridad, capacidad del release, business case y a qué personas de usuario afecta. Estimá el simulador en O 8, M 10, P 16 días después de los sprints de solicitudes; Sofía estima que suma 4.000 por año al beneficio B-03. Si la reserva de cronograma queda chica, registralo como riesgo.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impacto.py sobre C-001: decide la autoridad de cambio</a:t>
            </a:r>
            <a:endParaRPr lang="en-US" sz="24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74552" cy="914400"/>
        </p:xfrm>
        <a:graphic>
          <a:graphicData uri="http://schemas.openxmlformats.org/drawingml/2006/table">
            <a:tbl>
              <a:tblPr/>
              <a:tblGrid>
                <a:gridCol w="2492269"/>
                <a:gridCol w="2610949"/>
                <a:gridCol w="3441705"/>
                <a:gridCol w="272962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Objetivo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 C-001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Contra qué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Lectura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Tiempo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123 días (+11)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±3 semanas = 15 días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Dentro: 73 %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Reserva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13,0 − 11 = 2,0 días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Atraso posible (tres valores)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Registrar riesgo: R-001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Capacidad del R2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 pts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Velocidad 8 × 3 sprints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 sprint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Presupuesto de cambio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9.000 de 12.000 (75 %)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Saldo de la junta (CAM-03)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Dentro del saldo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Autoridad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9.000 en este cambio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Límite 10.000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Dentro: decide Sofía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Beneficios (VAN)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45.939 (+6.163)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VAN de la línea base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favor: suma valor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C-001 no mueve el Release 1 y corre 11 días la puesta en producción</a:t>
            </a:r>
            <a:endParaRPr lang="en-US" sz="2400" dirty="0"/>
          </a:p>
        </p:txBody>
      </p:sp>
      <p:pic>
        <p:nvPicPr>
          <p:cNvPr id="3" name="Image 0" descr="C-001 no mueve el Release 1 y corre 11 días la puesta en producció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05356" y="1280160"/>
            <a:ext cx="8778240" cy="49377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705356" y="1280160"/>
            <a:ext cx="8778240" cy="493776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2E2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Tras C-001: 13 de 13 requisitos con historia y paquete</a:t>
            </a:r>
            <a:endParaRPr lang="en-US" sz="2400" dirty="0"/>
          </a:p>
        </p:txBody>
      </p:sp>
      <p:pic>
        <p:nvPicPr>
          <p:cNvPr id="3" name="Image 0" descr="Tras C-001: 13 de 13 requisitos con historia y paque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05356" y="1280160"/>
            <a:ext cx="8778240" cy="49377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705356" y="1280160"/>
            <a:ext cx="8778240" cy="493776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2E2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 9 · EVM ágil: alcance que no entra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" y="148681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681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335024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Corte 29/1: SPI 0,867 · CPI 0,897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2296973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1792" y="250362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1792" y="2503627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351837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costo y fecha fijos, EAC &gt; BAC = alcance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3313786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368650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entra el 10,3 %: menos que el 20 % de margen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57200" y="4330598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" y="4537253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" y="4537253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385462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SPI &lt; 0,90 activa el disparador de R-001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57200" y="5347411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1792" y="555406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21792" y="555406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280160" y="5402275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Q-001 cubre lo terminado: sin QUA-01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· Paso 10: el cambio que excede la autoridad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8016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6969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· escribilo tal cual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627632"/>
            <a:ext cx="11274552" cy="3186684"/>
          </a:xfrm>
          <a:prstGeom prst="roundRect">
            <a:avLst>
              <a:gd name="adj" fmla="val 2296"/>
            </a:avLst>
          </a:prstGeom>
          <a:solidFill>
            <a:srgbClr val="0F2238"/>
          </a:solidFill>
          <a:ln w="12700">
            <a:solidFill>
              <a:srgbClr val="0F223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792224"/>
            <a:ext cx="10817352" cy="285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Registrá el requisito regulatorio como solicitud de cambio: paquete nuevo 3.5, 13 puntos Must en R1, +1 sprint en la etapa 2, USD 15.000, sin beneficio propio. Sofía lo aprobó el 17/2 porque es obligatorio: registralo. Guardá el corte de EVM del 19/2 (PV 75.000, EV 60.000, AC 77.000, BAC 133.000, ágil, 20 % Should/Could), corré sanidad al 19/2 y analizá el impacto de C-002 (refuerza NFR-1 y NFR-5; para hacerle lugar en R1 saldría la 2.3) con su efecto en el business case: decime quién tiene que decidirlo. Si hay excepción, prepará el informe de excepción para la junta y registrá el issue. Medí también la opción de diferirlo al R2 y armá la matriz de decisión para la junta: rechazar, diferir o pedir plan de excepción.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19/2: la aprobación fuera de la autoridad no se registra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" y="148681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681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335024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registro.py rechaza la aprobación de Sofía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2296973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1792" y="250362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1792" y="2503627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351837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15.000 supera su límite de 10.000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3313786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368650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saldo: 24.000 de 12.000 (200 %)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57200" y="4330598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" y="4537253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" y="4537253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385462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C-002 queda pendiente-decision y se escala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57200" y="5347411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1792" y="555406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21792" y="555406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280160" y="5402275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AVISO TOL-01: alcance en rojo, sin excepción abierta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impacto.py sobre C-002: decide la junta</a:t>
            </a:r>
            <a:endParaRPr lang="en-US" sz="24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74552" cy="914400"/>
        </p:xfrm>
        <a:graphic>
          <a:graphicData uri="http://schemas.openxmlformats.org/drawingml/2006/table">
            <a:tbl>
              <a:tblPr/>
              <a:tblGrid>
                <a:gridCol w="2518783"/>
                <a:gridCol w="2878609"/>
                <a:gridCol w="2758667"/>
                <a:gridCol w="3118493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Objetivo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 C-002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Contra qué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Lectura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Presupuesto de cambio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24.000 de 12.000 (200 %)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Saldo de la junta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alcanza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Autoridad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15.000 en este cambio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Límite 10.000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Excede la autoridad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Capacidad del R1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 pts (sin la 2-3)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Velocidad 8 × 6 sprints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 sprint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Tiempo de la etapa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 2027-03-19 (+14)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±10 % = 9,8 días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Fuera → excepción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Alcance (EVM)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entra el 22,1 %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Margen 20 %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Must en riesgo → excepción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Beneficios (VAN)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30.939 (−15.000)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Tolerancia −10 %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Justificado, B-01 −18 %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C-002 supera los cinco límites del análisis</a:t>
            </a:r>
            <a:endParaRPr lang="en-US" sz="2400" dirty="0"/>
          </a:p>
        </p:txBody>
      </p:sp>
      <p:pic>
        <p:nvPicPr>
          <p:cNvPr id="3" name="Image 0" descr="C-002 supera los cinco límites del análisi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05356" y="1280160"/>
            <a:ext cx="8778240" cy="49377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705356" y="1280160"/>
            <a:ext cx="8778240" cy="493776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2E2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junta elige el plan de excepción con la matriz</a:t>
            </a:r>
            <a:endParaRPr lang="en-US" sz="2400" dirty="0"/>
          </a:p>
        </p:txBody>
      </p:sp>
      <p:pic>
        <p:nvPicPr>
          <p:cNvPr id="3" name="Image 0" descr="La junta elige el plan de excepción con la matriz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05356" y="1280160"/>
            <a:ext cx="8778240" cy="49377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705356" y="1280160"/>
            <a:ext cx="8778240" cy="493776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2E2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los dos cambios el business case sigue justificado</a:t>
            </a:r>
            <a:endParaRPr lang="en-US" sz="2400" dirty="0"/>
          </a:p>
        </p:txBody>
      </p:sp>
      <p:pic>
        <p:nvPicPr>
          <p:cNvPr id="3" name="Image 0" descr="Con los dos cambios el business case sigue justificad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05356" y="1280160"/>
            <a:ext cx="8778240" cy="49377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705356" y="1280160"/>
            <a:ext cx="8778240" cy="493776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2E2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ruta de la excepción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" y="148681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681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335024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19/2: informe de excepción X-001 e issue I-003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2296973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1792" y="250362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1792" y="2503627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351837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22/2: la junta elige con la matriz (D-013); límite de etapa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3313786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368650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24/2: plan y business case actualizado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57200" y="4330598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" y="4537253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" y="4537253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385462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26/2: presupuesto de 32.000 y C-002 aprobado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57200" y="5347411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1792" y="555406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21792" y="555406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280160" y="5402275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26/2: puerta aprobada; REG-09 y revisión de R-001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48640" y="365760"/>
            <a:ext cx="94457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Discusión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48640" y="3131820"/>
            <a:ext cx="1188720" cy="1188720"/>
          </a:xfrm>
          <a:prstGeom prst="ellipse">
            <a:avLst/>
          </a:prstGeom>
          <a:solidFill>
            <a:srgbClr val="B5651D"/>
          </a:solidFill>
          <a:ln w="12700">
            <a:solidFill>
              <a:srgbClr val="B5651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313182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5400" dirty="0"/>
          </a:p>
        </p:txBody>
      </p:sp>
      <p:sp>
        <p:nvSpPr>
          <p:cNvPr id="5" name="Text 3"/>
          <p:cNvSpPr txBox="1"/>
          <p:nvPr/>
        </p:nvSpPr>
        <p:spPr>
          <a:xfrm>
            <a:off x="2103120" y="1417320"/>
            <a:ext cx="9537192" cy="4617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Sofía aprobó C-002 porque era obligatorio. ¿Estuvo mal?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 26/2 cada cambio quedó medido; la reserva casi se agotó</a:t>
            </a:r>
            <a:endParaRPr lang="en-US" sz="2400" dirty="0"/>
          </a:p>
        </p:txBody>
      </p:sp>
      <p:pic>
        <p:nvPicPr>
          <p:cNvPr id="3" name="Image 0" descr="Al 26/2 cada cambio quedó medido; la reserva casi se agotó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05356" y="1280160"/>
            <a:ext cx="8778240" cy="49377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705356" y="1280160"/>
            <a:ext cx="8778240" cy="493776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2E2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Ejercicio · Parte B: la tabla de impacto de tu cambio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3575304" cy="2331720"/>
          </a:xfrm>
          <a:prstGeom prst="roundRect">
            <a:avLst>
              <a:gd name="adj" fmla="val 3922"/>
            </a:avLst>
          </a:prstGeom>
          <a:solidFill>
            <a:srgbClr val="FBF1E6"/>
          </a:solidFill>
          <a:ln w="12700">
            <a:solidFill>
              <a:srgbClr val="FBF1E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8368" y="1389888"/>
            <a:ext cx="731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B565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1847088"/>
            <a:ext cx="317296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Elegí un cambio real ya aprobado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306824" y="1280160"/>
            <a:ext cx="3575304" cy="2331720"/>
          </a:xfrm>
          <a:prstGeom prst="roundRect">
            <a:avLst>
              <a:gd name="adj" fmla="val 3922"/>
            </a:avLst>
          </a:prstGeom>
          <a:solidFill>
            <a:srgbClr val="FBF1E6"/>
          </a:solidFill>
          <a:ln w="12700">
            <a:solidFill>
              <a:srgbClr val="FBF1E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07992" y="1389888"/>
            <a:ext cx="731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B565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4507992" y="1847088"/>
            <a:ext cx="317296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Completá la tabla como si fuera antes de decidir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8156448" y="1280160"/>
            <a:ext cx="3575304" cy="2331720"/>
          </a:xfrm>
          <a:prstGeom prst="roundRect">
            <a:avLst>
              <a:gd name="adj" fmla="val 3922"/>
            </a:avLst>
          </a:prstGeom>
          <a:solidFill>
            <a:srgbClr val="FBF1E6"/>
          </a:solidFill>
          <a:ln w="12700">
            <a:solidFill>
              <a:srgbClr val="FBF1E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57616" y="1389888"/>
            <a:ext cx="731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B565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8357616" y="1847088"/>
            <a:ext cx="317296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¿Qué camino le correspondía?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57200" y="3886200"/>
            <a:ext cx="3575304" cy="2331720"/>
          </a:xfrm>
          <a:prstGeom prst="roundRect">
            <a:avLst>
              <a:gd name="adj" fmla="val 3922"/>
            </a:avLst>
          </a:prstGeom>
          <a:solidFill>
            <a:srgbClr val="FBF1E6"/>
          </a:solidFill>
          <a:ln w="12700">
            <a:solidFill>
              <a:srgbClr val="FBF1E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58368" y="3995928"/>
            <a:ext cx="731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B565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658368" y="4453128"/>
            <a:ext cx="317296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Compará con quién lo aprobó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306824" y="3886200"/>
            <a:ext cx="3575304" cy="2331720"/>
          </a:xfrm>
          <a:prstGeom prst="roundRect">
            <a:avLst>
              <a:gd name="adj" fmla="val 3922"/>
            </a:avLst>
          </a:prstGeom>
          <a:solidFill>
            <a:srgbClr val="FBF1E6"/>
          </a:solidFill>
          <a:ln w="12700">
            <a:solidFill>
              <a:srgbClr val="FBF1E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07992" y="3995928"/>
            <a:ext cx="731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B565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600" dirty="0"/>
          </a:p>
        </p:txBody>
      </p:sp>
      <p:sp>
        <p:nvSpPr>
          <p:cNvPr id="17" name="Text 15"/>
          <p:cNvSpPr txBox="1"/>
          <p:nvPr/>
        </p:nvSpPr>
        <p:spPr>
          <a:xfrm>
            <a:off x="4507992" y="4453128"/>
            <a:ext cx="317296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minutos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48640" y="11430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Mensajes clave de la clase 2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194560"/>
            <a:ext cx="11091672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pPr indent="0" marL="0">
              <a:spcAft>
                <a:spcPts val="1200"/>
              </a:spcAft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Tres caminos, tres dueños: PO, autoridad de cambio, junta</a:t>
            </a:r>
            <a:endParaRPr lang="en-US" sz="16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pPr indent="0" marL="0">
              <a:spcAft>
                <a:spcPts val="1200"/>
              </a:spcAft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impacto se mira antes, en todos los objetivos, y dice quién decide</a:t>
            </a:r>
            <a:endParaRPr lang="en-US" sz="16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pPr indent="0" marL="0">
              <a:spcAft>
                <a:spcPts val="1200"/>
              </a:spcAft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Obligatorio no define quién decide</a:t>
            </a:r>
            <a:endParaRPr lang="en-US" sz="16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pPr indent="0" marL="0">
              <a:spcAft>
                <a:spcPts val="1200"/>
              </a:spcAft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junta decide con la matriz, no con la urgencia</a:t>
            </a:r>
            <a:endParaRPr lang="en-US" sz="16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pPr indent="0" marL="0">
              <a:spcAft>
                <a:spcPts val="1200"/>
              </a:spcAft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Siguiente caso, E2E-3: interesados y comunicación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Glosario (1/3)</a:t>
            </a:r>
            <a:endParaRPr lang="en-US" sz="24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548640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35204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Término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Definición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Alcance que no entra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 EVM ágil, parte del alcance que al ritmo actual no se entrega con el costo y la fecha fijos.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Análisis de impacto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Medición de un cambio antes de decidirlo (tiempo, reserva, capacidad, costo, presupuesto, autoridad y VAN) que dice qué nivel decide; impacto.py deja el borrador de la solicitud (impact assessment).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Autoridad de cambio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Persona o grupo al que la junta delega decidir cambios dentro de un límite y un presupuesto (change authority).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Presupuesto a la conclusión (budget at completion); en el caso, 124.000 y 133.000 tras C-001.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280160"/>
          <a:ext cx="548640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35204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Término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Definición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Business case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Justificación del proyecto: costos, beneficios, riesgos y opciones. Se verifica en cada puerta y se actualiza con un plan de excepción.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Camino crítico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Cadena de actividades sin holgura: si una se atrasa, se atrasa el fin del proyecto.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Descripción de producto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Documento que fija qué significa terminado para un producto: medidas, tolerancias de calidad y quién acepta (product description).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Estimación de tres valores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Optimista, más probable y pesimista por actividad. Beta-PERT (la del caso): tE = (O + 4M + P)/6 y σ = (P − O)/6; triangular (la que cita la Guía PMBOK): tE = (O + M + P)/3. La fórmula se declara en el plan.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Glosario (2/3)</a:t>
            </a:r>
            <a:endParaRPr lang="en-US" sz="240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548640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35204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Término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Definición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Gestión por excepción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Cada nivel decide dentro de su tolerancia y escala solo cuando un pronóstico la supera (management by exception): el informe de excepción avisa a la junta con opciones y recomendación y, si la junta lo pide, el plan de excepción reemplaza al vigente y se aprueba en una puerta.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Intercambio del product owner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Cambio de Should/Could equivalentes sin tocar Must, fecha ni costo; no requiere solicitud de cambio.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Línea base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Versión aprobada del alcance, el cronograma o el costo contra la que se mide todo cambio.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280160"/>
          <a:ext cx="548640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35204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Término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Definición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Matriz de decisión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Comparación de alternativas con pesos explícitos: puntaje = Σ peso × valor normalizado. Los eliminatorios sacan opciones, la sensibilidad dice cuánto habría que mover un peso para que gane otra y la pregunta tipada solo acepta una opción evaluada.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MoSCoW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Clasificación del alcance en Must, Should, Could y Won't; Should y Could son el margen del product owner. Must y Should tienen que entrar en la capacidad del release (velocidad × iteraciones).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PBS (estructura de productos)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Descomposición de lo que el proyecto entrega, producto por producto (product breakdown structure).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Persona de usuario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Arquetipo de quien usa el producto, con objetivo, contexto y dolores; no es un interesado. Sirve para comprobar que cada Must le sirve a alguien (user persona).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Glosario (3/3)</a:t>
            </a:r>
            <a:endParaRPr lang="en-US" sz="2400" dirty="0"/>
          </a:p>
        </p:txBody>
      </p:sp>
      <p:graphicFrame>
        <p:nvGraphicFramePr>
          <p:cNvPr id="4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548640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35204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Término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Definición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Presupuesto de cambio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Monto que la junta reserva para pagar cambios aprobados, separado de la reserva de riesgo (change budget).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Puerta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Decisión formal de la junta; pm-method la verifica y la bloquea si sanidad tiene un ERROR.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Reserva de cronograma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Margen para la incertidumbre de las estimaciones del camino crítico; en el caso, 2σ = 13,0 días.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Sanidad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Conjunto de controles automáticos de pm-method (sanidad.py) que marcan ERROR, AVISO o INFO con un código.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Solicitud de cambio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Pedido formal de cambiar una línea base, registrado como issue y como cambio con su impacto (request for change).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280160"/>
          <a:ext cx="548640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35204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Término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Definición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Tolerancia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Desvío que un nivel de gestión puede absorber sin escalar al nivel de arriba (tolerance).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Trazabilidad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Relación requisito → historia → paquete de la WBS; en pm-method se recalcula en cada sincronización con BMAD.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Valor ganado (EVM)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Técnica que compara lo planificado (PV), lo ganado (EV) y lo gastado (AC) para pronosticar.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VAN (valor actual neto)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Suma de los flujos de cada año descontados a la tasa de la organización. Positivo: el proyecto crea valor. En el caso, lo calcula inversion.py.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WBS (estructura de desglose del trabajo)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 PBS con el trabajo, el esfuerzo y el costo de cada paquete; su suma da el BAC.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ebinar pm-method">
  <a:themeElements>
    <a:clrScheme name="Webinar pm-method">
      <a:dk1>
        <a:srgbClr val="272425"/>
      </a:dk1>
      <a:lt1>
        <a:srgbClr val="FFFFFF"/>
      </a:lt1>
      <a:dk2>
        <a:srgbClr val="002855"/>
      </a:dk2>
      <a:lt2>
        <a:srgbClr val="F4F6F8"/>
      </a:lt2>
      <a:accent1>
        <a:srgbClr val="00629B"/>
      </a:accent1>
      <a:accent2>
        <a:srgbClr val="B5651D"/>
      </a:accent2>
      <a:accent3>
        <a:srgbClr val="002855"/>
      </a:accent3>
      <a:accent4>
        <a:srgbClr val="696969"/>
      </a:accent4>
      <a:accent5>
        <a:srgbClr val="272425"/>
      </a:accent5>
      <a:accent6>
        <a:srgbClr val="00629B"/>
      </a:accent6>
      <a:hlink>
        <a:srgbClr val="00629B"/>
      </a:hlink>
      <a:folHlink>
        <a:srgbClr val="002855"/>
      </a:folHlink>
    </a:clrScheme>
    <a:fontScheme name="Webinar pm-method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Webinar E2E-2 · Alcance, cambio y mapa de ruta</dc:title>
  <dc:subject>pm-method 2.7.0</dc:subject>
  <dc:creator>pm-method</dc:creator>
  <cp:lastModifiedBy>pm-method</cp:lastModifiedBy>
  <cp:revision>1</cp:revision>
  <dcterms:created xsi:type="dcterms:W3CDTF">2026-10-30T05:54:33Z</dcterms:created>
  <dcterms:modified xsi:type="dcterms:W3CDTF">2026-10-30T05:54:33Z</dcterms:modified>
</cp:coreProperties>
</file>