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7796ab51-2e99-f3ec-9763-1cdfbd5b4f74}">
          <p14:sldIdLst>
            <p14:sldId id="256"/>
          </p14:sldIdLst>
        </p14:section>
        <p14:section name="Clase 1 · Del taller al plan de respuesta" id="{fbdfc4dc-45d6-a5ef-100a-dc7e22b0a71b}">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Lst>
        </p14:section>
        <p14:section name="Clase 2 · El control continuo" id="{89b37457-312f-7d95-3313-53e881f6b0a7}">
          <p14:sldIdLst>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Lst>
        </p14:section>
        <p14:section name="Glosario" id="{cbd5073d-e131-364d-d3b8-b1a9d5c7890e}">
          <p14:sldIdLst>
            <p14:sldId id="299"/>
            <p14:sldId id="300"/>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E2E-1: Ciclo completo de gestión de riesgos. 2 clases de 90 minutos. Presentá el problema que resuelve el caso y qué se van a llevar los asistentes.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Clase 1 (90 minutos): Del taller al plan de respuesta. Objetivos: Explicar qué decide la junta antes del taller: apetito, tolerancia, reserva y cadencia; Identificar riesgos con cita de origen, con y sin BMAD; Comparar opciones de respuesta por valor neto y, cuando no alcanza, con una matriz multicriterio y su sensibilidad; Registrar la decisión de quien corresponde según PRINCE2 y la RACI, y avisar a los informados; Escribir un plan de contingencia listo para activar; Calcular un presupuesto de riesgo con fórmula.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Contar el resultado antes del método. No mostrar todavía el gráfico: llega con el paso 6a. El SLA baja la probabilidad, pero la penalidad (tope de USD 2.000 por mes) no cubre el atraso. Después, la pregunta a mano alzada.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esperan pocas manos. El registro nace en el taller y se congela: es el problema que resuelve la clase 2. Hoy construimos lo que la hace posible.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el mapa de las dos clases. Hoy cubrimos las tres primeras filas y preparamos la reserva; la clase 2 recorre el resto. Cada fila tiene su control: no depende de que alguien se acuerde.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1 a 3. La ejecutiva decide las reglas antes de que aparezca el primer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versión mínima de la plantilla enfoque-riesgo. Lo que importa es que quede aprobado por la ejecutiva con fecha. Todo lo que vigila la sanidad después sale de estas cinco líneas.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vivo. Mostrar que el sistema deja la propuesta en revisión (v0.1) y que solo con la respuesta de la ejecutiva se congela la v1.0 (D-001, D-002). Si pregunta quién aprueba: Laura Méndez, ejecutiva, hoy 2026-10-28.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4, 15 y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vivo el prompt de descubrimiento. Señalar la cobertura: bmad 42 candidatos de 3 fuentes y transcripciones 6 candidatos. Leer una cita con hablante y marca de tiempo. El taller se muestra con la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15 con evidencia. Cualquier proyecto tiene fuentes: lo que cambia es de dónde se leen. Ninguna fuente da riesgos listos; da candidatos que el taller formula y evalúa.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Exposición de amenazas: 53.600, bajo la tolerancia de 60.000. Pero la sanidad ya avisa REG-06 para R-001 y R-003: la regla de ningún alto sin respuesta se incumple. R-006 es una oportunidad y no suma a la exposición.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6a, 6b y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vivo. Pegar debajo del prompt las dos tablas de la guía: datos de las opciones y puntajes de la matriz de R-003. Primero riesgos.py opciones (★ O2 para R-001, ★ O4 para R-003); R-001 se decide ahí (D-003). Para R-003: el expediente (quién decide, apetito citado, RACI de 3.1, cifras sin recalcular), la hoja con el valor neto importado y la matriz: O4 82,5, O2 55,4, O1 y O3 dominadas, aceptar eliminada por el apetito. Diego elige O4 (D-004): es el A de 3.1, el script recuerda a los C y deja dos borradores de aviso (Laura y el sindicato), sin enviar nada. REG-10: falta el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 neto = EMV inherente − EMV residual − EMV del secundario − costo. Evitar deja el menor residual en los dos riesgos, pero cuesta más y crea un secundario. El SLA de R-003 queda en 700. La contingencia de R-003 entra con sus 12.000 ponderados al 50 % y aun así gana. La recomendada es una propuesta: decide el propietario.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línea es una respuesta a R-003; el eje horizontal, el peso del apetito (acordado: 25). Las líneas de O4 y O2 se cruzan en 51,4: habría que duplicar el peso para cambiar la recomendación, así que no depende de un peso acomodado. Evitar y transferir no ganan con ningún peso (dominadas). Los pesos se fijan antes de puntuar; moverlos después de ver el resultado es la trampa que la sensibilidad deja a la vista.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vivo. Señalar las partes del plan: disparador y alerta temprana, acciones con ejecutor y plazo, monto y fuente, quién lo autoriza (Laura, porque 12.000 supera los 5.000 del gestor) y plan alternativo. Con el plan escrito, la sanidad del 4/11 da 0 avisos. Las respuestas de R-002, R-004, R-005 y R-006 se muestran con la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Izquierda: 5 amenazas del taller, 2 en zona alta. Derecha: las mismas 5 con las respuestas elegidas, ninguna en zona alta. Con USD 7.300 en respuestas, la exposición planificada baja de 53.600 a 32.500 (g1-exposicion-respuestas.png en la guía). El borde rojo marca P×I mayor o igual a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presupuesto sale de una fórmula escrita en el enfoque, no de un porcentaje. La contingencia no se paga hoy, pero su monto ya está previsto en la reserva. La provisión para lo no identificado no se mezcla: va a la reserva de gestión, que solo libera la junta. Desde este momento cada uso de la reserva pasa por cambios.csv con su riesgo citado, y la sanidad lo suma sola.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esperada: cuesta USD 6.000 y crea un riesgo secundario sobre B-01 (EMV 6.000): valor neto 7.800 frente a 10.000 de reducir. El residual más bajo no es la mejor respuesta si cuesta más de lo que ahorra.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hoja está en docs/webinar/E2E-1/ejercicio.md y explica la mecánica al comienzo. Quien no tenga proyecto usa las opciones de R-003 de la hoja. Pedir órdenes de magnitud, no precisión. El ejemplo resuelto está plegado al final: mostrarlo al terminar, no 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Anticipo de la clase 2: el plan de R-003 quedó escrito el 4/11. Vamos a ver qué pasa cuando llega su disparador y nadie está mirando.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Clase 2 (90 minutos): El control continuo. Objetivos: Reconocer un registro que se dejó de revisar; Gestionar un riesgo que ocurre: issue y contingencia; Decidir en la junta con expediente y matriz, y dejar escrito el motivo cuando se aparta de la recomendada; Ordenar el día con el radar y activar un plan de contingencia; Leer el consumo de la reserva y decidir al cruzar el 80 %; Seguir las condiciones de la junta y las decisiones que vencen, y aprobar las propuestas del agente.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Repasar en un minuto el presupuesto de 39.800 (con la reserva de gestión de 6.200 aparte) y el plan de R-003 de la clase 1. Después contar el 12/02: el control avisó un mes entero y las urgencias lo taparon. Es lo que pasa en casi todos los proyectos.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barra es un riesgo abierto: días entre su revisión prevista y el 12/02. Rojo, más de dos sprints; naranja, más de uno. El estado va también en texto. Datos de REG-09 en la sanidad del 12/02.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revisión no solo actualiza: deja escrito cuándo se vuelve a mirar cada riesgo (fecha_revision). Esa fecha es la que después delata que nadie volvió. Si hay tiempo, abrir el tablero HTML del 15/12 (img/g1-tablero.png en la guía): la vista por actor muestra cada riesgo con su revisión del 29/12.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9 a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vivo. El entorno temporal es la opción O4 que se había evaluado para R-001 en el paso 6a. Si pregunta por las licencias tras el aviso: Sofía Ramírez, autoridad de cambio, las rechaza como cargo a la reserva. Mostrar CAM-02 y el consumo de 46 % a 38 %.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Ninguna revisión por monto frenaría las licencias: están dentro de los USD 5.000 del gestor. Lo que falla es el propósito. Lo ocurrido ya no es riesgo: es un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R-007, norma de biometría: P3 × I5 = 15, EMV 20.000. El valor neto recomienda esperar la norma (O3, 3.000); la matriz, con los mismos pesos que R-003, la elimina por el apetito junto con aceptar y recomienda evitar (O1 75,0 frente a O2 50,0). La decisión es de la junta: pm-director la registra (D-015) y la matriz solo la cita con --decision. Sin motivo no se registra; con el motivo de Laura, reducir queda en D-015. Su motivo equivale a pesar el apetito el doble (con 50 gana O2), y quedó escrito en lugar de tocar el peso en la hoja. Después: business case v1.1 (D-016), reserva al 64 %, EST-12 y cuatro REG-09: la revisión del 29/12 no se hizo.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12. Qué ve el gestor al abrir la sesión, qué encuentra la sanidad, qué cuesta haber postergado la revisión y qué pone primero el radar.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hook de inicio arma este resumen desde estado.json y los registros (estado.py contexto) y agrega la línea del radar, en cada inicio, reanudación o compactación: los riesgos sin revisar aparecen antes de correr la sanidad. Si la memoria de la sesión dice otra cosa, mandan los registros. Las cifras son las del 12/02 del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vivo. Primero la sanidad: 7 avisos, entre ellos EST-12, REG-07 para A-004 y cinco REG-09 (la lista completa, con los días de atraso, sale con --json). CAM-03 sigue en 64 %.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hallazgos, y todos tenían un aviso. El más caro, el disparador de R-003, recién aparece cuando alguien abre el riesgo: por eso la revisión empieza por los REG-09 y no se saltea.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vivo. estado.py radar, de solo lectura: «Hoy: decidir R-003». P1 RAD-03: contingencia por activar (inminente), propietario Diego, siguiente paso en pm-riesgos. P2: la condición de la junta. Vigilar: bloqueos de la próxima puerta y el EVM. El radar no decide: ordena lo que pide una decisión.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13. El disparador llega, el plan del 4/11 dice qué hacer, y su costo lleva la reserva al 94 %.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vivo. Se sigue la sección «Activación» del plan: C-005 por 12.000, D-017 (activar, con las opciones consideradas) y A-005 (conmutación, Lucía). La decisión de Laura: aprobado contra la reserva; mantiene 39.800, concentra la autoridad hasta el límite de etapa y lleva a la junta lo que supere el remanente (D-018). Mostrar el AVISO de CAM-03 al 94 %.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barra es una corrida de la sanidad. Verde hasta el 64 %; naranja al 94 %, cuando se activa el plan. Quedan 2.500 frente a un EMV residual de 27.900, y la reserva de gestión (6.200) sigue intacta porque es de la junta: el aviso llega antes de que falte plata y la junta decide con su propia reserva a mano. Por encima del 100 % sería ERROR y bloquearía las puertas.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hay una única respuesta. Laura mantuvo el tope, concentró la autoridad y lleva a la junta lo que supere el remanente; las alternativas registradas eran pedir a la junta que pase reserva de gestión al presupuesto de riesgo o pedir un plan de excepción. Lo importante es que la decisión quede escrita con sus opciones.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evidencia. El agente propone retirar R-005 (P-001) sin tocar el registro; Diego, propietario, lo aprueba: quien propone no aprueba, y la bitácora guarda las dos firmas. decision.py vigentes encuentra en español lo que se pide en inglés y muestra solo lo vigente: D-017 y D-018 vencen hoy (mañana serían DEC-06); Laura confirma D-017 y reemplaza D-018 con D-020, que deja la anterior como historia. Las tarjetas: exposición 27.600, cero altos abiertos, cero acciones y revisiones vencidas, condición cumplida (D-019); solo la reserva queda en atención y se recalcula con el plan de la etapa 3. Lecciones L-001 y L-002.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Opcional: requiere pm-kb (INSTALACION-WSL2.md §8 o INSTALACION-DOCKER.md §8). En la terminal, pm-kb indexar --proyecto portal-socios --ruta . y pm-kb servir; en Claude Code, con el MCP registrado, el prompt del paso 16. C-003 aparece primero con «no responde a ningún riesgo: la reserva de riesgo no es una bolsa general». Si hay tiempo, la ficha de R-003 con el grafo (g1-kb-ficha.png) y la comparación v1.0 → v1.1 del business case, con la sección agregada por R-007 (g1-kb-versiones.png). La cita dice sin-git porque la carpeta del caso no es un repositorio git; con git, lleva el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el asistente no tiene reserva de riesgo formal, que anote cuánto se gastó en respuestas a riesgos y de qué partida salió. Mostrar el ejemplo resuelto de la hoja al terminar.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Puente a E2E-2: las licencias no eran un riesgo, eran un cambio. En el próximo caso vemos quién decide cada cambio, contra qué presupuesto se cobra y qué pasa cuando excede la autoridad delegada.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Glosario del caso E2E-1: 25 términos, página 1 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Glosario del caso E2E-1: 25 términos, página 2 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Glosario del caso E2E-1: 25 términos, página 3 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548640" y="457200"/>
            <a:ext cx="2011680" cy="804672"/>
          </a:xfrm>
          <a:prstGeom prst="rect">
            <a:avLst/>
          </a:prstGeom>
          <a:solidFill>
            <a:srgbClr val="002855">
              <a:alpha val="0"/>
            </a:srgbClr>
          </a:solidFill>
          <a:ln w="12700">
            <a:solidFill>
              <a:srgbClr val="7F9BB8"/>
            </a:solidFill>
            <a:prstDash val="dash"/>
          </a:ln>
        </p:spPr>
      </p:sp>
      <p:sp>
        <p:nvSpPr>
          <p:cNvPr id="3" name="Text 1"/>
          <p:cNvSpPr/>
          <p:nvPr/>
        </p:nvSpPr>
        <p:spPr>
          <a:xfrm>
            <a:off x="548640" y="457200"/>
            <a:ext cx="2011680" cy="804672"/>
          </a:xfrm>
          <a:prstGeom prst="rect">
            <a:avLst/>
          </a:prstGeom>
          <a:noFill/>
          <a:ln/>
        </p:spPr>
        <p:txBody>
          <a:bodyPr wrap="square" lIns="0" tIns="0" rIns="0" bIns="0" rtlCol="0" anchor="ctr"/>
          <a:lstStyle/>
          <a:p>
            <a:pPr algn="ctr" indent="0" marL="0">
              <a:buNone/>
            </a:pPr>
            <a:r>
              <a:rPr lang="en-US" sz="1200" dirty="0">
                <a:solidFill>
                  <a:srgbClr val="7F9BB8"/>
                </a:solidFill>
              </a:rPr>
              <a:t>Logo IEEE</a:t>
            </a:r>
            <a:endParaRPr lang="en-US" sz="1200" dirty="0"/>
          </a:p>
        </p:txBody>
      </p:sp>
      <p:sp>
        <p:nvSpPr>
          <p:cNvPr id="4" name="Text 2"/>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D6E4F0"/>
                </a:solidFill>
              </a:rPr>
              <a:t>pm-method 2.6.0 · Webinar E2E-1</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_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FFFFFF">
              <a:alpha val="0"/>
            </a:srgbClr>
          </a:solidFill>
          <a:ln w="12700">
            <a:solidFill>
              <a:srgbClr val="A9A9A9"/>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A9A9A9"/>
                </a:solidFill>
              </a:rPr>
              <a:t>Logo IEEE</a:t>
            </a:r>
            <a:endParaRPr lang="en-US" sz="1000" dirty="0"/>
          </a:p>
        </p:txBody>
      </p:sp>
      <p:sp>
        <p:nvSpPr>
          <p:cNvPr id="4" name="Shape 2"/>
          <p:cNvSpPr/>
          <p:nvPr/>
        </p:nvSpPr>
        <p:spPr>
          <a:xfrm>
            <a:off x="457200" y="365760"/>
            <a:ext cx="9628632" cy="713232"/>
          </a:xfrm>
          <a:prstGeom prst="rect">
            <a:avLst>
              <a:gd name="adj" fmla="val 12821"/>
            </a:avLst>
          </a:prstGeom>
          <a:solidFill>
            <a:srgbClr val="00629B"/>
          </a:solidFill>
          <a:ln/>
        </p:spPr>
      </p:sp>
      <p:sp>
        <p:nvSpPr>
          <p:cNvPr id="5" name="Text 3"/>
          <p:cNvSpPr/>
          <p:nvPr>
            <p:ph idx="103" type="title" hasCustomPrompt="1"/>
          </p:nvPr>
        </p:nvSpPr>
        <p:spPr>
          <a:xfrm>
            <a:off x="658368" y="365760"/>
            <a:ext cx="9244584" cy="713232"/>
          </a:xfrm>
          <a:prstGeom prst="rect">
            <a:avLst/>
          </a:prstGeom>
          <a:noFill/>
          <a:ln/>
        </p:spPr>
        <p:txBody>
          <a:bodyPr wrap="square" rtlCol="0"/>
          <a:lstStyle>
            <a:lvl1pPr algn="l" indent="0" marL="0">
              <a:buNone/>
              <a:defRPr lang="en-US" sz="2400" b="1" dirty="0">
                <a:solidFill>
                  <a:srgbClr val="FFFFFF"/>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6" name="Text 3"/>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696969"/>
                </a:solidFill>
              </a:rPr>
              <a:t>pm-method 2.6.0 · Webinar E2E-1</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_G">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1143000"/>
            <a:ext cx="11091672" cy="914400"/>
          </a:xfrm>
          <a:prstGeom prst="rect">
            <a:avLst/>
          </a:prstGeom>
          <a:noFill/>
          <a:ln/>
        </p:spPr>
        <p:txBody>
          <a:bodyPr wrap="square" rtlCol="0"/>
          <a:lstStyle>
            <a:lvl1pPr algn="l" indent="0" marL="0">
              <a:buNone/>
              <a:defRPr lang="en-US" sz="3600" b="1" dirty="0">
                <a:solidFill>
                  <a:srgbClr val="FFFFFF"/>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2.6.0 · Webinar E2E-1</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CION_G">
    <p:bg>
      <p:bgPr>
        <a:solidFill>
          <a:srgbClr val="00629B"/>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2148840"/>
            <a:ext cx="11091672" cy="1005840"/>
          </a:xfrm>
          <a:prstGeom prst="rect">
            <a:avLst/>
          </a:prstGeom>
          <a:noFill/>
          <a:ln/>
        </p:spPr>
        <p:txBody>
          <a:bodyPr wrap="square" rtlCol="0"/>
          <a:lstStyle>
            <a:lvl1pPr algn="l" indent="0" marL="0">
              <a:buNone/>
              <a:defRPr lang="en-US" sz="4000" b="1" dirty="0">
                <a:solidFill>
                  <a:srgbClr val="FFFFFF"/>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2.6.0 · Webinar E2E-1</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REGUNTA_G">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365760"/>
            <a:ext cx="9445752" cy="713232"/>
          </a:xfrm>
          <a:prstGeom prst="rect">
            <a:avLst/>
          </a:prstGeom>
          <a:noFill/>
          <a:ln/>
        </p:spPr>
        <p:txBody>
          <a:bodyPr wrap="square" rtlCol="0"/>
          <a:lstStyle>
            <a:lvl1pPr algn="l" indent="0" marL="0">
              <a:buNone/>
              <a:defRPr lang="en-US" sz="2200" b="1" dirty="0">
                <a:solidFill>
                  <a:srgbClr val="9FD0F0"/>
                </a:solidFill>
                <a:latin typeface="Arial" pitchFamily="34" charset="0"/>
                <a:ea typeface="Arial" pitchFamily="34" charset="-122"/>
                <a:cs typeface="Arial" pitchFamily="34" charset="-120"/>
              </a:defRPr>
            </a:lvl1pPr>
          </a:lstStyle>
          <a:p>
            <a:pPr algn="l" indent="0" marL="0">
              <a:buNone/>
            </a:pPr>
            <a:endParaRPr lang="en-US" sz="22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2.6.0 · Webinar E2E-1</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IDO_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FFFFFF">
              <a:alpha val="0"/>
            </a:srgbClr>
          </a:solidFill>
          <a:ln w="12700">
            <a:solidFill>
              <a:srgbClr val="A9A9A9"/>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A9A9A9"/>
                </a:solidFill>
              </a:rPr>
              <a:t>Logo IEEE</a:t>
            </a:r>
            <a:endParaRPr lang="en-US" sz="1000" dirty="0"/>
          </a:p>
        </p:txBody>
      </p:sp>
      <p:sp>
        <p:nvSpPr>
          <p:cNvPr id="4" name="Shape 2"/>
          <p:cNvSpPr/>
          <p:nvPr/>
        </p:nvSpPr>
        <p:spPr>
          <a:xfrm>
            <a:off x="457200" y="365760"/>
            <a:ext cx="9628632" cy="713232"/>
          </a:xfrm>
          <a:prstGeom prst="rect">
            <a:avLst>
              <a:gd name="adj" fmla="val 12821"/>
            </a:avLst>
          </a:prstGeom>
          <a:solidFill>
            <a:srgbClr val="00629B"/>
          </a:solidFill>
          <a:ln/>
        </p:spPr>
      </p:sp>
      <p:sp>
        <p:nvSpPr>
          <p:cNvPr id="5" name="Text 3"/>
          <p:cNvSpPr/>
          <p:nvPr>
            <p:ph idx="103" type="title" hasCustomPrompt="1"/>
          </p:nvPr>
        </p:nvSpPr>
        <p:spPr>
          <a:xfrm>
            <a:off x="658368" y="365760"/>
            <a:ext cx="9244584" cy="713232"/>
          </a:xfrm>
          <a:prstGeom prst="rect">
            <a:avLst/>
          </a:prstGeom>
          <a:noFill/>
          <a:ln/>
        </p:spPr>
        <p:txBody>
          <a:bodyPr wrap="square" rtlCol="0"/>
          <a:lstStyle>
            <a:lvl1pPr algn="l" indent="0" marL="0">
              <a:buNone/>
              <a:defRPr lang="en-US" sz="2400" b="1" dirty="0">
                <a:solidFill>
                  <a:srgbClr val="FFFFFF"/>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6" name="Text 3"/>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696969"/>
                </a:solidFill>
              </a:rPr>
              <a:t>pm-method 2.6.0 · Webinar E2E-1 · Clase 1</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OSCURO_1">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1143000"/>
            <a:ext cx="11091672" cy="914400"/>
          </a:xfrm>
          <a:prstGeom prst="rect">
            <a:avLst/>
          </a:prstGeom>
          <a:noFill/>
          <a:ln/>
        </p:spPr>
        <p:txBody>
          <a:bodyPr wrap="square" rtlCol="0"/>
          <a:lstStyle>
            <a:lvl1pPr algn="l" indent="0" marL="0">
              <a:buNone/>
              <a:defRPr lang="en-US" sz="3600" b="1" dirty="0">
                <a:solidFill>
                  <a:srgbClr val="FFFFFF"/>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2.6.0 · Webinar E2E-1 · Clase 1</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CION_1">
    <p:bg>
      <p:bgPr>
        <a:solidFill>
          <a:srgbClr val="00629B"/>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2148840"/>
            <a:ext cx="11091672" cy="1005840"/>
          </a:xfrm>
          <a:prstGeom prst="rect">
            <a:avLst/>
          </a:prstGeom>
          <a:noFill/>
          <a:ln/>
        </p:spPr>
        <p:txBody>
          <a:bodyPr wrap="square" rtlCol="0"/>
          <a:lstStyle>
            <a:lvl1pPr algn="l" indent="0" marL="0">
              <a:buNone/>
              <a:defRPr lang="en-US" sz="4000" b="1" dirty="0">
                <a:solidFill>
                  <a:srgbClr val="FFFFFF"/>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2.6.0 · Webinar E2E-1 · Clase 1</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REGUNTA_1">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365760"/>
            <a:ext cx="9445752" cy="713232"/>
          </a:xfrm>
          <a:prstGeom prst="rect">
            <a:avLst/>
          </a:prstGeom>
          <a:noFill/>
          <a:ln/>
        </p:spPr>
        <p:txBody>
          <a:bodyPr wrap="square" rtlCol="0"/>
          <a:lstStyle>
            <a:lvl1pPr algn="l" indent="0" marL="0">
              <a:buNone/>
              <a:defRPr lang="en-US" sz="2200" b="1" dirty="0">
                <a:solidFill>
                  <a:srgbClr val="9FD0F0"/>
                </a:solidFill>
                <a:latin typeface="Arial" pitchFamily="34" charset="0"/>
                <a:ea typeface="Arial" pitchFamily="34" charset="-122"/>
                <a:cs typeface="Arial" pitchFamily="34" charset="-120"/>
              </a:defRPr>
            </a:lvl1pPr>
          </a:lstStyle>
          <a:p>
            <a:pPr algn="l" indent="0" marL="0">
              <a:buNone/>
            </a:pPr>
            <a:endParaRPr lang="en-US" sz="22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2.6.0 · Webinar E2E-1 · Clase 1</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IDO_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FFFFFF">
              <a:alpha val="0"/>
            </a:srgbClr>
          </a:solidFill>
          <a:ln w="12700">
            <a:solidFill>
              <a:srgbClr val="A9A9A9"/>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A9A9A9"/>
                </a:solidFill>
              </a:rPr>
              <a:t>Logo IEEE</a:t>
            </a:r>
            <a:endParaRPr lang="en-US" sz="1000" dirty="0"/>
          </a:p>
        </p:txBody>
      </p:sp>
      <p:sp>
        <p:nvSpPr>
          <p:cNvPr id="4" name="Shape 2"/>
          <p:cNvSpPr/>
          <p:nvPr/>
        </p:nvSpPr>
        <p:spPr>
          <a:xfrm>
            <a:off x="457200" y="365760"/>
            <a:ext cx="9628632" cy="713232"/>
          </a:xfrm>
          <a:prstGeom prst="rect">
            <a:avLst>
              <a:gd name="adj" fmla="val 12821"/>
            </a:avLst>
          </a:prstGeom>
          <a:solidFill>
            <a:srgbClr val="00629B"/>
          </a:solidFill>
          <a:ln/>
        </p:spPr>
      </p:sp>
      <p:sp>
        <p:nvSpPr>
          <p:cNvPr id="5" name="Text 3"/>
          <p:cNvSpPr/>
          <p:nvPr>
            <p:ph idx="103" type="title" hasCustomPrompt="1"/>
          </p:nvPr>
        </p:nvSpPr>
        <p:spPr>
          <a:xfrm>
            <a:off x="658368" y="365760"/>
            <a:ext cx="9244584" cy="713232"/>
          </a:xfrm>
          <a:prstGeom prst="rect">
            <a:avLst/>
          </a:prstGeom>
          <a:noFill/>
          <a:ln/>
        </p:spPr>
        <p:txBody>
          <a:bodyPr wrap="square" rtlCol="0"/>
          <a:lstStyle>
            <a:lvl1pPr algn="l" indent="0" marL="0">
              <a:buNone/>
              <a:defRPr lang="en-US" sz="2400" b="1" dirty="0">
                <a:solidFill>
                  <a:srgbClr val="FFFFFF"/>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6" name="Text 3"/>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696969"/>
                </a:solidFill>
              </a:rPr>
              <a:t>pm-method 2.6.0 · Webinar E2E-1 · Clase 2</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SCURO_2">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1143000"/>
            <a:ext cx="11091672" cy="914400"/>
          </a:xfrm>
          <a:prstGeom prst="rect">
            <a:avLst/>
          </a:prstGeom>
          <a:noFill/>
          <a:ln/>
        </p:spPr>
        <p:txBody>
          <a:bodyPr wrap="square" rtlCol="0"/>
          <a:lstStyle>
            <a:lvl1pPr algn="l" indent="0" marL="0">
              <a:buNone/>
              <a:defRPr lang="en-US" sz="3600" b="1" dirty="0">
                <a:solidFill>
                  <a:srgbClr val="FFFFFF"/>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2.6.0 · Webinar E2E-1 · Clase 2</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CION_2">
    <p:bg>
      <p:bgPr>
        <a:solidFill>
          <a:srgbClr val="00629B"/>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2148840"/>
            <a:ext cx="11091672" cy="1005840"/>
          </a:xfrm>
          <a:prstGeom prst="rect">
            <a:avLst/>
          </a:prstGeom>
          <a:noFill/>
          <a:ln/>
        </p:spPr>
        <p:txBody>
          <a:bodyPr wrap="square" rtlCol="0"/>
          <a:lstStyle>
            <a:lvl1pPr algn="l" indent="0" marL="0">
              <a:buNone/>
              <a:defRPr lang="en-US" sz="4000" b="1" dirty="0">
                <a:solidFill>
                  <a:srgbClr val="FFFFFF"/>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2.6.0 · Webinar E2E-1 · Clase 2</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1013</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REGUNTA_2">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002855">
              <a:alpha val="0"/>
            </a:srgbClr>
          </a:solidFill>
          <a:ln w="12700">
            <a:solidFill>
              <a:srgbClr val="7F9BB8"/>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4" name="Text 2"/>
          <p:cNvSpPr/>
          <p:nvPr>
            <p:ph idx="102" type="title" hasCustomPrompt="1"/>
          </p:nvPr>
        </p:nvSpPr>
        <p:spPr>
          <a:xfrm>
            <a:off x="548640" y="365760"/>
            <a:ext cx="9445752" cy="713232"/>
          </a:xfrm>
          <a:prstGeom prst="rect">
            <a:avLst/>
          </a:prstGeom>
          <a:noFill/>
          <a:ln/>
        </p:spPr>
        <p:txBody>
          <a:bodyPr wrap="square" rtlCol="0"/>
          <a:lstStyle>
            <a:lvl1pPr algn="l" indent="0" marL="0">
              <a:buNone/>
              <a:defRPr lang="en-US" sz="2200" b="1" dirty="0">
                <a:solidFill>
                  <a:srgbClr val="9FD0F0"/>
                </a:solidFill>
                <a:latin typeface="Arial" pitchFamily="34" charset="0"/>
                <a:ea typeface="Arial" pitchFamily="34" charset="-122"/>
                <a:cs typeface="Arial" pitchFamily="34" charset="-120"/>
              </a:defRPr>
            </a:lvl1pPr>
          </a:lstStyle>
          <a:p>
            <a:pPr algn="l" indent="0" marL="0">
              <a:buNone/>
            </a:pPr>
            <a:endParaRPr lang="en-US" sz="2200" dirty="0"/>
          </a:p>
        </p:txBody>
      </p:sp>
      <p:sp>
        <p:nvSpPr>
          <p:cNvPr id="5" name="Text 2"/>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D6E4F0"/>
                </a:solidFill>
              </a:rPr>
              <a:t>pm-method 2.6.0 · Webinar E2E-1 · Clase 2</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1014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7.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7.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00200"/>
            <a:ext cx="8229600" cy="365760"/>
          </a:xfrm>
          <a:prstGeom prst="rect">
            <a:avLst/>
          </a:prstGeom>
          <a:noFill/>
          <a:ln/>
        </p:spPr>
        <p:txBody>
          <a:bodyPr wrap="square" lIns="0" tIns="0" rIns="0" bIns="0" rtlCol="0" anchor="t"/>
          <a:lstStyle/>
          <a:p>
            <a:pPr indent="0" marL="0">
              <a:buNone/>
            </a:pPr>
            <a:r>
              <a:rPr lang="en-US" sz="1600" b="1" dirty="0">
                <a:solidFill>
                  <a:srgbClr val="9FD0F0"/>
                </a:solidFill>
                <a:latin typeface="Arial" pitchFamily="34" charset="0"/>
                <a:ea typeface="Arial" pitchFamily="34" charset="-122"/>
                <a:cs typeface="Arial" pitchFamily="34" charset="-120"/>
              </a:rPr>
              <a:t>Webinar · pm-method 2.6.0 · E2E-1</a:t>
            </a:r>
            <a:endParaRPr lang="en-US" sz="1600" dirty="0"/>
          </a:p>
        </p:txBody>
      </p:sp>
      <p:sp>
        <p:nvSpPr>
          <p:cNvPr id="3" name="Text 1"/>
          <p:cNvSpPr txBox="1"/>
          <p:nvPr/>
        </p:nvSpPr>
        <p:spPr>
          <a:xfrm>
            <a:off x="548640" y="2057400"/>
            <a:ext cx="10789920" cy="137160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Ciclo completo de gestión de riesgos</a:t>
            </a:r>
            <a:endParaRPr lang="en-US" sz="4000" dirty="0"/>
          </a:p>
        </p:txBody>
      </p:sp>
      <p:sp>
        <p:nvSpPr>
          <p:cNvPr id="4" name="Text 2"/>
          <p:cNvSpPr txBox="1"/>
          <p:nvPr/>
        </p:nvSpPr>
        <p:spPr>
          <a:xfrm>
            <a:off x="548640" y="3520440"/>
            <a:ext cx="10789920" cy="868680"/>
          </a:xfrm>
          <a:prstGeom prst="rect">
            <a:avLst/>
          </a:prstGeom>
          <a:noFill/>
          <a:ln/>
        </p:spPr>
        <p:txBody>
          <a:bodyPr wrap="square" lIns="0" tIns="0" rIns="0" bIns="0" rtlCol="0" anchor="t"/>
          <a:lstStyle/>
          <a:p>
            <a:pPr indent="0" marL="0">
              <a:buNone/>
            </a:pPr>
            <a:r>
              <a:rPr lang="en-US" sz="2000" dirty="0">
                <a:solidFill>
                  <a:srgbClr val="D6E4F0"/>
                </a:solidFill>
                <a:latin typeface="Arial" pitchFamily="34" charset="0"/>
                <a:ea typeface="Arial" pitchFamily="34" charset="-122"/>
                <a:cs typeface="Arial" pitchFamily="34" charset="-120"/>
              </a:rPr>
              <a:t>Del taller al control continuo: opciones de respuesta por valor neto, planes de contingencia, reserva vigilada y revisiones que no se saltean</a:t>
            </a:r>
            <a:endParaRPr lang="en-US" sz="1600" dirty="0"/>
          </a:p>
        </p:txBody>
      </p:sp>
      <p:sp>
        <p:nvSpPr>
          <p:cNvPr id="5" name="Shape 3"/>
          <p:cNvSpPr/>
          <p:nvPr/>
        </p:nvSpPr>
        <p:spPr>
          <a:xfrm>
            <a:off x="548640" y="4617720"/>
            <a:ext cx="3657600" cy="1325880"/>
          </a:xfrm>
          <a:prstGeom prst="roundRect">
            <a:avLst>
              <a:gd name="adj" fmla="val 6897"/>
            </a:avLst>
          </a:prstGeom>
          <a:solidFill>
            <a:srgbClr val="173D66"/>
          </a:solidFill>
          <a:ln w="12700">
            <a:solidFill>
              <a:srgbClr val="173D66"/>
            </a:solidFill>
            <a:prstDash val="solid"/>
          </a:ln>
        </p:spPr>
      </p:sp>
      <p:sp>
        <p:nvSpPr>
          <p:cNvPr id="6" name="Text 4"/>
          <p:cNvSpPr txBox="1"/>
          <p:nvPr/>
        </p:nvSpPr>
        <p:spPr>
          <a:xfrm>
            <a:off x="749808" y="4727448"/>
            <a:ext cx="3255264" cy="310896"/>
          </a:xfrm>
          <a:prstGeom prst="rect">
            <a:avLst/>
          </a:prstGeom>
          <a:noFill/>
          <a:ln/>
        </p:spPr>
        <p:txBody>
          <a:bodyPr wrap="square" lIns="0" tIns="0" rIns="0" bIns="0" rtlCol="0" anchor="t"/>
          <a:lstStyle/>
          <a:p>
            <a:pPr indent="0" marL="0">
              <a:buNone/>
            </a:pPr>
            <a:r>
              <a:rPr lang="en-US" sz="1400" b="1" dirty="0">
                <a:solidFill>
                  <a:srgbClr val="9FD0F0"/>
                </a:solidFill>
                <a:latin typeface="Arial" pitchFamily="34" charset="0"/>
                <a:ea typeface="Arial" pitchFamily="34" charset="-122"/>
                <a:cs typeface="Arial" pitchFamily="34" charset="-120"/>
              </a:rPr>
              <a:t>Clase 1 · 90 min</a:t>
            </a:r>
            <a:endParaRPr lang="en-US" sz="1400" dirty="0"/>
          </a:p>
        </p:txBody>
      </p:sp>
      <p:sp>
        <p:nvSpPr>
          <p:cNvPr id="7" name="Text 5"/>
          <p:cNvSpPr txBox="1"/>
          <p:nvPr/>
        </p:nvSpPr>
        <p:spPr>
          <a:xfrm>
            <a:off x="749808" y="5074920"/>
            <a:ext cx="3255264"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Del taller al plan de respuesta</a:t>
            </a:r>
            <a:endParaRPr lang="en-US" sz="1600" dirty="0"/>
          </a:p>
        </p:txBody>
      </p:sp>
      <p:sp>
        <p:nvSpPr>
          <p:cNvPr id="8" name="Shape 6"/>
          <p:cNvSpPr/>
          <p:nvPr/>
        </p:nvSpPr>
        <p:spPr>
          <a:xfrm>
            <a:off x="4480560" y="4617720"/>
            <a:ext cx="3657600" cy="1325880"/>
          </a:xfrm>
          <a:prstGeom prst="roundRect">
            <a:avLst>
              <a:gd name="adj" fmla="val 6897"/>
            </a:avLst>
          </a:prstGeom>
          <a:solidFill>
            <a:srgbClr val="173D66"/>
          </a:solidFill>
          <a:ln w="12700">
            <a:solidFill>
              <a:srgbClr val="173D66"/>
            </a:solidFill>
            <a:prstDash val="solid"/>
          </a:ln>
        </p:spPr>
      </p:sp>
      <p:sp>
        <p:nvSpPr>
          <p:cNvPr id="9" name="Text 7"/>
          <p:cNvSpPr txBox="1"/>
          <p:nvPr/>
        </p:nvSpPr>
        <p:spPr>
          <a:xfrm>
            <a:off x="4681728" y="4727448"/>
            <a:ext cx="3255264" cy="310896"/>
          </a:xfrm>
          <a:prstGeom prst="rect">
            <a:avLst/>
          </a:prstGeom>
          <a:noFill/>
          <a:ln/>
        </p:spPr>
        <p:txBody>
          <a:bodyPr wrap="square" lIns="0" tIns="0" rIns="0" bIns="0" rtlCol="0" anchor="t"/>
          <a:lstStyle/>
          <a:p>
            <a:pPr indent="0" marL="0">
              <a:buNone/>
            </a:pPr>
            <a:r>
              <a:rPr lang="en-US" sz="1400" b="1" dirty="0">
                <a:solidFill>
                  <a:srgbClr val="9FD0F0"/>
                </a:solidFill>
                <a:latin typeface="Arial" pitchFamily="34" charset="0"/>
                <a:ea typeface="Arial" pitchFamily="34" charset="-122"/>
                <a:cs typeface="Arial" pitchFamily="34" charset="-120"/>
              </a:rPr>
              <a:t>Clase 2 · 90 min</a:t>
            </a:r>
            <a:endParaRPr lang="en-US" sz="1400" dirty="0"/>
          </a:p>
        </p:txBody>
      </p:sp>
      <p:sp>
        <p:nvSpPr>
          <p:cNvPr id="10" name="Text 8"/>
          <p:cNvSpPr txBox="1"/>
          <p:nvPr/>
        </p:nvSpPr>
        <p:spPr>
          <a:xfrm>
            <a:off x="4681728" y="5074920"/>
            <a:ext cx="3255264" cy="77724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El control continuo</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640080"/>
            <a:ext cx="7315200" cy="365760"/>
          </a:xfrm>
          <a:prstGeom prst="rect">
            <a:avLst/>
          </a:prstGeom>
          <a:noFill/>
          <a:ln/>
        </p:spPr>
        <p:txBody>
          <a:bodyPr wrap="square" lIns="0" tIns="0" rIns="0" bIns="0" rtlCol="0" anchor="t"/>
          <a:lstStyle/>
          <a:p>
            <a:pPr indent="0" marL="0">
              <a:buNone/>
            </a:pPr>
            <a:r>
              <a:rPr lang="en-US" sz="1600" b="1" dirty="0">
                <a:solidFill>
                  <a:srgbClr val="9FD0F0"/>
                </a:solidFill>
                <a:latin typeface="Arial" pitchFamily="34" charset="0"/>
                <a:ea typeface="Arial" pitchFamily="34" charset="-122"/>
                <a:cs typeface="Arial" pitchFamily="34" charset="-120"/>
              </a:rPr>
              <a:t>Clase 1 · 90 minutos</a:t>
            </a:r>
            <a:endParaRPr lang="en-US" sz="1600" dirty="0"/>
          </a:p>
        </p:txBody>
      </p:sp>
      <p:sp>
        <p:nvSpPr>
          <p:cNvPr id="3" name="Text 2"/>
          <p:cNvSpPr/>
          <p:nvPr>
            <p:ph idx="102" type="title" hasCustomPrompt="1"/>
          </p:nvPr>
        </p:nvSpPr>
        <p:spPr>
          <a:xfrm>
            <a:off x="548640" y="1143000"/>
            <a:ext cx="11091672" cy="91440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Del taller al plan de respuesta</a:t>
            </a:r>
            <a:endParaRPr lang="en-US" sz="3600" dirty="0"/>
          </a:p>
        </p:txBody>
      </p:sp>
      <p:sp>
        <p:nvSpPr>
          <p:cNvPr id="4" name="Text 2"/>
          <p:cNvSpPr txBox="1"/>
          <p:nvPr/>
        </p:nvSpPr>
        <p:spPr>
          <a:xfrm>
            <a:off x="548640" y="2240280"/>
            <a:ext cx="731520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Objetivos de la clase</a:t>
            </a:r>
            <a:endParaRPr lang="en-US" sz="1800" dirty="0"/>
          </a:p>
        </p:txBody>
      </p:sp>
      <p:sp>
        <p:nvSpPr>
          <p:cNvPr id="5" name="Shape 3"/>
          <p:cNvSpPr/>
          <p:nvPr/>
        </p:nvSpPr>
        <p:spPr>
          <a:xfrm>
            <a:off x="548640" y="2743200"/>
            <a:ext cx="11091672" cy="472440"/>
          </a:xfrm>
          <a:prstGeom prst="roundRect">
            <a:avLst>
              <a:gd name="adj" fmla="val 19355"/>
            </a:avLst>
          </a:prstGeom>
          <a:solidFill>
            <a:srgbClr val="173D66"/>
          </a:solidFill>
          <a:ln w="12700">
            <a:solidFill>
              <a:srgbClr val="173D66"/>
            </a:solidFill>
            <a:prstDash val="solid"/>
          </a:ln>
        </p:spPr>
      </p:sp>
      <p:sp>
        <p:nvSpPr>
          <p:cNvPr id="6" name="Text 4"/>
          <p:cNvSpPr txBox="1"/>
          <p:nvPr/>
        </p:nvSpPr>
        <p:spPr>
          <a:xfrm>
            <a:off x="685800" y="2743200"/>
            <a:ext cx="411480" cy="472440"/>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1</a:t>
            </a:r>
            <a:endParaRPr lang="en-US" sz="2000" dirty="0"/>
          </a:p>
        </p:txBody>
      </p:sp>
      <p:sp>
        <p:nvSpPr>
          <p:cNvPr id="7" name="Text 5"/>
          <p:cNvSpPr txBox="1"/>
          <p:nvPr/>
        </p:nvSpPr>
        <p:spPr>
          <a:xfrm>
            <a:off x="1234440" y="2779776"/>
            <a:ext cx="10268712" cy="39928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Explicar qué decide la junta antes del taller: apetito, tolerancia, reserva y cadencia</a:t>
            </a:r>
            <a:endParaRPr lang="en-US" sz="1600" dirty="0"/>
          </a:p>
        </p:txBody>
      </p:sp>
      <p:sp>
        <p:nvSpPr>
          <p:cNvPr id="8" name="Shape 6"/>
          <p:cNvSpPr/>
          <p:nvPr/>
        </p:nvSpPr>
        <p:spPr>
          <a:xfrm>
            <a:off x="548640" y="3343656"/>
            <a:ext cx="11091672" cy="472440"/>
          </a:xfrm>
          <a:prstGeom prst="roundRect">
            <a:avLst>
              <a:gd name="adj" fmla="val 19355"/>
            </a:avLst>
          </a:prstGeom>
          <a:solidFill>
            <a:srgbClr val="173D66"/>
          </a:solidFill>
          <a:ln w="12700">
            <a:solidFill>
              <a:srgbClr val="173D66"/>
            </a:solidFill>
            <a:prstDash val="solid"/>
          </a:ln>
        </p:spPr>
      </p:sp>
      <p:sp>
        <p:nvSpPr>
          <p:cNvPr id="9" name="Text 7"/>
          <p:cNvSpPr txBox="1"/>
          <p:nvPr/>
        </p:nvSpPr>
        <p:spPr>
          <a:xfrm>
            <a:off x="685800" y="3343656"/>
            <a:ext cx="411480" cy="472440"/>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2</a:t>
            </a:r>
            <a:endParaRPr lang="en-US" sz="2000" dirty="0"/>
          </a:p>
        </p:txBody>
      </p:sp>
      <p:sp>
        <p:nvSpPr>
          <p:cNvPr id="10" name="Text 8"/>
          <p:cNvSpPr txBox="1"/>
          <p:nvPr/>
        </p:nvSpPr>
        <p:spPr>
          <a:xfrm>
            <a:off x="1234440" y="3380232"/>
            <a:ext cx="10268712" cy="39928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Identificar riesgos con cita de origen, con y sin BMAD</a:t>
            </a:r>
            <a:endParaRPr lang="en-US" sz="1600" dirty="0"/>
          </a:p>
        </p:txBody>
      </p:sp>
      <p:sp>
        <p:nvSpPr>
          <p:cNvPr id="11" name="Shape 9"/>
          <p:cNvSpPr/>
          <p:nvPr/>
        </p:nvSpPr>
        <p:spPr>
          <a:xfrm>
            <a:off x="548640" y="3944112"/>
            <a:ext cx="11091672" cy="472440"/>
          </a:xfrm>
          <a:prstGeom prst="roundRect">
            <a:avLst>
              <a:gd name="adj" fmla="val 19355"/>
            </a:avLst>
          </a:prstGeom>
          <a:solidFill>
            <a:srgbClr val="173D66"/>
          </a:solidFill>
          <a:ln w="12700">
            <a:solidFill>
              <a:srgbClr val="173D66"/>
            </a:solidFill>
            <a:prstDash val="solid"/>
          </a:ln>
        </p:spPr>
      </p:sp>
      <p:sp>
        <p:nvSpPr>
          <p:cNvPr id="12" name="Text 10"/>
          <p:cNvSpPr txBox="1"/>
          <p:nvPr/>
        </p:nvSpPr>
        <p:spPr>
          <a:xfrm>
            <a:off x="685800" y="3944112"/>
            <a:ext cx="411480" cy="472440"/>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3</a:t>
            </a:r>
            <a:endParaRPr lang="en-US" sz="2000" dirty="0"/>
          </a:p>
        </p:txBody>
      </p:sp>
      <p:sp>
        <p:nvSpPr>
          <p:cNvPr id="13" name="Text 11"/>
          <p:cNvSpPr txBox="1"/>
          <p:nvPr/>
        </p:nvSpPr>
        <p:spPr>
          <a:xfrm>
            <a:off x="1234440" y="3980688"/>
            <a:ext cx="10268712" cy="39928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Comparar opciones de respuesta por valor neto y, cuando no alcanza, con una matriz multicriterio y su sensibilidad</a:t>
            </a:r>
            <a:endParaRPr lang="en-US" sz="1600" dirty="0"/>
          </a:p>
        </p:txBody>
      </p:sp>
      <p:sp>
        <p:nvSpPr>
          <p:cNvPr id="14" name="Shape 12"/>
          <p:cNvSpPr/>
          <p:nvPr/>
        </p:nvSpPr>
        <p:spPr>
          <a:xfrm>
            <a:off x="548640" y="4544568"/>
            <a:ext cx="11091672" cy="472440"/>
          </a:xfrm>
          <a:prstGeom prst="roundRect">
            <a:avLst>
              <a:gd name="adj" fmla="val 19355"/>
            </a:avLst>
          </a:prstGeom>
          <a:solidFill>
            <a:srgbClr val="173D66"/>
          </a:solidFill>
          <a:ln w="12700">
            <a:solidFill>
              <a:srgbClr val="173D66"/>
            </a:solidFill>
            <a:prstDash val="solid"/>
          </a:ln>
        </p:spPr>
      </p:sp>
      <p:sp>
        <p:nvSpPr>
          <p:cNvPr id="15" name="Text 13"/>
          <p:cNvSpPr txBox="1"/>
          <p:nvPr/>
        </p:nvSpPr>
        <p:spPr>
          <a:xfrm>
            <a:off x="685800" y="4544568"/>
            <a:ext cx="411480" cy="472440"/>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4</a:t>
            </a:r>
            <a:endParaRPr lang="en-US" sz="2000" dirty="0"/>
          </a:p>
        </p:txBody>
      </p:sp>
      <p:sp>
        <p:nvSpPr>
          <p:cNvPr id="16" name="Text 14"/>
          <p:cNvSpPr txBox="1"/>
          <p:nvPr/>
        </p:nvSpPr>
        <p:spPr>
          <a:xfrm>
            <a:off x="1234440" y="4581144"/>
            <a:ext cx="10268712" cy="39928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Registrar la decisión de quien corresponde según PRINCE2 y la RACI, y avisar a los informados</a:t>
            </a:r>
            <a:endParaRPr lang="en-US" sz="1600" dirty="0"/>
          </a:p>
        </p:txBody>
      </p:sp>
      <p:sp>
        <p:nvSpPr>
          <p:cNvPr id="17" name="Shape 15"/>
          <p:cNvSpPr/>
          <p:nvPr/>
        </p:nvSpPr>
        <p:spPr>
          <a:xfrm>
            <a:off x="548640" y="5145024"/>
            <a:ext cx="11091672" cy="472440"/>
          </a:xfrm>
          <a:prstGeom prst="roundRect">
            <a:avLst>
              <a:gd name="adj" fmla="val 19355"/>
            </a:avLst>
          </a:prstGeom>
          <a:solidFill>
            <a:srgbClr val="173D66"/>
          </a:solidFill>
          <a:ln w="12700">
            <a:solidFill>
              <a:srgbClr val="173D66"/>
            </a:solidFill>
            <a:prstDash val="solid"/>
          </a:ln>
        </p:spPr>
      </p:sp>
      <p:sp>
        <p:nvSpPr>
          <p:cNvPr id="18" name="Text 16"/>
          <p:cNvSpPr txBox="1"/>
          <p:nvPr/>
        </p:nvSpPr>
        <p:spPr>
          <a:xfrm>
            <a:off x="685800" y="5145024"/>
            <a:ext cx="411480" cy="472440"/>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5</a:t>
            </a:r>
            <a:endParaRPr lang="en-US" sz="2000" dirty="0"/>
          </a:p>
        </p:txBody>
      </p:sp>
      <p:sp>
        <p:nvSpPr>
          <p:cNvPr id="19" name="Text 17"/>
          <p:cNvSpPr txBox="1"/>
          <p:nvPr/>
        </p:nvSpPr>
        <p:spPr>
          <a:xfrm>
            <a:off x="1234440" y="5181600"/>
            <a:ext cx="10268712" cy="39928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Escribir un plan de contingencia listo para activar</a:t>
            </a:r>
            <a:endParaRPr lang="en-US" sz="1600" dirty="0"/>
          </a:p>
        </p:txBody>
      </p:sp>
      <p:sp>
        <p:nvSpPr>
          <p:cNvPr id="20" name="Shape 18"/>
          <p:cNvSpPr/>
          <p:nvPr/>
        </p:nvSpPr>
        <p:spPr>
          <a:xfrm>
            <a:off x="548640" y="5745480"/>
            <a:ext cx="11091672" cy="472440"/>
          </a:xfrm>
          <a:prstGeom prst="roundRect">
            <a:avLst>
              <a:gd name="adj" fmla="val 19355"/>
            </a:avLst>
          </a:prstGeom>
          <a:solidFill>
            <a:srgbClr val="173D66"/>
          </a:solidFill>
          <a:ln w="12700">
            <a:solidFill>
              <a:srgbClr val="173D66"/>
            </a:solidFill>
            <a:prstDash val="solid"/>
          </a:ln>
        </p:spPr>
      </p:sp>
      <p:sp>
        <p:nvSpPr>
          <p:cNvPr id="21" name="Text 19"/>
          <p:cNvSpPr txBox="1"/>
          <p:nvPr/>
        </p:nvSpPr>
        <p:spPr>
          <a:xfrm>
            <a:off x="685800" y="5745480"/>
            <a:ext cx="411480" cy="472440"/>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6</a:t>
            </a:r>
            <a:endParaRPr lang="en-US" sz="2000" dirty="0"/>
          </a:p>
        </p:txBody>
      </p:sp>
      <p:sp>
        <p:nvSpPr>
          <p:cNvPr id="22" name="Text 20"/>
          <p:cNvSpPr txBox="1"/>
          <p:nvPr/>
        </p:nvSpPr>
        <p:spPr>
          <a:xfrm>
            <a:off x="1234440" y="5782056"/>
            <a:ext cx="10268712" cy="39928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Calcular un presupuesto de riesgo con fórmula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R-003: el SLA habitual tiene el menor valor neto</a:t>
            </a:r>
            <a:endParaRPr lang="en-US" sz="2400" dirty="0"/>
          </a:p>
        </p:txBody>
      </p:sp>
      <p:sp>
        <p:nvSpPr>
          <p:cNvPr id="3" name="Shape 1"/>
          <p:cNvSpPr/>
          <p:nvPr/>
        </p:nvSpPr>
        <p:spPr>
          <a:xfrm>
            <a:off x="457200" y="2331720"/>
            <a:ext cx="2035454" cy="2926080"/>
          </a:xfrm>
          <a:prstGeom prst="roundRect">
            <a:avLst>
              <a:gd name="adj" fmla="val 4492"/>
            </a:avLst>
          </a:prstGeom>
          <a:solidFill>
            <a:srgbClr val="002855"/>
          </a:solidFill>
          <a:ln w="12700">
            <a:solidFill>
              <a:srgbClr val="002855"/>
            </a:solidFill>
            <a:prstDash val="solid"/>
          </a:ln>
        </p:spPr>
      </p:sp>
      <p:sp>
        <p:nvSpPr>
          <p:cNvPr id="4" name="Text 2"/>
          <p:cNvSpPr txBox="1"/>
          <p:nvPr/>
        </p:nvSpPr>
        <p:spPr>
          <a:xfrm>
            <a:off x="658368" y="2532888"/>
            <a:ext cx="1633118" cy="2542032"/>
          </a:xfrm>
          <a:prstGeom prst="rect">
            <a:avLst/>
          </a:prstGeom>
          <a:noFill/>
          <a:ln/>
        </p:spPr>
        <p:txBody>
          <a:bodyPr wrap="square" lIns="0" tIns="0" rIns="0" bIns="0" rtlCol="0" anchor="ctr"/>
          <a:lstStyle/>
          <a:p>
            <a:pPr indent="0" marL="0">
              <a:buNone/>
            </a:pPr>
            <a:r>
              <a:rPr lang="en-US" sz="2150" dirty="0">
                <a:solidFill>
                  <a:srgbClr val="FFFFFF"/>
                </a:solidFill>
                <a:latin typeface="Arial" pitchFamily="34" charset="0"/>
                <a:ea typeface="Arial" pitchFamily="34" charset="-122"/>
                <a:cs typeface="Arial" pitchFamily="34" charset="-120"/>
              </a:rPr>
              <a:t>R-003: el proveedor de SMS del segundo factor no cumple la disponibilidad</a:t>
            </a:r>
            <a:endParaRPr lang="en-US" sz="1600" dirty="0"/>
          </a:p>
        </p:txBody>
      </p:sp>
      <p:sp>
        <p:nvSpPr>
          <p:cNvPr id="5" name="Shape 3"/>
          <p:cNvSpPr/>
          <p:nvPr/>
        </p:nvSpPr>
        <p:spPr>
          <a:xfrm>
            <a:off x="2766974" y="2331720"/>
            <a:ext cx="2035454" cy="2926080"/>
          </a:xfrm>
          <a:prstGeom prst="roundRect">
            <a:avLst>
              <a:gd name="adj" fmla="val 4492"/>
            </a:avLst>
          </a:prstGeom>
          <a:solidFill>
            <a:srgbClr val="E9F1F8"/>
          </a:solidFill>
          <a:ln w="12700">
            <a:solidFill>
              <a:srgbClr val="E9F1F8"/>
            </a:solidFill>
            <a:prstDash val="solid"/>
          </a:ln>
        </p:spPr>
      </p:sp>
      <p:sp>
        <p:nvSpPr>
          <p:cNvPr id="6" name="Text 4"/>
          <p:cNvSpPr txBox="1"/>
          <p:nvPr/>
        </p:nvSpPr>
        <p:spPr>
          <a:xfrm>
            <a:off x="2968142" y="2532888"/>
            <a:ext cx="1633118" cy="2542032"/>
          </a:xfrm>
          <a:prstGeom prst="rect">
            <a:avLst/>
          </a:prstGeom>
          <a:noFill/>
          <a:ln/>
        </p:spPr>
        <p:txBody>
          <a:bodyPr wrap="square" lIns="0" tIns="0" rIns="0" bIns="0" rtlCol="0" anchor="ctr"/>
          <a:lstStyle/>
          <a:p>
            <a:pPr indent="0" marL="0">
              <a:buNone/>
            </a:pPr>
            <a:r>
              <a:rPr lang="en-US" sz="2150" dirty="0">
                <a:solidFill>
                  <a:srgbClr val="272425"/>
                </a:solidFill>
                <a:latin typeface="Arial" pitchFamily="34" charset="0"/>
                <a:ea typeface="Arial" pitchFamily="34" charset="-122"/>
                <a:cs typeface="Arial" pitchFamily="34" charset="-120"/>
              </a:rPr>
              <a:t>Cinco opciones: evitar, reducir, transferir, contingencia y aceptar</a:t>
            </a:r>
            <a:endParaRPr lang="en-US" sz="1600" dirty="0"/>
          </a:p>
        </p:txBody>
      </p:sp>
      <p:sp>
        <p:nvSpPr>
          <p:cNvPr id="7" name="Shape 5"/>
          <p:cNvSpPr/>
          <p:nvPr/>
        </p:nvSpPr>
        <p:spPr>
          <a:xfrm>
            <a:off x="5076749" y="2331720"/>
            <a:ext cx="2035454" cy="2926080"/>
          </a:xfrm>
          <a:prstGeom prst="roundRect">
            <a:avLst>
              <a:gd name="adj" fmla="val 4492"/>
            </a:avLst>
          </a:prstGeom>
          <a:solidFill>
            <a:srgbClr val="E9F1F8"/>
          </a:solidFill>
          <a:ln w="12700">
            <a:solidFill>
              <a:srgbClr val="E9F1F8"/>
            </a:solidFill>
            <a:prstDash val="solid"/>
          </a:ln>
        </p:spPr>
      </p:sp>
      <p:sp>
        <p:nvSpPr>
          <p:cNvPr id="8" name="Text 6"/>
          <p:cNvSpPr txBox="1"/>
          <p:nvPr/>
        </p:nvSpPr>
        <p:spPr>
          <a:xfrm>
            <a:off x="5277917" y="2532888"/>
            <a:ext cx="1633118" cy="2542032"/>
          </a:xfrm>
          <a:prstGeom prst="rect">
            <a:avLst/>
          </a:prstGeom>
          <a:noFill/>
          <a:ln/>
        </p:spPr>
        <p:txBody>
          <a:bodyPr wrap="square" lIns="0" tIns="0" rIns="0" bIns="0" rtlCol="0" anchor="ctr"/>
          <a:lstStyle/>
          <a:p>
            <a:pPr indent="0" marL="0">
              <a:buNone/>
            </a:pPr>
            <a:r>
              <a:rPr lang="en-US" sz="2150" dirty="0">
                <a:solidFill>
                  <a:srgbClr val="272425"/>
                </a:solidFill>
                <a:latin typeface="Arial" pitchFamily="34" charset="0"/>
                <a:ea typeface="Arial" pitchFamily="34" charset="-122"/>
                <a:cs typeface="Arial" pitchFamily="34" charset="-120"/>
              </a:rPr>
              <a:t>El SLA con penalidad, la respuesta habitual: valor neto 700, el menor de las cuatro</a:t>
            </a:r>
            <a:endParaRPr lang="en-US" sz="1600" dirty="0"/>
          </a:p>
        </p:txBody>
      </p:sp>
      <p:sp>
        <p:nvSpPr>
          <p:cNvPr id="9" name="Shape 7"/>
          <p:cNvSpPr/>
          <p:nvPr/>
        </p:nvSpPr>
        <p:spPr>
          <a:xfrm>
            <a:off x="7386523" y="2331720"/>
            <a:ext cx="2035454" cy="2926080"/>
          </a:xfrm>
          <a:prstGeom prst="roundRect">
            <a:avLst>
              <a:gd name="adj" fmla="val 4492"/>
            </a:avLst>
          </a:prstGeom>
          <a:solidFill>
            <a:srgbClr val="E9F1F8"/>
          </a:solidFill>
          <a:ln w="12700">
            <a:solidFill>
              <a:srgbClr val="E9F1F8"/>
            </a:solidFill>
            <a:prstDash val="solid"/>
          </a:ln>
        </p:spPr>
      </p:sp>
      <p:sp>
        <p:nvSpPr>
          <p:cNvPr id="10" name="Text 8"/>
          <p:cNvSpPr txBox="1"/>
          <p:nvPr/>
        </p:nvSpPr>
        <p:spPr>
          <a:xfrm>
            <a:off x="7587691" y="2532888"/>
            <a:ext cx="1633118" cy="2542032"/>
          </a:xfrm>
          <a:prstGeom prst="rect">
            <a:avLst/>
          </a:prstGeom>
          <a:noFill/>
          <a:ln/>
        </p:spPr>
        <p:txBody>
          <a:bodyPr wrap="square" lIns="0" tIns="0" rIns="0" bIns="0" rtlCol="0" anchor="ctr"/>
          <a:lstStyle/>
          <a:p>
            <a:pPr indent="0" marL="0">
              <a:buNone/>
            </a:pPr>
            <a:r>
              <a:rPr lang="en-US" sz="2150" dirty="0">
                <a:solidFill>
                  <a:srgbClr val="272425"/>
                </a:solidFill>
                <a:latin typeface="Arial" pitchFamily="34" charset="0"/>
                <a:ea typeface="Arial" pitchFamily="34" charset="-122"/>
                <a:cs typeface="Arial" pitchFamily="34" charset="-120"/>
              </a:rPr>
              <a:t>La recomendada: una contingencia que hoy no cuesta nada (valor neto 2.500)</a:t>
            </a:r>
            <a:endParaRPr lang="en-US" sz="1600" dirty="0"/>
          </a:p>
        </p:txBody>
      </p:sp>
      <p:sp>
        <p:nvSpPr>
          <p:cNvPr id="11" name="Shape 9"/>
          <p:cNvSpPr/>
          <p:nvPr/>
        </p:nvSpPr>
        <p:spPr>
          <a:xfrm>
            <a:off x="9696298" y="2331720"/>
            <a:ext cx="2035454" cy="2926080"/>
          </a:xfrm>
          <a:prstGeom prst="roundRect">
            <a:avLst>
              <a:gd name="adj" fmla="val 4492"/>
            </a:avLst>
          </a:prstGeom>
          <a:solidFill>
            <a:srgbClr val="E9F1F8"/>
          </a:solidFill>
          <a:ln w="12700">
            <a:solidFill>
              <a:srgbClr val="E9F1F8"/>
            </a:solidFill>
            <a:prstDash val="solid"/>
          </a:ln>
        </p:spPr>
      </p:sp>
      <p:sp>
        <p:nvSpPr>
          <p:cNvPr id="12" name="Text 10"/>
          <p:cNvSpPr txBox="1"/>
          <p:nvPr/>
        </p:nvSpPr>
        <p:spPr>
          <a:xfrm>
            <a:off x="9897466" y="2532888"/>
            <a:ext cx="1633118" cy="2542032"/>
          </a:xfrm>
          <a:prstGeom prst="rect">
            <a:avLst/>
          </a:prstGeom>
          <a:noFill/>
          <a:ln/>
        </p:spPr>
        <p:txBody>
          <a:bodyPr wrap="square" lIns="0" tIns="0" rIns="0" bIns="0" rtlCol="0" anchor="ctr"/>
          <a:lstStyle/>
          <a:p>
            <a:pPr indent="0" marL="0">
              <a:buNone/>
            </a:pPr>
            <a:r>
              <a:rPr lang="en-US" sz="2150" dirty="0">
                <a:solidFill>
                  <a:srgbClr val="272425"/>
                </a:solidFill>
                <a:latin typeface="Arial" pitchFamily="34" charset="0"/>
                <a:ea typeface="Arial" pitchFamily="34" charset="-122"/>
                <a:cs typeface="Arial" pitchFamily="34" charset="-120"/>
              </a:rPr>
              <a:t>¿Cómo se elige sin hacer la cuenta a mano y sin perder de vista el apetito?</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5752" cy="713232"/>
          </a:xfrm>
          <a:prstGeom prst="rect">
            <a:avLst/>
          </a:prstGeom>
          <a:noFill/>
          <a:ln/>
        </p:spPr>
        <p:txBody>
          <a:bodyPr wrap="square" lIns="0" tIns="0" rIns="0" bIns="0" rtlCol="0" anchor="ctr"/>
          <a:lstStyle/>
          <a:p>
            <a:pPr algn="l" indent="0" marL="0">
              <a:buNone/>
            </a:pPr>
            <a:r>
              <a:rPr lang="en-US" sz="2200" b="1" dirty="0">
                <a:solidFill>
                  <a:srgbClr val="9FD0F0"/>
                </a:solidFill>
                <a:latin typeface="Arial" pitchFamily="34" charset="0"/>
                <a:ea typeface="Arial" pitchFamily="34" charset="-122"/>
                <a:cs typeface="Arial" pitchFamily="34" charset="-120"/>
              </a:rPr>
              <a:t>Mano alzada</a:t>
            </a:r>
            <a:endParaRPr lang="en-US" sz="2200" dirty="0"/>
          </a:p>
        </p:txBody>
      </p:sp>
      <p:sp>
        <p:nvSpPr>
          <p:cNvPr id="3" name="Shape 1"/>
          <p:cNvSpPr/>
          <p:nvPr/>
        </p:nvSpPr>
        <p:spPr>
          <a:xfrm>
            <a:off x="548640" y="3131820"/>
            <a:ext cx="1188720" cy="1188720"/>
          </a:xfrm>
          <a:prstGeom prst="ellipse">
            <a:avLst/>
          </a:prstGeom>
          <a:solidFill>
            <a:srgbClr val="B5651D"/>
          </a:solidFill>
          <a:ln w="12700">
            <a:solidFill>
              <a:srgbClr val="B5651D"/>
            </a:solidFill>
            <a:prstDash val="solid"/>
          </a:ln>
        </p:spPr>
      </p:sp>
      <p:sp>
        <p:nvSpPr>
          <p:cNvPr id="4" name="Text 2"/>
          <p:cNvSpPr txBox="1"/>
          <p:nvPr/>
        </p:nvSpPr>
        <p:spPr>
          <a:xfrm>
            <a:off x="548640" y="3131820"/>
            <a:ext cx="1188720" cy="118872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a:t>
            </a:r>
            <a:endParaRPr lang="en-US" sz="5400" dirty="0"/>
          </a:p>
        </p:txBody>
      </p:sp>
      <p:sp>
        <p:nvSpPr>
          <p:cNvPr id="5" name="Text 3"/>
          <p:cNvSpPr txBox="1"/>
          <p:nvPr/>
        </p:nvSpPr>
        <p:spPr>
          <a:xfrm>
            <a:off x="2103120" y="1417320"/>
            <a:ext cx="9537192" cy="46177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¿Cuántos tienen un registro de riesgos que se actualizó en las últimas dos semanas?</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Del uso único al control continuo</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624249"/>
                <a:gridCol w="1943888"/>
                <a:gridCol w="3887777"/>
                <a:gridCol w="2818638"/>
              </a:tblGrid>
              <a:tr h="0">
                <a:tc>
                  <a:txBody>
                    <a:bodyPr/>
                    <a:lstStyle/>
                    <a:p>
                      <a:pPr indent="0" marL="0">
                        <a:buNone/>
                      </a:pPr>
                      <a:r>
                        <a:rPr lang="en-US" sz="1800" b="1" dirty="0">
                          <a:solidFill>
                            <a:srgbClr val="FFFFFF"/>
                          </a:solidFill>
                          <a:latin typeface="Arial" pitchFamily="34" charset="0"/>
                          <a:ea typeface="Arial" pitchFamily="34" charset="-122"/>
                          <a:cs typeface="Arial" pitchFamily="34" charset="-120"/>
                        </a:rPr>
                        <a:t>Actividad</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Hoy</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Con pm-method</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Indicador</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Responder los altos</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la primera que surge</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opciones por valor neto (REG-06, REG-10)</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altos sin respuesta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Decidir más allá del dinero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pesos implícitos</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expediente, matriz y RACI (DEC-01 a 03)</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peso que cambia la elección</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Tener lista la contingencia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una palabra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plan escrito (REG-10) y radar</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planes por escribir o activar</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Acciones y revisión</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vencen sin aviso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cada sanidad (REG-07, REG-09)</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vencidas</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Reserva de riesgo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se mira al cierre</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cada sanidad (CAM-02, CAM-03)</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cargos sin R-### y % usado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Condiciones de la junta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se olvidan</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cada sanidad (EST-12)</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condiciones abiertas</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645920"/>
            <a:ext cx="5486400" cy="411480"/>
          </a:xfrm>
          <a:prstGeom prst="rect">
            <a:avLst/>
          </a:prstGeom>
          <a:noFill/>
          <a:ln/>
        </p:spPr>
        <p:txBody>
          <a:bodyPr wrap="square" lIns="0" tIns="0" rIns="0" bIns="0" rtlCol="0" anchor="t"/>
          <a:lstStyle/>
          <a:p>
            <a:pPr indent="0" marL="0">
              <a:buNone/>
            </a:pPr>
            <a:r>
              <a:rPr lang="en-US" sz="1800" b="1" dirty="0">
                <a:solidFill>
                  <a:srgbClr val="9FD0F0"/>
                </a:solidFill>
                <a:latin typeface="Arial" pitchFamily="34" charset="0"/>
                <a:ea typeface="Arial" pitchFamily="34" charset="-122"/>
                <a:cs typeface="Arial" pitchFamily="34" charset="-120"/>
              </a:rPr>
              <a:t>Clase 1</a:t>
            </a:r>
            <a:endParaRPr lang="en-US" sz="1800" dirty="0"/>
          </a:p>
        </p:txBody>
      </p:sp>
      <p:sp>
        <p:nvSpPr>
          <p:cNvPr id="3" name="Text 2"/>
          <p:cNvSpPr/>
          <p:nvPr>
            <p:ph idx="102" type="title" hasCustomPrompt="1"/>
          </p:nvPr>
        </p:nvSpPr>
        <p:spPr>
          <a:xfrm>
            <a:off x="548640" y="2148840"/>
            <a:ext cx="11091672" cy="1005840"/>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Antes del taller</a:t>
            </a:r>
            <a:endParaRPr lang="en-US" sz="4000" dirty="0"/>
          </a:p>
        </p:txBody>
      </p:sp>
      <p:sp>
        <p:nvSpPr>
          <p:cNvPr id="4" name="Text 2"/>
          <p:cNvSpPr txBox="1"/>
          <p:nvPr/>
        </p:nvSpPr>
        <p:spPr>
          <a:xfrm>
            <a:off x="548640" y="3291840"/>
            <a:ext cx="11091672" cy="82296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Lo que decide la junta: apetito, tolerancia, reserva y cadencia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El enfoque de riesgo en una página</a:t>
            </a:r>
            <a:endParaRPr lang="en-US" sz="2400" dirty="0"/>
          </a:p>
        </p:txBody>
      </p:sp>
      <p:sp>
        <p:nvSpPr>
          <p:cNvPr id="3" name="Shape 1"/>
          <p:cNvSpPr/>
          <p:nvPr/>
        </p:nvSpPr>
        <p:spPr>
          <a:xfrm>
            <a:off x="457200" y="1280160"/>
            <a:ext cx="11274552" cy="870509"/>
          </a:xfrm>
          <a:prstGeom prst="roundRect">
            <a:avLst>
              <a:gd name="adj" fmla="val 10504"/>
            </a:avLst>
          </a:prstGeom>
          <a:solidFill>
            <a:srgbClr val="E9F1F8"/>
          </a:solidFill>
          <a:ln w="12700">
            <a:solidFill>
              <a:srgbClr val="E9F1F8"/>
            </a:solidFill>
            <a:prstDash val="solid"/>
          </a:ln>
        </p:spPr>
      </p:sp>
      <p:sp>
        <p:nvSpPr>
          <p:cNvPr id="4" name="Shape 2"/>
          <p:cNvSpPr/>
          <p:nvPr/>
        </p:nvSpPr>
        <p:spPr>
          <a:xfrm>
            <a:off x="621792" y="1486814"/>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621792" y="148681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335024"/>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Apetito: bajo en cumplimiento y seguridad; moderado en plazo y costo</a:t>
            </a:r>
            <a:endParaRPr lang="en-US" sz="1600" dirty="0"/>
          </a:p>
        </p:txBody>
      </p:sp>
      <p:sp>
        <p:nvSpPr>
          <p:cNvPr id="7" name="Shape 5"/>
          <p:cNvSpPr/>
          <p:nvPr/>
        </p:nvSpPr>
        <p:spPr>
          <a:xfrm>
            <a:off x="457200" y="2296973"/>
            <a:ext cx="11274552" cy="870509"/>
          </a:xfrm>
          <a:prstGeom prst="roundRect">
            <a:avLst>
              <a:gd name="adj" fmla="val 10504"/>
            </a:avLst>
          </a:prstGeom>
          <a:solidFill>
            <a:srgbClr val="F4F6F8"/>
          </a:solidFill>
          <a:ln w="12700">
            <a:solidFill>
              <a:srgbClr val="F4F6F8"/>
            </a:solidFill>
            <a:prstDash val="solid"/>
          </a:ln>
        </p:spPr>
      </p:sp>
      <p:sp>
        <p:nvSpPr>
          <p:cNvPr id="8" name="Shape 6"/>
          <p:cNvSpPr/>
          <p:nvPr/>
        </p:nvSpPr>
        <p:spPr>
          <a:xfrm>
            <a:off x="621792" y="2503627"/>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621792" y="2503627"/>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280160" y="2351837"/>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Tolerancia: ningún alto sin respuesta; exposición ≤ USD 60.000</a:t>
            </a:r>
            <a:endParaRPr lang="en-US" sz="1600" dirty="0"/>
          </a:p>
        </p:txBody>
      </p:sp>
      <p:sp>
        <p:nvSpPr>
          <p:cNvPr id="11" name="Shape 9"/>
          <p:cNvSpPr/>
          <p:nvPr/>
        </p:nvSpPr>
        <p:spPr>
          <a:xfrm>
            <a:off x="457200" y="3313786"/>
            <a:ext cx="11274552" cy="870509"/>
          </a:xfrm>
          <a:prstGeom prst="roundRect">
            <a:avLst>
              <a:gd name="adj" fmla="val 10504"/>
            </a:avLst>
          </a:prstGeom>
          <a:solidFill>
            <a:srgbClr val="E9F1F8"/>
          </a:solidFill>
          <a:ln w="12700">
            <a:solidFill>
              <a:srgbClr val="E9F1F8"/>
            </a:solidFill>
            <a:prstDash val="solid"/>
          </a:ln>
        </p:spPr>
      </p:sp>
      <p:sp>
        <p:nvSpPr>
          <p:cNvPr id="12" name="Shape 10"/>
          <p:cNvSpPr/>
          <p:nvPr/>
        </p:nvSpPr>
        <p:spPr>
          <a:xfrm>
            <a:off x="621792" y="3520440"/>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621792" y="3520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280160" y="3368650"/>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Presupuesto = respuestas + EMV residual; 5 % para no identificados a la reserva de gestión</a:t>
            </a:r>
            <a:endParaRPr lang="en-US" sz="1600" dirty="0"/>
          </a:p>
        </p:txBody>
      </p:sp>
      <p:sp>
        <p:nvSpPr>
          <p:cNvPr id="15" name="Shape 13"/>
          <p:cNvSpPr/>
          <p:nvPr/>
        </p:nvSpPr>
        <p:spPr>
          <a:xfrm>
            <a:off x="457200" y="4330598"/>
            <a:ext cx="11274552" cy="870509"/>
          </a:xfrm>
          <a:prstGeom prst="roundRect">
            <a:avLst>
              <a:gd name="adj" fmla="val 10504"/>
            </a:avLst>
          </a:prstGeom>
          <a:solidFill>
            <a:srgbClr val="F4F6F8"/>
          </a:solidFill>
          <a:ln w="12700">
            <a:solidFill>
              <a:srgbClr val="F4F6F8"/>
            </a:solidFill>
            <a:prstDash val="solid"/>
          </a:ln>
        </p:spPr>
      </p:sp>
      <p:sp>
        <p:nvSpPr>
          <p:cNvPr id="16" name="Shape 14"/>
          <p:cNvSpPr/>
          <p:nvPr/>
        </p:nvSpPr>
        <p:spPr>
          <a:xfrm>
            <a:off x="621792" y="4537253"/>
            <a:ext cx="457200" cy="457200"/>
          </a:xfrm>
          <a:prstGeom prst="roundRect">
            <a:avLst>
              <a:gd name="adj" fmla="val 16000"/>
            </a:avLst>
          </a:prstGeom>
          <a:solidFill>
            <a:srgbClr val="00629B"/>
          </a:solidFill>
          <a:ln w="12700">
            <a:solidFill>
              <a:srgbClr val="00629B"/>
            </a:solidFill>
            <a:prstDash val="solid"/>
          </a:ln>
        </p:spPr>
      </p:sp>
      <p:sp>
        <p:nvSpPr>
          <p:cNvPr id="17" name="Text 15"/>
          <p:cNvSpPr txBox="1"/>
          <p:nvPr/>
        </p:nvSpPr>
        <p:spPr>
          <a:xfrm>
            <a:off x="621792" y="4537253"/>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1280160" y="4385462"/>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Gestor hasta USD 5.000 por respuesta; por encima decide la ejecutiva</a:t>
            </a:r>
            <a:endParaRPr lang="en-US" sz="1600" dirty="0"/>
          </a:p>
        </p:txBody>
      </p:sp>
      <p:sp>
        <p:nvSpPr>
          <p:cNvPr id="19" name="Shape 17"/>
          <p:cNvSpPr/>
          <p:nvPr/>
        </p:nvSpPr>
        <p:spPr>
          <a:xfrm>
            <a:off x="457200" y="5347411"/>
            <a:ext cx="11274552" cy="870509"/>
          </a:xfrm>
          <a:prstGeom prst="roundRect">
            <a:avLst>
              <a:gd name="adj" fmla="val 10504"/>
            </a:avLst>
          </a:prstGeom>
          <a:solidFill>
            <a:srgbClr val="E9F1F8"/>
          </a:solidFill>
          <a:ln w="12700">
            <a:solidFill>
              <a:srgbClr val="E9F1F8"/>
            </a:solidFill>
            <a:prstDash val="solid"/>
          </a:ln>
        </p:spPr>
      </p:sp>
      <p:sp>
        <p:nvSpPr>
          <p:cNvPr id="20" name="Shape 18"/>
          <p:cNvSpPr/>
          <p:nvPr/>
        </p:nvSpPr>
        <p:spPr>
          <a:xfrm>
            <a:off x="621792" y="5554066"/>
            <a:ext cx="457200" cy="457200"/>
          </a:xfrm>
          <a:prstGeom prst="roundRect">
            <a:avLst>
              <a:gd name="adj" fmla="val 16000"/>
            </a:avLst>
          </a:prstGeom>
          <a:solidFill>
            <a:srgbClr val="00629B"/>
          </a:solidFill>
          <a:ln w="12700">
            <a:solidFill>
              <a:srgbClr val="00629B"/>
            </a:solidFill>
            <a:prstDash val="solid"/>
          </a:ln>
        </p:spPr>
      </p:sp>
      <p:sp>
        <p:nvSpPr>
          <p:cNvPr id="21" name="Text 19"/>
          <p:cNvSpPr txBox="1"/>
          <p:nvPr/>
        </p:nvSpPr>
        <p:spPr>
          <a:xfrm>
            <a:off x="621792" y="555406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2" name="Text 20"/>
          <p:cNvSpPr txBox="1"/>
          <p:nvPr/>
        </p:nvSpPr>
        <p:spPr>
          <a:xfrm>
            <a:off x="1280160" y="5402275"/>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Revisión en cada sprint; auditoría en cada fin de etapa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Demo · Paso 3: enfoque de riesgo y escala P×I</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4329684"/>
          </a:xfrm>
          <a:prstGeom prst="roundRect">
            <a:avLst>
              <a:gd name="adj" fmla="val 1690"/>
            </a:avLst>
          </a:prstGeom>
          <a:solidFill>
            <a:srgbClr val="0F2238"/>
          </a:solidFill>
          <a:ln w="12700">
            <a:solidFill>
              <a:srgbClr val="0F2238"/>
            </a:solidFill>
            <a:prstDash val="solid"/>
          </a:ln>
        </p:spPr>
      </p:sp>
      <p:sp>
        <p:nvSpPr>
          <p:cNvPr id="5" name="Text 3"/>
          <p:cNvSpPr txBox="1"/>
          <p:nvPr/>
        </p:nvSpPr>
        <p:spPr>
          <a:xfrm>
            <a:off x="685800" y="1792224"/>
            <a:ext cx="10817352" cy="4000500"/>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Proponé el enfoque de gestión de riesgos del proyecto en su versión mínima, con la escala de probabilidad e impacto (1 a 5, umbrales del paquete y conversión a porcentaje para el valor esperado). Incluí: - apetito: bajo en cumplimiento (Ley 18.331) y en seguridad del acceso; moderado en plazo y costo; abierto a   oportunidades de reutilización; - tolerancia: ningún riesgo alto sin respuesta y exposición de amenazas ≤ USD 60.000; lo que quede sobre la línea va a   la junta con su hoja de riesgo; - presupuesto de riesgo = costo de las respuestas + EMV residual de las amenazas identificadas; la provisión del 5 % del   costo de la WBS para riesgos no identificados va a la reserva de gestión, que solo libera la junta; el gestor compromete hasta USD 5.000 por respuesta ya aceptada y, por encima o para un riesgo nuevo,   decide Laura; todo uso de la reserva va a cambios.csv con cargo reserva-riesgo y el R-### al que responde; - cadencia: revisión en cada sprint, reevaluación y auditoría en cada fin de etapa, vigilancia normativa mensual. Después se lo llevo a Laura para aprobarlo.</a:t>
            </a:r>
            <a:endParaRPr lang="en-US" sz="18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1645920"/>
            <a:ext cx="5486400" cy="411480"/>
          </a:xfrm>
          <a:prstGeom prst="rect">
            <a:avLst/>
          </a:prstGeom>
          <a:noFill/>
          <a:ln/>
        </p:spPr>
        <p:txBody>
          <a:bodyPr wrap="square" lIns="0" tIns="0" rIns="0" bIns="0" rtlCol="0" anchor="t"/>
          <a:lstStyle/>
          <a:p>
            <a:pPr indent="0" marL="0">
              <a:buNone/>
            </a:pPr>
            <a:r>
              <a:rPr lang="en-US" sz="1800" b="1" dirty="0">
                <a:solidFill>
                  <a:srgbClr val="9FD0F0"/>
                </a:solidFill>
                <a:latin typeface="Arial" pitchFamily="34" charset="0"/>
                <a:ea typeface="Arial" pitchFamily="34" charset="-122"/>
                <a:cs typeface="Arial" pitchFamily="34" charset="-120"/>
              </a:rPr>
              <a:t>Clase 1</a:t>
            </a:r>
            <a:endParaRPr lang="en-US" sz="1800" dirty="0"/>
          </a:p>
        </p:txBody>
      </p:sp>
      <p:sp>
        <p:nvSpPr>
          <p:cNvPr id="3" name="Text 2"/>
          <p:cNvSpPr/>
          <p:nvPr>
            <p:ph idx="102" type="title" hasCustomPrompt="1"/>
          </p:nvPr>
        </p:nvSpPr>
        <p:spPr>
          <a:xfrm>
            <a:off x="548640" y="2148840"/>
            <a:ext cx="11091672" cy="1005840"/>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Identificar y evaluar</a:t>
            </a:r>
            <a:endParaRPr lang="en-US" sz="4000" dirty="0"/>
          </a:p>
        </p:txBody>
      </p:sp>
      <p:sp>
        <p:nvSpPr>
          <p:cNvPr id="4" name="Text 2"/>
          <p:cNvSpPr txBox="1"/>
          <p:nvPr/>
        </p:nvSpPr>
        <p:spPr>
          <a:xfrm>
            <a:off x="548640" y="3291840"/>
            <a:ext cx="11091672" cy="82296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Cuatro fuentes con cita de origen</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Demo · Paso 4: candidatos de BMAD y de la ronda</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1472184"/>
          </a:xfrm>
          <a:prstGeom prst="roundRect">
            <a:avLst>
              <a:gd name="adj" fmla="val 4969"/>
            </a:avLst>
          </a:prstGeom>
          <a:solidFill>
            <a:srgbClr val="0F2238"/>
          </a:solidFill>
          <a:ln w="12700">
            <a:solidFill>
              <a:srgbClr val="0F2238"/>
            </a:solidFill>
            <a:prstDash val="solid"/>
          </a:ln>
        </p:spPr>
      </p:sp>
      <p:sp>
        <p:nvSpPr>
          <p:cNvPr id="5" name="Text 3"/>
          <p:cNvSpPr txBox="1"/>
          <p:nvPr/>
        </p:nvSpPr>
        <p:spPr>
          <a:xfrm>
            <a:off x="685800" y="1792224"/>
            <a:ext cx="10817352" cy="1143000"/>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Antes del taller, buscá riesgos candidatos en lo que ya tenemos: los artefactos de BMAD (brief, PRD, arquitectura y lo que haya de la fase de descubrimiento) y la transcripción de la ronda de riesgos del 27/10. Citá de dónde sale cada uno.</a:t>
            </a:r>
            <a:endParaRPr lang="en-US" sz="18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Sin BMAD: los artefactos del proyecto</a:t>
            </a:r>
            <a:endParaRPr lang="en-US" sz="2400" dirty="0"/>
          </a:p>
        </p:txBody>
      </p:sp>
      <p:sp>
        <p:nvSpPr>
          <p:cNvPr id="3" name="Shape 1"/>
          <p:cNvSpPr/>
          <p:nvPr/>
        </p:nvSpPr>
        <p:spPr>
          <a:xfrm>
            <a:off x="457200" y="1280160"/>
            <a:ext cx="11274552" cy="870509"/>
          </a:xfrm>
          <a:prstGeom prst="roundRect">
            <a:avLst>
              <a:gd name="adj" fmla="val 10504"/>
            </a:avLst>
          </a:prstGeom>
          <a:solidFill>
            <a:srgbClr val="E9F1F8"/>
          </a:solidFill>
          <a:ln w="12700">
            <a:solidFill>
              <a:srgbClr val="E9F1F8"/>
            </a:solidFill>
            <a:prstDash val="solid"/>
          </a:ln>
        </p:spPr>
      </p:sp>
      <p:sp>
        <p:nvSpPr>
          <p:cNvPr id="4" name="Shape 2"/>
          <p:cNvSpPr/>
          <p:nvPr/>
        </p:nvSpPr>
        <p:spPr>
          <a:xfrm>
            <a:off x="621792" y="1486814"/>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621792" y="148681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335024"/>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bmad: no aplica; los riesgos salen del propio proyecto</a:t>
            </a:r>
            <a:endParaRPr lang="en-US" sz="1600" dirty="0"/>
          </a:p>
        </p:txBody>
      </p:sp>
      <p:sp>
        <p:nvSpPr>
          <p:cNvPr id="7" name="Shape 5"/>
          <p:cNvSpPr/>
          <p:nvPr/>
        </p:nvSpPr>
        <p:spPr>
          <a:xfrm>
            <a:off x="457200" y="2296973"/>
            <a:ext cx="11274552" cy="870509"/>
          </a:xfrm>
          <a:prstGeom prst="roundRect">
            <a:avLst>
              <a:gd name="adj" fmla="val 10504"/>
            </a:avLst>
          </a:prstGeom>
          <a:solidFill>
            <a:srgbClr val="F4F6F8"/>
          </a:solidFill>
          <a:ln w="12700">
            <a:solidFill>
              <a:srgbClr val="F4F6F8"/>
            </a:solidFill>
            <a:prstDash val="solid"/>
          </a:ln>
        </p:spPr>
      </p:sp>
      <p:sp>
        <p:nvSpPr>
          <p:cNvPr id="8" name="Shape 6"/>
          <p:cNvSpPr/>
          <p:nvPr/>
        </p:nvSpPr>
        <p:spPr>
          <a:xfrm>
            <a:off x="621792" y="2503627"/>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621792" y="2503627"/>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280160" y="2351837"/>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Mandato: restricciones y lecciones de proyectos anteriores</a:t>
            </a:r>
            <a:endParaRPr lang="en-US" sz="1600" dirty="0"/>
          </a:p>
        </p:txBody>
      </p:sp>
      <p:sp>
        <p:nvSpPr>
          <p:cNvPr id="11" name="Shape 9"/>
          <p:cNvSpPr/>
          <p:nvPr/>
        </p:nvSpPr>
        <p:spPr>
          <a:xfrm>
            <a:off x="457200" y="3313786"/>
            <a:ext cx="11274552" cy="870509"/>
          </a:xfrm>
          <a:prstGeom prst="roundRect">
            <a:avLst>
              <a:gd name="adj" fmla="val 10504"/>
            </a:avLst>
          </a:prstGeom>
          <a:solidFill>
            <a:srgbClr val="E9F1F8"/>
          </a:solidFill>
          <a:ln w="12700">
            <a:solidFill>
              <a:srgbClr val="E9F1F8"/>
            </a:solidFill>
            <a:prstDash val="solid"/>
          </a:ln>
        </p:spPr>
      </p:sp>
      <p:sp>
        <p:nvSpPr>
          <p:cNvPr id="12" name="Shape 10"/>
          <p:cNvSpPr/>
          <p:nvPr/>
        </p:nvSpPr>
        <p:spPr>
          <a:xfrm>
            <a:off x="621792" y="3520440"/>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621792" y="3520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280160" y="3368650"/>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Brief y requisitos: supuestos y preguntas abiertas</a:t>
            </a:r>
            <a:endParaRPr lang="en-US" sz="1600" dirty="0"/>
          </a:p>
        </p:txBody>
      </p:sp>
      <p:sp>
        <p:nvSpPr>
          <p:cNvPr id="15" name="Shape 13"/>
          <p:cNvSpPr/>
          <p:nvPr/>
        </p:nvSpPr>
        <p:spPr>
          <a:xfrm>
            <a:off x="457200" y="4330598"/>
            <a:ext cx="11274552" cy="870509"/>
          </a:xfrm>
          <a:prstGeom prst="roundRect">
            <a:avLst>
              <a:gd name="adj" fmla="val 10504"/>
            </a:avLst>
          </a:prstGeom>
          <a:solidFill>
            <a:srgbClr val="F4F6F8"/>
          </a:solidFill>
          <a:ln w="12700">
            <a:solidFill>
              <a:srgbClr val="F4F6F8"/>
            </a:solidFill>
            <a:prstDash val="solid"/>
          </a:ln>
        </p:spPr>
      </p:sp>
      <p:sp>
        <p:nvSpPr>
          <p:cNvPr id="16" name="Shape 14"/>
          <p:cNvSpPr/>
          <p:nvPr/>
        </p:nvSpPr>
        <p:spPr>
          <a:xfrm>
            <a:off x="621792" y="4537253"/>
            <a:ext cx="457200" cy="457200"/>
          </a:xfrm>
          <a:prstGeom prst="roundRect">
            <a:avLst>
              <a:gd name="adj" fmla="val 16000"/>
            </a:avLst>
          </a:prstGeom>
          <a:solidFill>
            <a:srgbClr val="00629B"/>
          </a:solidFill>
          <a:ln w="12700">
            <a:solidFill>
              <a:srgbClr val="00629B"/>
            </a:solidFill>
            <a:prstDash val="solid"/>
          </a:ln>
        </p:spPr>
      </p:sp>
      <p:sp>
        <p:nvSpPr>
          <p:cNvPr id="17" name="Text 15"/>
          <p:cNvSpPr txBox="1"/>
          <p:nvPr/>
        </p:nvSpPr>
        <p:spPr>
          <a:xfrm>
            <a:off x="621792" y="4537253"/>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1280160" y="4385462"/>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supuestos.csv: S-001 sin validar</a:t>
            </a:r>
            <a:endParaRPr lang="en-US" sz="1600" dirty="0"/>
          </a:p>
        </p:txBody>
      </p:sp>
      <p:sp>
        <p:nvSpPr>
          <p:cNvPr id="19" name="Shape 17"/>
          <p:cNvSpPr/>
          <p:nvPr/>
        </p:nvSpPr>
        <p:spPr>
          <a:xfrm>
            <a:off x="457200" y="5347411"/>
            <a:ext cx="11274552" cy="870509"/>
          </a:xfrm>
          <a:prstGeom prst="roundRect">
            <a:avLst>
              <a:gd name="adj" fmla="val 10504"/>
            </a:avLst>
          </a:prstGeom>
          <a:solidFill>
            <a:srgbClr val="E9F1F8"/>
          </a:solidFill>
          <a:ln w="12700">
            <a:solidFill>
              <a:srgbClr val="E9F1F8"/>
            </a:solidFill>
            <a:prstDash val="solid"/>
          </a:ln>
        </p:spPr>
      </p:sp>
      <p:sp>
        <p:nvSpPr>
          <p:cNvPr id="20" name="Shape 18"/>
          <p:cNvSpPr/>
          <p:nvPr/>
        </p:nvSpPr>
        <p:spPr>
          <a:xfrm>
            <a:off x="621792" y="5554066"/>
            <a:ext cx="457200" cy="457200"/>
          </a:xfrm>
          <a:prstGeom prst="roundRect">
            <a:avLst>
              <a:gd name="adj" fmla="val 16000"/>
            </a:avLst>
          </a:prstGeom>
          <a:solidFill>
            <a:srgbClr val="00629B"/>
          </a:solidFill>
          <a:ln w="12700">
            <a:solidFill>
              <a:srgbClr val="00629B"/>
            </a:solidFill>
            <a:prstDash val="solid"/>
          </a:ln>
        </p:spPr>
      </p:sp>
      <p:sp>
        <p:nvSpPr>
          <p:cNvPr id="21" name="Text 19"/>
          <p:cNvSpPr txBox="1"/>
          <p:nvPr/>
        </p:nvSpPr>
        <p:spPr>
          <a:xfrm>
            <a:off x="621792" y="555406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2" name="Text 20"/>
          <p:cNvSpPr txBox="1"/>
          <p:nvPr/>
        </p:nvSpPr>
        <p:spPr>
          <a:xfrm>
            <a:off x="1280160" y="5402275"/>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Resultado: 7 candidatos de 5 fuentes</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Perfil al 3/11: dos altos sin respuesta</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818638"/>
                <a:gridCol w="2818638"/>
                <a:gridCol w="2818638"/>
                <a:gridCol w="2818638"/>
              </a:tblGrid>
              <a:tr h="0">
                <a:tc>
                  <a:txBody>
                    <a:bodyPr/>
                    <a:lstStyle/>
                    <a:p>
                      <a:pPr indent="0" marL="0">
                        <a:buNone/>
                      </a:pPr>
                      <a:r>
                        <a:rPr lang="en-US" sz="180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P×I</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EMV USD</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R-001</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4×4 = 16</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21.000</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alto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R-003</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3×5 = 15</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12.500</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alto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R-002</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3×4 = 12</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7.500</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medio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R-005</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3×3 = 9</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9.000</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medio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R-004</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2×4 = 8</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3.600</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medio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bl>
          </a:graphicData>
        </a:graphic>
      </p:graphicFrame>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645920"/>
            <a:ext cx="5486400" cy="411480"/>
          </a:xfrm>
          <a:prstGeom prst="rect">
            <a:avLst/>
          </a:prstGeom>
          <a:noFill/>
          <a:ln/>
        </p:spPr>
        <p:txBody>
          <a:bodyPr wrap="square" lIns="0" tIns="0" rIns="0" bIns="0" rtlCol="0" anchor="t"/>
          <a:lstStyle/>
          <a:p>
            <a:pPr indent="0" marL="0">
              <a:buNone/>
            </a:pPr>
            <a:r>
              <a:rPr lang="en-US" sz="1800" b="1" dirty="0">
                <a:solidFill>
                  <a:srgbClr val="9FD0F0"/>
                </a:solidFill>
                <a:latin typeface="Arial" pitchFamily="34" charset="0"/>
                <a:ea typeface="Arial" pitchFamily="34" charset="-122"/>
                <a:cs typeface="Arial" pitchFamily="34" charset="-120"/>
              </a:rPr>
              <a:t>Clase 1</a:t>
            </a:r>
            <a:endParaRPr lang="en-US" sz="1800" dirty="0"/>
          </a:p>
        </p:txBody>
      </p:sp>
      <p:sp>
        <p:nvSpPr>
          <p:cNvPr id="3" name="Text 2"/>
          <p:cNvSpPr/>
          <p:nvPr>
            <p:ph idx="102" type="title" hasCustomPrompt="1"/>
          </p:nvPr>
        </p:nvSpPr>
        <p:spPr>
          <a:xfrm>
            <a:off x="548640" y="2148840"/>
            <a:ext cx="11091672" cy="1005840"/>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Elegir y preparar</a:t>
            </a:r>
            <a:endParaRPr lang="en-US" sz="4000" dirty="0"/>
          </a:p>
        </p:txBody>
      </p:sp>
      <p:sp>
        <p:nvSpPr>
          <p:cNvPr id="4" name="Text 2"/>
          <p:cNvSpPr txBox="1"/>
          <p:nvPr/>
        </p:nvSpPr>
        <p:spPr>
          <a:xfrm>
            <a:off x="548640" y="3291840"/>
            <a:ext cx="11091672" cy="82296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Opciones por valor neto, matriz con sensibilidad y plan de contingencia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Demo · Paso 6a: opciones, expediente y matriz de R-003</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2043684"/>
          </a:xfrm>
          <a:prstGeom prst="roundRect">
            <a:avLst>
              <a:gd name="adj" fmla="val 3579"/>
            </a:avLst>
          </a:prstGeom>
          <a:solidFill>
            <a:srgbClr val="0F2238"/>
          </a:solidFill>
          <a:ln w="12700">
            <a:solidFill>
              <a:srgbClr val="0F2238"/>
            </a:solidFill>
            <a:prstDash val="solid"/>
          </a:ln>
        </p:spPr>
      </p:sp>
      <p:sp>
        <p:nvSpPr>
          <p:cNvPr id="5" name="Text 3"/>
          <p:cNvSpPr txBox="1"/>
          <p:nvPr/>
        </p:nvSpPr>
        <p:spPr>
          <a:xfrm>
            <a:off x="685800" y="1792224"/>
            <a:ext cx="10817352" cy="1714500"/>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Antes de elegir respuestas para R-001 y R-003, armá sus opciones con estos datos (evitar, reducir, transferir, contingencia y aceptar), compará el valor neto de cada una y decime cuál conviene en cada riesgo. R-003 toca el acceso de los socios: armá además el expediente de esa decisión y una matriz con los criterios de riesgo y estos puntajes, y mostrame cuánto depende la recomendación de los pesos.</a:t>
            </a:r>
            <a:endParaRPr lang="en-US" sz="18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R-001: reducir. R-003: preparar la contingencia</a:t>
            </a:r>
            <a:endParaRPr lang="en-US" sz="2400" dirty="0"/>
          </a:p>
        </p:txBody>
      </p:sp>
      <p:pic>
        <p:nvPicPr>
          <p:cNvPr id="3" name="Image 0" descr="R-001: reducir. R-003: preparar la contingencia">    </p:cNvPr>
          <p:cNvPicPr>
            <a:picLocks noChangeAspect="1"/>
          </p:cNvPicPr>
          <p:nvPr/>
        </p:nvPicPr>
        <p:blipFill>
          <a:blip r:embed="rId1"/>
          <a:stretch>
            <a:fillRect/>
          </a:stretch>
        </p:blipFill>
        <p:spPr>
          <a:xfrm>
            <a:off x="1705356" y="1280160"/>
            <a:ext cx="8778240" cy="4937760"/>
          </a:xfrm>
          <a:prstGeom prst="rect">
            <a:avLst/>
          </a:prstGeom>
        </p:spPr>
      </p:pic>
      <p:sp>
        <p:nvSpPr>
          <p:cNvPr id="4" name="Shape 1"/>
          <p:cNvSpPr/>
          <p:nvPr/>
        </p:nvSpPr>
        <p:spPr>
          <a:xfrm>
            <a:off x="1705356" y="1280160"/>
            <a:ext cx="8778240" cy="4937760"/>
          </a:xfrm>
          <a:prstGeom prst="rect">
            <a:avLst/>
          </a:prstGeom>
          <a:solidFill>
            <a:srgbClr val="FFFFFF">
              <a:alpha val="0"/>
            </a:srgbClr>
          </a:solidFill>
          <a:ln w="9525">
            <a:solidFill>
              <a:srgbClr val="E2E2E6"/>
            </a:solidFill>
            <a:prstDash val="solid"/>
          </a:ln>
        </p:spPr>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La contingencia gana hasta que el apetito pesa 51,4</a:t>
            </a:r>
            <a:endParaRPr lang="en-US" sz="2400" dirty="0"/>
          </a:p>
        </p:txBody>
      </p:sp>
      <p:pic>
        <p:nvPicPr>
          <p:cNvPr id="3" name="Image 0" descr="La contingencia gana hasta que el apetito pesa 51,4">    </p:cNvPr>
          <p:cNvPicPr>
            <a:picLocks noChangeAspect="1"/>
          </p:cNvPicPr>
          <p:nvPr/>
        </p:nvPicPr>
        <p:blipFill>
          <a:blip r:embed="rId1"/>
          <a:stretch>
            <a:fillRect/>
          </a:stretch>
        </p:blipFill>
        <p:spPr>
          <a:xfrm>
            <a:off x="1705356" y="1280160"/>
            <a:ext cx="8778240" cy="4937760"/>
          </a:xfrm>
          <a:prstGeom prst="rect">
            <a:avLst/>
          </a:prstGeom>
        </p:spPr>
      </p:pic>
      <p:sp>
        <p:nvSpPr>
          <p:cNvPr id="4" name="Shape 1"/>
          <p:cNvSpPr/>
          <p:nvPr/>
        </p:nvSpPr>
        <p:spPr>
          <a:xfrm>
            <a:off x="1705356" y="1280160"/>
            <a:ext cx="8778240" cy="4937760"/>
          </a:xfrm>
          <a:prstGeom prst="rect">
            <a:avLst/>
          </a:prstGeom>
          <a:solidFill>
            <a:srgbClr val="FFFFFF">
              <a:alpha val="0"/>
            </a:srgbClr>
          </a:solidFill>
          <a:ln w="9525">
            <a:solidFill>
              <a:srgbClr val="E2E2E6"/>
            </a:solidFill>
            <a:prstDash val="solid"/>
          </a:ln>
        </p:spPr>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Demo · Paso 6b: el plan de contingencia de R-003</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3472434"/>
          </a:xfrm>
          <a:prstGeom prst="roundRect">
            <a:avLst>
              <a:gd name="adj" fmla="val 2107"/>
            </a:avLst>
          </a:prstGeom>
          <a:solidFill>
            <a:srgbClr val="0F2238"/>
          </a:solidFill>
          <a:ln w="12700">
            <a:solidFill>
              <a:srgbClr val="0F2238"/>
            </a:solidFill>
            <a:prstDash val="solid"/>
          </a:ln>
        </p:spPr>
      </p:sp>
      <p:sp>
        <p:nvSpPr>
          <p:cNvPr id="5" name="Text 3"/>
          <p:cNvSpPr txBox="1"/>
          <p:nvPr/>
        </p:nvSpPr>
        <p:spPr>
          <a:xfrm>
            <a:off x="685800" y="1792224"/>
            <a:ext cx="10817352" cy="3143250"/>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Escribí el plan de contingencia de R-003. Disparador: dos caídas del proveedor de SMS en un mes; alerta temprana: la primera caída o una disponibilidad mensual menor que 99,9 %, que vigila Lucía en cada revisión del sprint. Al disparo: 1) Diego activa el contrato del proveedor alternativo en paralelo durante 6 meses (5 días hábiles, USD 12.000); 2) Lucía conmuta el segundo factor detrás de IdentityPort y lo verifica con socios de prueba (3 días hábiles más), con el correo como factor alternativo mientras tanto. Lo paga la reserva de riesgo y, como supera mis USD 5.000, lo autoriza Laura. Si el proveedor alternativo también falla en las dos semanas siguientes, correo como único segundo factor temporal y aviso a cumplimiento. Preparación: Diego firma el acuerdo marco antes del 25/11.</a:t>
            </a:r>
            <a:endParaRPr lang="en-US" sz="18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Después de las respuestas, ninguna amenaza queda en zona alta</a:t>
            </a:r>
            <a:endParaRPr lang="en-US" sz="2400" dirty="0"/>
          </a:p>
        </p:txBody>
      </p:sp>
      <p:pic>
        <p:nvPicPr>
          <p:cNvPr id="3" name="Image 0" descr="Después de las respuestas, ninguna amenaza queda en zona alta">    </p:cNvPr>
          <p:cNvPicPr>
            <a:picLocks noChangeAspect="1"/>
          </p:cNvPicPr>
          <p:nvPr/>
        </p:nvPicPr>
        <p:blipFill>
          <a:blip r:embed="rId1"/>
          <a:stretch>
            <a:fillRect/>
          </a:stretch>
        </p:blipFill>
        <p:spPr>
          <a:xfrm>
            <a:off x="1705356" y="1280160"/>
            <a:ext cx="8778240" cy="4937760"/>
          </a:xfrm>
          <a:prstGeom prst="rect">
            <a:avLst/>
          </a:prstGeom>
        </p:spPr>
      </p:pic>
      <p:sp>
        <p:nvSpPr>
          <p:cNvPr id="4" name="Shape 1"/>
          <p:cNvSpPr/>
          <p:nvPr/>
        </p:nvSpPr>
        <p:spPr>
          <a:xfrm>
            <a:off x="1705356" y="1280160"/>
            <a:ext cx="8778240" cy="4937760"/>
          </a:xfrm>
          <a:prstGeom prst="rect">
            <a:avLst/>
          </a:prstGeom>
          <a:solidFill>
            <a:srgbClr val="FFFFFF">
              <a:alpha val="0"/>
            </a:srgbClr>
          </a:solidFill>
          <a:ln w="9525">
            <a:solidFill>
              <a:srgbClr val="E2E2E6"/>
            </a:solidFill>
            <a:prstDash val="solid"/>
          </a:ln>
        </p:spPr>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Paso 7 · Presupuesto de riesgo: 39.800</a:t>
            </a:r>
            <a:endParaRPr lang="en-US" sz="2400" dirty="0"/>
          </a:p>
        </p:txBody>
      </p:sp>
      <p:sp>
        <p:nvSpPr>
          <p:cNvPr id="3" name="Shape 1"/>
          <p:cNvSpPr/>
          <p:nvPr/>
        </p:nvSpPr>
        <p:spPr>
          <a:xfrm>
            <a:off x="457200" y="1280160"/>
            <a:ext cx="11274552" cy="870509"/>
          </a:xfrm>
          <a:prstGeom prst="roundRect">
            <a:avLst>
              <a:gd name="adj" fmla="val 10504"/>
            </a:avLst>
          </a:prstGeom>
          <a:solidFill>
            <a:srgbClr val="E9F1F8"/>
          </a:solidFill>
          <a:ln w="12700">
            <a:solidFill>
              <a:srgbClr val="E9F1F8"/>
            </a:solidFill>
            <a:prstDash val="solid"/>
          </a:ln>
        </p:spPr>
      </p:sp>
      <p:sp>
        <p:nvSpPr>
          <p:cNvPr id="4" name="Shape 2"/>
          <p:cNvSpPr/>
          <p:nvPr/>
        </p:nvSpPr>
        <p:spPr>
          <a:xfrm>
            <a:off x="621792" y="1486814"/>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621792" y="148681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335024"/>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Respuestas 7.300 + EMV residual 32.500; provisión 6.200 a la reserva de gestión</a:t>
            </a:r>
            <a:endParaRPr lang="en-US" sz="1600" dirty="0"/>
          </a:p>
        </p:txBody>
      </p:sp>
      <p:sp>
        <p:nvSpPr>
          <p:cNvPr id="7" name="Shape 5"/>
          <p:cNvSpPr/>
          <p:nvPr/>
        </p:nvSpPr>
        <p:spPr>
          <a:xfrm>
            <a:off x="457200" y="2296973"/>
            <a:ext cx="11274552" cy="870509"/>
          </a:xfrm>
          <a:prstGeom prst="roundRect">
            <a:avLst>
              <a:gd name="adj" fmla="val 10504"/>
            </a:avLst>
          </a:prstGeom>
          <a:solidFill>
            <a:srgbClr val="F4F6F8"/>
          </a:solidFill>
          <a:ln w="12700">
            <a:solidFill>
              <a:srgbClr val="F4F6F8"/>
            </a:solidFill>
            <a:prstDash val="solid"/>
          </a:ln>
        </p:spPr>
      </p:sp>
      <p:sp>
        <p:nvSpPr>
          <p:cNvPr id="8" name="Shape 6"/>
          <p:cNvSpPr/>
          <p:nvPr/>
        </p:nvSpPr>
        <p:spPr>
          <a:xfrm>
            <a:off x="621792" y="2503627"/>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621792" y="2503627"/>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280160" y="2351837"/>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La contingencia de R-003 entra ponderada: 50 % × (8.000 + 12.000)</a:t>
            </a:r>
            <a:endParaRPr lang="en-US" sz="1600" dirty="0"/>
          </a:p>
        </p:txBody>
      </p:sp>
      <p:sp>
        <p:nvSpPr>
          <p:cNvPr id="11" name="Shape 9"/>
          <p:cNvSpPr/>
          <p:nvPr/>
        </p:nvSpPr>
        <p:spPr>
          <a:xfrm>
            <a:off x="457200" y="3313786"/>
            <a:ext cx="11274552" cy="870509"/>
          </a:xfrm>
          <a:prstGeom prst="roundRect">
            <a:avLst>
              <a:gd name="adj" fmla="val 10504"/>
            </a:avLst>
          </a:prstGeom>
          <a:solidFill>
            <a:srgbClr val="E9F1F8"/>
          </a:solidFill>
          <a:ln w="12700">
            <a:solidFill>
              <a:srgbClr val="E9F1F8"/>
            </a:solidFill>
            <a:prstDash val="solid"/>
          </a:ln>
        </p:spPr>
      </p:sp>
      <p:sp>
        <p:nvSpPr>
          <p:cNvPr id="12" name="Shape 10"/>
          <p:cNvSpPr/>
          <p:nvPr/>
        </p:nvSpPr>
        <p:spPr>
          <a:xfrm>
            <a:off x="621792" y="3520440"/>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621792" y="3520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280160" y="3368650"/>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estado.py presupuesto riesgo=39800 gestion=6200 (nivel junta)</a:t>
            </a:r>
            <a:endParaRPr lang="en-US" sz="1600" dirty="0"/>
          </a:p>
        </p:txBody>
      </p:sp>
      <p:sp>
        <p:nvSpPr>
          <p:cNvPr id="15" name="Shape 13"/>
          <p:cNvSpPr/>
          <p:nvPr/>
        </p:nvSpPr>
        <p:spPr>
          <a:xfrm>
            <a:off x="457200" y="4330598"/>
            <a:ext cx="11274552" cy="870509"/>
          </a:xfrm>
          <a:prstGeom prst="roundRect">
            <a:avLst>
              <a:gd name="adj" fmla="val 10504"/>
            </a:avLst>
          </a:prstGeom>
          <a:solidFill>
            <a:srgbClr val="F4F6F8"/>
          </a:solidFill>
          <a:ln w="12700">
            <a:solidFill>
              <a:srgbClr val="F4F6F8"/>
            </a:solidFill>
            <a:prstDash val="solid"/>
          </a:ln>
        </p:spPr>
      </p:sp>
      <p:sp>
        <p:nvSpPr>
          <p:cNvPr id="16" name="Shape 14"/>
          <p:cNvSpPr/>
          <p:nvPr/>
        </p:nvSpPr>
        <p:spPr>
          <a:xfrm>
            <a:off x="621792" y="4537253"/>
            <a:ext cx="457200" cy="457200"/>
          </a:xfrm>
          <a:prstGeom prst="roundRect">
            <a:avLst>
              <a:gd name="adj" fmla="val 16000"/>
            </a:avLst>
          </a:prstGeom>
          <a:solidFill>
            <a:srgbClr val="00629B"/>
          </a:solidFill>
          <a:ln w="12700">
            <a:solidFill>
              <a:srgbClr val="00629B"/>
            </a:solidFill>
            <a:prstDash val="solid"/>
          </a:ln>
        </p:spPr>
      </p:sp>
      <p:sp>
        <p:nvSpPr>
          <p:cNvPr id="17" name="Text 15"/>
          <p:cNvSpPr txBox="1"/>
          <p:nvPr/>
        </p:nvSpPr>
        <p:spPr>
          <a:xfrm>
            <a:off x="621792" y="4537253"/>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1280160" y="4385462"/>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C-001 carga 7.300: CAM-03 informa 18 %</a:t>
            </a:r>
            <a:endParaRPr lang="en-US" sz="1600" dirty="0"/>
          </a:p>
        </p:txBody>
      </p:sp>
      <p:sp>
        <p:nvSpPr>
          <p:cNvPr id="19" name="Shape 17"/>
          <p:cNvSpPr/>
          <p:nvPr/>
        </p:nvSpPr>
        <p:spPr>
          <a:xfrm>
            <a:off x="457200" y="5347411"/>
            <a:ext cx="11274552" cy="870509"/>
          </a:xfrm>
          <a:prstGeom prst="roundRect">
            <a:avLst>
              <a:gd name="adj" fmla="val 10504"/>
            </a:avLst>
          </a:prstGeom>
          <a:solidFill>
            <a:srgbClr val="E9F1F8"/>
          </a:solidFill>
          <a:ln w="12700">
            <a:solidFill>
              <a:srgbClr val="E9F1F8"/>
            </a:solidFill>
            <a:prstDash val="solid"/>
          </a:ln>
        </p:spPr>
      </p:sp>
      <p:sp>
        <p:nvSpPr>
          <p:cNvPr id="20" name="Shape 18"/>
          <p:cNvSpPr/>
          <p:nvPr/>
        </p:nvSpPr>
        <p:spPr>
          <a:xfrm>
            <a:off x="621792" y="5554066"/>
            <a:ext cx="457200" cy="457200"/>
          </a:xfrm>
          <a:prstGeom prst="roundRect">
            <a:avLst>
              <a:gd name="adj" fmla="val 16000"/>
            </a:avLst>
          </a:prstGeom>
          <a:solidFill>
            <a:srgbClr val="00629B"/>
          </a:solidFill>
          <a:ln w="12700">
            <a:solidFill>
              <a:srgbClr val="00629B"/>
            </a:solidFill>
            <a:prstDash val="solid"/>
          </a:ln>
        </p:spPr>
      </p:sp>
      <p:sp>
        <p:nvSpPr>
          <p:cNvPr id="21" name="Text 19"/>
          <p:cNvSpPr txBox="1"/>
          <p:nvPr/>
        </p:nvSpPr>
        <p:spPr>
          <a:xfrm>
            <a:off x="621792" y="555406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2" name="Text 20"/>
          <p:cNvSpPr txBox="1"/>
          <p:nvPr/>
        </p:nvSpPr>
        <p:spPr>
          <a:xfrm>
            <a:off x="1280160" y="5402275"/>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REG-07: A-002 y A-003 hechas pero sin cerrar</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5752" cy="713232"/>
          </a:xfrm>
          <a:prstGeom prst="rect">
            <a:avLst/>
          </a:prstGeom>
          <a:noFill/>
          <a:ln/>
        </p:spPr>
        <p:txBody>
          <a:bodyPr wrap="square" lIns="0" tIns="0" rIns="0" bIns="0" rtlCol="0" anchor="ctr"/>
          <a:lstStyle/>
          <a:p>
            <a:pPr algn="l" indent="0" marL="0">
              <a:buNone/>
            </a:pPr>
            <a:r>
              <a:rPr lang="en-US" sz="2200" b="1" dirty="0">
                <a:solidFill>
                  <a:srgbClr val="9FD0F0"/>
                </a:solidFill>
                <a:latin typeface="Arial" pitchFamily="34" charset="0"/>
                <a:ea typeface="Arial" pitchFamily="34" charset="-122"/>
                <a:cs typeface="Arial" pitchFamily="34" charset="-120"/>
              </a:rPr>
              <a:t>Discusión</a:t>
            </a:r>
            <a:endParaRPr lang="en-US" sz="2200" dirty="0"/>
          </a:p>
        </p:txBody>
      </p:sp>
      <p:sp>
        <p:nvSpPr>
          <p:cNvPr id="3" name="Shape 1"/>
          <p:cNvSpPr/>
          <p:nvPr/>
        </p:nvSpPr>
        <p:spPr>
          <a:xfrm>
            <a:off x="548640" y="3131820"/>
            <a:ext cx="1188720" cy="1188720"/>
          </a:xfrm>
          <a:prstGeom prst="ellipse">
            <a:avLst/>
          </a:prstGeom>
          <a:solidFill>
            <a:srgbClr val="B5651D"/>
          </a:solidFill>
          <a:ln w="12700">
            <a:solidFill>
              <a:srgbClr val="B5651D"/>
            </a:solidFill>
            <a:prstDash val="solid"/>
          </a:ln>
        </p:spPr>
      </p:sp>
      <p:sp>
        <p:nvSpPr>
          <p:cNvPr id="4" name="Text 2"/>
          <p:cNvSpPr txBox="1"/>
          <p:nvPr/>
        </p:nvSpPr>
        <p:spPr>
          <a:xfrm>
            <a:off x="548640" y="3131820"/>
            <a:ext cx="1188720" cy="118872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a:t>
            </a:r>
            <a:endParaRPr lang="en-US" sz="5400" dirty="0"/>
          </a:p>
        </p:txBody>
      </p:sp>
      <p:sp>
        <p:nvSpPr>
          <p:cNvPr id="5" name="Text 3"/>
          <p:cNvSpPr txBox="1"/>
          <p:nvPr/>
        </p:nvSpPr>
        <p:spPr>
          <a:xfrm>
            <a:off x="2103120" y="1417320"/>
            <a:ext cx="9537192" cy="46177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Para R-001, evitar deja el residual más bajo (P×I 3). ¿Por qué no es la opción recomendada?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300" b="1" dirty="0">
                <a:solidFill>
                  <a:srgbClr val="FFFFFF"/>
                </a:solidFill>
                <a:latin typeface="Arial" pitchFamily="34" charset="0"/>
                <a:ea typeface="Arial" pitchFamily="34" charset="-122"/>
                <a:cs typeface="Arial" pitchFamily="34" charset="-120"/>
              </a:rPr>
              <a:t>Ejercicio · Parte A: opciones, contingencia y presupuesto</a:t>
            </a:r>
            <a:endParaRPr lang="en-US" sz="2400" dirty="0"/>
          </a:p>
        </p:txBody>
      </p:sp>
      <p:sp>
        <p:nvSpPr>
          <p:cNvPr id="3" name="Shape 1"/>
          <p:cNvSpPr/>
          <p:nvPr/>
        </p:nvSpPr>
        <p:spPr>
          <a:xfrm>
            <a:off x="457200" y="1280160"/>
            <a:ext cx="3575304" cy="2331720"/>
          </a:xfrm>
          <a:prstGeom prst="roundRect">
            <a:avLst>
              <a:gd name="adj" fmla="val 3922"/>
            </a:avLst>
          </a:prstGeom>
          <a:solidFill>
            <a:srgbClr val="FBF1E6"/>
          </a:solidFill>
          <a:ln w="12700">
            <a:solidFill>
              <a:srgbClr val="FBF1E6"/>
            </a:solidFill>
            <a:prstDash val="solid"/>
          </a:ln>
        </p:spPr>
      </p:sp>
      <p:sp>
        <p:nvSpPr>
          <p:cNvPr id="4" name="Text 2"/>
          <p:cNvSpPr txBox="1"/>
          <p:nvPr/>
        </p:nvSpPr>
        <p:spPr>
          <a:xfrm>
            <a:off x="658368" y="1389888"/>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1</a:t>
            </a:r>
            <a:endParaRPr lang="en-US" sz="2600" dirty="0"/>
          </a:p>
        </p:txBody>
      </p:sp>
      <p:sp>
        <p:nvSpPr>
          <p:cNvPr id="5" name="Text 3"/>
          <p:cNvSpPr txBox="1"/>
          <p:nvPr/>
        </p:nvSpPr>
        <p:spPr>
          <a:xfrm>
            <a:off x="658368" y="1847088"/>
            <a:ext cx="3172968" cy="1581912"/>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A1: apetito, tolerancia, autoridad sobre la reserva y cadencia</a:t>
            </a:r>
            <a:endParaRPr lang="en-US" sz="1600" dirty="0"/>
          </a:p>
        </p:txBody>
      </p:sp>
      <p:sp>
        <p:nvSpPr>
          <p:cNvPr id="6" name="Shape 4"/>
          <p:cNvSpPr/>
          <p:nvPr/>
        </p:nvSpPr>
        <p:spPr>
          <a:xfrm>
            <a:off x="4306824" y="1280160"/>
            <a:ext cx="3575304" cy="2331720"/>
          </a:xfrm>
          <a:prstGeom prst="roundRect">
            <a:avLst>
              <a:gd name="adj" fmla="val 3922"/>
            </a:avLst>
          </a:prstGeom>
          <a:solidFill>
            <a:srgbClr val="FBF1E6"/>
          </a:solidFill>
          <a:ln w="12700">
            <a:solidFill>
              <a:srgbClr val="FBF1E6"/>
            </a:solidFill>
            <a:prstDash val="solid"/>
          </a:ln>
        </p:spPr>
      </p:sp>
      <p:sp>
        <p:nvSpPr>
          <p:cNvPr id="7" name="Text 5"/>
          <p:cNvSpPr txBox="1"/>
          <p:nvPr/>
        </p:nvSpPr>
        <p:spPr>
          <a:xfrm>
            <a:off x="4507992" y="1389888"/>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2</a:t>
            </a:r>
            <a:endParaRPr lang="en-US" sz="2600" dirty="0"/>
          </a:p>
        </p:txBody>
      </p:sp>
      <p:sp>
        <p:nvSpPr>
          <p:cNvPr id="8" name="Text 6"/>
          <p:cNvSpPr txBox="1"/>
          <p:nvPr/>
        </p:nvSpPr>
        <p:spPr>
          <a:xfrm>
            <a:off x="4507992" y="1847088"/>
            <a:ext cx="3172968" cy="1581912"/>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A2: opciones de tu riesgo más alto, su valor neto y, si no alcanza, apetito y RACI</a:t>
            </a:r>
            <a:endParaRPr lang="en-US" sz="1600" dirty="0"/>
          </a:p>
        </p:txBody>
      </p:sp>
      <p:sp>
        <p:nvSpPr>
          <p:cNvPr id="9" name="Shape 7"/>
          <p:cNvSpPr/>
          <p:nvPr/>
        </p:nvSpPr>
        <p:spPr>
          <a:xfrm>
            <a:off x="8156448" y="1280160"/>
            <a:ext cx="3575304" cy="2331720"/>
          </a:xfrm>
          <a:prstGeom prst="roundRect">
            <a:avLst>
              <a:gd name="adj" fmla="val 3922"/>
            </a:avLst>
          </a:prstGeom>
          <a:solidFill>
            <a:srgbClr val="FBF1E6"/>
          </a:solidFill>
          <a:ln w="12700">
            <a:solidFill>
              <a:srgbClr val="FBF1E6"/>
            </a:solidFill>
            <a:prstDash val="solid"/>
          </a:ln>
        </p:spPr>
      </p:sp>
      <p:sp>
        <p:nvSpPr>
          <p:cNvPr id="10" name="Text 8"/>
          <p:cNvSpPr txBox="1"/>
          <p:nvPr/>
        </p:nvSpPr>
        <p:spPr>
          <a:xfrm>
            <a:off x="8357616" y="1389888"/>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3</a:t>
            </a:r>
            <a:endParaRPr lang="en-US" sz="2600" dirty="0"/>
          </a:p>
        </p:txBody>
      </p:sp>
      <p:sp>
        <p:nvSpPr>
          <p:cNvPr id="11" name="Text 9"/>
          <p:cNvSpPr txBox="1"/>
          <p:nvPr/>
        </p:nvSpPr>
        <p:spPr>
          <a:xfrm>
            <a:off x="8357616" y="1847088"/>
            <a:ext cx="3172968" cy="1581912"/>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A3: el plan de contingencia en una fila</a:t>
            </a:r>
            <a:endParaRPr lang="en-US" sz="1600" dirty="0"/>
          </a:p>
        </p:txBody>
      </p:sp>
      <p:sp>
        <p:nvSpPr>
          <p:cNvPr id="12" name="Shape 10"/>
          <p:cNvSpPr/>
          <p:nvPr/>
        </p:nvSpPr>
        <p:spPr>
          <a:xfrm>
            <a:off x="457200" y="3886200"/>
            <a:ext cx="3575304" cy="2331720"/>
          </a:xfrm>
          <a:prstGeom prst="roundRect">
            <a:avLst>
              <a:gd name="adj" fmla="val 3922"/>
            </a:avLst>
          </a:prstGeom>
          <a:solidFill>
            <a:srgbClr val="FBF1E6"/>
          </a:solidFill>
          <a:ln w="12700">
            <a:solidFill>
              <a:srgbClr val="FBF1E6"/>
            </a:solidFill>
            <a:prstDash val="solid"/>
          </a:ln>
        </p:spPr>
      </p:sp>
      <p:sp>
        <p:nvSpPr>
          <p:cNvPr id="13" name="Text 11"/>
          <p:cNvSpPr txBox="1"/>
          <p:nvPr/>
        </p:nvSpPr>
        <p:spPr>
          <a:xfrm>
            <a:off x="658368" y="3995928"/>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4</a:t>
            </a:r>
            <a:endParaRPr lang="en-US" sz="2600" dirty="0"/>
          </a:p>
        </p:txBody>
      </p:sp>
      <p:sp>
        <p:nvSpPr>
          <p:cNvPr id="14" name="Text 12"/>
          <p:cNvSpPr txBox="1"/>
          <p:nvPr/>
        </p:nvSpPr>
        <p:spPr>
          <a:xfrm>
            <a:off x="658368" y="4453128"/>
            <a:ext cx="3172968" cy="1581912"/>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A4: presupuesto = respuestas + residual; provisión aparte</a:t>
            </a:r>
            <a:endParaRPr lang="en-US" sz="1600" dirty="0"/>
          </a:p>
        </p:txBody>
      </p:sp>
      <p:sp>
        <p:nvSpPr>
          <p:cNvPr id="15" name="Shape 13"/>
          <p:cNvSpPr/>
          <p:nvPr/>
        </p:nvSpPr>
        <p:spPr>
          <a:xfrm>
            <a:off x="4306824" y="3886200"/>
            <a:ext cx="3575304" cy="2331720"/>
          </a:xfrm>
          <a:prstGeom prst="roundRect">
            <a:avLst>
              <a:gd name="adj" fmla="val 3922"/>
            </a:avLst>
          </a:prstGeom>
          <a:solidFill>
            <a:srgbClr val="FBF1E6"/>
          </a:solidFill>
          <a:ln w="12700">
            <a:solidFill>
              <a:srgbClr val="FBF1E6"/>
            </a:solidFill>
            <a:prstDash val="solid"/>
          </a:ln>
        </p:spPr>
      </p:sp>
      <p:sp>
        <p:nvSpPr>
          <p:cNvPr id="16" name="Text 14"/>
          <p:cNvSpPr txBox="1"/>
          <p:nvPr/>
        </p:nvSpPr>
        <p:spPr>
          <a:xfrm>
            <a:off x="4507992" y="3995928"/>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5</a:t>
            </a:r>
            <a:endParaRPr lang="en-US" sz="2600" dirty="0"/>
          </a:p>
        </p:txBody>
      </p:sp>
      <p:sp>
        <p:nvSpPr>
          <p:cNvPr id="17" name="Text 15"/>
          <p:cNvSpPr txBox="1"/>
          <p:nvPr/>
        </p:nvSpPr>
        <p:spPr>
          <a:xfrm>
            <a:off x="4507992" y="4453128"/>
            <a:ext cx="3172968" cy="1581912"/>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10 minutos; A4 puede quedar para después</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title" hasCustomPrompt="1"/>
          </p:nvPr>
        </p:nvSpPr>
        <p:spPr>
          <a:xfrm>
            <a:off x="548640" y="1143000"/>
            <a:ext cx="11091672" cy="91440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Mensajes clave de la clase 1</a:t>
            </a:r>
            <a:endParaRPr lang="en-US" sz="3600" dirty="0"/>
          </a:p>
        </p:txBody>
      </p:sp>
      <p:sp>
        <p:nvSpPr>
          <p:cNvPr id="3" name="Text 1"/>
          <p:cNvSpPr txBox="1"/>
          <p:nvPr/>
        </p:nvSpPr>
        <p:spPr>
          <a:xfrm>
            <a:off x="548640" y="2194560"/>
            <a:ext cx="11091672" cy="4023360"/>
          </a:xfrm>
          <a:prstGeom prst="rect">
            <a:avLst/>
          </a:prstGeom>
          <a:noFill/>
          <a:ln/>
        </p:spPr>
        <p:txBody>
          <a:bodyPr wrap="square" lIns="0" tIns="0" rIns="0" bIns="0" rtlCol="0" anchor="t"/>
          <a:lstStyle/>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El enfoque de riesgo se aprueba antes del taller</a:t>
            </a:r>
            <a:endParaRPr lang="en-US" sz="1600" dirty="0"/>
          </a:p>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La respuesta se elige entre opciones, por valor neto; decide el propietario</a:t>
            </a:r>
            <a:endParaRPr lang="en-US" sz="1600" dirty="0"/>
          </a:p>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Si el dinero no alcanza: expediente, matriz con sensibilidad y RACI para avisar</a:t>
            </a:r>
            <a:endParaRPr lang="en-US" sz="1600" dirty="0"/>
          </a:p>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Una contingencia es un plan: disparador, monto, fuente y quién la autoriza</a:t>
            </a:r>
            <a:endParaRPr lang="en-US" sz="1600" dirty="0"/>
          </a:p>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El presupuesto de riesgo sale de una fórmula y lo fija la junta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640080"/>
            <a:ext cx="7315200" cy="365760"/>
          </a:xfrm>
          <a:prstGeom prst="rect">
            <a:avLst/>
          </a:prstGeom>
          <a:noFill/>
          <a:ln/>
        </p:spPr>
        <p:txBody>
          <a:bodyPr wrap="square" lIns="0" tIns="0" rIns="0" bIns="0" rtlCol="0" anchor="t"/>
          <a:lstStyle/>
          <a:p>
            <a:pPr indent="0" marL="0">
              <a:buNone/>
            </a:pPr>
            <a:r>
              <a:rPr lang="en-US" sz="1600" b="1" dirty="0">
                <a:solidFill>
                  <a:srgbClr val="9FD0F0"/>
                </a:solidFill>
                <a:latin typeface="Arial" pitchFamily="34" charset="0"/>
                <a:ea typeface="Arial" pitchFamily="34" charset="-122"/>
                <a:cs typeface="Arial" pitchFamily="34" charset="-120"/>
              </a:rPr>
              <a:t>Clase 2 · 90 minutos</a:t>
            </a:r>
            <a:endParaRPr lang="en-US" sz="1600" dirty="0"/>
          </a:p>
        </p:txBody>
      </p:sp>
      <p:sp>
        <p:nvSpPr>
          <p:cNvPr id="3" name="Text 2"/>
          <p:cNvSpPr/>
          <p:nvPr>
            <p:ph idx="102" type="title" hasCustomPrompt="1"/>
          </p:nvPr>
        </p:nvSpPr>
        <p:spPr>
          <a:xfrm>
            <a:off x="548640" y="1143000"/>
            <a:ext cx="11091672" cy="91440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El control continuo</a:t>
            </a:r>
            <a:endParaRPr lang="en-US" sz="3600" dirty="0"/>
          </a:p>
        </p:txBody>
      </p:sp>
      <p:sp>
        <p:nvSpPr>
          <p:cNvPr id="4" name="Text 2"/>
          <p:cNvSpPr txBox="1"/>
          <p:nvPr/>
        </p:nvSpPr>
        <p:spPr>
          <a:xfrm>
            <a:off x="548640" y="2240280"/>
            <a:ext cx="731520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Objetivos de la clase</a:t>
            </a:r>
            <a:endParaRPr lang="en-US" sz="1800" dirty="0"/>
          </a:p>
        </p:txBody>
      </p:sp>
      <p:sp>
        <p:nvSpPr>
          <p:cNvPr id="5" name="Shape 3"/>
          <p:cNvSpPr/>
          <p:nvPr/>
        </p:nvSpPr>
        <p:spPr>
          <a:xfrm>
            <a:off x="548640" y="2743200"/>
            <a:ext cx="11091672" cy="472440"/>
          </a:xfrm>
          <a:prstGeom prst="roundRect">
            <a:avLst>
              <a:gd name="adj" fmla="val 19355"/>
            </a:avLst>
          </a:prstGeom>
          <a:solidFill>
            <a:srgbClr val="173D66"/>
          </a:solidFill>
          <a:ln w="12700">
            <a:solidFill>
              <a:srgbClr val="173D66"/>
            </a:solidFill>
            <a:prstDash val="solid"/>
          </a:ln>
        </p:spPr>
      </p:sp>
      <p:sp>
        <p:nvSpPr>
          <p:cNvPr id="6" name="Text 4"/>
          <p:cNvSpPr txBox="1"/>
          <p:nvPr/>
        </p:nvSpPr>
        <p:spPr>
          <a:xfrm>
            <a:off x="685800" y="2743200"/>
            <a:ext cx="411480" cy="472440"/>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1</a:t>
            </a:r>
            <a:endParaRPr lang="en-US" sz="2000" dirty="0"/>
          </a:p>
        </p:txBody>
      </p:sp>
      <p:sp>
        <p:nvSpPr>
          <p:cNvPr id="7" name="Text 5"/>
          <p:cNvSpPr txBox="1"/>
          <p:nvPr/>
        </p:nvSpPr>
        <p:spPr>
          <a:xfrm>
            <a:off x="1234440" y="2779776"/>
            <a:ext cx="10268712" cy="39928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Reconocer un registro que se dejó de revisar</a:t>
            </a:r>
            <a:endParaRPr lang="en-US" sz="1600" dirty="0"/>
          </a:p>
        </p:txBody>
      </p:sp>
      <p:sp>
        <p:nvSpPr>
          <p:cNvPr id="8" name="Shape 6"/>
          <p:cNvSpPr/>
          <p:nvPr/>
        </p:nvSpPr>
        <p:spPr>
          <a:xfrm>
            <a:off x="548640" y="3343656"/>
            <a:ext cx="11091672" cy="472440"/>
          </a:xfrm>
          <a:prstGeom prst="roundRect">
            <a:avLst>
              <a:gd name="adj" fmla="val 19355"/>
            </a:avLst>
          </a:prstGeom>
          <a:solidFill>
            <a:srgbClr val="173D66"/>
          </a:solidFill>
          <a:ln w="12700">
            <a:solidFill>
              <a:srgbClr val="173D66"/>
            </a:solidFill>
            <a:prstDash val="solid"/>
          </a:ln>
        </p:spPr>
      </p:sp>
      <p:sp>
        <p:nvSpPr>
          <p:cNvPr id="9" name="Text 7"/>
          <p:cNvSpPr txBox="1"/>
          <p:nvPr/>
        </p:nvSpPr>
        <p:spPr>
          <a:xfrm>
            <a:off x="685800" y="3343656"/>
            <a:ext cx="411480" cy="472440"/>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2</a:t>
            </a:r>
            <a:endParaRPr lang="en-US" sz="2000" dirty="0"/>
          </a:p>
        </p:txBody>
      </p:sp>
      <p:sp>
        <p:nvSpPr>
          <p:cNvPr id="10" name="Text 8"/>
          <p:cNvSpPr txBox="1"/>
          <p:nvPr/>
        </p:nvSpPr>
        <p:spPr>
          <a:xfrm>
            <a:off x="1234440" y="3380232"/>
            <a:ext cx="10268712" cy="39928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Gestionar un riesgo que ocurre: issue y contingencia</a:t>
            </a:r>
            <a:endParaRPr lang="en-US" sz="1600" dirty="0"/>
          </a:p>
        </p:txBody>
      </p:sp>
      <p:sp>
        <p:nvSpPr>
          <p:cNvPr id="11" name="Shape 9"/>
          <p:cNvSpPr/>
          <p:nvPr/>
        </p:nvSpPr>
        <p:spPr>
          <a:xfrm>
            <a:off x="548640" y="3944112"/>
            <a:ext cx="11091672" cy="472440"/>
          </a:xfrm>
          <a:prstGeom prst="roundRect">
            <a:avLst>
              <a:gd name="adj" fmla="val 19355"/>
            </a:avLst>
          </a:prstGeom>
          <a:solidFill>
            <a:srgbClr val="173D66"/>
          </a:solidFill>
          <a:ln w="12700">
            <a:solidFill>
              <a:srgbClr val="173D66"/>
            </a:solidFill>
            <a:prstDash val="solid"/>
          </a:ln>
        </p:spPr>
      </p:sp>
      <p:sp>
        <p:nvSpPr>
          <p:cNvPr id="12" name="Text 10"/>
          <p:cNvSpPr txBox="1"/>
          <p:nvPr/>
        </p:nvSpPr>
        <p:spPr>
          <a:xfrm>
            <a:off x="685800" y="3944112"/>
            <a:ext cx="411480" cy="472440"/>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3</a:t>
            </a:r>
            <a:endParaRPr lang="en-US" sz="2000" dirty="0"/>
          </a:p>
        </p:txBody>
      </p:sp>
      <p:sp>
        <p:nvSpPr>
          <p:cNvPr id="13" name="Text 11"/>
          <p:cNvSpPr txBox="1"/>
          <p:nvPr/>
        </p:nvSpPr>
        <p:spPr>
          <a:xfrm>
            <a:off x="1234440" y="3980688"/>
            <a:ext cx="10268712" cy="39928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Decidir en la junta con expediente y matriz, y dejar escrito el motivo cuando se aparta de la recomendada</a:t>
            </a:r>
            <a:endParaRPr lang="en-US" sz="1600" dirty="0"/>
          </a:p>
        </p:txBody>
      </p:sp>
      <p:sp>
        <p:nvSpPr>
          <p:cNvPr id="14" name="Shape 12"/>
          <p:cNvSpPr/>
          <p:nvPr/>
        </p:nvSpPr>
        <p:spPr>
          <a:xfrm>
            <a:off x="548640" y="4544568"/>
            <a:ext cx="11091672" cy="472440"/>
          </a:xfrm>
          <a:prstGeom prst="roundRect">
            <a:avLst>
              <a:gd name="adj" fmla="val 19355"/>
            </a:avLst>
          </a:prstGeom>
          <a:solidFill>
            <a:srgbClr val="173D66"/>
          </a:solidFill>
          <a:ln w="12700">
            <a:solidFill>
              <a:srgbClr val="173D66"/>
            </a:solidFill>
            <a:prstDash val="solid"/>
          </a:ln>
        </p:spPr>
      </p:sp>
      <p:sp>
        <p:nvSpPr>
          <p:cNvPr id="15" name="Text 13"/>
          <p:cNvSpPr txBox="1"/>
          <p:nvPr/>
        </p:nvSpPr>
        <p:spPr>
          <a:xfrm>
            <a:off x="685800" y="4544568"/>
            <a:ext cx="411480" cy="472440"/>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4</a:t>
            </a:r>
            <a:endParaRPr lang="en-US" sz="2000" dirty="0"/>
          </a:p>
        </p:txBody>
      </p:sp>
      <p:sp>
        <p:nvSpPr>
          <p:cNvPr id="16" name="Text 14"/>
          <p:cNvSpPr txBox="1"/>
          <p:nvPr/>
        </p:nvSpPr>
        <p:spPr>
          <a:xfrm>
            <a:off x="1234440" y="4581144"/>
            <a:ext cx="10268712" cy="39928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Ordenar el día con el radar y activar un plan de contingencia</a:t>
            </a:r>
            <a:endParaRPr lang="en-US" sz="1600" dirty="0"/>
          </a:p>
        </p:txBody>
      </p:sp>
      <p:sp>
        <p:nvSpPr>
          <p:cNvPr id="17" name="Shape 15"/>
          <p:cNvSpPr/>
          <p:nvPr/>
        </p:nvSpPr>
        <p:spPr>
          <a:xfrm>
            <a:off x="548640" y="5145024"/>
            <a:ext cx="11091672" cy="472440"/>
          </a:xfrm>
          <a:prstGeom prst="roundRect">
            <a:avLst>
              <a:gd name="adj" fmla="val 19355"/>
            </a:avLst>
          </a:prstGeom>
          <a:solidFill>
            <a:srgbClr val="173D66"/>
          </a:solidFill>
          <a:ln w="12700">
            <a:solidFill>
              <a:srgbClr val="173D66"/>
            </a:solidFill>
            <a:prstDash val="solid"/>
          </a:ln>
        </p:spPr>
      </p:sp>
      <p:sp>
        <p:nvSpPr>
          <p:cNvPr id="18" name="Text 16"/>
          <p:cNvSpPr txBox="1"/>
          <p:nvPr/>
        </p:nvSpPr>
        <p:spPr>
          <a:xfrm>
            <a:off x="685800" y="5145024"/>
            <a:ext cx="411480" cy="472440"/>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5</a:t>
            </a:r>
            <a:endParaRPr lang="en-US" sz="2000" dirty="0"/>
          </a:p>
        </p:txBody>
      </p:sp>
      <p:sp>
        <p:nvSpPr>
          <p:cNvPr id="19" name="Text 17"/>
          <p:cNvSpPr txBox="1"/>
          <p:nvPr/>
        </p:nvSpPr>
        <p:spPr>
          <a:xfrm>
            <a:off x="1234440" y="5181600"/>
            <a:ext cx="10268712" cy="39928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Leer el consumo de la reserva y decidir al cruzar el 80 %</a:t>
            </a:r>
            <a:endParaRPr lang="en-US" sz="1600" dirty="0"/>
          </a:p>
        </p:txBody>
      </p:sp>
      <p:sp>
        <p:nvSpPr>
          <p:cNvPr id="20" name="Shape 18"/>
          <p:cNvSpPr/>
          <p:nvPr/>
        </p:nvSpPr>
        <p:spPr>
          <a:xfrm>
            <a:off x="548640" y="5745480"/>
            <a:ext cx="11091672" cy="472440"/>
          </a:xfrm>
          <a:prstGeom prst="roundRect">
            <a:avLst>
              <a:gd name="adj" fmla="val 19355"/>
            </a:avLst>
          </a:prstGeom>
          <a:solidFill>
            <a:srgbClr val="173D66"/>
          </a:solidFill>
          <a:ln w="12700">
            <a:solidFill>
              <a:srgbClr val="173D66"/>
            </a:solidFill>
            <a:prstDash val="solid"/>
          </a:ln>
        </p:spPr>
      </p:sp>
      <p:sp>
        <p:nvSpPr>
          <p:cNvPr id="21" name="Text 19"/>
          <p:cNvSpPr txBox="1"/>
          <p:nvPr/>
        </p:nvSpPr>
        <p:spPr>
          <a:xfrm>
            <a:off x="685800" y="5745480"/>
            <a:ext cx="411480" cy="472440"/>
          </a:xfrm>
          <a:prstGeom prst="rect">
            <a:avLst/>
          </a:prstGeom>
          <a:noFill/>
          <a:ln/>
        </p:spPr>
        <p:txBody>
          <a:bodyPr wrap="square" lIns="0" tIns="0" rIns="0" bIns="0" rtlCol="0" anchor="ctr"/>
          <a:lstStyle/>
          <a:p>
            <a:pPr indent="0" marL="0">
              <a:buNone/>
            </a:pPr>
            <a:r>
              <a:rPr lang="en-US" sz="2000" b="1" dirty="0">
                <a:solidFill>
                  <a:srgbClr val="9FD0F0"/>
                </a:solidFill>
                <a:latin typeface="Arial" pitchFamily="34" charset="0"/>
                <a:ea typeface="Arial" pitchFamily="34" charset="-122"/>
                <a:cs typeface="Arial" pitchFamily="34" charset="-120"/>
              </a:rPr>
              <a:t>6</a:t>
            </a:r>
            <a:endParaRPr lang="en-US" sz="2000" dirty="0"/>
          </a:p>
        </p:txBody>
      </p:sp>
      <p:sp>
        <p:nvSpPr>
          <p:cNvPr id="22" name="Text 20"/>
          <p:cNvSpPr txBox="1"/>
          <p:nvPr/>
        </p:nvSpPr>
        <p:spPr>
          <a:xfrm>
            <a:off x="1234440" y="5782056"/>
            <a:ext cx="10268712" cy="39928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Seguir las condiciones de la junta y las decisiones que vencen, y aprobar las propuestas del agente</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El 12/02, los 5 riesgos abiertos llevaban hasta 45 días sin revisar</a:t>
            </a:r>
            <a:endParaRPr lang="en-US" sz="2400" dirty="0"/>
          </a:p>
        </p:txBody>
      </p:sp>
      <p:sp>
        <p:nvSpPr>
          <p:cNvPr id="3" name="Shape 1"/>
          <p:cNvSpPr/>
          <p:nvPr/>
        </p:nvSpPr>
        <p:spPr>
          <a:xfrm>
            <a:off x="457200" y="2331720"/>
            <a:ext cx="2035454" cy="2926080"/>
          </a:xfrm>
          <a:prstGeom prst="roundRect">
            <a:avLst>
              <a:gd name="adj" fmla="val 4492"/>
            </a:avLst>
          </a:prstGeom>
          <a:solidFill>
            <a:srgbClr val="002855"/>
          </a:solidFill>
          <a:ln w="12700">
            <a:solidFill>
              <a:srgbClr val="002855"/>
            </a:solidFill>
            <a:prstDash val="solid"/>
          </a:ln>
        </p:spPr>
      </p:sp>
      <p:sp>
        <p:nvSpPr>
          <p:cNvPr id="4" name="Text 2"/>
          <p:cNvSpPr txBox="1"/>
          <p:nvPr/>
        </p:nvSpPr>
        <p:spPr>
          <a:xfrm>
            <a:off x="658368" y="2532888"/>
            <a:ext cx="1633118" cy="2542032"/>
          </a:xfrm>
          <a:prstGeom prst="rect">
            <a:avLst/>
          </a:prstGeom>
          <a:noFill/>
          <a:ln/>
        </p:spPr>
        <p:txBody>
          <a:bodyPr wrap="square" lIns="0" tIns="0" rIns="0" bIns="0" rtlCol="0" anchor="ctr"/>
          <a:lstStyle/>
          <a:p>
            <a:pPr indent="0" marL="0">
              <a:buNone/>
            </a:pPr>
            <a:r>
              <a:rPr lang="en-US" sz="2200" dirty="0">
                <a:solidFill>
                  <a:srgbClr val="FFFFFF"/>
                </a:solidFill>
                <a:latin typeface="Arial" pitchFamily="34" charset="0"/>
                <a:ea typeface="Arial" pitchFamily="34" charset="-122"/>
                <a:cs typeface="Arial" pitchFamily="34" charset="-120"/>
              </a:rPr>
              <a:t>Cuatro con 45 días de atraso; uno con 17</a:t>
            </a:r>
            <a:endParaRPr lang="en-US" sz="1600" dirty="0"/>
          </a:p>
        </p:txBody>
      </p:sp>
      <p:sp>
        <p:nvSpPr>
          <p:cNvPr id="5" name="Shape 3"/>
          <p:cNvSpPr/>
          <p:nvPr/>
        </p:nvSpPr>
        <p:spPr>
          <a:xfrm>
            <a:off x="2766974" y="2331720"/>
            <a:ext cx="2035454" cy="2926080"/>
          </a:xfrm>
          <a:prstGeom prst="roundRect">
            <a:avLst>
              <a:gd name="adj" fmla="val 4492"/>
            </a:avLst>
          </a:prstGeom>
          <a:solidFill>
            <a:srgbClr val="E9F1F8"/>
          </a:solidFill>
          <a:ln w="12700">
            <a:solidFill>
              <a:srgbClr val="E9F1F8"/>
            </a:solidFill>
            <a:prstDash val="solid"/>
          </a:ln>
        </p:spPr>
      </p:sp>
      <p:sp>
        <p:nvSpPr>
          <p:cNvPr id="6" name="Text 4"/>
          <p:cNvSpPr txBox="1"/>
          <p:nvPr/>
        </p:nvSpPr>
        <p:spPr>
          <a:xfrm>
            <a:off x="2968142" y="2532888"/>
            <a:ext cx="1633118" cy="2542032"/>
          </a:xfrm>
          <a:prstGeom prst="rect">
            <a:avLst/>
          </a:prstGeom>
          <a:noFill/>
          <a:ln/>
        </p:spPr>
        <p:txBody>
          <a:bodyPr wrap="square" lIns="0" tIns="0" rIns="0" bIns="0" rtlCol="0" anchor="ctr"/>
          <a:lstStyle/>
          <a:p>
            <a:pPr indent="0" marL="0">
              <a:buNone/>
            </a:pPr>
            <a:r>
              <a:rPr lang="en-US" sz="2200" dirty="0">
                <a:solidFill>
                  <a:srgbClr val="272425"/>
                </a:solidFill>
                <a:latin typeface="Arial" pitchFamily="34" charset="0"/>
                <a:ea typeface="Arial" pitchFamily="34" charset="-122"/>
                <a:cs typeface="Arial" pitchFamily="34" charset="-120"/>
              </a:rPr>
              <a:t>La sanidad lo avisaba con REG-09 desde el 12/01</a:t>
            </a:r>
            <a:endParaRPr lang="en-US" sz="1600" dirty="0"/>
          </a:p>
        </p:txBody>
      </p:sp>
      <p:sp>
        <p:nvSpPr>
          <p:cNvPr id="7" name="Shape 5"/>
          <p:cNvSpPr/>
          <p:nvPr/>
        </p:nvSpPr>
        <p:spPr>
          <a:xfrm>
            <a:off x="5076749" y="2331720"/>
            <a:ext cx="2035454" cy="2926080"/>
          </a:xfrm>
          <a:prstGeom prst="roundRect">
            <a:avLst>
              <a:gd name="adj" fmla="val 4492"/>
            </a:avLst>
          </a:prstGeom>
          <a:solidFill>
            <a:srgbClr val="E9F1F8"/>
          </a:solidFill>
          <a:ln w="12700">
            <a:solidFill>
              <a:srgbClr val="E9F1F8"/>
            </a:solidFill>
            <a:prstDash val="solid"/>
          </a:ln>
        </p:spPr>
      </p:sp>
      <p:sp>
        <p:nvSpPr>
          <p:cNvPr id="8" name="Text 6"/>
          <p:cNvSpPr txBox="1"/>
          <p:nvPr/>
        </p:nvSpPr>
        <p:spPr>
          <a:xfrm>
            <a:off x="5277917" y="2532888"/>
            <a:ext cx="1633118" cy="2542032"/>
          </a:xfrm>
          <a:prstGeom prst="rect">
            <a:avLst/>
          </a:prstGeom>
          <a:noFill/>
          <a:ln/>
        </p:spPr>
        <p:txBody>
          <a:bodyPr wrap="square" lIns="0" tIns="0" rIns="0" bIns="0" rtlCol="0" anchor="ctr"/>
          <a:lstStyle/>
          <a:p>
            <a:pPr indent="0" marL="0">
              <a:buNone/>
            </a:pPr>
            <a:r>
              <a:rPr lang="en-US" sz="2200" dirty="0">
                <a:solidFill>
                  <a:srgbClr val="272425"/>
                </a:solidFill>
                <a:latin typeface="Arial" pitchFamily="34" charset="0"/>
                <a:ea typeface="Arial" pitchFamily="34" charset="-122"/>
                <a:cs typeface="Arial" pitchFamily="34" charset="-120"/>
              </a:rPr>
              <a:t>R-003 ya había alcanzado su disparador: dos caídas en un mes</a:t>
            </a:r>
            <a:endParaRPr lang="en-US" sz="1600" dirty="0"/>
          </a:p>
        </p:txBody>
      </p:sp>
      <p:sp>
        <p:nvSpPr>
          <p:cNvPr id="9" name="Shape 7"/>
          <p:cNvSpPr/>
          <p:nvPr/>
        </p:nvSpPr>
        <p:spPr>
          <a:xfrm>
            <a:off x="7386523" y="2331720"/>
            <a:ext cx="2035454" cy="2926080"/>
          </a:xfrm>
          <a:prstGeom prst="roundRect">
            <a:avLst>
              <a:gd name="adj" fmla="val 4492"/>
            </a:avLst>
          </a:prstGeom>
          <a:solidFill>
            <a:srgbClr val="E9F1F8"/>
          </a:solidFill>
          <a:ln w="12700">
            <a:solidFill>
              <a:srgbClr val="E9F1F8"/>
            </a:solidFill>
            <a:prstDash val="solid"/>
          </a:ln>
        </p:spPr>
      </p:sp>
      <p:sp>
        <p:nvSpPr>
          <p:cNvPr id="10" name="Text 8"/>
          <p:cNvSpPr txBox="1"/>
          <p:nvPr/>
        </p:nvSpPr>
        <p:spPr>
          <a:xfrm>
            <a:off x="7587691" y="2532888"/>
            <a:ext cx="1633118" cy="2542032"/>
          </a:xfrm>
          <a:prstGeom prst="rect">
            <a:avLst/>
          </a:prstGeom>
          <a:noFill/>
          <a:ln/>
        </p:spPr>
        <p:txBody>
          <a:bodyPr wrap="square" lIns="0" tIns="0" rIns="0" bIns="0" rtlCol="0" anchor="ctr"/>
          <a:lstStyle/>
          <a:p>
            <a:pPr indent="0" marL="0">
              <a:buNone/>
            </a:pPr>
            <a:r>
              <a:rPr lang="en-US" sz="2200" dirty="0">
                <a:solidFill>
                  <a:srgbClr val="272425"/>
                </a:solidFill>
                <a:latin typeface="Arial" pitchFamily="34" charset="0"/>
                <a:ea typeface="Arial" pitchFamily="34" charset="-122"/>
                <a:cs typeface="Arial" pitchFamily="34" charset="-120"/>
              </a:rPr>
              <a:t>Su plan de contingencia estaba escrito desde el 4/11</a:t>
            </a:r>
            <a:endParaRPr lang="en-US" sz="1600" dirty="0"/>
          </a:p>
        </p:txBody>
      </p:sp>
      <p:sp>
        <p:nvSpPr>
          <p:cNvPr id="11" name="Shape 9"/>
          <p:cNvSpPr/>
          <p:nvPr/>
        </p:nvSpPr>
        <p:spPr>
          <a:xfrm>
            <a:off x="9696298" y="2331720"/>
            <a:ext cx="2035454" cy="2926080"/>
          </a:xfrm>
          <a:prstGeom prst="roundRect">
            <a:avLst>
              <a:gd name="adj" fmla="val 4492"/>
            </a:avLst>
          </a:prstGeom>
          <a:solidFill>
            <a:srgbClr val="E9F1F8"/>
          </a:solidFill>
          <a:ln w="12700">
            <a:solidFill>
              <a:srgbClr val="E9F1F8"/>
            </a:solidFill>
            <a:prstDash val="solid"/>
          </a:ln>
        </p:spPr>
      </p:sp>
      <p:sp>
        <p:nvSpPr>
          <p:cNvPr id="12" name="Text 10"/>
          <p:cNvSpPr txBox="1"/>
          <p:nvPr/>
        </p:nvSpPr>
        <p:spPr>
          <a:xfrm>
            <a:off x="9897466" y="2532888"/>
            <a:ext cx="1633118" cy="2542032"/>
          </a:xfrm>
          <a:prstGeom prst="rect">
            <a:avLst/>
          </a:prstGeom>
          <a:noFill/>
          <a:ln/>
        </p:spPr>
        <p:txBody>
          <a:bodyPr wrap="square" lIns="0" tIns="0" rIns="0" bIns="0" rtlCol="0" anchor="ctr"/>
          <a:lstStyle/>
          <a:p>
            <a:pPr indent="0" marL="0">
              <a:buNone/>
            </a:pPr>
            <a:r>
              <a:rPr lang="en-US" sz="2200" dirty="0">
                <a:solidFill>
                  <a:srgbClr val="272425"/>
                </a:solidFill>
                <a:latin typeface="Arial" pitchFamily="34" charset="0"/>
                <a:ea typeface="Arial" pitchFamily="34" charset="-122"/>
                <a:cs typeface="Arial" pitchFamily="34" charset="-120"/>
              </a:rPr>
              <a:t>¿Por qué un aviso a tiempo no alcanzó?</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Al 12/02, los 5 riesgos abiertos llevan entre 17 y 45 días sin revisar</a:t>
            </a:r>
            <a:endParaRPr lang="en-US" sz="2400" dirty="0"/>
          </a:p>
        </p:txBody>
      </p:sp>
      <p:pic>
        <p:nvPicPr>
          <p:cNvPr id="3" name="Image 0" descr="Al 12/02, los 5 riesgos abiertos llevan entre 17 y 45 días sin revisar">    </p:cNvPr>
          <p:cNvPicPr>
            <a:picLocks noChangeAspect="1"/>
          </p:cNvPicPr>
          <p:nvPr/>
        </p:nvPicPr>
        <p:blipFill>
          <a:blip r:embed="rId1"/>
          <a:stretch>
            <a:fillRect/>
          </a:stretch>
        </p:blipFill>
        <p:spPr>
          <a:xfrm>
            <a:off x="1705356" y="1280160"/>
            <a:ext cx="8778240" cy="4937760"/>
          </a:xfrm>
          <a:prstGeom prst="rect">
            <a:avLst/>
          </a:prstGeom>
        </p:spPr>
      </p:pic>
      <p:sp>
        <p:nvSpPr>
          <p:cNvPr id="4" name="Shape 1"/>
          <p:cNvSpPr/>
          <p:nvPr/>
        </p:nvSpPr>
        <p:spPr>
          <a:xfrm>
            <a:off x="1705356" y="1280160"/>
            <a:ext cx="8778240" cy="4937760"/>
          </a:xfrm>
          <a:prstGeom prst="rect">
            <a:avLst/>
          </a:prstGeom>
          <a:solidFill>
            <a:srgbClr val="FFFFFF">
              <a:alpha val="0"/>
            </a:srgbClr>
          </a:solidFill>
          <a:ln w="9525">
            <a:solidFill>
              <a:srgbClr val="E2E2E6"/>
            </a:solidFill>
            <a:prstDash val="solid"/>
          </a:ln>
        </p:spPr>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Paso 8 · La revisión del sprint</a:t>
            </a:r>
            <a:endParaRPr lang="en-US" sz="2400" dirty="0"/>
          </a:p>
        </p:txBody>
      </p:sp>
      <p:sp>
        <p:nvSpPr>
          <p:cNvPr id="3" name="Shape 1"/>
          <p:cNvSpPr/>
          <p:nvPr/>
        </p:nvSpPr>
        <p:spPr>
          <a:xfrm>
            <a:off x="457200" y="1280160"/>
            <a:ext cx="11274552" cy="870509"/>
          </a:xfrm>
          <a:prstGeom prst="roundRect">
            <a:avLst>
              <a:gd name="adj" fmla="val 10504"/>
            </a:avLst>
          </a:prstGeom>
          <a:solidFill>
            <a:srgbClr val="E9F1F8"/>
          </a:solidFill>
          <a:ln w="12700">
            <a:solidFill>
              <a:srgbClr val="E9F1F8"/>
            </a:solidFill>
            <a:prstDash val="solid"/>
          </a:ln>
        </p:spPr>
      </p:sp>
      <p:sp>
        <p:nvSpPr>
          <p:cNvPr id="4" name="Shape 2"/>
          <p:cNvSpPr/>
          <p:nvPr/>
        </p:nvSpPr>
        <p:spPr>
          <a:xfrm>
            <a:off x="621792" y="1486814"/>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621792" y="148681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335024"/>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Reevaluar: R-002 baja de 12 a 8 tras el taller</a:t>
            </a:r>
            <a:endParaRPr lang="en-US" sz="1600" dirty="0"/>
          </a:p>
        </p:txBody>
      </p:sp>
      <p:sp>
        <p:nvSpPr>
          <p:cNvPr id="7" name="Shape 5"/>
          <p:cNvSpPr/>
          <p:nvPr/>
        </p:nvSpPr>
        <p:spPr>
          <a:xfrm>
            <a:off x="457200" y="2296973"/>
            <a:ext cx="11274552" cy="870509"/>
          </a:xfrm>
          <a:prstGeom prst="roundRect">
            <a:avLst>
              <a:gd name="adj" fmla="val 10504"/>
            </a:avLst>
          </a:prstGeom>
          <a:solidFill>
            <a:srgbClr val="F4F6F8"/>
          </a:solidFill>
          <a:ln w="12700">
            <a:solidFill>
              <a:srgbClr val="F4F6F8"/>
            </a:solidFill>
            <a:prstDash val="solid"/>
          </a:ln>
        </p:spPr>
      </p:sp>
      <p:sp>
        <p:nvSpPr>
          <p:cNvPr id="8" name="Shape 6"/>
          <p:cNvSpPr/>
          <p:nvPr/>
        </p:nvSpPr>
        <p:spPr>
          <a:xfrm>
            <a:off x="621792" y="2503627"/>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621792" y="2503627"/>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280160" y="2351837"/>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Cerrar: la oportunidad R-006 se aprovechó (60 h)</a:t>
            </a:r>
            <a:endParaRPr lang="en-US" sz="1600" dirty="0"/>
          </a:p>
        </p:txBody>
      </p:sp>
      <p:sp>
        <p:nvSpPr>
          <p:cNvPr id="11" name="Shape 9"/>
          <p:cNvSpPr/>
          <p:nvPr/>
        </p:nvSpPr>
        <p:spPr>
          <a:xfrm>
            <a:off x="457200" y="3313786"/>
            <a:ext cx="11274552" cy="870509"/>
          </a:xfrm>
          <a:prstGeom prst="roundRect">
            <a:avLst>
              <a:gd name="adj" fmla="val 10504"/>
            </a:avLst>
          </a:prstGeom>
          <a:solidFill>
            <a:srgbClr val="E9F1F8"/>
          </a:solidFill>
          <a:ln w="12700">
            <a:solidFill>
              <a:srgbClr val="E9F1F8"/>
            </a:solidFill>
            <a:prstDash val="solid"/>
          </a:ln>
        </p:spPr>
      </p:sp>
      <p:sp>
        <p:nvSpPr>
          <p:cNvPr id="12" name="Shape 10"/>
          <p:cNvSpPr/>
          <p:nvPr/>
        </p:nvSpPr>
        <p:spPr>
          <a:xfrm>
            <a:off x="621792" y="3520440"/>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621792" y="3520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280160" y="3368650"/>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Detectar: REG-07 marca A-001 vencida</a:t>
            </a:r>
            <a:endParaRPr lang="en-US" sz="1600" dirty="0"/>
          </a:p>
        </p:txBody>
      </p:sp>
      <p:sp>
        <p:nvSpPr>
          <p:cNvPr id="15" name="Shape 13"/>
          <p:cNvSpPr/>
          <p:nvPr/>
        </p:nvSpPr>
        <p:spPr>
          <a:xfrm>
            <a:off x="457200" y="4330598"/>
            <a:ext cx="11274552" cy="870509"/>
          </a:xfrm>
          <a:prstGeom prst="roundRect">
            <a:avLst>
              <a:gd name="adj" fmla="val 10504"/>
            </a:avLst>
          </a:prstGeom>
          <a:solidFill>
            <a:srgbClr val="F4F6F8"/>
          </a:solidFill>
          <a:ln w="12700">
            <a:solidFill>
              <a:srgbClr val="F4F6F8"/>
            </a:solidFill>
            <a:prstDash val="solid"/>
          </a:ln>
        </p:spPr>
      </p:sp>
      <p:sp>
        <p:nvSpPr>
          <p:cNvPr id="16" name="Shape 14"/>
          <p:cNvSpPr/>
          <p:nvPr/>
        </p:nvSpPr>
        <p:spPr>
          <a:xfrm>
            <a:off x="621792" y="4537253"/>
            <a:ext cx="457200" cy="457200"/>
          </a:xfrm>
          <a:prstGeom prst="roundRect">
            <a:avLst>
              <a:gd name="adj" fmla="val 16000"/>
            </a:avLst>
          </a:prstGeom>
          <a:solidFill>
            <a:srgbClr val="00629B"/>
          </a:solidFill>
          <a:ln w="12700">
            <a:solidFill>
              <a:srgbClr val="00629B"/>
            </a:solidFill>
            <a:prstDash val="solid"/>
          </a:ln>
        </p:spPr>
      </p:sp>
      <p:sp>
        <p:nvSpPr>
          <p:cNvPr id="17" name="Text 15"/>
          <p:cNvSpPr txBox="1"/>
          <p:nvPr/>
        </p:nvSpPr>
        <p:spPr>
          <a:xfrm>
            <a:off x="621792" y="4537253"/>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1280160" y="4385462"/>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Fijar la próxima revisión de cada abierto: 29/12</a:t>
            </a:r>
            <a:endParaRPr lang="en-US" sz="1600" dirty="0"/>
          </a:p>
        </p:txBody>
      </p:sp>
      <p:sp>
        <p:nvSpPr>
          <p:cNvPr id="19" name="Shape 17"/>
          <p:cNvSpPr/>
          <p:nvPr/>
        </p:nvSpPr>
        <p:spPr>
          <a:xfrm>
            <a:off x="457200" y="5347411"/>
            <a:ext cx="11274552" cy="870509"/>
          </a:xfrm>
          <a:prstGeom prst="roundRect">
            <a:avLst>
              <a:gd name="adj" fmla="val 10504"/>
            </a:avLst>
          </a:prstGeom>
          <a:solidFill>
            <a:srgbClr val="E9F1F8"/>
          </a:solidFill>
          <a:ln w="12700">
            <a:solidFill>
              <a:srgbClr val="E9F1F8"/>
            </a:solidFill>
            <a:prstDash val="solid"/>
          </a:ln>
        </p:spPr>
      </p:sp>
      <p:sp>
        <p:nvSpPr>
          <p:cNvPr id="20" name="Shape 18"/>
          <p:cNvSpPr/>
          <p:nvPr/>
        </p:nvSpPr>
        <p:spPr>
          <a:xfrm>
            <a:off x="621792" y="5554066"/>
            <a:ext cx="457200" cy="457200"/>
          </a:xfrm>
          <a:prstGeom prst="roundRect">
            <a:avLst>
              <a:gd name="adj" fmla="val 16000"/>
            </a:avLst>
          </a:prstGeom>
          <a:solidFill>
            <a:srgbClr val="00629B"/>
          </a:solidFill>
          <a:ln w="12700">
            <a:solidFill>
              <a:srgbClr val="00629B"/>
            </a:solidFill>
            <a:prstDash val="solid"/>
          </a:ln>
        </p:spPr>
      </p:sp>
      <p:sp>
        <p:nvSpPr>
          <p:cNvPr id="21" name="Text 19"/>
          <p:cNvSpPr txBox="1"/>
          <p:nvPr/>
        </p:nvSpPr>
        <p:spPr>
          <a:xfrm>
            <a:off x="621792" y="555406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2" name="Text 20"/>
          <p:cNvSpPr txBox="1"/>
          <p:nvPr/>
        </p:nvSpPr>
        <p:spPr>
          <a:xfrm>
            <a:off x="1280160" y="5402275"/>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Exposición 50.600; reserva 18 %</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1645920"/>
            <a:ext cx="5486400" cy="411480"/>
          </a:xfrm>
          <a:prstGeom prst="rect">
            <a:avLst/>
          </a:prstGeom>
          <a:noFill/>
          <a:ln/>
        </p:spPr>
        <p:txBody>
          <a:bodyPr wrap="square" lIns="0" tIns="0" rIns="0" bIns="0" rtlCol="0" anchor="t"/>
          <a:lstStyle/>
          <a:p>
            <a:pPr indent="0" marL="0">
              <a:buNone/>
            </a:pPr>
            <a:r>
              <a:rPr lang="en-US" sz="1800" b="1" dirty="0">
                <a:solidFill>
                  <a:srgbClr val="9FD0F0"/>
                </a:solidFill>
                <a:latin typeface="Arial" pitchFamily="34" charset="0"/>
                <a:ea typeface="Arial" pitchFamily="34" charset="-122"/>
                <a:cs typeface="Arial" pitchFamily="34" charset="-120"/>
              </a:rPr>
              <a:t>Clase 2</a:t>
            </a:r>
            <a:endParaRPr lang="en-US" sz="1800" dirty="0"/>
          </a:p>
        </p:txBody>
      </p:sp>
      <p:sp>
        <p:nvSpPr>
          <p:cNvPr id="3" name="Text 2"/>
          <p:cNvSpPr/>
          <p:nvPr>
            <p:ph idx="102" type="title" hasCustomPrompt="1"/>
          </p:nvPr>
        </p:nvSpPr>
        <p:spPr>
          <a:xfrm>
            <a:off x="548640" y="2148840"/>
            <a:ext cx="11091672" cy="1005840"/>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Cuando el riesgo ocurre</a:t>
            </a:r>
            <a:endParaRPr lang="en-US" sz="4000" dirty="0"/>
          </a:p>
        </p:txBody>
      </p:sp>
      <p:sp>
        <p:nvSpPr>
          <p:cNvPr id="4" name="Text 2"/>
          <p:cNvSpPr txBox="1"/>
          <p:nvPr/>
        </p:nvSpPr>
        <p:spPr>
          <a:xfrm>
            <a:off x="548640" y="3291840"/>
            <a:ext cx="11091672" cy="82296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Issue, contingencia y la reserva bien y mal usada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Demo · Paso 9: la reserva para R-001 y unas licencias</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2043684"/>
          </a:xfrm>
          <a:prstGeom prst="roundRect">
            <a:avLst>
              <a:gd name="adj" fmla="val 3579"/>
            </a:avLst>
          </a:prstGeom>
          <a:solidFill>
            <a:srgbClr val="0F2238"/>
          </a:solidFill>
          <a:ln w="12700">
            <a:solidFill>
              <a:srgbClr val="0F2238"/>
            </a:solidFill>
            <a:prstDash val="solid"/>
          </a:ln>
        </p:spPr>
      </p:sp>
      <p:sp>
        <p:nvSpPr>
          <p:cNvPr id="5" name="Text 3"/>
          <p:cNvSpPr txBox="1"/>
          <p:nvPr/>
        </p:nvSpPr>
        <p:spPr>
          <a:xfrm>
            <a:off x="685800" y="1792224"/>
            <a:ext cx="10817352" cy="1714500"/>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Para no perder dos semanas, Laura aprueba la opción O4 que habíamos evaluado para R-001: un entorno de pruebas temporal del padrón (copia anonimizada en la nube durante 8 semanas, USD 8.000). Registralo contra la reserva de riesgo como respuesta a R-001. Además, Lucía pidió dos licencias de la herramienta de diseño (USD 3.000) y Martín las aprobó contra la reserva porque "hay plata". ¿Cómo queda la reserva?</a:t>
            </a:r>
            <a:endParaRPr lang="en-US" sz="18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El control mira el propósito, no el monto</a:t>
            </a:r>
            <a:endParaRPr lang="en-US" sz="2400" dirty="0"/>
          </a:p>
        </p:txBody>
      </p:sp>
      <p:sp>
        <p:nvSpPr>
          <p:cNvPr id="3" name="Shape 1"/>
          <p:cNvSpPr/>
          <p:nvPr/>
        </p:nvSpPr>
        <p:spPr>
          <a:xfrm>
            <a:off x="457200" y="1280160"/>
            <a:ext cx="11274552" cy="870509"/>
          </a:xfrm>
          <a:prstGeom prst="roundRect">
            <a:avLst>
              <a:gd name="adj" fmla="val 10504"/>
            </a:avLst>
          </a:prstGeom>
          <a:solidFill>
            <a:srgbClr val="E9F1F8"/>
          </a:solidFill>
          <a:ln w="12700">
            <a:solidFill>
              <a:srgbClr val="E9F1F8"/>
            </a:solidFill>
            <a:prstDash val="solid"/>
          </a:ln>
        </p:spPr>
      </p:sp>
      <p:sp>
        <p:nvSpPr>
          <p:cNvPr id="4" name="Shape 2"/>
          <p:cNvSpPr/>
          <p:nvPr/>
        </p:nvSpPr>
        <p:spPr>
          <a:xfrm>
            <a:off x="621792" y="1486814"/>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621792" y="148681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335024"/>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R-001 ocurre: pasa a ocurrido y se abre I-001</a:t>
            </a:r>
            <a:endParaRPr lang="en-US" sz="1600" dirty="0"/>
          </a:p>
        </p:txBody>
      </p:sp>
      <p:sp>
        <p:nvSpPr>
          <p:cNvPr id="7" name="Shape 5"/>
          <p:cNvSpPr/>
          <p:nvPr/>
        </p:nvSpPr>
        <p:spPr>
          <a:xfrm>
            <a:off x="457200" y="2296973"/>
            <a:ext cx="11274552" cy="870509"/>
          </a:xfrm>
          <a:prstGeom prst="roundRect">
            <a:avLst>
              <a:gd name="adj" fmla="val 10504"/>
            </a:avLst>
          </a:prstGeom>
          <a:solidFill>
            <a:srgbClr val="F4F6F8"/>
          </a:solidFill>
          <a:ln w="12700">
            <a:solidFill>
              <a:srgbClr val="F4F6F8"/>
            </a:solidFill>
            <a:prstDash val="solid"/>
          </a:ln>
        </p:spPr>
      </p:sp>
      <p:sp>
        <p:nvSpPr>
          <p:cNvPr id="8" name="Shape 6"/>
          <p:cNvSpPr/>
          <p:nvPr/>
        </p:nvSpPr>
        <p:spPr>
          <a:xfrm>
            <a:off x="621792" y="2503627"/>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621792" y="2503627"/>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280160" y="2351837"/>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C-002 entorno temporal: 8.000, la opción O4 evaluada en el paso 6a</a:t>
            </a:r>
            <a:endParaRPr lang="en-US" sz="1600" dirty="0"/>
          </a:p>
        </p:txBody>
      </p:sp>
      <p:sp>
        <p:nvSpPr>
          <p:cNvPr id="11" name="Shape 9"/>
          <p:cNvSpPr/>
          <p:nvPr/>
        </p:nvSpPr>
        <p:spPr>
          <a:xfrm>
            <a:off x="457200" y="3313786"/>
            <a:ext cx="11274552" cy="870509"/>
          </a:xfrm>
          <a:prstGeom prst="roundRect">
            <a:avLst>
              <a:gd name="adj" fmla="val 10504"/>
            </a:avLst>
          </a:prstGeom>
          <a:solidFill>
            <a:srgbClr val="E9F1F8"/>
          </a:solidFill>
          <a:ln w="12700">
            <a:solidFill>
              <a:srgbClr val="E9F1F8"/>
            </a:solidFill>
            <a:prstDash val="solid"/>
          </a:ln>
        </p:spPr>
      </p:sp>
      <p:sp>
        <p:nvSpPr>
          <p:cNvPr id="12" name="Shape 10"/>
          <p:cNvSpPr/>
          <p:nvPr/>
        </p:nvSpPr>
        <p:spPr>
          <a:xfrm>
            <a:off x="621792" y="3520440"/>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621792" y="3520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280160" y="3368650"/>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C-003 licencias: 3.000, dentro del límite del gestor</a:t>
            </a:r>
            <a:endParaRPr lang="en-US" sz="1600" dirty="0"/>
          </a:p>
        </p:txBody>
      </p:sp>
      <p:sp>
        <p:nvSpPr>
          <p:cNvPr id="15" name="Shape 13"/>
          <p:cNvSpPr/>
          <p:nvPr/>
        </p:nvSpPr>
        <p:spPr>
          <a:xfrm>
            <a:off x="457200" y="4330598"/>
            <a:ext cx="11274552" cy="870509"/>
          </a:xfrm>
          <a:prstGeom prst="roundRect">
            <a:avLst>
              <a:gd name="adj" fmla="val 10504"/>
            </a:avLst>
          </a:prstGeom>
          <a:solidFill>
            <a:srgbClr val="F4F6F8"/>
          </a:solidFill>
          <a:ln w="12700">
            <a:solidFill>
              <a:srgbClr val="F4F6F8"/>
            </a:solidFill>
            <a:prstDash val="solid"/>
          </a:ln>
        </p:spPr>
      </p:sp>
      <p:sp>
        <p:nvSpPr>
          <p:cNvPr id="16" name="Shape 14"/>
          <p:cNvSpPr/>
          <p:nvPr/>
        </p:nvSpPr>
        <p:spPr>
          <a:xfrm>
            <a:off x="621792" y="4537253"/>
            <a:ext cx="457200" cy="457200"/>
          </a:xfrm>
          <a:prstGeom prst="roundRect">
            <a:avLst>
              <a:gd name="adj" fmla="val 16000"/>
            </a:avLst>
          </a:prstGeom>
          <a:solidFill>
            <a:srgbClr val="00629B"/>
          </a:solidFill>
          <a:ln w="12700">
            <a:solidFill>
              <a:srgbClr val="00629B"/>
            </a:solidFill>
            <a:prstDash val="solid"/>
          </a:ln>
        </p:spPr>
      </p:sp>
      <p:sp>
        <p:nvSpPr>
          <p:cNvPr id="17" name="Text 15"/>
          <p:cNvSpPr txBox="1"/>
          <p:nvPr/>
        </p:nvSpPr>
        <p:spPr>
          <a:xfrm>
            <a:off x="621792" y="4537253"/>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1280160" y="4385462"/>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CAM-02: cargo a la reserva sin un R-### citado</a:t>
            </a:r>
            <a:endParaRPr lang="en-US" sz="1600" dirty="0"/>
          </a:p>
        </p:txBody>
      </p:sp>
      <p:sp>
        <p:nvSpPr>
          <p:cNvPr id="19" name="Shape 17"/>
          <p:cNvSpPr/>
          <p:nvPr/>
        </p:nvSpPr>
        <p:spPr>
          <a:xfrm>
            <a:off x="457200" y="5347411"/>
            <a:ext cx="11274552" cy="870509"/>
          </a:xfrm>
          <a:prstGeom prst="roundRect">
            <a:avLst>
              <a:gd name="adj" fmla="val 10504"/>
            </a:avLst>
          </a:prstGeom>
          <a:solidFill>
            <a:srgbClr val="E9F1F8"/>
          </a:solidFill>
          <a:ln w="12700">
            <a:solidFill>
              <a:srgbClr val="E9F1F8"/>
            </a:solidFill>
            <a:prstDash val="solid"/>
          </a:ln>
        </p:spPr>
      </p:sp>
      <p:sp>
        <p:nvSpPr>
          <p:cNvPr id="20" name="Shape 18"/>
          <p:cNvSpPr/>
          <p:nvPr/>
        </p:nvSpPr>
        <p:spPr>
          <a:xfrm>
            <a:off x="621792" y="5554066"/>
            <a:ext cx="457200" cy="457200"/>
          </a:xfrm>
          <a:prstGeom prst="roundRect">
            <a:avLst>
              <a:gd name="adj" fmla="val 16000"/>
            </a:avLst>
          </a:prstGeom>
          <a:solidFill>
            <a:srgbClr val="00629B"/>
          </a:solidFill>
          <a:ln w="12700">
            <a:solidFill>
              <a:srgbClr val="00629B"/>
            </a:solidFill>
            <a:prstDash val="solid"/>
          </a:ln>
        </p:spPr>
      </p:sp>
      <p:sp>
        <p:nvSpPr>
          <p:cNvPr id="21" name="Text 19"/>
          <p:cNvSpPr txBox="1"/>
          <p:nvPr/>
        </p:nvSpPr>
        <p:spPr>
          <a:xfrm>
            <a:off x="621792" y="555406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2" name="Text 20"/>
          <p:cNvSpPr txBox="1"/>
          <p:nvPr/>
        </p:nvSpPr>
        <p:spPr>
          <a:xfrm>
            <a:off x="1280160" y="5402275"/>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Tras el rechazo: 15.300 de 39.800 (38 %)</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Paso 10 · La junta elige reducir y deja escrito por qué</a:t>
            </a:r>
            <a:endParaRPr lang="en-US" sz="2400" dirty="0"/>
          </a:p>
        </p:txBody>
      </p:sp>
      <p:pic>
        <p:nvPicPr>
          <p:cNvPr id="3" name="Image 0" descr="Paso 10 · La junta elige reducir y deja escrito por qué">    </p:cNvPr>
          <p:cNvPicPr>
            <a:picLocks noChangeAspect="1"/>
          </p:cNvPicPr>
          <p:nvPr/>
        </p:nvPicPr>
        <p:blipFill>
          <a:blip r:embed="rId1"/>
          <a:stretch>
            <a:fillRect/>
          </a:stretch>
        </p:blipFill>
        <p:spPr>
          <a:xfrm>
            <a:off x="1705356" y="1280160"/>
            <a:ext cx="8778240" cy="4937760"/>
          </a:xfrm>
          <a:prstGeom prst="rect">
            <a:avLst/>
          </a:prstGeom>
        </p:spPr>
      </p:pic>
      <p:sp>
        <p:nvSpPr>
          <p:cNvPr id="4" name="Shape 1"/>
          <p:cNvSpPr/>
          <p:nvPr/>
        </p:nvSpPr>
        <p:spPr>
          <a:xfrm>
            <a:off x="1705356" y="1280160"/>
            <a:ext cx="8778240" cy="4937760"/>
          </a:xfrm>
          <a:prstGeom prst="rect">
            <a:avLst/>
          </a:prstGeom>
          <a:solidFill>
            <a:srgbClr val="FFFFFF">
              <a:alpha val="0"/>
            </a:srgbClr>
          </a:solidFill>
          <a:ln w="9525">
            <a:solidFill>
              <a:srgbClr val="E2E2E6"/>
            </a:solidFill>
            <a:prstDash val="solid"/>
          </a:ln>
        </p:spPr>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1645920"/>
            <a:ext cx="5486400" cy="411480"/>
          </a:xfrm>
          <a:prstGeom prst="rect">
            <a:avLst/>
          </a:prstGeom>
          <a:noFill/>
          <a:ln/>
        </p:spPr>
        <p:txBody>
          <a:bodyPr wrap="square" lIns="0" tIns="0" rIns="0" bIns="0" rtlCol="0" anchor="t"/>
          <a:lstStyle/>
          <a:p>
            <a:pPr indent="0" marL="0">
              <a:buNone/>
            </a:pPr>
            <a:r>
              <a:rPr lang="en-US" sz="1800" b="1" dirty="0">
                <a:solidFill>
                  <a:srgbClr val="9FD0F0"/>
                </a:solidFill>
                <a:latin typeface="Arial" pitchFamily="34" charset="0"/>
                <a:ea typeface="Arial" pitchFamily="34" charset="-122"/>
                <a:cs typeface="Arial" pitchFamily="34" charset="-120"/>
              </a:rPr>
              <a:t>Clase 2</a:t>
            </a:r>
            <a:endParaRPr lang="en-US" sz="1800" dirty="0"/>
          </a:p>
        </p:txBody>
      </p:sp>
      <p:sp>
        <p:nvSpPr>
          <p:cNvPr id="3" name="Text 2"/>
          <p:cNvSpPr/>
          <p:nvPr>
            <p:ph idx="102" type="title" hasCustomPrompt="1"/>
          </p:nvPr>
        </p:nvSpPr>
        <p:spPr>
          <a:xfrm>
            <a:off x="548640" y="2148840"/>
            <a:ext cx="11091672" cy="1005840"/>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Revisión periódica</a:t>
            </a:r>
            <a:endParaRPr lang="en-US" sz="4000" dirty="0"/>
          </a:p>
        </p:txBody>
      </p:sp>
      <p:sp>
        <p:nvSpPr>
          <p:cNvPr id="4" name="Text 2"/>
          <p:cNvSpPr txBox="1"/>
          <p:nvPr/>
        </p:nvSpPr>
        <p:spPr>
          <a:xfrm>
            <a:off x="548640" y="3291840"/>
            <a:ext cx="11091672" cy="82296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Un mes de avisos sin atender y qué decidir primero</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Lo que ve el gestor al abrir la sesión</a:t>
            </a:r>
            <a:endParaRPr lang="en-US" sz="2400" dirty="0"/>
          </a:p>
        </p:txBody>
      </p:sp>
      <p:sp>
        <p:nvSpPr>
          <p:cNvPr id="3" name="Shape 1"/>
          <p:cNvSpPr/>
          <p:nvPr/>
        </p:nvSpPr>
        <p:spPr>
          <a:xfrm>
            <a:off x="457200" y="1280160"/>
            <a:ext cx="11274552" cy="870509"/>
          </a:xfrm>
          <a:prstGeom prst="roundRect">
            <a:avLst>
              <a:gd name="adj" fmla="val 10504"/>
            </a:avLst>
          </a:prstGeom>
          <a:solidFill>
            <a:srgbClr val="E9F1F8"/>
          </a:solidFill>
          <a:ln w="12700">
            <a:solidFill>
              <a:srgbClr val="E9F1F8"/>
            </a:solidFill>
            <a:prstDash val="solid"/>
          </a:ln>
        </p:spPr>
      </p:sp>
      <p:sp>
        <p:nvSpPr>
          <p:cNvPr id="4" name="Shape 2"/>
          <p:cNvSpPr/>
          <p:nvPr/>
        </p:nvSpPr>
        <p:spPr>
          <a:xfrm>
            <a:off x="621792" y="1486814"/>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621792" y="148681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80160" y="1335024"/>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Conteo de la sanidad rápida: 0 ERROR · 7 AVISO</a:t>
            </a:r>
            <a:endParaRPr lang="en-US" sz="1600" dirty="0"/>
          </a:p>
        </p:txBody>
      </p:sp>
      <p:sp>
        <p:nvSpPr>
          <p:cNvPr id="7" name="Shape 5"/>
          <p:cNvSpPr/>
          <p:nvPr/>
        </p:nvSpPr>
        <p:spPr>
          <a:xfrm>
            <a:off x="457200" y="2296973"/>
            <a:ext cx="11274552" cy="870509"/>
          </a:xfrm>
          <a:prstGeom prst="roundRect">
            <a:avLst>
              <a:gd name="adj" fmla="val 10504"/>
            </a:avLst>
          </a:prstGeom>
          <a:solidFill>
            <a:srgbClr val="F4F6F8"/>
          </a:solidFill>
          <a:ln w="12700">
            <a:solidFill>
              <a:srgbClr val="F4F6F8"/>
            </a:solidFill>
            <a:prstDash val="solid"/>
          </a:ln>
        </p:spPr>
      </p:sp>
      <p:sp>
        <p:nvSpPr>
          <p:cNvPr id="8" name="Shape 6"/>
          <p:cNvSpPr/>
          <p:nvPr/>
        </p:nvSpPr>
        <p:spPr>
          <a:xfrm>
            <a:off x="621792" y="2503627"/>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621792" y="2503627"/>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280160" y="2351837"/>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Abiertos: riesgos 5, issues 1, cambios 3, acciones 1</a:t>
            </a:r>
            <a:endParaRPr lang="en-US" sz="1600" dirty="0"/>
          </a:p>
        </p:txBody>
      </p:sp>
      <p:sp>
        <p:nvSpPr>
          <p:cNvPr id="11" name="Shape 9"/>
          <p:cNvSpPr/>
          <p:nvPr/>
        </p:nvSpPr>
        <p:spPr>
          <a:xfrm>
            <a:off x="457200" y="3313786"/>
            <a:ext cx="11274552" cy="870509"/>
          </a:xfrm>
          <a:prstGeom prst="roundRect">
            <a:avLst>
              <a:gd name="adj" fmla="val 10504"/>
            </a:avLst>
          </a:prstGeom>
          <a:solidFill>
            <a:srgbClr val="E9F1F8"/>
          </a:solidFill>
          <a:ln w="12700">
            <a:solidFill>
              <a:srgbClr val="E9F1F8"/>
            </a:solidFill>
            <a:prstDash val="solid"/>
          </a:ln>
        </p:spPr>
      </p:sp>
      <p:sp>
        <p:nvSpPr>
          <p:cNvPr id="12" name="Shape 10"/>
          <p:cNvSpPr/>
          <p:nvPr/>
        </p:nvSpPr>
        <p:spPr>
          <a:xfrm>
            <a:off x="621792" y="3520440"/>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621792" y="3520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280160" y="3368650"/>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Cinco riesgos con la revisión vencida (REG-09) y A-004 vencida</a:t>
            </a:r>
            <a:endParaRPr lang="en-US" sz="1600" dirty="0"/>
          </a:p>
        </p:txBody>
      </p:sp>
      <p:sp>
        <p:nvSpPr>
          <p:cNvPr id="15" name="Shape 13"/>
          <p:cNvSpPr/>
          <p:nvPr/>
        </p:nvSpPr>
        <p:spPr>
          <a:xfrm>
            <a:off x="457200" y="4330598"/>
            <a:ext cx="11274552" cy="870509"/>
          </a:xfrm>
          <a:prstGeom prst="roundRect">
            <a:avLst>
              <a:gd name="adj" fmla="val 10504"/>
            </a:avLst>
          </a:prstGeom>
          <a:solidFill>
            <a:srgbClr val="F4F6F8"/>
          </a:solidFill>
          <a:ln w="12700">
            <a:solidFill>
              <a:srgbClr val="F4F6F8"/>
            </a:solidFill>
            <a:prstDash val="solid"/>
          </a:ln>
        </p:spPr>
      </p:sp>
      <p:sp>
        <p:nvSpPr>
          <p:cNvPr id="16" name="Shape 14"/>
          <p:cNvSpPr/>
          <p:nvPr/>
        </p:nvSpPr>
        <p:spPr>
          <a:xfrm>
            <a:off x="621792" y="4537253"/>
            <a:ext cx="457200" cy="457200"/>
          </a:xfrm>
          <a:prstGeom prst="roundRect">
            <a:avLst>
              <a:gd name="adj" fmla="val 16000"/>
            </a:avLst>
          </a:prstGeom>
          <a:solidFill>
            <a:srgbClr val="00629B"/>
          </a:solidFill>
          <a:ln w="12700">
            <a:solidFill>
              <a:srgbClr val="00629B"/>
            </a:solidFill>
            <a:prstDash val="solid"/>
          </a:ln>
        </p:spPr>
      </p:sp>
      <p:sp>
        <p:nvSpPr>
          <p:cNvPr id="17" name="Text 15"/>
          <p:cNvSpPr txBox="1"/>
          <p:nvPr/>
        </p:nvSpPr>
        <p:spPr>
          <a:xfrm>
            <a:off x="621792" y="4537253"/>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1280160" y="4385462"/>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Radar: decidir 1 · escalar 0 · desbloquear 1 · vigilar 6</a:t>
            </a:r>
            <a:endParaRPr lang="en-US" sz="1600" dirty="0"/>
          </a:p>
        </p:txBody>
      </p:sp>
      <p:sp>
        <p:nvSpPr>
          <p:cNvPr id="19" name="Shape 17"/>
          <p:cNvSpPr/>
          <p:nvPr/>
        </p:nvSpPr>
        <p:spPr>
          <a:xfrm>
            <a:off x="457200" y="5347411"/>
            <a:ext cx="11274552" cy="870509"/>
          </a:xfrm>
          <a:prstGeom prst="roundRect">
            <a:avLst>
              <a:gd name="adj" fmla="val 10504"/>
            </a:avLst>
          </a:prstGeom>
          <a:solidFill>
            <a:srgbClr val="E9F1F8"/>
          </a:solidFill>
          <a:ln w="12700">
            <a:solidFill>
              <a:srgbClr val="E9F1F8"/>
            </a:solidFill>
            <a:prstDash val="solid"/>
          </a:ln>
        </p:spPr>
      </p:sp>
      <p:sp>
        <p:nvSpPr>
          <p:cNvPr id="20" name="Shape 18"/>
          <p:cNvSpPr/>
          <p:nvPr/>
        </p:nvSpPr>
        <p:spPr>
          <a:xfrm>
            <a:off x="621792" y="5554066"/>
            <a:ext cx="457200" cy="457200"/>
          </a:xfrm>
          <a:prstGeom prst="roundRect">
            <a:avLst>
              <a:gd name="adj" fmla="val 16000"/>
            </a:avLst>
          </a:prstGeom>
          <a:solidFill>
            <a:srgbClr val="00629B"/>
          </a:solidFill>
          <a:ln w="12700">
            <a:solidFill>
              <a:srgbClr val="00629B"/>
            </a:solidFill>
            <a:prstDash val="solid"/>
          </a:ln>
        </p:spPr>
      </p:sp>
      <p:sp>
        <p:nvSpPr>
          <p:cNvPr id="21" name="Text 19"/>
          <p:cNvSpPr txBox="1"/>
          <p:nvPr/>
        </p:nvSpPr>
        <p:spPr>
          <a:xfrm>
            <a:off x="621792" y="555406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2" name="Text 20"/>
          <p:cNvSpPr txBox="1"/>
          <p:nvPr/>
        </p:nvSpPr>
        <p:spPr>
          <a:xfrm>
            <a:off x="1280160" y="5402275"/>
            <a:ext cx="10222992" cy="760781"/>
          </a:xfrm>
          <a:prstGeom prst="rect">
            <a:avLst/>
          </a:prstGeom>
          <a:noFill/>
          <a:ln/>
        </p:spPr>
        <p:txBody>
          <a:bodyPr wrap="square" lIns="0" tIns="0" rIns="0" bIns="0" rtlCol="0" anchor="ctr"/>
          <a:lstStyle/>
          <a:p>
            <a:pPr indent="0" marL="0">
              <a:buNone/>
            </a:pPr>
            <a:r>
              <a:rPr lang="en-US" sz="2000" dirty="0">
                <a:solidFill>
                  <a:srgbClr val="272425"/>
                </a:solidFill>
                <a:latin typeface="Arial" pitchFamily="34" charset="0"/>
                <a:ea typeface="Arial" pitchFamily="34" charset="-122"/>
                <a:cs typeface="Arial" pitchFamily="34" charset="-120"/>
              </a:rPr>
              <a:t>Condición de la junta y próxima puerta; manda sobre la memoria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Demo · Paso 12: qué quedó sin revisar</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1186434"/>
          </a:xfrm>
          <a:prstGeom prst="roundRect">
            <a:avLst>
              <a:gd name="adj" fmla="val 6166"/>
            </a:avLst>
          </a:prstGeom>
          <a:solidFill>
            <a:srgbClr val="0F2238"/>
          </a:solidFill>
          <a:ln w="12700">
            <a:solidFill>
              <a:srgbClr val="0F2238"/>
            </a:solidFill>
            <a:prstDash val="solid"/>
          </a:ln>
        </p:spPr>
      </p:sp>
      <p:sp>
        <p:nvSpPr>
          <p:cNvPr id="5" name="Text 3"/>
          <p:cNvSpPr txBox="1"/>
          <p:nvPr/>
        </p:nvSpPr>
        <p:spPr>
          <a:xfrm>
            <a:off x="685800" y="1792224"/>
            <a:ext cx="10817352" cy="857250"/>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Revisión de riesgos del sprint, corte 12/02. Antes de actualizar nada, decime qué quedó sin revisar: riesgos con la revisión vencida, acciones de respuesta vencidas, condiciones de la junta abiertas y cómo está la reserva.</a:t>
            </a:r>
            <a:endParaRPr lang="en-US" sz="18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Revisión del 12/02: lo que encontró</a:t>
            </a:r>
            <a:endParaRPr lang="en-US" sz="24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4509821"/>
                <a:gridCol w="3679064"/>
                <a:gridCol w="3085667"/>
              </a:tblGrid>
              <a:tr h="0">
                <a:tc>
                  <a:txBody>
                    <a:bodyPr/>
                    <a:lstStyle/>
                    <a:p>
                      <a:pPr indent="0" marL="0">
                        <a:buNone/>
                      </a:pPr>
                      <a:r>
                        <a:rPr lang="en-US" sz="1800" b="1" dirty="0">
                          <a:solidFill>
                            <a:srgbClr val="FFFFFF"/>
                          </a:solidFill>
                          <a:latin typeface="Arial" pitchFamily="34" charset="0"/>
                          <a:ea typeface="Arial" pitchFamily="34" charset="-122"/>
                          <a:cs typeface="Arial" pitchFamily="34" charset="-120"/>
                        </a:rPr>
                        <a:t>Hallazgo</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Quién lo detecta</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Qué se hizo</a:t>
                      </a:r>
                      <a:endParaRPr lang="en-US" sz="1200" dirty="0">
                        <a:latin typeface="Arial" charset="0"/>
                        <a:ea typeface="Arial" charset="0"/>
                        <a:cs typeface="Arial" charset="0"/>
                      </a:endParaRPr>
                    </a:p>
                  </a:txBody>
                  <a:tcPr marL="73152" marR="73152" marT="73152" marB="73152"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5 de 5 riesgos con la revisión vencida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sanidad REG-09 (desde el 12/01)</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próxima revisión 26/2</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A-004 vencida el 5/2</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resumen de sesión y REG-07</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replanificada al 26/2</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Disparador de R-003 alcanzado</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revisión del sprint</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P 4, inminente: R-003 = 20</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Condición de la junta abierta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sanidad EST-12</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sigue hasta el 1/3</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800" b="1" dirty="0">
                          <a:solidFill>
                            <a:srgbClr val="002855"/>
                          </a:solidFill>
                          <a:latin typeface="Arial" pitchFamily="34" charset="0"/>
                          <a:ea typeface="Arial" pitchFamily="34" charset="-122"/>
                          <a:cs typeface="Arial" pitchFamily="34" charset="-120"/>
                        </a:rPr>
                        <a:t>Exposición 54.600</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suma de EMV en riesgos.csv</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800" dirty="0">
                          <a:solidFill>
                            <a:srgbClr val="272425"/>
                          </a:solidFill>
                          <a:latin typeface="Arial" pitchFamily="34" charset="0"/>
                          <a:ea typeface="Arial" pitchFamily="34" charset="-122"/>
                          <a:cs typeface="Arial" pitchFamily="34" charset="-120"/>
                        </a:rPr>
                        <a:t>a 5.400 de la tolerancia</a:t>
                      </a:r>
                      <a:endParaRPr lang="en-US" sz="1200" dirty="0">
                        <a:latin typeface="Arial" charset="0"/>
                        <a:ea typeface="Arial" charset="0"/>
                        <a:cs typeface="Arial" charset="0"/>
                      </a:endParaRPr>
                    </a:p>
                  </a:txBody>
                  <a:tcPr marL="73152" marR="73152" marT="73152" marB="73152"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bl>
          </a:graphicData>
        </a:graphic>
      </p:graphicFrame>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Demo · Paso 12: ¿qué decido hoy?</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731520"/>
          </a:xfrm>
          <a:prstGeom prst="roundRect">
            <a:avLst>
              <a:gd name="adj" fmla="val 10000"/>
            </a:avLst>
          </a:prstGeom>
          <a:solidFill>
            <a:srgbClr val="0F2238"/>
          </a:solidFill>
          <a:ln w="12700">
            <a:solidFill>
              <a:srgbClr val="0F2238"/>
            </a:solidFill>
            <a:prstDash val="solid"/>
          </a:ln>
        </p:spPr>
      </p:sp>
      <p:sp>
        <p:nvSpPr>
          <p:cNvPr id="5" name="Text 3"/>
          <p:cNvSpPr txBox="1"/>
          <p:nvPr/>
        </p:nvSpPr>
        <p:spPr>
          <a:xfrm>
            <a:off x="685800" y="1792224"/>
            <a:ext cx="10817352" cy="402336"/>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Con la revisión hecha, ¿qué tengo que decidir, escalar y desbloquear hoy?</a:t>
            </a:r>
            <a:endParaRPr lang="en-US" sz="18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1645920"/>
            <a:ext cx="5486400" cy="411480"/>
          </a:xfrm>
          <a:prstGeom prst="rect">
            <a:avLst/>
          </a:prstGeom>
          <a:noFill/>
          <a:ln/>
        </p:spPr>
        <p:txBody>
          <a:bodyPr wrap="square" lIns="0" tIns="0" rIns="0" bIns="0" rtlCol="0" anchor="t"/>
          <a:lstStyle/>
          <a:p>
            <a:pPr indent="0" marL="0">
              <a:buNone/>
            </a:pPr>
            <a:r>
              <a:rPr lang="en-US" sz="1800" b="1" dirty="0">
                <a:solidFill>
                  <a:srgbClr val="9FD0F0"/>
                </a:solidFill>
                <a:latin typeface="Arial" pitchFamily="34" charset="0"/>
                <a:ea typeface="Arial" pitchFamily="34" charset="-122"/>
                <a:cs typeface="Arial" pitchFamily="34" charset="-120"/>
              </a:rPr>
              <a:t>Clase 2</a:t>
            </a:r>
            <a:endParaRPr lang="en-US" sz="1800" dirty="0"/>
          </a:p>
        </p:txBody>
      </p:sp>
      <p:sp>
        <p:nvSpPr>
          <p:cNvPr id="3" name="Text 2"/>
          <p:cNvSpPr/>
          <p:nvPr>
            <p:ph idx="102" type="title" hasCustomPrompt="1"/>
          </p:nvPr>
        </p:nvSpPr>
        <p:spPr>
          <a:xfrm>
            <a:off x="548640" y="2148840"/>
            <a:ext cx="11091672" cy="1005840"/>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El plan de contingencia en acción</a:t>
            </a:r>
            <a:endParaRPr lang="en-US" sz="4000" dirty="0"/>
          </a:p>
        </p:txBody>
      </p:sp>
      <p:sp>
        <p:nvSpPr>
          <p:cNvPr id="4" name="Text 2"/>
          <p:cNvSpPr txBox="1"/>
          <p:nvPr/>
        </p:nvSpPr>
        <p:spPr>
          <a:xfrm>
            <a:off x="548640" y="3291840"/>
            <a:ext cx="11091672" cy="82296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Activación y alerta al 80 %</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Demo · Paso 13: activar el plan de R-003</a:t>
            </a:r>
            <a:endParaRPr lang="en-US" sz="2400" dirty="0"/>
          </a:p>
        </p:txBody>
      </p:sp>
      <p:sp>
        <p:nvSpPr>
          <p:cNvPr id="3" name="Text 1"/>
          <p:cNvSpPr txBox="1"/>
          <p:nvPr/>
        </p:nvSpPr>
        <p:spPr>
          <a:xfrm>
            <a:off x="457200" y="1280160"/>
            <a:ext cx="5486400" cy="292608"/>
          </a:xfrm>
          <a:prstGeom prst="rect">
            <a:avLst/>
          </a:prstGeom>
          <a:noFill/>
          <a:ln/>
        </p:spPr>
        <p:txBody>
          <a:bodyPr wrap="square" lIns="0" tIns="0" rIns="0" bIns="0" rtlCol="0" anchor="t"/>
          <a:lstStyle/>
          <a:p>
            <a:pPr indent="0" marL="0">
              <a:buNone/>
            </a:pPr>
            <a:r>
              <a:rPr lang="en-US" sz="1300" b="1" dirty="0">
                <a:solidFill>
                  <a:srgbClr val="696969"/>
                </a:solidFill>
                <a:latin typeface="Arial" pitchFamily="34" charset="0"/>
                <a:ea typeface="Arial" pitchFamily="34" charset="-122"/>
                <a:cs typeface="Arial" pitchFamily="34" charset="-120"/>
              </a:rPr>
              <a:t>Prompt · escribilo tal cual</a:t>
            </a:r>
            <a:endParaRPr lang="en-US" sz="1300" dirty="0"/>
          </a:p>
        </p:txBody>
      </p:sp>
      <p:sp>
        <p:nvSpPr>
          <p:cNvPr id="4" name="Shape 2"/>
          <p:cNvSpPr/>
          <p:nvPr/>
        </p:nvSpPr>
        <p:spPr>
          <a:xfrm>
            <a:off x="457200" y="1627632"/>
            <a:ext cx="11274552" cy="1186434"/>
          </a:xfrm>
          <a:prstGeom prst="roundRect">
            <a:avLst>
              <a:gd name="adj" fmla="val 6166"/>
            </a:avLst>
          </a:prstGeom>
          <a:solidFill>
            <a:srgbClr val="0F2238"/>
          </a:solidFill>
          <a:ln w="12700">
            <a:solidFill>
              <a:srgbClr val="0F2238"/>
            </a:solidFill>
            <a:prstDash val="solid"/>
          </a:ln>
        </p:spPr>
      </p:sp>
      <p:sp>
        <p:nvSpPr>
          <p:cNvPr id="5" name="Text 3"/>
          <p:cNvSpPr txBox="1"/>
          <p:nvPr/>
        </p:nvSpPr>
        <p:spPr>
          <a:xfrm>
            <a:off x="685800" y="1792224"/>
            <a:ext cx="10817352" cy="857250"/>
          </a:xfrm>
          <a:prstGeom prst="rect">
            <a:avLst/>
          </a:prstGeom>
          <a:noFill/>
          <a:ln/>
        </p:spPr>
        <p:txBody>
          <a:bodyPr wrap="square" lIns="0" tIns="0" rIns="0" bIns="0" rtlCol="0" anchor="ctr"/>
          <a:lstStyle/>
          <a:p>
            <a:pPr indent="0" marL="0">
              <a:buNone/>
            </a:pPr>
            <a:r>
              <a:rPr lang="en-US" sz="1800" dirty="0">
                <a:solidFill>
                  <a:srgbClr val="E8EEF5"/>
                </a:solidFill>
                <a:latin typeface="Courier New" pitchFamily="34" charset="0"/>
                <a:ea typeface="Courier New" pitchFamily="34" charset="-122"/>
                <a:cs typeface="Courier New" pitchFamily="34" charset="-120"/>
              </a:rPr>
              <a:t>Activá el plan de contingencia de R-003: el disparador se alcanzó. Supera mi autoridad, así que llevalo a Laura como dice el plan. Después decime cómo queda la reserva contra lo que todavía puede pasar.</a:t>
            </a:r>
            <a:endParaRPr lang="en-US" sz="18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La reserva llegó al 94 % y la sanidad avisó antes de agotarse</a:t>
            </a:r>
            <a:endParaRPr lang="en-US" sz="2400" dirty="0"/>
          </a:p>
        </p:txBody>
      </p:sp>
      <p:pic>
        <p:nvPicPr>
          <p:cNvPr id="3" name="Image 0" descr="La reserva llegó al 94 % y la sanidad avisó antes de agotarse">    </p:cNvPr>
          <p:cNvPicPr>
            <a:picLocks noChangeAspect="1"/>
          </p:cNvPicPr>
          <p:nvPr/>
        </p:nvPicPr>
        <p:blipFill>
          <a:blip r:embed="rId1"/>
          <a:stretch>
            <a:fillRect/>
          </a:stretch>
        </p:blipFill>
        <p:spPr>
          <a:xfrm>
            <a:off x="1705356" y="1280160"/>
            <a:ext cx="8778240" cy="4937760"/>
          </a:xfrm>
          <a:prstGeom prst="rect">
            <a:avLst/>
          </a:prstGeom>
        </p:spPr>
      </p:pic>
      <p:sp>
        <p:nvSpPr>
          <p:cNvPr id="4" name="Shape 1"/>
          <p:cNvSpPr/>
          <p:nvPr/>
        </p:nvSpPr>
        <p:spPr>
          <a:xfrm>
            <a:off x="1705356" y="1280160"/>
            <a:ext cx="8778240" cy="4937760"/>
          </a:xfrm>
          <a:prstGeom prst="rect">
            <a:avLst/>
          </a:prstGeom>
          <a:solidFill>
            <a:srgbClr val="FFFFFF">
              <a:alpha val="0"/>
            </a:srgbClr>
          </a:solidFill>
          <a:ln w="9525">
            <a:solidFill>
              <a:srgbClr val="E2E2E6"/>
            </a:solidFill>
            <a:prstDash val="solid"/>
          </a:ln>
        </p:spPr>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5752" cy="713232"/>
          </a:xfrm>
          <a:prstGeom prst="rect">
            <a:avLst/>
          </a:prstGeom>
          <a:noFill/>
          <a:ln/>
        </p:spPr>
        <p:txBody>
          <a:bodyPr wrap="square" lIns="0" tIns="0" rIns="0" bIns="0" rtlCol="0" anchor="ctr"/>
          <a:lstStyle/>
          <a:p>
            <a:pPr algn="l" indent="0" marL="0">
              <a:buNone/>
            </a:pPr>
            <a:r>
              <a:rPr lang="en-US" sz="2200" b="1" dirty="0">
                <a:solidFill>
                  <a:srgbClr val="9FD0F0"/>
                </a:solidFill>
                <a:latin typeface="Arial" pitchFamily="34" charset="0"/>
                <a:ea typeface="Arial" pitchFamily="34" charset="-122"/>
                <a:cs typeface="Arial" pitchFamily="34" charset="-120"/>
              </a:rPr>
              <a:t>Discusión</a:t>
            </a:r>
            <a:endParaRPr lang="en-US" sz="2200" dirty="0"/>
          </a:p>
        </p:txBody>
      </p:sp>
      <p:sp>
        <p:nvSpPr>
          <p:cNvPr id="3" name="Shape 1"/>
          <p:cNvSpPr/>
          <p:nvPr/>
        </p:nvSpPr>
        <p:spPr>
          <a:xfrm>
            <a:off x="548640" y="3131820"/>
            <a:ext cx="1188720" cy="1188720"/>
          </a:xfrm>
          <a:prstGeom prst="ellipse">
            <a:avLst/>
          </a:prstGeom>
          <a:solidFill>
            <a:srgbClr val="B5651D"/>
          </a:solidFill>
          <a:ln w="12700">
            <a:solidFill>
              <a:srgbClr val="B5651D"/>
            </a:solidFill>
            <a:prstDash val="solid"/>
          </a:ln>
        </p:spPr>
      </p:sp>
      <p:sp>
        <p:nvSpPr>
          <p:cNvPr id="4" name="Text 2"/>
          <p:cNvSpPr txBox="1"/>
          <p:nvPr/>
        </p:nvSpPr>
        <p:spPr>
          <a:xfrm>
            <a:off x="548640" y="3131820"/>
            <a:ext cx="1188720" cy="118872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a:t>
            </a:r>
            <a:endParaRPr lang="en-US" sz="5400" dirty="0"/>
          </a:p>
        </p:txBody>
      </p:sp>
      <p:sp>
        <p:nvSpPr>
          <p:cNvPr id="5" name="Text 3"/>
          <p:cNvSpPr txBox="1"/>
          <p:nvPr/>
        </p:nvSpPr>
        <p:spPr>
          <a:xfrm>
            <a:off x="2103120" y="1417320"/>
            <a:ext cx="9537192" cy="46177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Con la reserva al 94 % y 2.500 de remanente frente a 27.900 de EMV residual, ¿qué harías en lugar de Laura?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Paso 14 · Fin de la etapa 2: solo la reserva queda en atención</a:t>
            </a:r>
            <a:endParaRPr lang="en-US" sz="2400" dirty="0"/>
          </a:p>
        </p:txBody>
      </p:sp>
      <p:pic>
        <p:nvPicPr>
          <p:cNvPr id="3" name="Image 0" descr="Paso 14 · Fin de la etapa 2: solo la reserva queda en atención">    </p:cNvPr>
          <p:cNvPicPr>
            <a:picLocks noChangeAspect="1"/>
          </p:cNvPicPr>
          <p:nvPr/>
        </p:nvPicPr>
        <p:blipFill>
          <a:blip r:embed="rId1"/>
          <a:stretch>
            <a:fillRect/>
          </a:stretch>
        </p:blipFill>
        <p:spPr>
          <a:xfrm>
            <a:off x="457200" y="1838230"/>
            <a:ext cx="6793992" cy="3821621"/>
          </a:xfrm>
          <a:prstGeom prst="rect">
            <a:avLst/>
          </a:prstGeom>
        </p:spPr>
      </p:pic>
      <p:sp>
        <p:nvSpPr>
          <p:cNvPr id="4" name="Shape 1"/>
          <p:cNvSpPr/>
          <p:nvPr/>
        </p:nvSpPr>
        <p:spPr>
          <a:xfrm>
            <a:off x="457200" y="1838230"/>
            <a:ext cx="6793992" cy="3821621"/>
          </a:xfrm>
          <a:prstGeom prst="rect">
            <a:avLst/>
          </a:prstGeom>
          <a:solidFill>
            <a:srgbClr val="FFFFFF">
              <a:alpha val="0"/>
            </a:srgbClr>
          </a:solidFill>
          <a:ln w="9525">
            <a:solidFill>
              <a:srgbClr val="E2E2E6"/>
            </a:solidFill>
            <a:prstDash val="solid"/>
          </a:ln>
        </p:spPr>
      </p:sp>
      <p:sp>
        <p:nvSpPr>
          <p:cNvPr id="5" name="Shape 2"/>
          <p:cNvSpPr/>
          <p:nvPr/>
        </p:nvSpPr>
        <p:spPr>
          <a:xfrm>
            <a:off x="7525512" y="1280160"/>
            <a:ext cx="4206240" cy="4937760"/>
          </a:xfrm>
          <a:prstGeom prst="roundRect">
            <a:avLst>
              <a:gd name="adj" fmla="val 2174"/>
            </a:avLst>
          </a:prstGeom>
          <a:solidFill>
            <a:srgbClr val="E9F1F8"/>
          </a:solidFill>
          <a:ln w="12700">
            <a:solidFill>
              <a:srgbClr val="E9F1F8"/>
            </a:solidFill>
            <a:prstDash val="solid"/>
          </a:ln>
        </p:spPr>
      </p:sp>
      <p:sp>
        <p:nvSpPr>
          <p:cNvPr id="6" name="Text 3"/>
          <p:cNvSpPr txBox="1"/>
          <p:nvPr/>
        </p:nvSpPr>
        <p:spPr>
          <a:xfrm>
            <a:off x="7726680" y="1426464"/>
            <a:ext cx="3803904" cy="347472"/>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Cómo leerlo</a:t>
            </a:r>
            <a:endParaRPr lang="en-US" sz="1600" dirty="0"/>
          </a:p>
        </p:txBody>
      </p:sp>
      <p:sp>
        <p:nvSpPr>
          <p:cNvPr id="7" name="Text 4"/>
          <p:cNvSpPr txBox="1"/>
          <p:nvPr/>
        </p:nvSpPr>
        <p:spPr>
          <a:xfrm>
            <a:off x="7726680" y="1847088"/>
            <a:ext cx="3803904" cy="4206240"/>
          </a:xfrm>
          <a:prstGeom prst="rect">
            <a:avLst/>
          </a:prstGeom>
          <a:noFill/>
          <a:ln/>
        </p:spPr>
        <p:txBody>
          <a:bodyPr wrap="square" lIns="0" tIns="0" rIns="0" bIns="0" rtlCol="0" anchor="t"/>
          <a:lstStyle/>
          <a:p>
            <a:pPr indent="0" marL="0">
              <a:spcAft>
                <a:spcPts val="800"/>
              </a:spcAft>
              <a:buNone/>
            </a:pPr>
            <a:r>
              <a:rPr lang="en-US" sz="17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700" dirty="0">
                <a:solidFill>
                  <a:srgbClr val="272425"/>
                </a:solidFill>
                <a:latin typeface="Arial" pitchFamily="34" charset="0"/>
                <a:ea typeface="Arial" pitchFamily="34" charset="-122"/>
                <a:cs typeface="Arial" pitchFamily="34" charset="-120"/>
              </a:rPr>
              <a:t>P-001: el agente propone retirar R-005; Diego lo aprueba</a:t>
            </a:r>
            <a:endParaRPr lang="en-US" sz="1600" dirty="0"/>
          </a:p>
          <a:p>
            <a:pPr indent="0" marL="0">
              <a:spcAft>
                <a:spcPts val="800"/>
              </a:spcAft>
              <a:buNone/>
            </a:pPr>
            <a:r>
              <a:rPr lang="en-US" sz="17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700" dirty="0">
                <a:solidFill>
                  <a:srgbClr val="272425"/>
                </a:solidFill>
                <a:latin typeface="Arial" pitchFamily="34" charset="0"/>
                <a:ea typeface="Arial" pitchFamily="34" charset="-122"/>
                <a:cs typeface="Arial" pitchFamily="34" charset="-120"/>
              </a:rPr>
              <a:t>«risk budget» encuentra D-008, D-015 y D-018</a:t>
            </a:r>
            <a:endParaRPr lang="en-US" sz="1600" dirty="0"/>
          </a:p>
          <a:p>
            <a:pPr indent="0" marL="0">
              <a:spcAft>
                <a:spcPts val="800"/>
              </a:spcAft>
              <a:buNone/>
            </a:pPr>
            <a:r>
              <a:rPr lang="en-US" sz="17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700" dirty="0">
                <a:solidFill>
                  <a:srgbClr val="272425"/>
                </a:solidFill>
                <a:latin typeface="Arial" pitchFamily="34" charset="0"/>
                <a:ea typeface="Arial" pitchFamily="34" charset="-122"/>
                <a:cs typeface="Arial" pitchFamily="34" charset="-120"/>
              </a:rPr>
              <a:t>D-020 reemplaza a D-018: DEC-06 de 2 a 0</a:t>
            </a:r>
            <a:endParaRPr lang="en-US" sz="1600" dirty="0"/>
          </a:p>
          <a:p>
            <a:pPr indent="0" marL="0">
              <a:spcAft>
                <a:spcPts val="800"/>
              </a:spcAft>
              <a:buNone/>
            </a:pPr>
            <a:r>
              <a:rPr lang="en-US" sz="17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700" dirty="0">
                <a:solidFill>
                  <a:srgbClr val="272425"/>
                </a:solidFill>
                <a:latin typeface="Arial" pitchFamily="34" charset="0"/>
                <a:ea typeface="Arial" pitchFamily="34" charset="-122"/>
                <a:cs typeface="Arial" pitchFamily="34" charset="-120"/>
              </a:rPr>
              <a:t>Exposición 27.600; condición cumplida (D-019)</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Paso 16 · La pregunta de la junta, respondida con cita</a:t>
            </a:r>
            <a:endParaRPr lang="en-US" sz="2400" dirty="0"/>
          </a:p>
        </p:txBody>
      </p:sp>
      <p:pic>
        <p:nvPicPr>
          <p:cNvPr id="3" name="Image 0" descr="Paso 16 · La pregunta de la junta, respondida con cita">    </p:cNvPr>
          <p:cNvPicPr>
            <a:picLocks noChangeAspect="1"/>
          </p:cNvPicPr>
          <p:nvPr/>
        </p:nvPicPr>
        <p:blipFill>
          <a:blip r:embed="rId1"/>
          <a:stretch>
            <a:fillRect/>
          </a:stretch>
        </p:blipFill>
        <p:spPr>
          <a:xfrm>
            <a:off x="457200" y="1671066"/>
            <a:ext cx="7388352" cy="4155948"/>
          </a:xfrm>
          <a:prstGeom prst="rect">
            <a:avLst/>
          </a:prstGeom>
        </p:spPr>
      </p:pic>
      <p:sp>
        <p:nvSpPr>
          <p:cNvPr id="4" name="Shape 1"/>
          <p:cNvSpPr/>
          <p:nvPr/>
        </p:nvSpPr>
        <p:spPr>
          <a:xfrm>
            <a:off x="457200" y="1671066"/>
            <a:ext cx="7388352" cy="4155948"/>
          </a:xfrm>
          <a:prstGeom prst="rect">
            <a:avLst/>
          </a:prstGeom>
          <a:solidFill>
            <a:srgbClr val="FFFFFF">
              <a:alpha val="0"/>
            </a:srgbClr>
          </a:solidFill>
          <a:ln w="9525">
            <a:solidFill>
              <a:srgbClr val="E2E2E6"/>
            </a:solidFill>
            <a:prstDash val="solid"/>
          </a:ln>
        </p:spPr>
      </p:sp>
      <p:sp>
        <p:nvSpPr>
          <p:cNvPr id="5" name="Shape 2"/>
          <p:cNvSpPr/>
          <p:nvPr/>
        </p:nvSpPr>
        <p:spPr>
          <a:xfrm>
            <a:off x="8119872" y="1280160"/>
            <a:ext cx="3611880" cy="4937760"/>
          </a:xfrm>
          <a:prstGeom prst="roundRect">
            <a:avLst>
              <a:gd name="adj" fmla="val 2532"/>
            </a:avLst>
          </a:prstGeom>
          <a:solidFill>
            <a:srgbClr val="F4F6F8"/>
          </a:solidFill>
          <a:ln w="12700">
            <a:solidFill>
              <a:srgbClr val="F4F6F8"/>
            </a:solidFill>
            <a:prstDash val="solid"/>
          </a:ln>
        </p:spPr>
      </p:sp>
      <p:sp>
        <p:nvSpPr>
          <p:cNvPr id="6" name="Text 3"/>
          <p:cNvSpPr txBox="1"/>
          <p:nvPr/>
        </p:nvSpPr>
        <p:spPr>
          <a:xfrm>
            <a:off x="8321040" y="1426464"/>
            <a:ext cx="3209544" cy="347472"/>
          </a:xfrm>
          <a:prstGeom prst="rect">
            <a:avLst/>
          </a:prstGeom>
          <a:noFill/>
          <a:ln/>
        </p:spPr>
        <p:txBody>
          <a:bodyPr wrap="square" lIns="0" tIns="0" rIns="0" bIns="0" rtlCol="0" anchor="t"/>
          <a:lstStyle/>
          <a:p>
            <a:pPr indent="0" marL="0">
              <a:buNone/>
            </a:pPr>
            <a:r>
              <a:rPr lang="en-US" sz="1600" b="1" dirty="0">
                <a:solidFill>
                  <a:srgbClr val="B5651D"/>
                </a:solidFill>
                <a:latin typeface="Arial" pitchFamily="34" charset="0"/>
                <a:ea typeface="Arial" pitchFamily="34" charset="-122"/>
                <a:cs typeface="Arial" pitchFamily="34" charset="-120"/>
              </a:rPr>
              <a:t>Para mirar</a:t>
            </a:r>
            <a:endParaRPr lang="en-US" sz="1600" dirty="0"/>
          </a:p>
        </p:txBody>
      </p:sp>
      <p:sp>
        <p:nvSpPr>
          <p:cNvPr id="7" name="Text 4"/>
          <p:cNvSpPr txBox="1"/>
          <p:nvPr/>
        </p:nvSpPr>
        <p:spPr>
          <a:xfrm>
            <a:off x="8321040" y="1847088"/>
            <a:ext cx="3209544" cy="4206240"/>
          </a:xfrm>
          <a:prstGeom prst="rect">
            <a:avLst/>
          </a:prstGeom>
          <a:noFill/>
          <a:ln/>
        </p:spPr>
        <p:txBody>
          <a:bodyPr wrap="square" lIns="0" tIns="0" rIns="0" bIns="0" rtlCol="0" anchor="t"/>
          <a:lstStyle/>
          <a:p>
            <a:pPr indent="0" marL="0">
              <a:spcAft>
                <a:spcPts val="800"/>
              </a:spcAft>
              <a:buNone/>
            </a:pPr>
            <a:r>
              <a:rPr lang="en-US" sz="17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700" dirty="0">
                <a:solidFill>
                  <a:srgbClr val="272425"/>
                </a:solidFill>
                <a:latin typeface="Arial" pitchFamily="34" charset="0"/>
                <a:ea typeface="Arial" pitchFamily="34" charset="-122"/>
                <a:cs typeface="Arial" pitchFamily="34" charset="-120"/>
              </a:rPr>
              <a:t>«¿Por qué no se aprobó la compra de licencias de diseño?»</a:t>
            </a:r>
            <a:endParaRPr lang="en-US" sz="1600" dirty="0"/>
          </a:p>
          <a:p>
            <a:pPr indent="0" marL="0">
              <a:spcAft>
                <a:spcPts val="800"/>
              </a:spcAft>
              <a:buNone/>
            </a:pPr>
            <a:r>
              <a:rPr lang="en-US" sz="17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700" dirty="0">
                <a:solidFill>
                  <a:srgbClr val="272425"/>
                </a:solidFill>
                <a:latin typeface="Arial" pitchFamily="34" charset="0"/>
                <a:ea typeface="Arial" pitchFamily="34" charset="-122"/>
                <a:cs typeface="Arial" pitchFamily="34" charset="-120"/>
              </a:rPr>
              <a:t>C-003 primero: rechazado por Sofía, con el motivo</a:t>
            </a:r>
            <a:endParaRPr lang="en-US" sz="1600" dirty="0"/>
          </a:p>
          <a:p>
            <a:pPr indent="0" marL="0">
              <a:spcAft>
                <a:spcPts val="800"/>
              </a:spcAft>
              <a:buNone/>
            </a:pPr>
            <a:r>
              <a:rPr lang="en-US" sz="17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700" dirty="0">
                <a:solidFill>
                  <a:srgbClr val="272425"/>
                </a:solidFill>
                <a:latin typeface="Arial" pitchFamily="34" charset="0"/>
                <a:ea typeface="Arial" pitchFamily="34" charset="-122"/>
                <a:cs typeface="Arial" pitchFamily="34" charset="-120"/>
              </a:rPr>
              <a:t>Cita: proyecto, commit (sin-git), archivo y línea</a:t>
            </a:r>
            <a:endParaRPr lang="en-US" sz="1600" dirty="0"/>
          </a:p>
          <a:p>
            <a:pPr indent="0" marL="0">
              <a:spcAft>
                <a:spcPts val="800"/>
              </a:spcAft>
              <a:buNone/>
            </a:pPr>
            <a:r>
              <a:rPr lang="en-US" sz="17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700" dirty="0">
                <a:solidFill>
                  <a:srgbClr val="272425"/>
                </a:solidFill>
                <a:latin typeface="Arial" pitchFamily="34" charset="0"/>
                <a:ea typeface="Arial" pitchFamily="34" charset="-122"/>
                <a:cs typeface="Arial" pitchFamily="34" charset="-120"/>
              </a:rPr>
              <a:t>Ficha de R-003 con sus relaciones y versiones del business case</a:t>
            </a:r>
            <a:endParaRPr lang="en-US" sz="1600" dirty="0"/>
          </a:p>
          <a:p>
            <a:pPr indent="0" marL="0">
              <a:spcAft>
                <a:spcPts val="800"/>
              </a:spcAft>
              <a:buNone/>
            </a:pPr>
            <a:r>
              <a:rPr lang="en-US" sz="1700" b="1" dirty="0">
                <a:solidFill>
                  <a:srgbClr val="00629B"/>
                </a:solidFill>
                <a:latin typeface="Arial" pitchFamily="34" charset="0"/>
                <a:ea typeface="Arial" pitchFamily="34" charset="-122"/>
                <a:cs typeface="Arial" pitchFamily="34" charset="-120"/>
              </a:rPr>
              <a:t>▪  </a:t>
            </a:r>
            <a:pPr indent="0" marL="0">
              <a:spcAft>
                <a:spcPts val="800"/>
              </a:spcAft>
              <a:buNone/>
            </a:pPr>
            <a:r>
              <a:rPr lang="en-US" sz="1700" dirty="0">
                <a:solidFill>
                  <a:srgbClr val="272425"/>
                </a:solidFill>
                <a:latin typeface="Arial" pitchFamily="34" charset="0"/>
                <a:ea typeface="Arial" pitchFamily="34" charset="-122"/>
                <a:cs typeface="Arial" pitchFamily="34" charset="-120"/>
              </a:rPr>
              <a:t>pm-kb solo lee: la fuente sigue siendo la carpeta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Ejercicio · Parte B: la revisión de tu registro</a:t>
            </a:r>
            <a:endParaRPr lang="en-US" sz="2400" dirty="0"/>
          </a:p>
        </p:txBody>
      </p:sp>
      <p:sp>
        <p:nvSpPr>
          <p:cNvPr id="3" name="Shape 1"/>
          <p:cNvSpPr/>
          <p:nvPr/>
        </p:nvSpPr>
        <p:spPr>
          <a:xfrm>
            <a:off x="457200" y="1280160"/>
            <a:ext cx="5500116" cy="2331720"/>
          </a:xfrm>
          <a:prstGeom prst="roundRect">
            <a:avLst>
              <a:gd name="adj" fmla="val 3922"/>
            </a:avLst>
          </a:prstGeom>
          <a:solidFill>
            <a:srgbClr val="FBF1E6"/>
          </a:solidFill>
          <a:ln w="12700">
            <a:solidFill>
              <a:srgbClr val="FBF1E6"/>
            </a:solidFill>
            <a:prstDash val="solid"/>
          </a:ln>
        </p:spPr>
      </p:sp>
      <p:sp>
        <p:nvSpPr>
          <p:cNvPr id="4" name="Text 2"/>
          <p:cNvSpPr txBox="1"/>
          <p:nvPr/>
        </p:nvSpPr>
        <p:spPr>
          <a:xfrm>
            <a:off x="658368" y="1389888"/>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1</a:t>
            </a:r>
            <a:endParaRPr lang="en-US" sz="2600" dirty="0"/>
          </a:p>
        </p:txBody>
      </p:sp>
      <p:sp>
        <p:nvSpPr>
          <p:cNvPr id="5" name="Text 3"/>
          <p:cNvSpPr txBox="1"/>
          <p:nvPr/>
        </p:nvSpPr>
        <p:spPr>
          <a:xfrm>
            <a:off x="658368" y="1847088"/>
            <a:ext cx="5097780" cy="1581912"/>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B1: revisiones, acciones, disparadores, condiciones y lo primero de hoy</a:t>
            </a:r>
            <a:endParaRPr lang="en-US" sz="1600" dirty="0"/>
          </a:p>
        </p:txBody>
      </p:sp>
      <p:sp>
        <p:nvSpPr>
          <p:cNvPr id="6" name="Shape 4"/>
          <p:cNvSpPr/>
          <p:nvPr/>
        </p:nvSpPr>
        <p:spPr>
          <a:xfrm>
            <a:off x="6231636" y="1280160"/>
            <a:ext cx="5500116" cy="2331720"/>
          </a:xfrm>
          <a:prstGeom prst="roundRect">
            <a:avLst>
              <a:gd name="adj" fmla="val 3922"/>
            </a:avLst>
          </a:prstGeom>
          <a:solidFill>
            <a:srgbClr val="FBF1E6"/>
          </a:solidFill>
          <a:ln w="12700">
            <a:solidFill>
              <a:srgbClr val="FBF1E6"/>
            </a:solidFill>
            <a:prstDash val="solid"/>
          </a:ln>
        </p:spPr>
      </p:sp>
      <p:sp>
        <p:nvSpPr>
          <p:cNvPr id="7" name="Text 5"/>
          <p:cNvSpPr txBox="1"/>
          <p:nvPr/>
        </p:nvSpPr>
        <p:spPr>
          <a:xfrm>
            <a:off x="6432804" y="1389888"/>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2</a:t>
            </a:r>
            <a:endParaRPr lang="en-US" sz="2600" dirty="0"/>
          </a:p>
        </p:txBody>
      </p:sp>
      <p:sp>
        <p:nvSpPr>
          <p:cNvPr id="8" name="Text 6"/>
          <p:cNvSpPr txBox="1"/>
          <p:nvPr/>
        </p:nvSpPr>
        <p:spPr>
          <a:xfrm>
            <a:off x="6432804" y="1847088"/>
            <a:ext cx="5097780" cy="1581912"/>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B2: consumo de la reserva frente al EMV residual</a:t>
            </a:r>
            <a:endParaRPr lang="en-US" sz="1600" dirty="0"/>
          </a:p>
        </p:txBody>
      </p:sp>
      <p:sp>
        <p:nvSpPr>
          <p:cNvPr id="9" name="Shape 7"/>
          <p:cNvSpPr/>
          <p:nvPr/>
        </p:nvSpPr>
        <p:spPr>
          <a:xfrm>
            <a:off x="457200" y="3886200"/>
            <a:ext cx="5500116" cy="2331720"/>
          </a:xfrm>
          <a:prstGeom prst="roundRect">
            <a:avLst>
              <a:gd name="adj" fmla="val 3922"/>
            </a:avLst>
          </a:prstGeom>
          <a:solidFill>
            <a:srgbClr val="FBF1E6"/>
          </a:solidFill>
          <a:ln w="12700">
            <a:solidFill>
              <a:srgbClr val="FBF1E6"/>
            </a:solidFill>
            <a:prstDash val="solid"/>
          </a:ln>
        </p:spPr>
      </p:sp>
      <p:sp>
        <p:nvSpPr>
          <p:cNvPr id="10" name="Text 8"/>
          <p:cNvSpPr txBox="1"/>
          <p:nvPr/>
        </p:nvSpPr>
        <p:spPr>
          <a:xfrm>
            <a:off x="658368" y="3995928"/>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3</a:t>
            </a:r>
            <a:endParaRPr lang="en-US" sz="2600" dirty="0"/>
          </a:p>
        </p:txBody>
      </p:sp>
      <p:sp>
        <p:nvSpPr>
          <p:cNvPr id="11" name="Text 9"/>
          <p:cNvSpPr txBox="1"/>
          <p:nvPr/>
        </p:nvSpPr>
        <p:spPr>
          <a:xfrm>
            <a:off x="658368" y="4453128"/>
            <a:ext cx="5097780" cy="1581912"/>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B3: tu regla de revisión en una línea</a:t>
            </a:r>
            <a:endParaRPr lang="en-US" sz="1600" dirty="0"/>
          </a:p>
        </p:txBody>
      </p:sp>
      <p:sp>
        <p:nvSpPr>
          <p:cNvPr id="12" name="Shape 10"/>
          <p:cNvSpPr/>
          <p:nvPr/>
        </p:nvSpPr>
        <p:spPr>
          <a:xfrm>
            <a:off x="6231636" y="3886200"/>
            <a:ext cx="5500116" cy="2331720"/>
          </a:xfrm>
          <a:prstGeom prst="roundRect">
            <a:avLst>
              <a:gd name="adj" fmla="val 3922"/>
            </a:avLst>
          </a:prstGeom>
          <a:solidFill>
            <a:srgbClr val="FBF1E6"/>
          </a:solidFill>
          <a:ln w="12700">
            <a:solidFill>
              <a:srgbClr val="FBF1E6"/>
            </a:solidFill>
            <a:prstDash val="solid"/>
          </a:ln>
        </p:spPr>
      </p:sp>
      <p:sp>
        <p:nvSpPr>
          <p:cNvPr id="13" name="Text 11"/>
          <p:cNvSpPr txBox="1"/>
          <p:nvPr/>
        </p:nvSpPr>
        <p:spPr>
          <a:xfrm>
            <a:off x="6432804" y="3995928"/>
            <a:ext cx="731520" cy="420624"/>
          </a:xfrm>
          <a:prstGeom prst="rect">
            <a:avLst/>
          </a:prstGeom>
          <a:noFill/>
          <a:ln/>
        </p:spPr>
        <p:txBody>
          <a:bodyPr wrap="square" lIns="0" tIns="0" rIns="0" bIns="0" rtlCol="0" anchor="t"/>
          <a:lstStyle/>
          <a:p>
            <a:pPr indent="0" marL="0">
              <a:buNone/>
            </a:pPr>
            <a:r>
              <a:rPr lang="en-US" sz="2600" b="1" dirty="0">
                <a:solidFill>
                  <a:srgbClr val="B5651D"/>
                </a:solidFill>
                <a:latin typeface="Arial" pitchFamily="34" charset="0"/>
                <a:ea typeface="Arial" pitchFamily="34" charset="-122"/>
                <a:cs typeface="Arial" pitchFamily="34" charset="-120"/>
              </a:rPr>
              <a:t>4</a:t>
            </a:r>
            <a:endParaRPr lang="en-US" sz="2600" dirty="0"/>
          </a:p>
        </p:txBody>
      </p:sp>
      <p:sp>
        <p:nvSpPr>
          <p:cNvPr id="14" name="Text 12"/>
          <p:cNvSpPr txBox="1"/>
          <p:nvPr/>
        </p:nvSpPr>
        <p:spPr>
          <a:xfrm>
            <a:off x="6432804" y="4453128"/>
            <a:ext cx="5097780" cy="1581912"/>
          </a:xfrm>
          <a:prstGeom prst="rect">
            <a:avLst/>
          </a:prstGeom>
          <a:noFill/>
          <a:ln/>
        </p:spPr>
        <p:txBody>
          <a:bodyPr wrap="square" lIns="0" tIns="0" rIns="0" bIns="0" rtlCol="0" anchor="t"/>
          <a:lstStyle/>
          <a:p>
            <a:pPr indent="0" marL="0">
              <a:buNone/>
            </a:pPr>
            <a:r>
              <a:rPr lang="en-US" sz="2000" dirty="0">
                <a:solidFill>
                  <a:srgbClr val="272425"/>
                </a:solidFill>
                <a:latin typeface="Arial" pitchFamily="34" charset="0"/>
                <a:ea typeface="Arial" pitchFamily="34" charset="-122"/>
                <a:cs typeface="Arial" pitchFamily="34" charset="-120"/>
              </a:rPr>
              <a:t>10 minutos; autoevaluación al final de la hoja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2"/>
          <p:cNvSpPr/>
          <p:nvPr>
            <p:ph idx="102" type="title" hasCustomPrompt="1"/>
          </p:nvPr>
        </p:nvSpPr>
        <p:spPr>
          <a:xfrm>
            <a:off x="548640" y="1143000"/>
            <a:ext cx="11091672" cy="91440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Mensajes clave de la clase 2</a:t>
            </a:r>
            <a:endParaRPr lang="en-US" sz="3600" dirty="0"/>
          </a:p>
        </p:txBody>
      </p:sp>
      <p:sp>
        <p:nvSpPr>
          <p:cNvPr id="3" name="Text 1"/>
          <p:cNvSpPr txBox="1"/>
          <p:nvPr/>
        </p:nvSpPr>
        <p:spPr>
          <a:xfrm>
            <a:off x="548640" y="2194560"/>
            <a:ext cx="11091672" cy="4023360"/>
          </a:xfrm>
          <a:prstGeom prst="rect">
            <a:avLst/>
          </a:prstGeom>
          <a:noFill/>
          <a:ln/>
        </p:spPr>
        <p:txBody>
          <a:bodyPr wrap="square" lIns="0" tIns="0" rIns="0" bIns="0" rtlCol="0" anchor="t"/>
          <a:lstStyle/>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Un registro vale lo que su última revisión: REG-09 avisa cuando vence</a:t>
            </a:r>
            <a:endParaRPr lang="en-US" sz="1600" dirty="0"/>
          </a:p>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Con el plan escrito, el disparador es una decisión de minutos; el radar la pone primera</a:t>
            </a:r>
            <a:endParaRPr lang="en-US" sz="1600" dirty="0"/>
          </a:p>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La reserva es un presupuesto vivo: propósito (CAM-02) y alerta (CAM-03)</a:t>
            </a:r>
            <a:endParaRPr lang="en-US" sz="1600" dirty="0"/>
          </a:p>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Lo que no cierra por números lo decide la junta, con expediente, matriz y motivo; EST-12 y DEC-06 lo siguen</a:t>
            </a:r>
            <a:endParaRPr lang="en-US" sz="1600" dirty="0"/>
          </a:p>
          <a:p>
            <a:pPr indent="0" marL="0">
              <a:spcAft>
                <a:spcPts val="1200"/>
              </a:spcAft>
              <a:buNone/>
            </a:pPr>
            <a:r>
              <a:rPr lang="en-US" sz="2200" b="1" dirty="0">
                <a:solidFill>
                  <a:srgbClr val="9FD0F0"/>
                </a:solidFill>
                <a:latin typeface="Arial" pitchFamily="34" charset="0"/>
                <a:ea typeface="Arial" pitchFamily="34" charset="-122"/>
                <a:cs typeface="Arial" pitchFamily="34" charset="-120"/>
              </a:rPr>
              <a:t>✓  </a:t>
            </a:r>
            <a:pPr indent="0" marL="0">
              <a:spcAft>
                <a:spcPts val="1200"/>
              </a:spcAft>
              <a:buNone/>
            </a:pPr>
            <a:r>
              <a:rPr lang="en-US" sz="2200" dirty="0">
                <a:solidFill>
                  <a:srgbClr val="FFFFFF"/>
                </a:solidFill>
                <a:latin typeface="Arial" pitchFamily="34" charset="0"/>
                <a:ea typeface="Arial" pitchFamily="34" charset="-122"/>
                <a:cs typeface="Arial" pitchFamily="34" charset="-120"/>
              </a:rPr>
              <a:t>Siguiente: E2E-2, el cambio y su presupuesto</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6E4F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Glosario (1/3)</a:t>
            </a:r>
            <a:endParaRPr lang="en-US" sz="24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965960"/>
                <a:gridCol w="35204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Término</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Definición</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Amenaza y oportunidad</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Riesgo con efecto negativo (amenaza) o positivo (oportunidad) sobre un objetivo; las respuestas a una oportunidad buscan aumentar su probabilidad o su impacto (explotar, mejorar).</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Apetito y tolerancia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Apetito (risk appetite): cuánto riesgo acepta la organización en cada tipo de objetivo. Tolerancia: margen fijado por la junta; superarlo es una excepción que decide un nivel superior.</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Decisión vigente</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Decisión que ninguna posterior de igual o mayor nivel reemplazó; decision.py vigentes muestra la cadena de reemplazos y la sanidad avisa DEC-06 cuando vence su fecha de revisión.</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bl>
          </a:graphicData>
        </a:graphic>
      </p:graphicFrame>
      <p:graphicFrame>
        <p:nvGraphicFramePr>
          <p:cNvPr id="89"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965960"/>
                <a:gridCol w="35204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Término</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Definición</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Disparador y plan de contingencia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Disparador (trigger): señal observable que activa la contingencia. Plan de contingencia: respuesta preparada que se ejecuta solo si se alcanza el disparador, con acciones, monto, fuente (la reserva de riesgo) y quién la autoriza, escritos antes de necesitarla.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Enfoque de gestión de riesgos (risk management approach)</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Documento que fija procedimiento, escalas, apetito, tolerancia, presupuesto, roles y cadencia de revisión.</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Expediente de decisión</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Contexto que aplica a una decisión, reunido y citado por decision.py expediente: quién decide, tolerancias, saldo de la reserva, apetito, registros relacionados, RACI y cifras de otros scripts. Es evidencia, no instrucciones.</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Fecha de revisión</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Columna fecha_revision de riesgos.csv: cuándo se vuelve a mirar cada riesgo. Si pasa y el riesgo sigue abierto, la sanidad avisa con REG-09.</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Glosario (2/3)</a:t>
            </a:r>
            <a:endParaRPr lang="en-US" sz="24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965960"/>
                <a:gridCol w="35204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Término</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Definición</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Hoja de riesgo</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Ficha de un riesgo sobre la línea, con evaluación, respuesta y justificación para que decida la junta.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Issue</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Algo que ya ocurrió y hay que gestionar; un riesgo materializado pasa a ocurrido y se abre un issue.</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Junta del proyecto (project board)</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Ejecutiva, usuaria sénior y proveedor sénior; decide tolerancias, presupuestos y excepciones.</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Límite de etapa (stage boundary)</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Cierre de una etapa: auditoría, lecciones, plan de la siguiente y decisión de la junta.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Matriz multicriterio y sensibilidad</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Comparación de opciones con criterios y pesos explícitos fijados antes de puntuar (suma ponderada), eliminatorios y opciones dominadas; la sensibilidad dice con qué peso pasaría otra opción a primera. La recomendada es una propuesta: decide una persona.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bl>
          </a:graphicData>
        </a:graphic>
      </p:graphicFrame>
      <p:graphicFrame>
        <p:nvGraphicFramePr>
          <p:cNvPr id="91"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965960"/>
                <a:gridCol w="35204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Término</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Definición</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Matriz RACI</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Por elemento (paquete, requisito, decisión): un solo A que rinde cuentas, quién lo hace (R), a quién se consulta antes (C) y a quién se informa después (I). Refleja la autoridad de PRINCE2; no la reemplaza.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Presupuesto de riesgo (risk budget)</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Monto que fija la ejecutiva para respuestas y contingencias de riesgos identificados: respuestas + EMV residual.</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Probabilidad × impacto (P×I)</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Puntuación de 1 a 25 que ubica un riesgo en el mapa de calor; en el caso, alto ≥ 15, medio 6–12, bajo ≤ 5.</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Propietario del riesgo (risk owner)</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Persona que responde por el riesgo y acepta su respuesta.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Propuesta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Cambio a un registro que sugiere un agente (registro.py proponer) y que solo se aplica cuando lo aprueba una persona distinta de quien lo propuso.</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bl>
          </a:graphicData>
        </a:graphic>
      </p:graphicFrame>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Glosario (3/3)</a:t>
            </a:r>
            <a:endParaRPr lang="en-US" sz="24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965960"/>
                <a:gridCol w="35204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Término</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Definición</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Registro de riesgos (risk register)</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Lista de riesgos con causa, evento, efecto, evaluación, respuesta, propietario y estado; en pm-method, riesgos.csv.</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Reserva de gestión (management reserve)</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Fondo para lo no previsto, fuera del presupuesto de riesgo; recibe la provisión para riesgos no identificados y solo la libera la junta.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Respuesta y riesgo residual</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Respuesta: acción elegida frente a un riesgo (evitar, reducir, transferir, compartir, preparar una contingencia, aceptar o escalar; explotar o mejorar para una oportunidad). Riesgo residual: probabilidad e impacto esperados después de aplicarla.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Resumen de inicio de sesión y radar</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Lo que pm-method agrega al abrir cada sesión: el estado derivado de los registros (estado.py contexto) y una línea de radar con lo que hay que decidir, escalar, desbloquear y vigilar. Manda sobre la memoria.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bl>
          </a:graphicData>
        </a:graphic>
      </p:graphicFrame>
      <p:graphicFrame>
        <p:nvGraphicFramePr>
          <p:cNvPr id="93"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965960"/>
                <a:gridCol w="35204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Término</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Definición</a:t>
                      </a:r>
                      <a:endParaRPr lang="en-US" sz="1200" dirty="0">
                        <a:latin typeface="Arial" charset="0"/>
                        <a:ea typeface="Arial" charset="0"/>
                        <a:cs typeface="Arial" charset="0"/>
                      </a:endParaRPr>
                    </a:p>
                  </a:txBody>
                  <a:tcPr marL="54864" marR="54864" marT="54864" marB="54864" anchor="ctr">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Riesgo secundario (secondary risk)</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Riesgo nuevo que crea una respuesta; su EMV se descuenta del valor neto de la opción. En el caso, la penalidad del SLA de R-003 no cubre el atraso.</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Sanidad</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Control automático de pm-method que, en cada corrida, informa hallazgos ERROR, AVISO o INFO con su código.</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Valor monetario esperado (EMV) y exposición</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EMV: impacto en dinero por la probabilidad convertida a porcentaje (P1 10 % … P5 90 %). Exposición: suma del EMV de las amenazas abiertas, que se compara con la tolerancia.</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4F6F8"/>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Valor neto de una opción</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EMV inherente − EMV residual − EMV del riesgo secundario − costo; la de mayor valor neto bajo la línea es la recomendada, y decide el propietario.</a:t>
                      </a:r>
                      <a:endParaRPr lang="en-US" sz="1200" dirty="0">
                        <a:latin typeface="Arial" charset="0"/>
                        <a:ea typeface="Arial" charset="0"/>
                        <a:cs typeface="Arial" charset="0"/>
                      </a:endParaRPr>
                    </a:p>
                  </a:txBody>
                  <a:tcPr marL="54864" marR="54864" marT="54864" marB="54864" anchor="t">
                    <a:lnL w="9525" cap="flat" cmpd="sng" algn="ctr">
                      <a:solidFill>
                        <a:srgbClr val="E2E2E6"/>
                      </a:solidFill>
                      <a:prstDash val="solid"/>
                      <a:round/>
                      <a:headEnd type="none" w="med" len="med"/>
                      <a:tailEnd type="none" w="med" len="med"/>
                    </a:lnL>
                    <a:lnR w="9525" cap="flat" cmpd="sng" algn="ctr">
                      <a:solidFill>
                        <a:srgbClr val="E2E2E6"/>
                      </a:solidFill>
                      <a:prstDash val="solid"/>
                      <a:round/>
                      <a:headEnd type="none" w="med" len="med"/>
                      <a:tailEnd type="none" w="med" len="med"/>
                    </a:lnR>
                    <a:lnT w="9525" cap="flat" cmpd="sng" algn="ctr">
                      <a:solidFill>
                        <a:srgbClr val="E2E2E6"/>
                      </a:solidFill>
                      <a:prstDash val="solid"/>
                      <a:round/>
                      <a:headEnd type="none" w="med" len="med"/>
                      <a:tailEnd type="none" w="med" len="med"/>
                    </a:lnT>
                    <a:lnB w="9525" cap="flat" cmpd="sng" algn="ctr">
                      <a:solidFill>
                        <a:srgbClr val="E2E2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46</a:t>
            </a:fld>
            <a:endParaRPr lang="en-US"/>
          </a:p>
        </p:txBody>
      </p:sp>
    </p:spTree>
  </p:cSld>
  <p:clrMapOvr>
    <a:masterClrMapping/>
  </p:clrMapOvr>
</p:sld>
</file>

<file path=ppt/theme/theme1.xml><?xml version="1.0" encoding="utf-8"?>
<a:theme xmlns:a="http://schemas.openxmlformats.org/drawingml/2006/main" name="Webinar pm-method">
  <a:themeElements>
    <a:clrScheme name="Webinar pm-method">
      <a:dk1>
        <a:srgbClr val="272425"/>
      </a:dk1>
      <a:lt1>
        <a:srgbClr val="FFFFFF"/>
      </a:lt1>
      <a:dk2>
        <a:srgbClr val="002855"/>
      </a:dk2>
      <a:lt2>
        <a:srgbClr val="F4F6F8"/>
      </a:lt2>
      <a:accent1>
        <a:srgbClr val="00629B"/>
      </a:accent1>
      <a:accent2>
        <a:srgbClr val="B5651D"/>
      </a:accent2>
      <a:accent3>
        <a:srgbClr val="002855"/>
      </a:accent3>
      <a:accent4>
        <a:srgbClr val="696969"/>
      </a:accent4>
      <a:accent5>
        <a:srgbClr val="272425"/>
      </a:accent5>
      <a:accent6>
        <a:srgbClr val="00629B"/>
      </a:accent6>
      <a:hlink>
        <a:srgbClr val="00629B"/>
      </a:hlink>
      <a:folHlink>
        <a:srgbClr val="002855"/>
      </a:folHlink>
    </a:clrScheme>
    <a:fontScheme name="Webinar pm-metho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Webinar E2E-1 · Ciclo completo de gestión de riesgos</dc:title>
  <dc:subject>pm-method 2.6.0</dc:subject>
  <dc:creator>pm-method</dc:creator>
  <cp:lastModifiedBy>pm-method</cp:lastModifiedBy>
  <cp:revision>1</cp:revision>
  <dcterms:created xsi:type="dcterms:W3CDTF">2026-10-29T03:20:28Z</dcterms:created>
  <dcterms:modified xsi:type="dcterms:W3CDTF">2026-10-29T03:20:28Z</dcterms:modified>
</cp:coreProperties>
</file>