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notesMasterIdLst>
    <p:notesMasterId r:id="rId4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ortada" id="{d43bdf4a-04da-08bf-8ebd-9fde6a2e96a0}">
          <p14:sldIdLst>
            <p14:sldId id="256"/>
          </p14:sldIdLst>
        </p14:section>
        <p14:section name="Clase 1 · Del taller al plan de respuesta" id="{af62a993-0190-260c-1a75-a4e8d7c47cb6}">
          <p14:sldIdLst>
            <p14:sldId id="257"/>
            <p14:sldId id="258"/>
            <p14:sldId id="259"/>
            <p14:sldId id="260"/>
            <p14:sldId id="261"/>
            <p14:sldId id="262"/>
            <p14:sldId id="263"/>
            <p14:sldId id="264"/>
            <p14:sldId id="265"/>
            <p14:sldId id="266"/>
            <p14:sldId id="267"/>
            <p14:sldId id="268"/>
            <p14:sldId id="269"/>
            <p14:sldId id="270"/>
            <p14:sldId id="271"/>
            <p14:sldId id="272"/>
            <p14:sldId id="273"/>
            <p14:sldId id="274"/>
            <p14:sldId id="275"/>
          </p14:sldIdLst>
        </p14:section>
        <p14:section name="Clase 2 · El control continuo" id="{cf73a007-e991-dfb2-c1cd-87439d9350ea}">
          <p14:sldIdLst>
            <p14:sldId id="276"/>
            <p14:sldId id="277"/>
            <p14:sldId id="278"/>
            <p14:sldId id="279"/>
            <p14:sldId id="280"/>
            <p14:sldId id="281"/>
            <p14:sldId id="282"/>
            <p14:sldId id="283"/>
            <p14:sldId id="284"/>
            <p14:sldId id="285"/>
            <p14:sldId id="286"/>
            <p14:sldId id="287"/>
            <p14:sldId id="288"/>
            <p14:sldId id="289"/>
            <p14:sldId id="290"/>
            <p14:sldId id="291"/>
            <p14:sldId id="292"/>
            <p14:sldId id="293"/>
            <p14:sldId id="294"/>
            <p14:sldId id="295"/>
          </p14:sldIdLst>
        </p14:section>
        <p14:section name="Glosario" id="{d5bf904c-7eaa-ecc3-62a2-d16dc611c974}">
          <p14:sldIdLst>
            <p14:sldId id="296"/>
            <p14:sldId id="29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notesMaster" Target="notesMasters/notesMaster1.xml"/><Relationship Id="rId45" Type="http://schemas.openxmlformats.org/officeDocument/2006/relationships/presProps" Target="presProps.xml"/><Relationship Id="rId46" Type="http://schemas.openxmlformats.org/officeDocument/2006/relationships/viewProps" Target="viewProps.xml"/><Relationship Id="rId47" Type="http://schemas.openxmlformats.org/officeDocument/2006/relationships/theme" Target="theme/theme1.xml"/><Relationship Id="rId4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Caso E2E-1: Ciclo completo de gestión de riesgos. 2 clases de 90 minutos. Presentá el problema que resuelve el caso y qué se van a llevar los asistentes.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Clase 1 (90 minutos): Del taller al plan de respuesta. Objetivos: Explicar qué decide la junta antes del taller: apetito, tolerancia, reserva y cadencia; Identificar riesgos con cita de origen, con y sin BMAD; Justificar respuestas por costo frente a reducción de EMV y reconocer el secundario; Calcular un presupuesto de riesgo con fórmula.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Contar el resultado antes del método. No mostrar todavía el mapa: la imagen llega con el paso 6. Preguntar cuántos tienen un registro actualizado en las últimas dos semanas.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 esperan pocas manos. El registro nace en el taller y se congela: es el problema que resuelve la clase 2. Hoy construimos lo que la hace posible.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tabla es el mapa de las dos clases. Hoy cubrimos las dos primeras filas y preparamos la reserva; la clase 2 recorre el resto. Cada fila tiene su código: el control no depende de que alguien se acuerde.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Pasos 1 a 3. La ejecutiva decide las reglas antes de que aparezca el primer riesgo.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 la versión mínima de la plantilla enfoque-riesgo. Lo que importa es que quede aprobado por la ejecutiva con fecha. Todo lo que vigila la sanidad después sale de estas cinco líneas.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vivo. Mostrar que el sistema deja la propuesta en revisión (v0.1) y que solo con la respuesta de la ejecutiva se congela la v1.0 (D-001, D-002). Si pregunta quién aprueba: Laura Méndez, ejecutiva, hoy 2026-10-28.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Pasos 4, 15 y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vivo el prompt de descubrimiento. Señalar la cobertura: bmad 42 candidatos de 3 fuentes y transcripciones 6 candidatos. Leer una cita con hablante y marca de tiempo. El taller se muestra con la evidencia.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Paso 15 con evidencia. Cualquier proyecto tiene fuentes: lo que cambia es de dónde se leen. Ninguna fuente da riesgos listos; da candidatos que el taller formula y evalúa.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Exposición de amenazas: 53.600, bajo la tolerancia de 60.000. Pero la sanidad ya avisa REG-06 para R-001 y R-003: la regla de ningún alto sin respuesta se incumple. R-006 es una oportunidad y no suma a la exposición.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Pasos 6 y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vivo. Respuestas de los propietarios: Diego acepta R-001, R-003, R-005 y el secundario; Sofía R-002 y R-006; Laura el residual de R-004. Mostrar la tabla de justificación: todas cumplen costo menor que la reducción de EMV.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Izquierda: 5 amenazas del taller, 2 en zona alta. Derecha: 6 amenazas residuales, porque aparece el secundario R-007, y ninguna en zona alta. El borde rojo marca P×I mayor o igual a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Cada par de barras es una amenaza. R-004 no baja porque se acepta. R-007 no existía: lo crea la transferencia de R-003. Toda respuesta puede crear un riesgo nuevo.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presupuesto sale de una fórmula escrita en el enfoque, no de un porcentaje. Desde este momento cada uso de la reserva pasa por cambios.csv con su riesgo citado, y la sanidad lo suma sola.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Respuesta esperada: la penalidad tiene un tope de USD 2.000 por mes y no cubre el atraso. El riesgo no salió del proyecto; por eso aparece R-007 como secundario.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hoja está en docs/webinar/E2E-1/ejercicio.md. Pedir órdenes de magnitud, no precisión. Mostrar la solución de referencia al terminar.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Anticipo de la clase 2: el registro quedó listo el 27/11. Vamos a ver qué pasa con él cuando el proyecto se pone difícil.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Clase 2 (90 minutos): El control continuo. Objetivos: Reconocer un registro que se dejó de revisar; Gestionar un riesgo que ocurre: issue y contingencia; Leer el consumo de la reserva y decidir al cruzar el 80 %; Seguir las condiciones de la junta hasta cumplirlas.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Repasar en un minuto el presupuesto de 47.800 de la clase 1. Después contar el 12/02: el control avisó un mes entero y las urgencias lo taparon. Es lo que pasa en casi todos los proyectos.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Cada barra es un riesgo abierto: días entre su revisión prevista y el 12/02. Rojo, más de dos sprints; naranja, más de uno. El estado va también en texto. Datos de REG-09 en la sanidad del 12/02.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revisión no solo actualiza: deja escrito cuándo se vuelve a mirar cada riesgo (fecha_revision). Esa fecha es la que después delata que nadie volvió. Si hay tiempo, abrir el tablero HTML del 15/12 (img/g1-tablero.png en la guía): la vista por actor muestra cada riesgo con su revisión del 29/12.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Pasos 9 a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vivo. Si pregunta por las licencias tras el aviso: Sofía Ramírez, autoridad de cambio, las rechaza como cargo a la reserva. Mostrar CAM-02 y el consumo de 44 % a 37 %.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Ninguna revisión por monto frenaría las licencias: están dentro de los USD 5.000 del gestor. Lo que falla es el propósito. Lo ocurrido ya no es riesgo: es un issue.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hoja de riesgo deja escrito por qué se aprueba algo que no cierra por números. La condición de la junta queda vigilada por la sanidad hasta que la ejecutiva la da por cumplida. Señalar los REG-09: la revisión del 29/12 no se hizo, y el equipo prioriza la junta.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Paso 12. Qué ve el gestor al abrir la sesión, qué encuentra la sanidad y qué cuesta haber postergado la revisión.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hook de inicio arma este resumen desde estado.json y los registros (estado.py contexto), en cada inicio, reanudación o compactación: los seis riesgos sin revisar aparecen antes de correr la sanidad. Si la memoria de la sesión dice otra cosa, mandan los registros. Las cifras son las del 12/02 del caso.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vivo. Primero la sanidad: 8 avisos, entre ellos EST-12, REG-07 para A-004 y seis REG-09 (el texto muestra cinco y la lista completa sale con --json). CAM-03 sigue en 58 %.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Cinco hallazgos, y todos tenían un aviso. El más caro, el disparador de R-003, recién aparece cuando alguien abre el riesgo: por eso la revisión empieza por los REG-09 y no se saltea.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Azul: exposición actual. Naranja: hasta dónde baja si las respuestas funcionan. La distancia entre las dos es trabajo de respuesta pendiente. En febrero la azul llega a 56.400 contra 60.000.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Paso 13. La contingencia que dispara la revisión postergada consume la reserva.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vivo. La decisión de Laura: aprobado contra la reserva; mantiene el presupuesto en 47.800 y concentra la autoridad hasta el límite de etapa. Mostrar el AVISO de CAM-03 al 81 % y D-015 con sus opciones.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Cada barra es una corrida de la sanidad. Verde hasta el 58 %; naranja al 81 %. Quedan 9.000 frente a un EMV residual de 34.800: la junta decide con margen, no cuando ya no queda nada. Por encima del 100 % sería ERROR y bloquearía las puertas.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hay una única respuesta. Laura mantuvo el tope y concentró la autoridad; las alternativas registradas eran ampliar con reserva de gestión o pedir un plan de excepción. Lo importante es que la decisión quede escrita con sus opciones.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Paso 14 con evidencia. Exposición 29.400, cero altos abiertos, cero acciones y revisiones vencidas, condición cumplida (D-016). Solo la reserva queda en atención, y se recalcula con el plan de la etapa 3. Lecciones L-001 y L-002.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 el asistente no tiene reserva de riesgo formal, que anote cuánto se gastó en respuestas a riesgos y de qué partida salió. Mostrar la solución de referencia al terminar.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Puente a E2E-2: las licencias no eran un riesgo, eran un cambio. En el próximo caso vemos quién decide cada cambio, contra qué presupuesto se cobra y qué pasa cuando excede la autoridad delegada.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Glosario del caso E2E-1: 24 términos, página 1 de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Glosario del caso E2E-1: 24 términos, página 2 de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ORTADA">
    <p:bg>
      <p:bgPr>
        <a:solidFill>
          <a:srgbClr val="002855"/>
        </a:solidFill>
      </p:bgPr>
    </p:bg>
    <p:spTree>
      <p:nvGrpSpPr>
        <p:cNvPr id="1" name=""/>
        <p:cNvGrpSpPr/>
        <p:nvPr/>
      </p:nvGrpSpPr>
      <p:grpSpPr>
        <a:xfrm>
          <a:off x="0" y="0"/>
          <a:ext cx="0" cy="0"/>
          <a:chOff x="0" y="0"/>
          <a:chExt cx="0" cy="0"/>
        </a:xfrm>
      </p:grpSpPr>
      <p:sp>
        <p:nvSpPr>
          <p:cNvPr id="2" name="Shape 0"/>
          <p:cNvSpPr/>
          <p:nvPr/>
        </p:nvSpPr>
        <p:spPr>
          <a:xfrm>
            <a:off x="548640" y="457200"/>
            <a:ext cx="2011680" cy="804672"/>
          </a:xfrm>
          <a:prstGeom prst="rect">
            <a:avLst/>
          </a:prstGeom>
          <a:solidFill>
            <a:srgbClr val="002855">
              <a:alpha val="0"/>
            </a:srgbClr>
          </a:solidFill>
          <a:ln w="12700">
            <a:solidFill>
              <a:srgbClr val="7F9BB8"/>
            </a:solidFill>
            <a:prstDash val="dash"/>
          </a:ln>
        </p:spPr>
      </p:sp>
      <p:sp>
        <p:nvSpPr>
          <p:cNvPr id="3" name="Text 1"/>
          <p:cNvSpPr/>
          <p:nvPr/>
        </p:nvSpPr>
        <p:spPr>
          <a:xfrm>
            <a:off x="548640" y="457200"/>
            <a:ext cx="2011680" cy="804672"/>
          </a:xfrm>
          <a:prstGeom prst="rect">
            <a:avLst/>
          </a:prstGeom>
          <a:noFill/>
          <a:ln/>
        </p:spPr>
        <p:txBody>
          <a:bodyPr wrap="square" lIns="0" tIns="0" rIns="0" bIns="0" rtlCol="0" anchor="ctr"/>
          <a:lstStyle/>
          <a:p>
            <a:pPr algn="ctr" indent="0" marL="0">
              <a:buNone/>
            </a:pPr>
            <a:r>
              <a:rPr lang="en-US" sz="1200" dirty="0">
                <a:solidFill>
                  <a:srgbClr val="7F9BB8"/>
                </a:solidFill>
              </a:rPr>
              <a:t>Logo IEEE</a:t>
            </a:r>
            <a:endParaRPr lang="en-US" sz="1200" dirty="0"/>
          </a:p>
        </p:txBody>
      </p:sp>
      <p:sp>
        <p:nvSpPr>
          <p:cNvPr id="4" name="Text 2"/>
          <p:cNvSpPr/>
          <p:nvPr/>
        </p:nvSpPr>
        <p:spPr>
          <a:xfrm>
            <a:off x="548640" y="6355080"/>
            <a:ext cx="8229600" cy="274320"/>
          </a:xfrm>
          <a:prstGeom prst="rect">
            <a:avLst/>
          </a:prstGeom>
          <a:noFill/>
          <a:ln/>
        </p:spPr>
        <p:txBody>
          <a:bodyPr wrap="square" lIns="0" tIns="0" rIns="0" bIns="0" rtlCol="0" anchor="ctr"/>
          <a:lstStyle/>
          <a:p>
            <a:pPr indent="0" marL="0">
              <a:buNone/>
            </a:pPr>
            <a:r>
              <a:rPr lang="en-US" sz="1000" dirty="0">
                <a:solidFill>
                  <a:srgbClr val="D6E4F0"/>
                </a:solidFill>
              </a:rPr>
              <a:t>pm-method 2.3.0 · Webinar E2E-1</a:t>
            </a:r>
            <a:endParaRPr lang="en-US" sz="1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IDO_G">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0268712" y="365760"/>
            <a:ext cx="1463040" cy="713232"/>
          </a:xfrm>
          <a:prstGeom prst="rect">
            <a:avLst/>
          </a:prstGeom>
          <a:solidFill>
            <a:srgbClr val="FFFFFF">
              <a:alpha val="0"/>
            </a:srgbClr>
          </a:solidFill>
          <a:ln w="12700">
            <a:solidFill>
              <a:srgbClr val="A9A9A9"/>
            </a:solidFill>
            <a:prstDash val="dash"/>
          </a:ln>
        </p:spPr>
      </p:sp>
      <p:sp>
        <p:nvSpPr>
          <p:cNvPr id="3" name="Text 1"/>
          <p:cNvSpPr/>
          <p:nvPr/>
        </p:nvSpPr>
        <p:spPr>
          <a:xfrm>
            <a:off x="10268712" y="365760"/>
            <a:ext cx="1463040" cy="713232"/>
          </a:xfrm>
          <a:prstGeom prst="rect">
            <a:avLst/>
          </a:prstGeom>
          <a:noFill/>
          <a:ln/>
        </p:spPr>
        <p:txBody>
          <a:bodyPr wrap="square" lIns="0" tIns="0" rIns="0" bIns="0" rtlCol="0" anchor="ctr"/>
          <a:lstStyle/>
          <a:p>
            <a:pPr algn="ctr" indent="0" marL="0">
              <a:buNone/>
            </a:pPr>
            <a:r>
              <a:rPr lang="en-US" sz="1000" dirty="0">
                <a:solidFill>
                  <a:srgbClr val="A9A9A9"/>
                </a:solidFill>
              </a:rPr>
              <a:t>Logo IEEE</a:t>
            </a:r>
            <a:endParaRPr lang="en-US" sz="1000" dirty="0"/>
          </a:p>
        </p:txBody>
      </p:sp>
      <p:sp>
        <p:nvSpPr>
          <p:cNvPr id="4" name="Shape 2"/>
          <p:cNvSpPr/>
          <p:nvPr/>
        </p:nvSpPr>
        <p:spPr>
          <a:xfrm>
            <a:off x="457200" y="365760"/>
            <a:ext cx="9628632" cy="713232"/>
          </a:xfrm>
          <a:prstGeom prst="rect">
            <a:avLst>
              <a:gd name="adj" fmla="val 12821"/>
            </a:avLst>
          </a:prstGeom>
          <a:solidFill>
            <a:srgbClr val="00629B"/>
          </a:solidFill>
          <a:ln/>
        </p:spPr>
      </p:sp>
      <p:sp>
        <p:nvSpPr>
          <p:cNvPr id="5" name="Text 3"/>
          <p:cNvSpPr/>
          <p:nvPr>
            <p:ph idx="103" type="title" hasCustomPrompt="1"/>
          </p:nvPr>
        </p:nvSpPr>
        <p:spPr>
          <a:xfrm>
            <a:off x="658368" y="365760"/>
            <a:ext cx="9244584" cy="713232"/>
          </a:xfrm>
          <a:prstGeom prst="rect">
            <a:avLst/>
          </a:prstGeom>
          <a:noFill/>
          <a:ln/>
        </p:spPr>
        <p:txBody>
          <a:bodyPr wrap="square" rtlCol="0"/>
          <a:lstStyle>
            <a:lvl1pPr algn="l" indent="0" marL="0">
              <a:buNone/>
              <a:defRPr lang="en-US" sz="2400" b="1" dirty="0">
                <a:solidFill>
                  <a:srgbClr val="FFFFFF"/>
                </a:solidFill>
                <a:latin typeface="Arial" pitchFamily="34" charset="0"/>
                <a:ea typeface="Arial" pitchFamily="34" charset="-122"/>
                <a:cs typeface="Arial" pitchFamily="34" charset="-120"/>
              </a:defRPr>
            </a:lvl1pPr>
          </a:lstStyle>
          <a:p>
            <a:pPr algn="l" indent="0" marL="0">
              <a:buNone/>
            </a:pPr>
            <a:endParaRPr lang="en-US" sz="2400" dirty="0"/>
          </a:p>
        </p:txBody>
      </p:sp>
      <p:sp>
        <p:nvSpPr>
          <p:cNvPr id="6" name="Text 3"/>
          <p:cNvSpPr/>
          <p:nvPr/>
        </p:nvSpPr>
        <p:spPr>
          <a:xfrm>
            <a:off x="457200" y="6419088"/>
            <a:ext cx="8229600" cy="274320"/>
          </a:xfrm>
          <a:prstGeom prst="rect">
            <a:avLst/>
          </a:prstGeom>
          <a:noFill/>
          <a:ln/>
        </p:spPr>
        <p:txBody>
          <a:bodyPr wrap="square" lIns="0" tIns="0" rIns="0" bIns="0" rtlCol="0" anchor="t"/>
          <a:lstStyle/>
          <a:p>
            <a:pPr indent="0" marL="0">
              <a:buNone/>
            </a:pPr>
            <a:r>
              <a:rPr lang="en-US" sz="1000" dirty="0">
                <a:solidFill>
                  <a:srgbClr val="696969"/>
                </a:solidFill>
              </a:rPr>
              <a:t>pm-method 2.3.0 · Webinar E2E-1</a:t>
            </a:r>
            <a:endParaRPr lang="en-US" sz="10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OSCURO_G">
    <p:bg>
      <p:bgPr>
        <a:solidFill>
          <a:srgbClr val="002855"/>
        </a:solidFill>
      </p:bgPr>
    </p:bg>
    <p:spTree>
      <p:nvGrpSpPr>
        <p:cNvPr id="1" name=""/>
        <p:cNvGrpSpPr/>
        <p:nvPr/>
      </p:nvGrpSpPr>
      <p:grpSpPr>
        <a:xfrm>
          <a:off x="0" y="0"/>
          <a:ext cx="0" cy="0"/>
          <a:chOff x="0" y="0"/>
          <a:chExt cx="0" cy="0"/>
        </a:xfrm>
      </p:grpSpPr>
      <p:sp>
        <p:nvSpPr>
          <p:cNvPr id="2" name="Shape 0"/>
          <p:cNvSpPr/>
          <p:nvPr/>
        </p:nvSpPr>
        <p:spPr>
          <a:xfrm>
            <a:off x="10268712" y="365760"/>
            <a:ext cx="1463040" cy="713232"/>
          </a:xfrm>
          <a:prstGeom prst="rect">
            <a:avLst/>
          </a:prstGeom>
          <a:solidFill>
            <a:srgbClr val="002855">
              <a:alpha val="0"/>
            </a:srgbClr>
          </a:solidFill>
          <a:ln w="12700">
            <a:solidFill>
              <a:srgbClr val="7F9BB8"/>
            </a:solidFill>
            <a:prstDash val="dash"/>
          </a:ln>
        </p:spPr>
      </p:sp>
      <p:sp>
        <p:nvSpPr>
          <p:cNvPr id="3" name="Text 1"/>
          <p:cNvSpPr/>
          <p:nvPr/>
        </p:nvSpPr>
        <p:spPr>
          <a:xfrm>
            <a:off x="10268712" y="365760"/>
            <a:ext cx="1463040" cy="713232"/>
          </a:xfrm>
          <a:prstGeom prst="rect">
            <a:avLst/>
          </a:prstGeom>
          <a:noFill/>
          <a:ln/>
        </p:spPr>
        <p:txBody>
          <a:bodyPr wrap="square" lIns="0" tIns="0" rIns="0" bIns="0" rtlCol="0" anchor="ctr"/>
          <a:lstStyle/>
          <a:p>
            <a:pPr algn="ctr" indent="0" marL="0">
              <a:buNone/>
            </a:pPr>
            <a:r>
              <a:rPr lang="en-US" sz="1000" dirty="0">
                <a:solidFill>
                  <a:srgbClr val="7F9BB8"/>
                </a:solidFill>
              </a:rPr>
              <a:t>Logo IEEE</a:t>
            </a:r>
            <a:endParaRPr lang="en-US" sz="1000" dirty="0"/>
          </a:p>
        </p:txBody>
      </p:sp>
      <p:sp>
        <p:nvSpPr>
          <p:cNvPr id="4" name="Text 2"/>
          <p:cNvSpPr/>
          <p:nvPr>
            <p:ph idx="102" type="title" hasCustomPrompt="1"/>
          </p:nvPr>
        </p:nvSpPr>
        <p:spPr>
          <a:xfrm>
            <a:off x="548640" y="1143000"/>
            <a:ext cx="11091672" cy="914400"/>
          </a:xfrm>
          <a:prstGeom prst="rect">
            <a:avLst/>
          </a:prstGeom>
          <a:noFill/>
          <a:ln/>
        </p:spPr>
        <p:txBody>
          <a:bodyPr wrap="square" rtlCol="0"/>
          <a:lstStyle>
            <a:lvl1pPr algn="l" indent="0" marL="0">
              <a:buNone/>
              <a:defRPr lang="en-US" sz="3600" b="1" dirty="0">
                <a:solidFill>
                  <a:srgbClr val="FFFFFF"/>
                </a:solidFill>
                <a:latin typeface="Arial" pitchFamily="34" charset="0"/>
                <a:ea typeface="Arial" pitchFamily="34" charset="-122"/>
                <a:cs typeface="Arial" pitchFamily="34" charset="-120"/>
              </a:defRPr>
            </a:lvl1pPr>
          </a:lstStyle>
          <a:p>
            <a:pPr algn="l" indent="0" marL="0">
              <a:buNone/>
            </a:pPr>
            <a:endParaRPr lang="en-US" sz="3600" dirty="0"/>
          </a:p>
        </p:txBody>
      </p:sp>
      <p:sp>
        <p:nvSpPr>
          <p:cNvPr id="5" name="Text 2"/>
          <p:cNvSpPr/>
          <p:nvPr/>
        </p:nvSpPr>
        <p:spPr>
          <a:xfrm>
            <a:off x="457200" y="6419088"/>
            <a:ext cx="8229600" cy="274320"/>
          </a:xfrm>
          <a:prstGeom prst="rect">
            <a:avLst/>
          </a:prstGeom>
          <a:noFill/>
          <a:ln/>
        </p:spPr>
        <p:txBody>
          <a:bodyPr wrap="square" lIns="0" tIns="0" rIns="0" bIns="0" rtlCol="0" anchor="t"/>
          <a:lstStyle/>
          <a:p>
            <a:pPr indent="0" marL="0">
              <a:buNone/>
            </a:pPr>
            <a:r>
              <a:rPr lang="en-US" sz="1000" dirty="0">
                <a:solidFill>
                  <a:srgbClr val="D6E4F0"/>
                </a:solidFill>
              </a:rPr>
              <a:t>pm-method 2.3.0 · Webinar E2E-1</a:t>
            </a:r>
            <a:endParaRPr lang="en-US" sz="10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6E4F0"/>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SECCION_G">
    <p:bg>
      <p:bgPr>
        <a:solidFill>
          <a:srgbClr val="00629B"/>
        </a:solidFill>
      </p:bgPr>
    </p:bg>
    <p:spTree>
      <p:nvGrpSpPr>
        <p:cNvPr id="1" name=""/>
        <p:cNvGrpSpPr/>
        <p:nvPr/>
      </p:nvGrpSpPr>
      <p:grpSpPr>
        <a:xfrm>
          <a:off x="0" y="0"/>
          <a:ext cx="0" cy="0"/>
          <a:chOff x="0" y="0"/>
          <a:chExt cx="0" cy="0"/>
        </a:xfrm>
      </p:grpSpPr>
      <p:sp>
        <p:nvSpPr>
          <p:cNvPr id="2" name="Shape 0"/>
          <p:cNvSpPr/>
          <p:nvPr/>
        </p:nvSpPr>
        <p:spPr>
          <a:xfrm>
            <a:off x="10268712" y="365760"/>
            <a:ext cx="1463040" cy="713232"/>
          </a:xfrm>
          <a:prstGeom prst="rect">
            <a:avLst/>
          </a:prstGeom>
          <a:solidFill>
            <a:srgbClr val="002855">
              <a:alpha val="0"/>
            </a:srgbClr>
          </a:solidFill>
          <a:ln w="12700">
            <a:solidFill>
              <a:srgbClr val="7F9BB8"/>
            </a:solidFill>
            <a:prstDash val="dash"/>
          </a:ln>
        </p:spPr>
      </p:sp>
      <p:sp>
        <p:nvSpPr>
          <p:cNvPr id="3" name="Text 1"/>
          <p:cNvSpPr/>
          <p:nvPr/>
        </p:nvSpPr>
        <p:spPr>
          <a:xfrm>
            <a:off x="10268712" y="365760"/>
            <a:ext cx="1463040" cy="713232"/>
          </a:xfrm>
          <a:prstGeom prst="rect">
            <a:avLst/>
          </a:prstGeom>
          <a:noFill/>
          <a:ln/>
        </p:spPr>
        <p:txBody>
          <a:bodyPr wrap="square" lIns="0" tIns="0" rIns="0" bIns="0" rtlCol="0" anchor="ctr"/>
          <a:lstStyle/>
          <a:p>
            <a:pPr algn="ctr" indent="0" marL="0">
              <a:buNone/>
            </a:pPr>
            <a:r>
              <a:rPr lang="en-US" sz="1000" dirty="0">
                <a:solidFill>
                  <a:srgbClr val="7F9BB8"/>
                </a:solidFill>
              </a:rPr>
              <a:t>Logo IEEE</a:t>
            </a:r>
            <a:endParaRPr lang="en-US" sz="1000" dirty="0"/>
          </a:p>
        </p:txBody>
      </p:sp>
      <p:sp>
        <p:nvSpPr>
          <p:cNvPr id="4" name="Text 2"/>
          <p:cNvSpPr/>
          <p:nvPr>
            <p:ph idx="102" type="title" hasCustomPrompt="1"/>
          </p:nvPr>
        </p:nvSpPr>
        <p:spPr>
          <a:xfrm>
            <a:off x="548640" y="2148840"/>
            <a:ext cx="11091672" cy="1005840"/>
          </a:xfrm>
          <a:prstGeom prst="rect">
            <a:avLst/>
          </a:prstGeom>
          <a:noFill/>
          <a:ln/>
        </p:spPr>
        <p:txBody>
          <a:bodyPr wrap="square" rtlCol="0"/>
          <a:lstStyle>
            <a:lvl1pPr algn="l" indent="0" marL="0">
              <a:buNone/>
              <a:defRPr lang="en-US" sz="4000" b="1" dirty="0">
                <a:solidFill>
                  <a:srgbClr val="FFFFFF"/>
                </a:solidFill>
                <a:latin typeface="Arial" pitchFamily="34" charset="0"/>
                <a:ea typeface="Arial" pitchFamily="34" charset="-122"/>
                <a:cs typeface="Arial" pitchFamily="34" charset="-120"/>
              </a:defRPr>
            </a:lvl1pPr>
          </a:lstStyle>
          <a:p>
            <a:pPr algn="l" indent="0" marL="0">
              <a:buNone/>
            </a:pPr>
            <a:endParaRPr lang="en-US" sz="4000" dirty="0"/>
          </a:p>
        </p:txBody>
      </p:sp>
      <p:sp>
        <p:nvSpPr>
          <p:cNvPr id="5" name="Text 2"/>
          <p:cNvSpPr/>
          <p:nvPr/>
        </p:nvSpPr>
        <p:spPr>
          <a:xfrm>
            <a:off x="457200" y="6419088"/>
            <a:ext cx="8229600" cy="274320"/>
          </a:xfrm>
          <a:prstGeom prst="rect">
            <a:avLst/>
          </a:prstGeom>
          <a:noFill/>
          <a:ln/>
        </p:spPr>
        <p:txBody>
          <a:bodyPr wrap="square" lIns="0" tIns="0" rIns="0" bIns="0" rtlCol="0" anchor="t"/>
          <a:lstStyle/>
          <a:p>
            <a:pPr indent="0" marL="0">
              <a:buNone/>
            </a:pPr>
            <a:r>
              <a:rPr lang="en-US" sz="1000" dirty="0">
                <a:solidFill>
                  <a:srgbClr val="D6E4F0"/>
                </a:solidFill>
              </a:rPr>
              <a:t>pm-method 2.3.0 · Webinar E2E-1</a:t>
            </a:r>
            <a:endParaRPr lang="en-US" sz="10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6E4F0"/>
                </a:solidFill>
              </a:defRPr>
            </a:lvl1pPr>
          </a:lstStyle>
          <a:p>
            <a:pPr algn="r"/>
            <a:fld id="{F7021451-1387-4CA6-816F-3879F97B5CBC}" type="slidenum">
              <a:rPr b="0"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PREGUNTA_G">
    <p:bg>
      <p:bgPr>
        <a:solidFill>
          <a:srgbClr val="002855"/>
        </a:solidFill>
      </p:bgPr>
    </p:bg>
    <p:spTree>
      <p:nvGrpSpPr>
        <p:cNvPr id="1" name=""/>
        <p:cNvGrpSpPr/>
        <p:nvPr/>
      </p:nvGrpSpPr>
      <p:grpSpPr>
        <a:xfrm>
          <a:off x="0" y="0"/>
          <a:ext cx="0" cy="0"/>
          <a:chOff x="0" y="0"/>
          <a:chExt cx="0" cy="0"/>
        </a:xfrm>
      </p:grpSpPr>
      <p:sp>
        <p:nvSpPr>
          <p:cNvPr id="2" name="Shape 0"/>
          <p:cNvSpPr/>
          <p:nvPr/>
        </p:nvSpPr>
        <p:spPr>
          <a:xfrm>
            <a:off x="10268712" y="365760"/>
            <a:ext cx="1463040" cy="713232"/>
          </a:xfrm>
          <a:prstGeom prst="rect">
            <a:avLst/>
          </a:prstGeom>
          <a:solidFill>
            <a:srgbClr val="002855">
              <a:alpha val="0"/>
            </a:srgbClr>
          </a:solidFill>
          <a:ln w="12700">
            <a:solidFill>
              <a:srgbClr val="7F9BB8"/>
            </a:solidFill>
            <a:prstDash val="dash"/>
          </a:ln>
        </p:spPr>
      </p:sp>
      <p:sp>
        <p:nvSpPr>
          <p:cNvPr id="3" name="Text 1"/>
          <p:cNvSpPr/>
          <p:nvPr/>
        </p:nvSpPr>
        <p:spPr>
          <a:xfrm>
            <a:off x="10268712" y="365760"/>
            <a:ext cx="1463040" cy="713232"/>
          </a:xfrm>
          <a:prstGeom prst="rect">
            <a:avLst/>
          </a:prstGeom>
          <a:noFill/>
          <a:ln/>
        </p:spPr>
        <p:txBody>
          <a:bodyPr wrap="square" lIns="0" tIns="0" rIns="0" bIns="0" rtlCol="0" anchor="ctr"/>
          <a:lstStyle/>
          <a:p>
            <a:pPr algn="ctr" indent="0" marL="0">
              <a:buNone/>
            </a:pPr>
            <a:r>
              <a:rPr lang="en-US" sz="1000" dirty="0">
                <a:solidFill>
                  <a:srgbClr val="7F9BB8"/>
                </a:solidFill>
              </a:rPr>
              <a:t>Logo IEEE</a:t>
            </a:r>
            <a:endParaRPr lang="en-US" sz="1000" dirty="0"/>
          </a:p>
        </p:txBody>
      </p:sp>
      <p:sp>
        <p:nvSpPr>
          <p:cNvPr id="4" name="Text 2"/>
          <p:cNvSpPr/>
          <p:nvPr>
            <p:ph idx="102" type="title" hasCustomPrompt="1"/>
          </p:nvPr>
        </p:nvSpPr>
        <p:spPr>
          <a:xfrm>
            <a:off x="548640" y="365760"/>
            <a:ext cx="9445752" cy="713232"/>
          </a:xfrm>
          <a:prstGeom prst="rect">
            <a:avLst/>
          </a:prstGeom>
          <a:noFill/>
          <a:ln/>
        </p:spPr>
        <p:txBody>
          <a:bodyPr wrap="square" rtlCol="0"/>
          <a:lstStyle>
            <a:lvl1pPr algn="l" indent="0" marL="0">
              <a:buNone/>
              <a:defRPr lang="en-US" sz="2200" b="1" dirty="0">
                <a:solidFill>
                  <a:srgbClr val="9FD0F0"/>
                </a:solidFill>
                <a:latin typeface="Arial" pitchFamily="34" charset="0"/>
                <a:ea typeface="Arial" pitchFamily="34" charset="-122"/>
                <a:cs typeface="Arial" pitchFamily="34" charset="-120"/>
              </a:defRPr>
            </a:lvl1pPr>
          </a:lstStyle>
          <a:p>
            <a:pPr algn="l" indent="0" marL="0">
              <a:buNone/>
            </a:pPr>
            <a:endParaRPr lang="en-US" sz="2200" dirty="0"/>
          </a:p>
        </p:txBody>
      </p:sp>
      <p:sp>
        <p:nvSpPr>
          <p:cNvPr id="5" name="Text 2"/>
          <p:cNvSpPr/>
          <p:nvPr/>
        </p:nvSpPr>
        <p:spPr>
          <a:xfrm>
            <a:off x="457200" y="6419088"/>
            <a:ext cx="8229600" cy="274320"/>
          </a:xfrm>
          <a:prstGeom prst="rect">
            <a:avLst/>
          </a:prstGeom>
          <a:noFill/>
          <a:ln/>
        </p:spPr>
        <p:txBody>
          <a:bodyPr wrap="square" lIns="0" tIns="0" rIns="0" bIns="0" rtlCol="0" anchor="t"/>
          <a:lstStyle/>
          <a:p>
            <a:pPr indent="0" marL="0">
              <a:buNone/>
            </a:pPr>
            <a:r>
              <a:rPr lang="en-US" sz="1000" dirty="0">
                <a:solidFill>
                  <a:srgbClr val="D6E4F0"/>
                </a:solidFill>
              </a:rPr>
              <a:t>pm-method 2.3.0 · Webinar E2E-1</a:t>
            </a:r>
            <a:endParaRPr lang="en-US" sz="10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6E4F0"/>
                </a:solidFill>
              </a:defRPr>
            </a:lvl1pPr>
          </a:lstStyle>
          <a:p>
            <a:pPr algn="r"/>
            <a:fld id="{F7021451-1387-4CA6-816F-3879F97B5CBC}" type="slidenum">
              <a:rPr b="0" lang="en-US"/>
              <a:t>1006</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CONTENIDO_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0268712" y="365760"/>
            <a:ext cx="1463040" cy="713232"/>
          </a:xfrm>
          <a:prstGeom prst="rect">
            <a:avLst/>
          </a:prstGeom>
          <a:solidFill>
            <a:srgbClr val="FFFFFF">
              <a:alpha val="0"/>
            </a:srgbClr>
          </a:solidFill>
          <a:ln w="12700">
            <a:solidFill>
              <a:srgbClr val="A9A9A9"/>
            </a:solidFill>
            <a:prstDash val="dash"/>
          </a:ln>
        </p:spPr>
      </p:sp>
      <p:sp>
        <p:nvSpPr>
          <p:cNvPr id="3" name="Text 1"/>
          <p:cNvSpPr/>
          <p:nvPr/>
        </p:nvSpPr>
        <p:spPr>
          <a:xfrm>
            <a:off x="10268712" y="365760"/>
            <a:ext cx="1463040" cy="713232"/>
          </a:xfrm>
          <a:prstGeom prst="rect">
            <a:avLst/>
          </a:prstGeom>
          <a:noFill/>
          <a:ln/>
        </p:spPr>
        <p:txBody>
          <a:bodyPr wrap="square" lIns="0" tIns="0" rIns="0" bIns="0" rtlCol="0" anchor="ctr"/>
          <a:lstStyle/>
          <a:p>
            <a:pPr algn="ctr" indent="0" marL="0">
              <a:buNone/>
            </a:pPr>
            <a:r>
              <a:rPr lang="en-US" sz="1000" dirty="0">
                <a:solidFill>
                  <a:srgbClr val="A9A9A9"/>
                </a:solidFill>
              </a:rPr>
              <a:t>Logo IEEE</a:t>
            </a:r>
            <a:endParaRPr lang="en-US" sz="1000" dirty="0"/>
          </a:p>
        </p:txBody>
      </p:sp>
      <p:sp>
        <p:nvSpPr>
          <p:cNvPr id="4" name="Shape 2"/>
          <p:cNvSpPr/>
          <p:nvPr/>
        </p:nvSpPr>
        <p:spPr>
          <a:xfrm>
            <a:off x="457200" y="365760"/>
            <a:ext cx="9628632" cy="713232"/>
          </a:xfrm>
          <a:prstGeom prst="rect">
            <a:avLst>
              <a:gd name="adj" fmla="val 12821"/>
            </a:avLst>
          </a:prstGeom>
          <a:solidFill>
            <a:srgbClr val="00629B"/>
          </a:solidFill>
          <a:ln/>
        </p:spPr>
      </p:sp>
      <p:sp>
        <p:nvSpPr>
          <p:cNvPr id="5" name="Text 3"/>
          <p:cNvSpPr/>
          <p:nvPr>
            <p:ph idx="103" type="title" hasCustomPrompt="1"/>
          </p:nvPr>
        </p:nvSpPr>
        <p:spPr>
          <a:xfrm>
            <a:off x="658368" y="365760"/>
            <a:ext cx="9244584" cy="713232"/>
          </a:xfrm>
          <a:prstGeom prst="rect">
            <a:avLst/>
          </a:prstGeom>
          <a:noFill/>
          <a:ln/>
        </p:spPr>
        <p:txBody>
          <a:bodyPr wrap="square" rtlCol="0"/>
          <a:lstStyle>
            <a:lvl1pPr algn="l" indent="0" marL="0">
              <a:buNone/>
              <a:defRPr lang="en-US" sz="2400" b="1" dirty="0">
                <a:solidFill>
                  <a:srgbClr val="FFFFFF"/>
                </a:solidFill>
                <a:latin typeface="Arial" pitchFamily="34" charset="0"/>
                <a:ea typeface="Arial" pitchFamily="34" charset="-122"/>
                <a:cs typeface="Arial" pitchFamily="34" charset="-120"/>
              </a:defRPr>
            </a:lvl1pPr>
          </a:lstStyle>
          <a:p>
            <a:pPr algn="l" indent="0" marL="0">
              <a:buNone/>
            </a:pPr>
            <a:endParaRPr lang="en-US" sz="2400" dirty="0"/>
          </a:p>
        </p:txBody>
      </p:sp>
      <p:sp>
        <p:nvSpPr>
          <p:cNvPr id="6" name="Text 3"/>
          <p:cNvSpPr/>
          <p:nvPr/>
        </p:nvSpPr>
        <p:spPr>
          <a:xfrm>
            <a:off x="457200" y="6419088"/>
            <a:ext cx="8229600" cy="274320"/>
          </a:xfrm>
          <a:prstGeom prst="rect">
            <a:avLst/>
          </a:prstGeom>
          <a:noFill/>
          <a:ln/>
        </p:spPr>
        <p:txBody>
          <a:bodyPr wrap="square" lIns="0" tIns="0" rIns="0" bIns="0" rtlCol="0" anchor="t"/>
          <a:lstStyle/>
          <a:p>
            <a:pPr indent="0" marL="0">
              <a:buNone/>
            </a:pPr>
            <a:r>
              <a:rPr lang="en-US" sz="1000" dirty="0">
                <a:solidFill>
                  <a:srgbClr val="696969"/>
                </a:solidFill>
              </a:rPr>
              <a:t>pm-method 2.3.0 · Webinar E2E-1 · Clase 1</a:t>
            </a:r>
            <a:endParaRPr lang="en-US" sz="10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1007</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OSCURO_1">
    <p:bg>
      <p:bgPr>
        <a:solidFill>
          <a:srgbClr val="002855"/>
        </a:solidFill>
      </p:bgPr>
    </p:bg>
    <p:spTree>
      <p:nvGrpSpPr>
        <p:cNvPr id="1" name=""/>
        <p:cNvGrpSpPr/>
        <p:nvPr/>
      </p:nvGrpSpPr>
      <p:grpSpPr>
        <a:xfrm>
          <a:off x="0" y="0"/>
          <a:ext cx="0" cy="0"/>
          <a:chOff x="0" y="0"/>
          <a:chExt cx="0" cy="0"/>
        </a:xfrm>
      </p:grpSpPr>
      <p:sp>
        <p:nvSpPr>
          <p:cNvPr id="2" name="Shape 0"/>
          <p:cNvSpPr/>
          <p:nvPr/>
        </p:nvSpPr>
        <p:spPr>
          <a:xfrm>
            <a:off x="10268712" y="365760"/>
            <a:ext cx="1463040" cy="713232"/>
          </a:xfrm>
          <a:prstGeom prst="rect">
            <a:avLst/>
          </a:prstGeom>
          <a:solidFill>
            <a:srgbClr val="002855">
              <a:alpha val="0"/>
            </a:srgbClr>
          </a:solidFill>
          <a:ln w="12700">
            <a:solidFill>
              <a:srgbClr val="7F9BB8"/>
            </a:solidFill>
            <a:prstDash val="dash"/>
          </a:ln>
        </p:spPr>
      </p:sp>
      <p:sp>
        <p:nvSpPr>
          <p:cNvPr id="3" name="Text 1"/>
          <p:cNvSpPr/>
          <p:nvPr/>
        </p:nvSpPr>
        <p:spPr>
          <a:xfrm>
            <a:off x="10268712" y="365760"/>
            <a:ext cx="1463040" cy="713232"/>
          </a:xfrm>
          <a:prstGeom prst="rect">
            <a:avLst/>
          </a:prstGeom>
          <a:noFill/>
          <a:ln/>
        </p:spPr>
        <p:txBody>
          <a:bodyPr wrap="square" lIns="0" tIns="0" rIns="0" bIns="0" rtlCol="0" anchor="ctr"/>
          <a:lstStyle/>
          <a:p>
            <a:pPr algn="ctr" indent="0" marL="0">
              <a:buNone/>
            </a:pPr>
            <a:r>
              <a:rPr lang="en-US" sz="1000" dirty="0">
                <a:solidFill>
                  <a:srgbClr val="7F9BB8"/>
                </a:solidFill>
              </a:rPr>
              <a:t>Logo IEEE</a:t>
            </a:r>
            <a:endParaRPr lang="en-US" sz="1000" dirty="0"/>
          </a:p>
        </p:txBody>
      </p:sp>
      <p:sp>
        <p:nvSpPr>
          <p:cNvPr id="4" name="Text 2"/>
          <p:cNvSpPr/>
          <p:nvPr>
            <p:ph idx="102" type="title" hasCustomPrompt="1"/>
          </p:nvPr>
        </p:nvSpPr>
        <p:spPr>
          <a:xfrm>
            <a:off x="548640" y="1143000"/>
            <a:ext cx="11091672" cy="914400"/>
          </a:xfrm>
          <a:prstGeom prst="rect">
            <a:avLst/>
          </a:prstGeom>
          <a:noFill/>
          <a:ln/>
        </p:spPr>
        <p:txBody>
          <a:bodyPr wrap="square" rtlCol="0"/>
          <a:lstStyle>
            <a:lvl1pPr algn="l" indent="0" marL="0">
              <a:buNone/>
              <a:defRPr lang="en-US" sz="3600" b="1" dirty="0">
                <a:solidFill>
                  <a:srgbClr val="FFFFFF"/>
                </a:solidFill>
                <a:latin typeface="Arial" pitchFamily="34" charset="0"/>
                <a:ea typeface="Arial" pitchFamily="34" charset="-122"/>
                <a:cs typeface="Arial" pitchFamily="34" charset="-120"/>
              </a:defRPr>
            </a:lvl1pPr>
          </a:lstStyle>
          <a:p>
            <a:pPr algn="l" indent="0" marL="0">
              <a:buNone/>
            </a:pPr>
            <a:endParaRPr lang="en-US" sz="3600" dirty="0"/>
          </a:p>
        </p:txBody>
      </p:sp>
      <p:sp>
        <p:nvSpPr>
          <p:cNvPr id="5" name="Text 2"/>
          <p:cNvSpPr/>
          <p:nvPr/>
        </p:nvSpPr>
        <p:spPr>
          <a:xfrm>
            <a:off x="457200" y="6419088"/>
            <a:ext cx="8229600" cy="274320"/>
          </a:xfrm>
          <a:prstGeom prst="rect">
            <a:avLst/>
          </a:prstGeom>
          <a:noFill/>
          <a:ln/>
        </p:spPr>
        <p:txBody>
          <a:bodyPr wrap="square" lIns="0" tIns="0" rIns="0" bIns="0" rtlCol="0" anchor="t"/>
          <a:lstStyle/>
          <a:p>
            <a:pPr indent="0" marL="0">
              <a:buNone/>
            </a:pPr>
            <a:r>
              <a:rPr lang="en-US" sz="1000" dirty="0">
                <a:solidFill>
                  <a:srgbClr val="D6E4F0"/>
                </a:solidFill>
              </a:rPr>
              <a:t>pm-method 2.3.0 · Webinar E2E-1 · Clase 1</a:t>
            </a:r>
            <a:endParaRPr lang="en-US" sz="10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6E4F0"/>
                </a:solidFill>
              </a:defRPr>
            </a:lvl1pPr>
          </a:lstStyle>
          <a:p>
            <a:pPr algn="r"/>
            <a:fld id="{F7021451-1387-4CA6-816F-3879F97B5CBC}" type="slidenum">
              <a:rPr b="0" lang="en-US"/>
              <a:t>1008</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SECCION_1">
    <p:bg>
      <p:bgPr>
        <a:solidFill>
          <a:srgbClr val="00629B"/>
        </a:solidFill>
      </p:bgPr>
    </p:bg>
    <p:spTree>
      <p:nvGrpSpPr>
        <p:cNvPr id="1" name=""/>
        <p:cNvGrpSpPr/>
        <p:nvPr/>
      </p:nvGrpSpPr>
      <p:grpSpPr>
        <a:xfrm>
          <a:off x="0" y="0"/>
          <a:ext cx="0" cy="0"/>
          <a:chOff x="0" y="0"/>
          <a:chExt cx="0" cy="0"/>
        </a:xfrm>
      </p:grpSpPr>
      <p:sp>
        <p:nvSpPr>
          <p:cNvPr id="2" name="Shape 0"/>
          <p:cNvSpPr/>
          <p:nvPr/>
        </p:nvSpPr>
        <p:spPr>
          <a:xfrm>
            <a:off x="10268712" y="365760"/>
            <a:ext cx="1463040" cy="713232"/>
          </a:xfrm>
          <a:prstGeom prst="rect">
            <a:avLst/>
          </a:prstGeom>
          <a:solidFill>
            <a:srgbClr val="002855">
              <a:alpha val="0"/>
            </a:srgbClr>
          </a:solidFill>
          <a:ln w="12700">
            <a:solidFill>
              <a:srgbClr val="7F9BB8"/>
            </a:solidFill>
            <a:prstDash val="dash"/>
          </a:ln>
        </p:spPr>
      </p:sp>
      <p:sp>
        <p:nvSpPr>
          <p:cNvPr id="3" name="Text 1"/>
          <p:cNvSpPr/>
          <p:nvPr/>
        </p:nvSpPr>
        <p:spPr>
          <a:xfrm>
            <a:off x="10268712" y="365760"/>
            <a:ext cx="1463040" cy="713232"/>
          </a:xfrm>
          <a:prstGeom prst="rect">
            <a:avLst/>
          </a:prstGeom>
          <a:noFill/>
          <a:ln/>
        </p:spPr>
        <p:txBody>
          <a:bodyPr wrap="square" lIns="0" tIns="0" rIns="0" bIns="0" rtlCol="0" anchor="ctr"/>
          <a:lstStyle/>
          <a:p>
            <a:pPr algn="ctr" indent="0" marL="0">
              <a:buNone/>
            </a:pPr>
            <a:r>
              <a:rPr lang="en-US" sz="1000" dirty="0">
                <a:solidFill>
                  <a:srgbClr val="7F9BB8"/>
                </a:solidFill>
              </a:rPr>
              <a:t>Logo IEEE</a:t>
            </a:r>
            <a:endParaRPr lang="en-US" sz="1000" dirty="0"/>
          </a:p>
        </p:txBody>
      </p:sp>
      <p:sp>
        <p:nvSpPr>
          <p:cNvPr id="4" name="Text 2"/>
          <p:cNvSpPr/>
          <p:nvPr>
            <p:ph idx="102" type="title" hasCustomPrompt="1"/>
          </p:nvPr>
        </p:nvSpPr>
        <p:spPr>
          <a:xfrm>
            <a:off x="548640" y="2148840"/>
            <a:ext cx="11091672" cy="1005840"/>
          </a:xfrm>
          <a:prstGeom prst="rect">
            <a:avLst/>
          </a:prstGeom>
          <a:noFill/>
          <a:ln/>
        </p:spPr>
        <p:txBody>
          <a:bodyPr wrap="square" rtlCol="0"/>
          <a:lstStyle>
            <a:lvl1pPr algn="l" indent="0" marL="0">
              <a:buNone/>
              <a:defRPr lang="en-US" sz="4000" b="1" dirty="0">
                <a:solidFill>
                  <a:srgbClr val="FFFFFF"/>
                </a:solidFill>
                <a:latin typeface="Arial" pitchFamily="34" charset="0"/>
                <a:ea typeface="Arial" pitchFamily="34" charset="-122"/>
                <a:cs typeface="Arial" pitchFamily="34" charset="-120"/>
              </a:defRPr>
            </a:lvl1pPr>
          </a:lstStyle>
          <a:p>
            <a:pPr algn="l" indent="0" marL="0">
              <a:buNone/>
            </a:pPr>
            <a:endParaRPr lang="en-US" sz="4000" dirty="0"/>
          </a:p>
        </p:txBody>
      </p:sp>
      <p:sp>
        <p:nvSpPr>
          <p:cNvPr id="5" name="Text 2"/>
          <p:cNvSpPr/>
          <p:nvPr/>
        </p:nvSpPr>
        <p:spPr>
          <a:xfrm>
            <a:off x="457200" y="6419088"/>
            <a:ext cx="8229600" cy="274320"/>
          </a:xfrm>
          <a:prstGeom prst="rect">
            <a:avLst/>
          </a:prstGeom>
          <a:noFill/>
          <a:ln/>
        </p:spPr>
        <p:txBody>
          <a:bodyPr wrap="square" lIns="0" tIns="0" rIns="0" bIns="0" rtlCol="0" anchor="t"/>
          <a:lstStyle/>
          <a:p>
            <a:pPr indent="0" marL="0">
              <a:buNone/>
            </a:pPr>
            <a:r>
              <a:rPr lang="en-US" sz="1000" dirty="0">
                <a:solidFill>
                  <a:srgbClr val="D6E4F0"/>
                </a:solidFill>
              </a:rPr>
              <a:t>pm-method 2.3.0 · Webinar E2E-1 · Clase 1</a:t>
            </a:r>
            <a:endParaRPr lang="en-US" sz="10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6E4F0"/>
                </a:solidFill>
              </a:defRPr>
            </a:lvl1pPr>
          </a:lstStyle>
          <a:p>
            <a:pPr algn="r"/>
            <a:fld id="{F7021451-1387-4CA6-816F-3879F97B5CBC}" type="slidenum">
              <a:rPr b="0" lang="en-US"/>
              <a:t>1009</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REGUNTA_1">
    <p:bg>
      <p:bgPr>
        <a:solidFill>
          <a:srgbClr val="002855"/>
        </a:solidFill>
      </p:bgPr>
    </p:bg>
    <p:spTree>
      <p:nvGrpSpPr>
        <p:cNvPr id="1" name=""/>
        <p:cNvGrpSpPr/>
        <p:nvPr/>
      </p:nvGrpSpPr>
      <p:grpSpPr>
        <a:xfrm>
          <a:off x="0" y="0"/>
          <a:ext cx="0" cy="0"/>
          <a:chOff x="0" y="0"/>
          <a:chExt cx="0" cy="0"/>
        </a:xfrm>
      </p:grpSpPr>
      <p:sp>
        <p:nvSpPr>
          <p:cNvPr id="2" name="Shape 0"/>
          <p:cNvSpPr/>
          <p:nvPr/>
        </p:nvSpPr>
        <p:spPr>
          <a:xfrm>
            <a:off x="10268712" y="365760"/>
            <a:ext cx="1463040" cy="713232"/>
          </a:xfrm>
          <a:prstGeom prst="rect">
            <a:avLst/>
          </a:prstGeom>
          <a:solidFill>
            <a:srgbClr val="002855">
              <a:alpha val="0"/>
            </a:srgbClr>
          </a:solidFill>
          <a:ln w="12700">
            <a:solidFill>
              <a:srgbClr val="7F9BB8"/>
            </a:solidFill>
            <a:prstDash val="dash"/>
          </a:ln>
        </p:spPr>
      </p:sp>
      <p:sp>
        <p:nvSpPr>
          <p:cNvPr id="3" name="Text 1"/>
          <p:cNvSpPr/>
          <p:nvPr/>
        </p:nvSpPr>
        <p:spPr>
          <a:xfrm>
            <a:off x="10268712" y="365760"/>
            <a:ext cx="1463040" cy="713232"/>
          </a:xfrm>
          <a:prstGeom prst="rect">
            <a:avLst/>
          </a:prstGeom>
          <a:noFill/>
          <a:ln/>
        </p:spPr>
        <p:txBody>
          <a:bodyPr wrap="square" lIns="0" tIns="0" rIns="0" bIns="0" rtlCol="0" anchor="ctr"/>
          <a:lstStyle/>
          <a:p>
            <a:pPr algn="ctr" indent="0" marL="0">
              <a:buNone/>
            </a:pPr>
            <a:r>
              <a:rPr lang="en-US" sz="1000" dirty="0">
                <a:solidFill>
                  <a:srgbClr val="7F9BB8"/>
                </a:solidFill>
              </a:rPr>
              <a:t>Logo IEEE</a:t>
            </a:r>
            <a:endParaRPr lang="en-US" sz="1000" dirty="0"/>
          </a:p>
        </p:txBody>
      </p:sp>
      <p:sp>
        <p:nvSpPr>
          <p:cNvPr id="4" name="Text 2"/>
          <p:cNvSpPr/>
          <p:nvPr>
            <p:ph idx="102" type="title" hasCustomPrompt="1"/>
          </p:nvPr>
        </p:nvSpPr>
        <p:spPr>
          <a:xfrm>
            <a:off x="548640" y="365760"/>
            <a:ext cx="9445752" cy="713232"/>
          </a:xfrm>
          <a:prstGeom prst="rect">
            <a:avLst/>
          </a:prstGeom>
          <a:noFill/>
          <a:ln/>
        </p:spPr>
        <p:txBody>
          <a:bodyPr wrap="square" rtlCol="0"/>
          <a:lstStyle>
            <a:lvl1pPr algn="l" indent="0" marL="0">
              <a:buNone/>
              <a:defRPr lang="en-US" sz="2200" b="1" dirty="0">
                <a:solidFill>
                  <a:srgbClr val="9FD0F0"/>
                </a:solidFill>
                <a:latin typeface="Arial" pitchFamily="34" charset="0"/>
                <a:ea typeface="Arial" pitchFamily="34" charset="-122"/>
                <a:cs typeface="Arial" pitchFamily="34" charset="-120"/>
              </a:defRPr>
            </a:lvl1pPr>
          </a:lstStyle>
          <a:p>
            <a:pPr algn="l" indent="0" marL="0">
              <a:buNone/>
            </a:pPr>
            <a:endParaRPr lang="en-US" sz="2200" dirty="0"/>
          </a:p>
        </p:txBody>
      </p:sp>
      <p:sp>
        <p:nvSpPr>
          <p:cNvPr id="5" name="Text 2"/>
          <p:cNvSpPr/>
          <p:nvPr/>
        </p:nvSpPr>
        <p:spPr>
          <a:xfrm>
            <a:off x="457200" y="6419088"/>
            <a:ext cx="8229600" cy="274320"/>
          </a:xfrm>
          <a:prstGeom prst="rect">
            <a:avLst/>
          </a:prstGeom>
          <a:noFill/>
          <a:ln/>
        </p:spPr>
        <p:txBody>
          <a:bodyPr wrap="square" lIns="0" tIns="0" rIns="0" bIns="0" rtlCol="0" anchor="t"/>
          <a:lstStyle/>
          <a:p>
            <a:pPr indent="0" marL="0">
              <a:buNone/>
            </a:pPr>
            <a:r>
              <a:rPr lang="en-US" sz="1000" dirty="0">
                <a:solidFill>
                  <a:srgbClr val="D6E4F0"/>
                </a:solidFill>
              </a:rPr>
              <a:t>pm-method 2.3.0 · Webinar E2E-1 · Clase 1</a:t>
            </a:r>
            <a:endParaRPr lang="en-US" sz="10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6E4F0"/>
                </a:solidFill>
              </a:defRPr>
            </a:lvl1pPr>
          </a:lstStyle>
          <a:p>
            <a:pPr algn="r"/>
            <a:fld id="{F7021451-1387-4CA6-816F-3879F97B5CBC}" type="slidenum">
              <a:rPr b="0" lang="en-US"/>
              <a:t>1010</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CONTENIDO_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0268712" y="365760"/>
            <a:ext cx="1463040" cy="713232"/>
          </a:xfrm>
          <a:prstGeom prst="rect">
            <a:avLst/>
          </a:prstGeom>
          <a:solidFill>
            <a:srgbClr val="FFFFFF">
              <a:alpha val="0"/>
            </a:srgbClr>
          </a:solidFill>
          <a:ln w="12700">
            <a:solidFill>
              <a:srgbClr val="A9A9A9"/>
            </a:solidFill>
            <a:prstDash val="dash"/>
          </a:ln>
        </p:spPr>
      </p:sp>
      <p:sp>
        <p:nvSpPr>
          <p:cNvPr id="3" name="Text 1"/>
          <p:cNvSpPr/>
          <p:nvPr/>
        </p:nvSpPr>
        <p:spPr>
          <a:xfrm>
            <a:off x="10268712" y="365760"/>
            <a:ext cx="1463040" cy="713232"/>
          </a:xfrm>
          <a:prstGeom prst="rect">
            <a:avLst/>
          </a:prstGeom>
          <a:noFill/>
          <a:ln/>
        </p:spPr>
        <p:txBody>
          <a:bodyPr wrap="square" lIns="0" tIns="0" rIns="0" bIns="0" rtlCol="0" anchor="ctr"/>
          <a:lstStyle/>
          <a:p>
            <a:pPr algn="ctr" indent="0" marL="0">
              <a:buNone/>
            </a:pPr>
            <a:r>
              <a:rPr lang="en-US" sz="1000" dirty="0">
                <a:solidFill>
                  <a:srgbClr val="A9A9A9"/>
                </a:solidFill>
              </a:rPr>
              <a:t>Logo IEEE</a:t>
            </a:r>
            <a:endParaRPr lang="en-US" sz="1000" dirty="0"/>
          </a:p>
        </p:txBody>
      </p:sp>
      <p:sp>
        <p:nvSpPr>
          <p:cNvPr id="4" name="Shape 2"/>
          <p:cNvSpPr/>
          <p:nvPr/>
        </p:nvSpPr>
        <p:spPr>
          <a:xfrm>
            <a:off x="457200" y="365760"/>
            <a:ext cx="9628632" cy="713232"/>
          </a:xfrm>
          <a:prstGeom prst="rect">
            <a:avLst>
              <a:gd name="adj" fmla="val 12821"/>
            </a:avLst>
          </a:prstGeom>
          <a:solidFill>
            <a:srgbClr val="00629B"/>
          </a:solidFill>
          <a:ln/>
        </p:spPr>
      </p:sp>
      <p:sp>
        <p:nvSpPr>
          <p:cNvPr id="5" name="Text 3"/>
          <p:cNvSpPr/>
          <p:nvPr>
            <p:ph idx="103" type="title" hasCustomPrompt="1"/>
          </p:nvPr>
        </p:nvSpPr>
        <p:spPr>
          <a:xfrm>
            <a:off x="658368" y="365760"/>
            <a:ext cx="9244584" cy="713232"/>
          </a:xfrm>
          <a:prstGeom prst="rect">
            <a:avLst/>
          </a:prstGeom>
          <a:noFill/>
          <a:ln/>
        </p:spPr>
        <p:txBody>
          <a:bodyPr wrap="square" rtlCol="0"/>
          <a:lstStyle>
            <a:lvl1pPr algn="l" indent="0" marL="0">
              <a:buNone/>
              <a:defRPr lang="en-US" sz="2400" b="1" dirty="0">
                <a:solidFill>
                  <a:srgbClr val="FFFFFF"/>
                </a:solidFill>
                <a:latin typeface="Arial" pitchFamily="34" charset="0"/>
                <a:ea typeface="Arial" pitchFamily="34" charset="-122"/>
                <a:cs typeface="Arial" pitchFamily="34" charset="-120"/>
              </a:defRPr>
            </a:lvl1pPr>
          </a:lstStyle>
          <a:p>
            <a:pPr algn="l" indent="0" marL="0">
              <a:buNone/>
            </a:pPr>
            <a:endParaRPr lang="en-US" sz="2400" dirty="0"/>
          </a:p>
        </p:txBody>
      </p:sp>
      <p:sp>
        <p:nvSpPr>
          <p:cNvPr id="6" name="Text 3"/>
          <p:cNvSpPr/>
          <p:nvPr/>
        </p:nvSpPr>
        <p:spPr>
          <a:xfrm>
            <a:off x="457200" y="6419088"/>
            <a:ext cx="8229600" cy="274320"/>
          </a:xfrm>
          <a:prstGeom prst="rect">
            <a:avLst/>
          </a:prstGeom>
          <a:noFill/>
          <a:ln/>
        </p:spPr>
        <p:txBody>
          <a:bodyPr wrap="square" lIns="0" tIns="0" rIns="0" bIns="0" rtlCol="0" anchor="t"/>
          <a:lstStyle/>
          <a:p>
            <a:pPr indent="0" marL="0">
              <a:buNone/>
            </a:pPr>
            <a:r>
              <a:rPr lang="en-US" sz="1000" dirty="0">
                <a:solidFill>
                  <a:srgbClr val="696969"/>
                </a:solidFill>
              </a:rPr>
              <a:t>pm-method 2.3.0 · Webinar E2E-1 · Clase 2</a:t>
            </a:r>
            <a:endParaRPr lang="en-US" sz="10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1011</a:t>
            </a:fld>
            <a:endParaRPr 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OSCURO_2">
    <p:bg>
      <p:bgPr>
        <a:solidFill>
          <a:srgbClr val="002855"/>
        </a:solidFill>
      </p:bgPr>
    </p:bg>
    <p:spTree>
      <p:nvGrpSpPr>
        <p:cNvPr id="1" name=""/>
        <p:cNvGrpSpPr/>
        <p:nvPr/>
      </p:nvGrpSpPr>
      <p:grpSpPr>
        <a:xfrm>
          <a:off x="0" y="0"/>
          <a:ext cx="0" cy="0"/>
          <a:chOff x="0" y="0"/>
          <a:chExt cx="0" cy="0"/>
        </a:xfrm>
      </p:grpSpPr>
      <p:sp>
        <p:nvSpPr>
          <p:cNvPr id="2" name="Shape 0"/>
          <p:cNvSpPr/>
          <p:nvPr/>
        </p:nvSpPr>
        <p:spPr>
          <a:xfrm>
            <a:off x="10268712" y="365760"/>
            <a:ext cx="1463040" cy="713232"/>
          </a:xfrm>
          <a:prstGeom prst="rect">
            <a:avLst/>
          </a:prstGeom>
          <a:solidFill>
            <a:srgbClr val="002855">
              <a:alpha val="0"/>
            </a:srgbClr>
          </a:solidFill>
          <a:ln w="12700">
            <a:solidFill>
              <a:srgbClr val="7F9BB8"/>
            </a:solidFill>
            <a:prstDash val="dash"/>
          </a:ln>
        </p:spPr>
      </p:sp>
      <p:sp>
        <p:nvSpPr>
          <p:cNvPr id="3" name="Text 1"/>
          <p:cNvSpPr/>
          <p:nvPr/>
        </p:nvSpPr>
        <p:spPr>
          <a:xfrm>
            <a:off x="10268712" y="365760"/>
            <a:ext cx="1463040" cy="713232"/>
          </a:xfrm>
          <a:prstGeom prst="rect">
            <a:avLst/>
          </a:prstGeom>
          <a:noFill/>
          <a:ln/>
        </p:spPr>
        <p:txBody>
          <a:bodyPr wrap="square" lIns="0" tIns="0" rIns="0" bIns="0" rtlCol="0" anchor="ctr"/>
          <a:lstStyle/>
          <a:p>
            <a:pPr algn="ctr" indent="0" marL="0">
              <a:buNone/>
            </a:pPr>
            <a:r>
              <a:rPr lang="en-US" sz="1000" dirty="0">
                <a:solidFill>
                  <a:srgbClr val="7F9BB8"/>
                </a:solidFill>
              </a:rPr>
              <a:t>Logo IEEE</a:t>
            </a:r>
            <a:endParaRPr lang="en-US" sz="1000" dirty="0"/>
          </a:p>
        </p:txBody>
      </p:sp>
      <p:sp>
        <p:nvSpPr>
          <p:cNvPr id="4" name="Text 2"/>
          <p:cNvSpPr/>
          <p:nvPr>
            <p:ph idx="102" type="title" hasCustomPrompt="1"/>
          </p:nvPr>
        </p:nvSpPr>
        <p:spPr>
          <a:xfrm>
            <a:off x="548640" y="1143000"/>
            <a:ext cx="11091672" cy="914400"/>
          </a:xfrm>
          <a:prstGeom prst="rect">
            <a:avLst/>
          </a:prstGeom>
          <a:noFill/>
          <a:ln/>
        </p:spPr>
        <p:txBody>
          <a:bodyPr wrap="square" rtlCol="0"/>
          <a:lstStyle>
            <a:lvl1pPr algn="l" indent="0" marL="0">
              <a:buNone/>
              <a:defRPr lang="en-US" sz="3600" b="1" dirty="0">
                <a:solidFill>
                  <a:srgbClr val="FFFFFF"/>
                </a:solidFill>
                <a:latin typeface="Arial" pitchFamily="34" charset="0"/>
                <a:ea typeface="Arial" pitchFamily="34" charset="-122"/>
                <a:cs typeface="Arial" pitchFamily="34" charset="-120"/>
              </a:defRPr>
            </a:lvl1pPr>
          </a:lstStyle>
          <a:p>
            <a:pPr algn="l" indent="0" marL="0">
              <a:buNone/>
            </a:pPr>
            <a:endParaRPr lang="en-US" sz="3600" dirty="0"/>
          </a:p>
        </p:txBody>
      </p:sp>
      <p:sp>
        <p:nvSpPr>
          <p:cNvPr id="5" name="Text 2"/>
          <p:cNvSpPr/>
          <p:nvPr/>
        </p:nvSpPr>
        <p:spPr>
          <a:xfrm>
            <a:off x="457200" y="6419088"/>
            <a:ext cx="8229600" cy="274320"/>
          </a:xfrm>
          <a:prstGeom prst="rect">
            <a:avLst/>
          </a:prstGeom>
          <a:noFill/>
          <a:ln/>
        </p:spPr>
        <p:txBody>
          <a:bodyPr wrap="square" lIns="0" tIns="0" rIns="0" bIns="0" rtlCol="0" anchor="t"/>
          <a:lstStyle/>
          <a:p>
            <a:pPr indent="0" marL="0">
              <a:buNone/>
            </a:pPr>
            <a:r>
              <a:rPr lang="en-US" sz="1000" dirty="0">
                <a:solidFill>
                  <a:srgbClr val="D6E4F0"/>
                </a:solidFill>
              </a:rPr>
              <a:t>pm-method 2.3.0 · Webinar E2E-1 · Clase 2</a:t>
            </a:r>
            <a:endParaRPr lang="en-US" sz="10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6E4F0"/>
                </a:solidFill>
              </a:defRPr>
            </a:lvl1pPr>
          </a:lstStyle>
          <a:p>
            <a:pPr algn="r"/>
            <a:fld id="{F7021451-1387-4CA6-816F-3879F97B5CBC}" type="slidenum">
              <a:rPr b="0" lang="en-US"/>
              <a:t>1012</a:t>
            </a:fld>
            <a:endParaRPr lang="en-US"/>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SECCION_2">
    <p:bg>
      <p:bgPr>
        <a:solidFill>
          <a:srgbClr val="00629B"/>
        </a:solidFill>
      </p:bgPr>
    </p:bg>
    <p:spTree>
      <p:nvGrpSpPr>
        <p:cNvPr id="1" name=""/>
        <p:cNvGrpSpPr/>
        <p:nvPr/>
      </p:nvGrpSpPr>
      <p:grpSpPr>
        <a:xfrm>
          <a:off x="0" y="0"/>
          <a:ext cx="0" cy="0"/>
          <a:chOff x="0" y="0"/>
          <a:chExt cx="0" cy="0"/>
        </a:xfrm>
      </p:grpSpPr>
      <p:sp>
        <p:nvSpPr>
          <p:cNvPr id="2" name="Shape 0"/>
          <p:cNvSpPr/>
          <p:nvPr/>
        </p:nvSpPr>
        <p:spPr>
          <a:xfrm>
            <a:off x="10268712" y="365760"/>
            <a:ext cx="1463040" cy="713232"/>
          </a:xfrm>
          <a:prstGeom prst="rect">
            <a:avLst/>
          </a:prstGeom>
          <a:solidFill>
            <a:srgbClr val="002855">
              <a:alpha val="0"/>
            </a:srgbClr>
          </a:solidFill>
          <a:ln w="12700">
            <a:solidFill>
              <a:srgbClr val="7F9BB8"/>
            </a:solidFill>
            <a:prstDash val="dash"/>
          </a:ln>
        </p:spPr>
      </p:sp>
      <p:sp>
        <p:nvSpPr>
          <p:cNvPr id="3" name="Text 1"/>
          <p:cNvSpPr/>
          <p:nvPr/>
        </p:nvSpPr>
        <p:spPr>
          <a:xfrm>
            <a:off x="10268712" y="365760"/>
            <a:ext cx="1463040" cy="713232"/>
          </a:xfrm>
          <a:prstGeom prst="rect">
            <a:avLst/>
          </a:prstGeom>
          <a:noFill/>
          <a:ln/>
        </p:spPr>
        <p:txBody>
          <a:bodyPr wrap="square" lIns="0" tIns="0" rIns="0" bIns="0" rtlCol="0" anchor="ctr"/>
          <a:lstStyle/>
          <a:p>
            <a:pPr algn="ctr" indent="0" marL="0">
              <a:buNone/>
            </a:pPr>
            <a:r>
              <a:rPr lang="en-US" sz="1000" dirty="0">
                <a:solidFill>
                  <a:srgbClr val="7F9BB8"/>
                </a:solidFill>
              </a:rPr>
              <a:t>Logo IEEE</a:t>
            </a:r>
            <a:endParaRPr lang="en-US" sz="1000" dirty="0"/>
          </a:p>
        </p:txBody>
      </p:sp>
      <p:sp>
        <p:nvSpPr>
          <p:cNvPr id="4" name="Text 2"/>
          <p:cNvSpPr/>
          <p:nvPr>
            <p:ph idx="102" type="title" hasCustomPrompt="1"/>
          </p:nvPr>
        </p:nvSpPr>
        <p:spPr>
          <a:xfrm>
            <a:off x="548640" y="2148840"/>
            <a:ext cx="11091672" cy="1005840"/>
          </a:xfrm>
          <a:prstGeom prst="rect">
            <a:avLst/>
          </a:prstGeom>
          <a:noFill/>
          <a:ln/>
        </p:spPr>
        <p:txBody>
          <a:bodyPr wrap="square" rtlCol="0"/>
          <a:lstStyle>
            <a:lvl1pPr algn="l" indent="0" marL="0">
              <a:buNone/>
              <a:defRPr lang="en-US" sz="4000" b="1" dirty="0">
                <a:solidFill>
                  <a:srgbClr val="FFFFFF"/>
                </a:solidFill>
                <a:latin typeface="Arial" pitchFamily="34" charset="0"/>
                <a:ea typeface="Arial" pitchFamily="34" charset="-122"/>
                <a:cs typeface="Arial" pitchFamily="34" charset="-120"/>
              </a:defRPr>
            </a:lvl1pPr>
          </a:lstStyle>
          <a:p>
            <a:pPr algn="l" indent="0" marL="0">
              <a:buNone/>
            </a:pPr>
            <a:endParaRPr lang="en-US" sz="4000" dirty="0"/>
          </a:p>
        </p:txBody>
      </p:sp>
      <p:sp>
        <p:nvSpPr>
          <p:cNvPr id="5" name="Text 2"/>
          <p:cNvSpPr/>
          <p:nvPr/>
        </p:nvSpPr>
        <p:spPr>
          <a:xfrm>
            <a:off x="457200" y="6419088"/>
            <a:ext cx="8229600" cy="274320"/>
          </a:xfrm>
          <a:prstGeom prst="rect">
            <a:avLst/>
          </a:prstGeom>
          <a:noFill/>
          <a:ln/>
        </p:spPr>
        <p:txBody>
          <a:bodyPr wrap="square" lIns="0" tIns="0" rIns="0" bIns="0" rtlCol="0" anchor="t"/>
          <a:lstStyle/>
          <a:p>
            <a:pPr indent="0" marL="0">
              <a:buNone/>
            </a:pPr>
            <a:r>
              <a:rPr lang="en-US" sz="1000" dirty="0">
                <a:solidFill>
                  <a:srgbClr val="D6E4F0"/>
                </a:solidFill>
              </a:rPr>
              <a:t>pm-method 2.3.0 · Webinar E2E-1 · Clase 2</a:t>
            </a:r>
            <a:endParaRPr lang="en-US" sz="10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6E4F0"/>
                </a:solidFill>
              </a:defRPr>
            </a:lvl1pPr>
          </a:lstStyle>
          <a:p>
            <a:pPr algn="r"/>
            <a:fld id="{F7021451-1387-4CA6-816F-3879F97B5CBC}" type="slidenum">
              <a:rPr b="0" lang="en-US"/>
              <a:t>1013</a:t>
            </a:fld>
            <a:endParaRPr lang="en-US"/>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PREGUNTA_2">
    <p:bg>
      <p:bgPr>
        <a:solidFill>
          <a:srgbClr val="002855"/>
        </a:solidFill>
      </p:bgPr>
    </p:bg>
    <p:spTree>
      <p:nvGrpSpPr>
        <p:cNvPr id="1" name=""/>
        <p:cNvGrpSpPr/>
        <p:nvPr/>
      </p:nvGrpSpPr>
      <p:grpSpPr>
        <a:xfrm>
          <a:off x="0" y="0"/>
          <a:ext cx="0" cy="0"/>
          <a:chOff x="0" y="0"/>
          <a:chExt cx="0" cy="0"/>
        </a:xfrm>
      </p:grpSpPr>
      <p:sp>
        <p:nvSpPr>
          <p:cNvPr id="2" name="Shape 0"/>
          <p:cNvSpPr/>
          <p:nvPr/>
        </p:nvSpPr>
        <p:spPr>
          <a:xfrm>
            <a:off x="10268712" y="365760"/>
            <a:ext cx="1463040" cy="713232"/>
          </a:xfrm>
          <a:prstGeom prst="rect">
            <a:avLst/>
          </a:prstGeom>
          <a:solidFill>
            <a:srgbClr val="002855">
              <a:alpha val="0"/>
            </a:srgbClr>
          </a:solidFill>
          <a:ln w="12700">
            <a:solidFill>
              <a:srgbClr val="7F9BB8"/>
            </a:solidFill>
            <a:prstDash val="dash"/>
          </a:ln>
        </p:spPr>
      </p:sp>
      <p:sp>
        <p:nvSpPr>
          <p:cNvPr id="3" name="Text 1"/>
          <p:cNvSpPr/>
          <p:nvPr/>
        </p:nvSpPr>
        <p:spPr>
          <a:xfrm>
            <a:off x="10268712" y="365760"/>
            <a:ext cx="1463040" cy="713232"/>
          </a:xfrm>
          <a:prstGeom prst="rect">
            <a:avLst/>
          </a:prstGeom>
          <a:noFill/>
          <a:ln/>
        </p:spPr>
        <p:txBody>
          <a:bodyPr wrap="square" lIns="0" tIns="0" rIns="0" bIns="0" rtlCol="0" anchor="ctr"/>
          <a:lstStyle/>
          <a:p>
            <a:pPr algn="ctr" indent="0" marL="0">
              <a:buNone/>
            </a:pPr>
            <a:r>
              <a:rPr lang="en-US" sz="1000" dirty="0">
                <a:solidFill>
                  <a:srgbClr val="7F9BB8"/>
                </a:solidFill>
              </a:rPr>
              <a:t>Logo IEEE</a:t>
            </a:r>
            <a:endParaRPr lang="en-US" sz="1000" dirty="0"/>
          </a:p>
        </p:txBody>
      </p:sp>
      <p:sp>
        <p:nvSpPr>
          <p:cNvPr id="4" name="Text 2"/>
          <p:cNvSpPr/>
          <p:nvPr>
            <p:ph idx="102" type="title" hasCustomPrompt="1"/>
          </p:nvPr>
        </p:nvSpPr>
        <p:spPr>
          <a:xfrm>
            <a:off x="548640" y="365760"/>
            <a:ext cx="9445752" cy="713232"/>
          </a:xfrm>
          <a:prstGeom prst="rect">
            <a:avLst/>
          </a:prstGeom>
          <a:noFill/>
          <a:ln/>
        </p:spPr>
        <p:txBody>
          <a:bodyPr wrap="square" rtlCol="0"/>
          <a:lstStyle>
            <a:lvl1pPr algn="l" indent="0" marL="0">
              <a:buNone/>
              <a:defRPr lang="en-US" sz="2200" b="1" dirty="0">
                <a:solidFill>
                  <a:srgbClr val="9FD0F0"/>
                </a:solidFill>
                <a:latin typeface="Arial" pitchFamily="34" charset="0"/>
                <a:ea typeface="Arial" pitchFamily="34" charset="-122"/>
                <a:cs typeface="Arial" pitchFamily="34" charset="-120"/>
              </a:defRPr>
            </a:lvl1pPr>
          </a:lstStyle>
          <a:p>
            <a:pPr algn="l" indent="0" marL="0">
              <a:buNone/>
            </a:pPr>
            <a:endParaRPr lang="en-US" sz="2200" dirty="0"/>
          </a:p>
        </p:txBody>
      </p:sp>
      <p:sp>
        <p:nvSpPr>
          <p:cNvPr id="5" name="Text 2"/>
          <p:cNvSpPr/>
          <p:nvPr/>
        </p:nvSpPr>
        <p:spPr>
          <a:xfrm>
            <a:off x="457200" y="6419088"/>
            <a:ext cx="8229600" cy="274320"/>
          </a:xfrm>
          <a:prstGeom prst="rect">
            <a:avLst/>
          </a:prstGeom>
          <a:noFill/>
          <a:ln/>
        </p:spPr>
        <p:txBody>
          <a:bodyPr wrap="square" lIns="0" tIns="0" rIns="0" bIns="0" rtlCol="0" anchor="t"/>
          <a:lstStyle/>
          <a:p>
            <a:pPr indent="0" marL="0">
              <a:buNone/>
            </a:pPr>
            <a:r>
              <a:rPr lang="en-US" sz="1000" dirty="0">
                <a:solidFill>
                  <a:srgbClr val="D6E4F0"/>
                </a:solidFill>
              </a:rPr>
              <a:t>pm-method 2.3.0 · Webinar E2E-1 · Clase 2</a:t>
            </a:r>
            <a:endParaRPr lang="en-US" sz="10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6E4F0"/>
                </a:solidFill>
              </a:defRPr>
            </a:lvl1pPr>
          </a:lstStyle>
          <a:p>
            <a:pPr algn="r"/>
            <a:fld id="{F7021451-1387-4CA6-816F-3879F97B5CBC}" type="slidenum">
              <a:rPr b="0" lang="en-US"/>
              <a:t>1014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7.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7.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1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1600200"/>
            <a:ext cx="8229600" cy="365760"/>
          </a:xfrm>
          <a:prstGeom prst="rect">
            <a:avLst/>
          </a:prstGeom>
          <a:noFill/>
          <a:ln/>
        </p:spPr>
        <p:txBody>
          <a:bodyPr wrap="square" lIns="0" tIns="0" rIns="0" bIns="0" rtlCol="0" anchor="t"/>
          <a:lstStyle/>
          <a:p>
            <a:pPr indent="0" marL="0">
              <a:buNone/>
            </a:pPr>
            <a:r>
              <a:rPr lang="en-US" sz="1600" b="1" dirty="0">
                <a:solidFill>
                  <a:srgbClr val="9FD0F0"/>
                </a:solidFill>
                <a:latin typeface="Arial" pitchFamily="34" charset="0"/>
                <a:ea typeface="Arial" pitchFamily="34" charset="-122"/>
                <a:cs typeface="Arial" pitchFamily="34" charset="-120"/>
              </a:rPr>
              <a:t>Webinar · pm-method 2.3.0 · E2E-1</a:t>
            </a:r>
            <a:endParaRPr lang="en-US" sz="1600" dirty="0"/>
          </a:p>
        </p:txBody>
      </p:sp>
      <p:sp>
        <p:nvSpPr>
          <p:cNvPr id="3" name="Text 1"/>
          <p:cNvSpPr txBox="1"/>
          <p:nvPr/>
        </p:nvSpPr>
        <p:spPr>
          <a:xfrm>
            <a:off x="548640" y="2057400"/>
            <a:ext cx="10789920" cy="1371600"/>
          </a:xfrm>
          <a:prstGeom prst="rect">
            <a:avLst/>
          </a:prstGeom>
          <a:noFill/>
          <a:ln/>
        </p:spPr>
        <p:txBody>
          <a:bodyPr wrap="square" lIns="0" tIns="0" rIns="0" bIns="0" rtlCol="0" anchor="t"/>
          <a:lstStyle/>
          <a:p>
            <a:pPr indent="0" marL="0">
              <a:buNone/>
            </a:pPr>
            <a:r>
              <a:rPr lang="en-US" sz="4000" b="1" dirty="0">
                <a:solidFill>
                  <a:srgbClr val="FFFFFF"/>
                </a:solidFill>
                <a:latin typeface="Arial" pitchFamily="34" charset="0"/>
                <a:ea typeface="Arial" pitchFamily="34" charset="-122"/>
                <a:cs typeface="Arial" pitchFamily="34" charset="-120"/>
              </a:rPr>
              <a:t>Ciclo completo de gestión de riesgos</a:t>
            </a:r>
            <a:endParaRPr lang="en-US" sz="4000" dirty="0"/>
          </a:p>
        </p:txBody>
      </p:sp>
      <p:sp>
        <p:nvSpPr>
          <p:cNvPr id="4" name="Text 2"/>
          <p:cNvSpPr txBox="1"/>
          <p:nvPr/>
        </p:nvSpPr>
        <p:spPr>
          <a:xfrm>
            <a:off x="548640" y="3520440"/>
            <a:ext cx="10789920" cy="868680"/>
          </a:xfrm>
          <a:prstGeom prst="rect">
            <a:avLst/>
          </a:prstGeom>
          <a:noFill/>
          <a:ln/>
        </p:spPr>
        <p:txBody>
          <a:bodyPr wrap="square" lIns="0" tIns="0" rIns="0" bIns="0" rtlCol="0" anchor="t"/>
          <a:lstStyle/>
          <a:p>
            <a:pPr indent="0" marL="0">
              <a:buNone/>
            </a:pPr>
            <a:r>
              <a:rPr lang="en-US" sz="2000" dirty="0">
                <a:solidFill>
                  <a:srgbClr val="D6E4F0"/>
                </a:solidFill>
                <a:latin typeface="Arial" pitchFamily="34" charset="0"/>
                <a:ea typeface="Arial" pitchFamily="34" charset="-122"/>
                <a:cs typeface="Arial" pitchFamily="34" charset="-120"/>
              </a:rPr>
              <a:t>Del taller al control continuo: respuestas costeadas, reserva vigilada y revisiones que no se saltean</a:t>
            </a:r>
            <a:endParaRPr lang="en-US" sz="1600" dirty="0"/>
          </a:p>
        </p:txBody>
      </p:sp>
      <p:sp>
        <p:nvSpPr>
          <p:cNvPr id="5" name="Shape 3"/>
          <p:cNvSpPr/>
          <p:nvPr/>
        </p:nvSpPr>
        <p:spPr>
          <a:xfrm>
            <a:off x="548640" y="4617720"/>
            <a:ext cx="3657600" cy="1325880"/>
          </a:xfrm>
          <a:prstGeom prst="roundRect">
            <a:avLst>
              <a:gd name="adj" fmla="val 6897"/>
            </a:avLst>
          </a:prstGeom>
          <a:solidFill>
            <a:srgbClr val="173D66"/>
          </a:solidFill>
          <a:ln w="12700">
            <a:solidFill>
              <a:srgbClr val="173D66"/>
            </a:solidFill>
            <a:prstDash val="solid"/>
          </a:ln>
        </p:spPr>
      </p:sp>
      <p:sp>
        <p:nvSpPr>
          <p:cNvPr id="6" name="Text 4"/>
          <p:cNvSpPr txBox="1"/>
          <p:nvPr/>
        </p:nvSpPr>
        <p:spPr>
          <a:xfrm>
            <a:off x="749808" y="4727448"/>
            <a:ext cx="3255264" cy="310896"/>
          </a:xfrm>
          <a:prstGeom prst="rect">
            <a:avLst/>
          </a:prstGeom>
          <a:noFill/>
          <a:ln/>
        </p:spPr>
        <p:txBody>
          <a:bodyPr wrap="square" lIns="0" tIns="0" rIns="0" bIns="0" rtlCol="0" anchor="t"/>
          <a:lstStyle/>
          <a:p>
            <a:pPr indent="0" marL="0">
              <a:buNone/>
            </a:pPr>
            <a:r>
              <a:rPr lang="en-US" sz="1400" b="1" dirty="0">
                <a:solidFill>
                  <a:srgbClr val="9FD0F0"/>
                </a:solidFill>
                <a:latin typeface="Arial" pitchFamily="34" charset="0"/>
                <a:ea typeface="Arial" pitchFamily="34" charset="-122"/>
                <a:cs typeface="Arial" pitchFamily="34" charset="-120"/>
              </a:rPr>
              <a:t>Clase 1 · 90 min</a:t>
            </a:r>
            <a:endParaRPr lang="en-US" sz="1400" dirty="0"/>
          </a:p>
        </p:txBody>
      </p:sp>
      <p:sp>
        <p:nvSpPr>
          <p:cNvPr id="7" name="Text 5"/>
          <p:cNvSpPr txBox="1"/>
          <p:nvPr/>
        </p:nvSpPr>
        <p:spPr>
          <a:xfrm>
            <a:off x="749808" y="5074920"/>
            <a:ext cx="3255264" cy="777240"/>
          </a:xfrm>
          <a:prstGeom prst="rect">
            <a:avLst/>
          </a:prstGeom>
          <a:noFill/>
          <a:ln/>
        </p:spPr>
        <p:txBody>
          <a:bodyPr wrap="square" lIns="0" tIns="0" rIns="0" bIns="0" rtlCol="0" anchor="t"/>
          <a:lstStyle/>
          <a:p>
            <a:pPr indent="0" marL="0">
              <a:buNone/>
            </a:pPr>
            <a:r>
              <a:rPr lang="en-US" sz="1600" dirty="0">
                <a:solidFill>
                  <a:srgbClr val="FFFFFF"/>
                </a:solidFill>
                <a:latin typeface="Arial" pitchFamily="34" charset="0"/>
                <a:ea typeface="Arial" pitchFamily="34" charset="-122"/>
                <a:cs typeface="Arial" pitchFamily="34" charset="-120"/>
              </a:rPr>
              <a:t>Del taller al plan de respuesta</a:t>
            </a:r>
            <a:endParaRPr lang="en-US" sz="1600" dirty="0"/>
          </a:p>
        </p:txBody>
      </p:sp>
      <p:sp>
        <p:nvSpPr>
          <p:cNvPr id="8" name="Shape 6"/>
          <p:cNvSpPr/>
          <p:nvPr/>
        </p:nvSpPr>
        <p:spPr>
          <a:xfrm>
            <a:off x="4480560" y="4617720"/>
            <a:ext cx="3657600" cy="1325880"/>
          </a:xfrm>
          <a:prstGeom prst="roundRect">
            <a:avLst>
              <a:gd name="adj" fmla="val 6897"/>
            </a:avLst>
          </a:prstGeom>
          <a:solidFill>
            <a:srgbClr val="173D66"/>
          </a:solidFill>
          <a:ln w="12700">
            <a:solidFill>
              <a:srgbClr val="173D66"/>
            </a:solidFill>
            <a:prstDash val="solid"/>
          </a:ln>
        </p:spPr>
      </p:sp>
      <p:sp>
        <p:nvSpPr>
          <p:cNvPr id="9" name="Text 7"/>
          <p:cNvSpPr txBox="1"/>
          <p:nvPr/>
        </p:nvSpPr>
        <p:spPr>
          <a:xfrm>
            <a:off x="4681728" y="4727448"/>
            <a:ext cx="3255264" cy="310896"/>
          </a:xfrm>
          <a:prstGeom prst="rect">
            <a:avLst/>
          </a:prstGeom>
          <a:noFill/>
          <a:ln/>
        </p:spPr>
        <p:txBody>
          <a:bodyPr wrap="square" lIns="0" tIns="0" rIns="0" bIns="0" rtlCol="0" anchor="t"/>
          <a:lstStyle/>
          <a:p>
            <a:pPr indent="0" marL="0">
              <a:buNone/>
            </a:pPr>
            <a:r>
              <a:rPr lang="en-US" sz="1400" b="1" dirty="0">
                <a:solidFill>
                  <a:srgbClr val="9FD0F0"/>
                </a:solidFill>
                <a:latin typeface="Arial" pitchFamily="34" charset="0"/>
                <a:ea typeface="Arial" pitchFamily="34" charset="-122"/>
                <a:cs typeface="Arial" pitchFamily="34" charset="-120"/>
              </a:rPr>
              <a:t>Clase 2 · 90 min</a:t>
            </a:r>
            <a:endParaRPr lang="en-US" sz="1400" dirty="0"/>
          </a:p>
        </p:txBody>
      </p:sp>
      <p:sp>
        <p:nvSpPr>
          <p:cNvPr id="10" name="Text 8"/>
          <p:cNvSpPr txBox="1"/>
          <p:nvPr/>
        </p:nvSpPr>
        <p:spPr>
          <a:xfrm>
            <a:off x="4681728" y="5074920"/>
            <a:ext cx="3255264" cy="777240"/>
          </a:xfrm>
          <a:prstGeom prst="rect">
            <a:avLst/>
          </a:prstGeom>
          <a:noFill/>
          <a:ln/>
        </p:spPr>
        <p:txBody>
          <a:bodyPr wrap="square" lIns="0" tIns="0" rIns="0" bIns="0" rtlCol="0" anchor="t"/>
          <a:lstStyle/>
          <a:p>
            <a:pPr indent="0" marL="0">
              <a:buNone/>
            </a:pPr>
            <a:r>
              <a:rPr lang="en-US" sz="1600" dirty="0">
                <a:solidFill>
                  <a:srgbClr val="FFFFFF"/>
                </a:solidFill>
                <a:latin typeface="Arial" pitchFamily="34" charset="0"/>
                <a:ea typeface="Arial" pitchFamily="34" charset="-122"/>
                <a:cs typeface="Arial" pitchFamily="34" charset="-120"/>
              </a:rPr>
              <a:t>El control continuo</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640080"/>
            <a:ext cx="7315200" cy="365760"/>
          </a:xfrm>
          <a:prstGeom prst="rect">
            <a:avLst/>
          </a:prstGeom>
          <a:noFill/>
          <a:ln/>
        </p:spPr>
        <p:txBody>
          <a:bodyPr wrap="square" lIns="0" tIns="0" rIns="0" bIns="0" rtlCol="0" anchor="t"/>
          <a:lstStyle/>
          <a:p>
            <a:pPr indent="0" marL="0">
              <a:buNone/>
            </a:pPr>
            <a:r>
              <a:rPr lang="en-US" sz="1600" b="1" dirty="0">
                <a:solidFill>
                  <a:srgbClr val="9FD0F0"/>
                </a:solidFill>
                <a:latin typeface="Arial" pitchFamily="34" charset="0"/>
                <a:ea typeface="Arial" pitchFamily="34" charset="-122"/>
                <a:cs typeface="Arial" pitchFamily="34" charset="-120"/>
              </a:rPr>
              <a:t>Clase 1 · 90 minutos</a:t>
            </a:r>
            <a:endParaRPr lang="en-US" sz="1600" dirty="0"/>
          </a:p>
        </p:txBody>
      </p:sp>
      <p:sp>
        <p:nvSpPr>
          <p:cNvPr id="3" name="Text 2"/>
          <p:cNvSpPr/>
          <p:nvPr>
            <p:ph idx="102" type="title" hasCustomPrompt="1"/>
          </p:nvPr>
        </p:nvSpPr>
        <p:spPr>
          <a:xfrm>
            <a:off x="548640" y="1143000"/>
            <a:ext cx="11091672" cy="914400"/>
          </a:xfrm>
          <a:prstGeom prst="rect">
            <a:avLst/>
          </a:prstGeom>
          <a:noFill/>
          <a:ln/>
        </p:spPr>
        <p:txBody>
          <a:bodyPr wrap="square" lIns="0" tIns="0" rIns="0" bIns="0" rtlCol="0" anchor="t"/>
          <a:lstStyle/>
          <a:p>
            <a:pPr algn="l" indent="0" marL="0">
              <a:buNone/>
            </a:pPr>
            <a:r>
              <a:rPr lang="en-US" sz="3600" b="1" dirty="0">
                <a:solidFill>
                  <a:srgbClr val="FFFFFF"/>
                </a:solidFill>
                <a:latin typeface="Arial" pitchFamily="34" charset="0"/>
                <a:ea typeface="Arial" pitchFamily="34" charset="-122"/>
                <a:cs typeface="Arial" pitchFamily="34" charset="-120"/>
              </a:rPr>
              <a:t>Del taller al plan de respuesta</a:t>
            </a:r>
            <a:endParaRPr lang="en-US" sz="3600" dirty="0"/>
          </a:p>
        </p:txBody>
      </p:sp>
      <p:sp>
        <p:nvSpPr>
          <p:cNvPr id="4" name="Text 2"/>
          <p:cNvSpPr txBox="1"/>
          <p:nvPr/>
        </p:nvSpPr>
        <p:spPr>
          <a:xfrm>
            <a:off x="548640" y="2240280"/>
            <a:ext cx="7315200" cy="365760"/>
          </a:xfrm>
          <a:prstGeom prst="rect">
            <a:avLst/>
          </a:prstGeom>
          <a:noFill/>
          <a:ln/>
        </p:spPr>
        <p:txBody>
          <a:bodyPr wrap="square" lIns="0" tIns="0" rIns="0" bIns="0" rtlCol="0" anchor="t"/>
          <a:lstStyle/>
          <a:p>
            <a:pPr indent="0" marL="0">
              <a:buNone/>
            </a:pPr>
            <a:r>
              <a:rPr lang="en-US" sz="1800" b="1" dirty="0">
                <a:solidFill>
                  <a:srgbClr val="FFFFFF"/>
                </a:solidFill>
                <a:latin typeface="Arial" pitchFamily="34" charset="0"/>
                <a:ea typeface="Arial" pitchFamily="34" charset="-122"/>
                <a:cs typeface="Arial" pitchFamily="34" charset="-120"/>
              </a:rPr>
              <a:t>Objetivos de la clase</a:t>
            </a:r>
            <a:endParaRPr lang="en-US" sz="1800" dirty="0"/>
          </a:p>
        </p:txBody>
      </p:sp>
      <p:sp>
        <p:nvSpPr>
          <p:cNvPr id="5" name="Shape 3"/>
          <p:cNvSpPr/>
          <p:nvPr/>
        </p:nvSpPr>
        <p:spPr>
          <a:xfrm>
            <a:off x="548640" y="2743200"/>
            <a:ext cx="11091672" cy="772668"/>
          </a:xfrm>
          <a:prstGeom prst="roundRect">
            <a:avLst>
              <a:gd name="adj" fmla="val 11834"/>
            </a:avLst>
          </a:prstGeom>
          <a:solidFill>
            <a:srgbClr val="173D66"/>
          </a:solidFill>
          <a:ln w="12700">
            <a:solidFill>
              <a:srgbClr val="173D66"/>
            </a:solidFill>
            <a:prstDash val="solid"/>
          </a:ln>
        </p:spPr>
      </p:sp>
      <p:sp>
        <p:nvSpPr>
          <p:cNvPr id="6" name="Text 4"/>
          <p:cNvSpPr txBox="1"/>
          <p:nvPr/>
        </p:nvSpPr>
        <p:spPr>
          <a:xfrm>
            <a:off x="685800" y="2743200"/>
            <a:ext cx="411480" cy="772668"/>
          </a:xfrm>
          <a:prstGeom prst="rect">
            <a:avLst/>
          </a:prstGeom>
          <a:noFill/>
          <a:ln/>
        </p:spPr>
        <p:txBody>
          <a:bodyPr wrap="square" lIns="0" tIns="0" rIns="0" bIns="0" rtlCol="0" anchor="ctr"/>
          <a:lstStyle/>
          <a:p>
            <a:pPr indent="0" marL="0">
              <a:buNone/>
            </a:pPr>
            <a:r>
              <a:rPr lang="en-US" sz="2000" b="1" dirty="0">
                <a:solidFill>
                  <a:srgbClr val="9FD0F0"/>
                </a:solidFill>
                <a:latin typeface="Arial" pitchFamily="34" charset="0"/>
                <a:ea typeface="Arial" pitchFamily="34" charset="-122"/>
                <a:cs typeface="Arial" pitchFamily="34" charset="-120"/>
              </a:rPr>
              <a:t>1</a:t>
            </a:r>
            <a:endParaRPr lang="en-US" sz="2000" dirty="0"/>
          </a:p>
        </p:txBody>
      </p:sp>
      <p:sp>
        <p:nvSpPr>
          <p:cNvPr id="7" name="Text 5"/>
          <p:cNvSpPr txBox="1"/>
          <p:nvPr/>
        </p:nvSpPr>
        <p:spPr>
          <a:xfrm>
            <a:off x="1234440" y="2779776"/>
            <a:ext cx="10268712" cy="699516"/>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Explicar qué decide la junta antes del taller: apetito, tolerancia, reserva y cadencia</a:t>
            </a:r>
            <a:endParaRPr lang="en-US" sz="1600" dirty="0"/>
          </a:p>
        </p:txBody>
      </p:sp>
      <p:sp>
        <p:nvSpPr>
          <p:cNvPr id="8" name="Shape 6"/>
          <p:cNvSpPr/>
          <p:nvPr/>
        </p:nvSpPr>
        <p:spPr>
          <a:xfrm>
            <a:off x="548640" y="3643884"/>
            <a:ext cx="11091672" cy="772668"/>
          </a:xfrm>
          <a:prstGeom prst="roundRect">
            <a:avLst>
              <a:gd name="adj" fmla="val 11834"/>
            </a:avLst>
          </a:prstGeom>
          <a:solidFill>
            <a:srgbClr val="173D66"/>
          </a:solidFill>
          <a:ln w="12700">
            <a:solidFill>
              <a:srgbClr val="173D66"/>
            </a:solidFill>
            <a:prstDash val="solid"/>
          </a:ln>
        </p:spPr>
      </p:sp>
      <p:sp>
        <p:nvSpPr>
          <p:cNvPr id="9" name="Text 7"/>
          <p:cNvSpPr txBox="1"/>
          <p:nvPr/>
        </p:nvSpPr>
        <p:spPr>
          <a:xfrm>
            <a:off x="685800" y="3643884"/>
            <a:ext cx="411480" cy="772668"/>
          </a:xfrm>
          <a:prstGeom prst="rect">
            <a:avLst/>
          </a:prstGeom>
          <a:noFill/>
          <a:ln/>
        </p:spPr>
        <p:txBody>
          <a:bodyPr wrap="square" lIns="0" tIns="0" rIns="0" bIns="0" rtlCol="0" anchor="ctr"/>
          <a:lstStyle/>
          <a:p>
            <a:pPr indent="0" marL="0">
              <a:buNone/>
            </a:pPr>
            <a:r>
              <a:rPr lang="en-US" sz="2000" b="1" dirty="0">
                <a:solidFill>
                  <a:srgbClr val="9FD0F0"/>
                </a:solidFill>
                <a:latin typeface="Arial" pitchFamily="34" charset="0"/>
                <a:ea typeface="Arial" pitchFamily="34" charset="-122"/>
                <a:cs typeface="Arial" pitchFamily="34" charset="-120"/>
              </a:rPr>
              <a:t>2</a:t>
            </a:r>
            <a:endParaRPr lang="en-US" sz="2000" dirty="0"/>
          </a:p>
        </p:txBody>
      </p:sp>
      <p:sp>
        <p:nvSpPr>
          <p:cNvPr id="10" name="Text 8"/>
          <p:cNvSpPr txBox="1"/>
          <p:nvPr/>
        </p:nvSpPr>
        <p:spPr>
          <a:xfrm>
            <a:off x="1234440" y="3680460"/>
            <a:ext cx="10268712" cy="699516"/>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Identificar riesgos con cita de origen, con y sin BMAD</a:t>
            </a:r>
            <a:endParaRPr lang="en-US" sz="1600" dirty="0"/>
          </a:p>
        </p:txBody>
      </p:sp>
      <p:sp>
        <p:nvSpPr>
          <p:cNvPr id="11" name="Shape 9"/>
          <p:cNvSpPr/>
          <p:nvPr/>
        </p:nvSpPr>
        <p:spPr>
          <a:xfrm>
            <a:off x="548640" y="4544568"/>
            <a:ext cx="11091672" cy="772668"/>
          </a:xfrm>
          <a:prstGeom prst="roundRect">
            <a:avLst>
              <a:gd name="adj" fmla="val 11834"/>
            </a:avLst>
          </a:prstGeom>
          <a:solidFill>
            <a:srgbClr val="173D66"/>
          </a:solidFill>
          <a:ln w="12700">
            <a:solidFill>
              <a:srgbClr val="173D66"/>
            </a:solidFill>
            <a:prstDash val="solid"/>
          </a:ln>
        </p:spPr>
      </p:sp>
      <p:sp>
        <p:nvSpPr>
          <p:cNvPr id="12" name="Text 10"/>
          <p:cNvSpPr txBox="1"/>
          <p:nvPr/>
        </p:nvSpPr>
        <p:spPr>
          <a:xfrm>
            <a:off x="685800" y="4544568"/>
            <a:ext cx="411480" cy="772668"/>
          </a:xfrm>
          <a:prstGeom prst="rect">
            <a:avLst/>
          </a:prstGeom>
          <a:noFill/>
          <a:ln/>
        </p:spPr>
        <p:txBody>
          <a:bodyPr wrap="square" lIns="0" tIns="0" rIns="0" bIns="0" rtlCol="0" anchor="ctr"/>
          <a:lstStyle/>
          <a:p>
            <a:pPr indent="0" marL="0">
              <a:buNone/>
            </a:pPr>
            <a:r>
              <a:rPr lang="en-US" sz="2000" b="1" dirty="0">
                <a:solidFill>
                  <a:srgbClr val="9FD0F0"/>
                </a:solidFill>
                <a:latin typeface="Arial" pitchFamily="34" charset="0"/>
                <a:ea typeface="Arial" pitchFamily="34" charset="-122"/>
                <a:cs typeface="Arial" pitchFamily="34" charset="-120"/>
              </a:rPr>
              <a:t>3</a:t>
            </a:r>
            <a:endParaRPr lang="en-US" sz="2000" dirty="0"/>
          </a:p>
        </p:txBody>
      </p:sp>
      <p:sp>
        <p:nvSpPr>
          <p:cNvPr id="13" name="Text 11"/>
          <p:cNvSpPr txBox="1"/>
          <p:nvPr/>
        </p:nvSpPr>
        <p:spPr>
          <a:xfrm>
            <a:off x="1234440" y="4581144"/>
            <a:ext cx="10268712" cy="699516"/>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Justificar respuestas por costo frente a reducción de EMV y reconocer el secundario</a:t>
            </a:r>
            <a:endParaRPr lang="en-US" sz="1600" dirty="0"/>
          </a:p>
        </p:txBody>
      </p:sp>
      <p:sp>
        <p:nvSpPr>
          <p:cNvPr id="14" name="Shape 12"/>
          <p:cNvSpPr/>
          <p:nvPr/>
        </p:nvSpPr>
        <p:spPr>
          <a:xfrm>
            <a:off x="548640" y="5445252"/>
            <a:ext cx="11091672" cy="772668"/>
          </a:xfrm>
          <a:prstGeom prst="roundRect">
            <a:avLst>
              <a:gd name="adj" fmla="val 11834"/>
            </a:avLst>
          </a:prstGeom>
          <a:solidFill>
            <a:srgbClr val="173D66"/>
          </a:solidFill>
          <a:ln w="12700">
            <a:solidFill>
              <a:srgbClr val="173D66"/>
            </a:solidFill>
            <a:prstDash val="solid"/>
          </a:ln>
        </p:spPr>
      </p:sp>
      <p:sp>
        <p:nvSpPr>
          <p:cNvPr id="15" name="Text 13"/>
          <p:cNvSpPr txBox="1"/>
          <p:nvPr/>
        </p:nvSpPr>
        <p:spPr>
          <a:xfrm>
            <a:off x="685800" y="5445252"/>
            <a:ext cx="411480" cy="772668"/>
          </a:xfrm>
          <a:prstGeom prst="rect">
            <a:avLst/>
          </a:prstGeom>
          <a:noFill/>
          <a:ln/>
        </p:spPr>
        <p:txBody>
          <a:bodyPr wrap="square" lIns="0" tIns="0" rIns="0" bIns="0" rtlCol="0" anchor="ctr"/>
          <a:lstStyle/>
          <a:p>
            <a:pPr indent="0" marL="0">
              <a:buNone/>
            </a:pPr>
            <a:r>
              <a:rPr lang="en-US" sz="2000" b="1" dirty="0">
                <a:solidFill>
                  <a:srgbClr val="9FD0F0"/>
                </a:solidFill>
                <a:latin typeface="Arial" pitchFamily="34" charset="0"/>
                <a:ea typeface="Arial" pitchFamily="34" charset="-122"/>
                <a:cs typeface="Arial" pitchFamily="34" charset="-120"/>
              </a:rPr>
              <a:t>4</a:t>
            </a:r>
            <a:endParaRPr lang="en-US" sz="2000" dirty="0"/>
          </a:p>
        </p:txBody>
      </p:sp>
      <p:sp>
        <p:nvSpPr>
          <p:cNvPr id="16" name="Text 14"/>
          <p:cNvSpPr txBox="1"/>
          <p:nvPr/>
        </p:nvSpPr>
        <p:spPr>
          <a:xfrm>
            <a:off x="1234440" y="5481828"/>
            <a:ext cx="10268712" cy="699516"/>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Calcular un presupuesto de riesgo con fórmula</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6E4F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Dos amenazas en zona alta el 29/10; ninguna el 4/11</a:t>
            </a:r>
            <a:endParaRPr lang="en-US" sz="2400" dirty="0"/>
          </a:p>
        </p:txBody>
      </p:sp>
      <p:sp>
        <p:nvSpPr>
          <p:cNvPr id="3" name="Shape 1"/>
          <p:cNvSpPr/>
          <p:nvPr/>
        </p:nvSpPr>
        <p:spPr>
          <a:xfrm>
            <a:off x="457200" y="2331720"/>
            <a:ext cx="2612898" cy="2926080"/>
          </a:xfrm>
          <a:prstGeom prst="roundRect">
            <a:avLst>
              <a:gd name="adj" fmla="val 3500"/>
            </a:avLst>
          </a:prstGeom>
          <a:solidFill>
            <a:srgbClr val="002855"/>
          </a:solidFill>
          <a:ln w="12700">
            <a:solidFill>
              <a:srgbClr val="002855"/>
            </a:solidFill>
            <a:prstDash val="solid"/>
          </a:ln>
        </p:spPr>
      </p:sp>
      <p:sp>
        <p:nvSpPr>
          <p:cNvPr id="4" name="Text 2"/>
          <p:cNvSpPr txBox="1"/>
          <p:nvPr/>
        </p:nvSpPr>
        <p:spPr>
          <a:xfrm>
            <a:off x="658368" y="2532888"/>
            <a:ext cx="2210562" cy="2542032"/>
          </a:xfrm>
          <a:prstGeom prst="rect">
            <a:avLst/>
          </a:prstGeom>
          <a:noFill/>
          <a:ln/>
        </p:spPr>
        <p:txBody>
          <a:bodyPr wrap="square" lIns="0" tIns="0" rIns="0" bIns="0" rtlCol="0" anchor="ctr"/>
          <a:lstStyle/>
          <a:p>
            <a:pPr indent="0" marL="0">
              <a:buNone/>
            </a:pPr>
            <a:r>
              <a:rPr lang="en-US" sz="2200" dirty="0">
                <a:solidFill>
                  <a:srgbClr val="FFFFFF"/>
                </a:solidFill>
                <a:latin typeface="Arial" pitchFamily="34" charset="0"/>
                <a:ea typeface="Arial" pitchFamily="34" charset="-122"/>
                <a:cs typeface="Arial" pitchFamily="34" charset="-120"/>
              </a:rPr>
              <a:t>El taller deja R-001 (16) y R-003 (15) en zona alta</a:t>
            </a:r>
            <a:endParaRPr lang="en-US" sz="1600" dirty="0"/>
          </a:p>
        </p:txBody>
      </p:sp>
      <p:sp>
        <p:nvSpPr>
          <p:cNvPr id="5" name="Shape 3"/>
          <p:cNvSpPr/>
          <p:nvPr/>
        </p:nvSpPr>
        <p:spPr>
          <a:xfrm>
            <a:off x="3344418" y="2331720"/>
            <a:ext cx="2612898" cy="2926080"/>
          </a:xfrm>
          <a:prstGeom prst="roundRect">
            <a:avLst>
              <a:gd name="adj" fmla="val 3500"/>
            </a:avLst>
          </a:prstGeom>
          <a:solidFill>
            <a:srgbClr val="E9F1F8"/>
          </a:solidFill>
          <a:ln w="12700">
            <a:solidFill>
              <a:srgbClr val="E9F1F8"/>
            </a:solidFill>
            <a:prstDash val="solid"/>
          </a:ln>
        </p:spPr>
      </p:sp>
      <p:sp>
        <p:nvSpPr>
          <p:cNvPr id="6" name="Text 4"/>
          <p:cNvSpPr txBox="1"/>
          <p:nvPr/>
        </p:nvSpPr>
        <p:spPr>
          <a:xfrm>
            <a:off x="3545586" y="2532888"/>
            <a:ext cx="2210562" cy="2542032"/>
          </a:xfrm>
          <a:prstGeom prst="rect">
            <a:avLst/>
          </a:prstGeom>
          <a:noFill/>
          <a:ln/>
        </p:spPr>
        <p:txBody>
          <a:bodyPr wrap="square" lIns="0" tIns="0" rIns="0" bIns="0" rtlCol="0" anchor="ctr"/>
          <a:lstStyle/>
          <a:p>
            <a:pPr indent="0" marL="0">
              <a:buNone/>
            </a:pPr>
            <a:r>
              <a:rPr lang="en-US" sz="2200" dirty="0">
                <a:solidFill>
                  <a:srgbClr val="272425"/>
                </a:solidFill>
                <a:latin typeface="Arial" pitchFamily="34" charset="0"/>
                <a:ea typeface="Arial" pitchFamily="34" charset="-122"/>
                <a:cs typeface="Arial" pitchFamily="34" charset="-120"/>
              </a:rPr>
              <a:t>Cinco días después, ninguna amenaza queda en zona alta</a:t>
            </a:r>
            <a:endParaRPr lang="en-US" sz="1600" dirty="0"/>
          </a:p>
        </p:txBody>
      </p:sp>
      <p:sp>
        <p:nvSpPr>
          <p:cNvPr id="7" name="Shape 5"/>
          <p:cNvSpPr/>
          <p:nvPr/>
        </p:nvSpPr>
        <p:spPr>
          <a:xfrm>
            <a:off x="6231636" y="2331720"/>
            <a:ext cx="2612898" cy="2926080"/>
          </a:xfrm>
          <a:prstGeom prst="roundRect">
            <a:avLst>
              <a:gd name="adj" fmla="val 3500"/>
            </a:avLst>
          </a:prstGeom>
          <a:solidFill>
            <a:srgbClr val="E9F1F8"/>
          </a:solidFill>
          <a:ln w="12700">
            <a:solidFill>
              <a:srgbClr val="E9F1F8"/>
            </a:solidFill>
            <a:prstDash val="solid"/>
          </a:ln>
        </p:spPr>
      </p:sp>
      <p:sp>
        <p:nvSpPr>
          <p:cNvPr id="8" name="Text 6"/>
          <p:cNvSpPr txBox="1"/>
          <p:nvPr/>
        </p:nvSpPr>
        <p:spPr>
          <a:xfrm>
            <a:off x="6432804" y="2532888"/>
            <a:ext cx="2210562" cy="2542032"/>
          </a:xfrm>
          <a:prstGeom prst="rect">
            <a:avLst/>
          </a:prstGeom>
          <a:noFill/>
          <a:ln/>
        </p:spPr>
        <p:txBody>
          <a:bodyPr wrap="square" lIns="0" tIns="0" rIns="0" bIns="0" rtlCol="0" anchor="ctr"/>
          <a:lstStyle/>
          <a:p>
            <a:pPr indent="0" marL="0">
              <a:buNone/>
            </a:pPr>
            <a:r>
              <a:rPr lang="en-US" sz="2200" dirty="0">
                <a:solidFill>
                  <a:srgbClr val="272425"/>
                </a:solidFill>
                <a:latin typeface="Arial" pitchFamily="34" charset="0"/>
                <a:ea typeface="Arial" pitchFamily="34" charset="-122"/>
                <a:cs typeface="Arial" pitchFamily="34" charset="-120"/>
              </a:rPr>
              <a:t>Costo de las respuestas: USD 9.800</a:t>
            </a:r>
            <a:endParaRPr lang="en-US" sz="1600" dirty="0"/>
          </a:p>
        </p:txBody>
      </p:sp>
      <p:sp>
        <p:nvSpPr>
          <p:cNvPr id="9" name="Shape 7"/>
          <p:cNvSpPr/>
          <p:nvPr/>
        </p:nvSpPr>
        <p:spPr>
          <a:xfrm>
            <a:off x="9118854" y="2331720"/>
            <a:ext cx="2612898" cy="2926080"/>
          </a:xfrm>
          <a:prstGeom prst="roundRect">
            <a:avLst>
              <a:gd name="adj" fmla="val 3500"/>
            </a:avLst>
          </a:prstGeom>
          <a:solidFill>
            <a:srgbClr val="E9F1F8"/>
          </a:solidFill>
          <a:ln w="12700">
            <a:solidFill>
              <a:srgbClr val="E9F1F8"/>
            </a:solidFill>
            <a:prstDash val="solid"/>
          </a:ln>
        </p:spPr>
      </p:sp>
      <p:sp>
        <p:nvSpPr>
          <p:cNvPr id="10" name="Text 8"/>
          <p:cNvSpPr txBox="1"/>
          <p:nvPr/>
        </p:nvSpPr>
        <p:spPr>
          <a:xfrm>
            <a:off x="9320022" y="2532888"/>
            <a:ext cx="2210562" cy="2542032"/>
          </a:xfrm>
          <a:prstGeom prst="rect">
            <a:avLst/>
          </a:prstGeom>
          <a:noFill/>
          <a:ln/>
        </p:spPr>
        <p:txBody>
          <a:bodyPr wrap="square" lIns="0" tIns="0" rIns="0" bIns="0" rtlCol="0" anchor="ctr"/>
          <a:lstStyle/>
          <a:p>
            <a:pPr indent="0" marL="0">
              <a:buNone/>
            </a:pPr>
            <a:r>
              <a:rPr lang="en-US" sz="2200" dirty="0">
                <a:solidFill>
                  <a:srgbClr val="272425"/>
                </a:solidFill>
                <a:latin typeface="Arial" pitchFamily="34" charset="0"/>
                <a:ea typeface="Arial" pitchFamily="34" charset="-122"/>
                <a:cs typeface="Arial" pitchFamily="34" charset="-120"/>
              </a:rPr>
              <a:t>¿Qué tuvo que estar decidido antes para que eso fuera posible?</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2"/>
          <p:cNvSpPr/>
          <p:nvPr>
            <p:ph idx="102" type="title" hasCustomPrompt="1"/>
          </p:nvPr>
        </p:nvSpPr>
        <p:spPr>
          <a:xfrm>
            <a:off x="548640" y="365760"/>
            <a:ext cx="9445752" cy="713232"/>
          </a:xfrm>
          <a:prstGeom prst="rect">
            <a:avLst/>
          </a:prstGeom>
          <a:noFill/>
          <a:ln/>
        </p:spPr>
        <p:txBody>
          <a:bodyPr wrap="square" lIns="0" tIns="0" rIns="0" bIns="0" rtlCol="0" anchor="ctr"/>
          <a:lstStyle/>
          <a:p>
            <a:pPr algn="l" indent="0" marL="0">
              <a:buNone/>
            </a:pPr>
            <a:r>
              <a:rPr lang="en-US" sz="2200" b="1" dirty="0">
                <a:solidFill>
                  <a:srgbClr val="9FD0F0"/>
                </a:solidFill>
                <a:latin typeface="Arial" pitchFamily="34" charset="0"/>
                <a:ea typeface="Arial" pitchFamily="34" charset="-122"/>
                <a:cs typeface="Arial" pitchFamily="34" charset="-120"/>
              </a:rPr>
              <a:t>Mano alzada</a:t>
            </a:r>
            <a:endParaRPr lang="en-US" sz="2200" dirty="0"/>
          </a:p>
        </p:txBody>
      </p:sp>
      <p:sp>
        <p:nvSpPr>
          <p:cNvPr id="3" name="Shape 1"/>
          <p:cNvSpPr/>
          <p:nvPr/>
        </p:nvSpPr>
        <p:spPr>
          <a:xfrm>
            <a:off x="548640" y="3131820"/>
            <a:ext cx="1188720" cy="1188720"/>
          </a:xfrm>
          <a:prstGeom prst="ellipse">
            <a:avLst/>
          </a:prstGeom>
          <a:solidFill>
            <a:srgbClr val="B5651D"/>
          </a:solidFill>
          <a:ln w="12700">
            <a:solidFill>
              <a:srgbClr val="B5651D"/>
            </a:solidFill>
            <a:prstDash val="solid"/>
          </a:ln>
        </p:spPr>
      </p:sp>
      <p:sp>
        <p:nvSpPr>
          <p:cNvPr id="4" name="Text 2"/>
          <p:cNvSpPr txBox="1"/>
          <p:nvPr/>
        </p:nvSpPr>
        <p:spPr>
          <a:xfrm>
            <a:off x="548640" y="3131820"/>
            <a:ext cx="1188720" cy="1188720"/>
          </a:xfrm>
          <a:prstGeom prst="rect">
            <a:avLst/>
          </a:prstGeom>
          <a:noFill/>
          <a:ln/>
        </p:spPr>
        <p:txBody>
          <a:bodyPr wrap="square" lIns="0" tIns="0" rIns="0" bIns="0" rtlCol="0" anchor="ctr"/>
          <a:lstStyle/>
          <a:p>
            <a:pPr algn="ctr" indent="0" marL="0">
              <a:buNone/>
            </a:pPr>
            <a:r>
              <a:rPr lang="en-US" sz="5400" b="1" dirty="0">
                <a:solidFill>
                  <a:srgbClr val="FFFFFF"/>
                </a:solidFill>
                <a:latin typeface="Arial" pitchFamily="34" charset="0"/>
                <a:ea typeface="Arial" pitchFamily="34" charset="-122"/>
                <a:cs typeface="Arial" pitchFamily="34" charset="-120"/>
              </a:rPr>
              <a:t>?</a:t>
            </a:r>
            <a:endParaRPr lang="en-US" sz="5400" dirty="0"/>
          </a:p>
        </p:txBody>
      </p:sp>
      <p:sp>
        <p:nvSpPr>
          <p:cNvPr id="5" name="Text 3"/>
          <p:cNvSpPr txBox="1"/>
          <p:nvPr/>
        </p:nvSpPr>
        <p:spPr>
          <a:xfrm>
            <a:off x="2103120" y="1417320"/>
            <a:ext cx="9537192" cy="4617720"/>
          </a:xfrm>
          <a:prstGeom prst="rect">
            <a:avLst/>
          </a:prstGeom>
          <a:noFill/>
          <a:ln/>
        </p:spPr>
        <p:txBody>
          <a:bodyPr wrap="square" lIns="0" tIns="0" rIns="0" bIns="0" rtlCol="0" anchor="ctr"/>
          <a:lstStyle/>
          <a:p>
            <a:pPr indent="0" marL="0">
              <a:buNone/>
            </a:pPr>
            <a:r>
              <a:rPr lang="en-US" sz="3200" b="1" dirty="0">
                <a:solidFill>
                  <a:srgbClr val="FFFFFF"/>
                </a:solidFill>
                <a:latin typeface="Arial" pitchFamily="34" charset="0"/>
                <a:ea typeface="Arial" pitchFamily="34" charset="-122"/>
                <a:cs typeface="Arial" pitchFamily="34" charset="-120"/>
              </a:rPr>
              <a:t>¿Cuántos tienen un registro de riesgos que se actualizó en las últimas dos semanas?</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6E4F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Del uso único al control continuo</a:t>
            </a:r>
            <a:endParaRPr lang="en-US" sz="24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2567472"/>
                <a:gridCol w="2344214"/>
                <a:gridCol w="4130281"/>
                <a:gridCol w="2232585"/>
              </a:tblGrid>
              <a:tr h="0">
                <a:tc>
                  <a:txBody>
                    <a:bodyPr/>
                    <a:lstStyle/>
                    <a:p>
                      <a:pPr indent="0" marL="0">
                        <a:buNone/>
                      </a:pPr>
                      <a:r>
                        <a:rPr lang="en-US" sz="1800" b="1" dirty="0">
                          <a:solidFill>
                            <a:srgbClr val="FFFFFF"/>
                          </a:solidFill>
                          <a:latin typeface="Arial" pitchFamily="34" charset="0"/>
                          <a:ea typeface="Arial" pitchFamily="34" charset="-122"/>
                          <a:cs typeface="Arial" pitchFamily="34" charset="-120"/>
                        </a:rPr>
                        <a:t>Actividad</a:t>
                      </a:r>
                      <a:endParaRPr lang="en-US" sz="1200" dirty="0">
                        <a:latin typeface="Arial" charset="0"/>
                        <a:ea typeface="Arial" charset="0"/>
                        <a:cs typeface="Arial" charset="0"/>
                      </a:endParaRPr>
                    </a:p>
                  </a:txBody>
                  <a:tcPr marL="73152" marR="73152" marT="73152" marB="73152"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c>
                  <a:txBody>
                    <a:bodyPr/>
                    <a:lstStyle/>
                    <a:p>
                      <a:pPr indent="0" marL="0">
                        <a:buNone/>
                      </a:pPr>
                      <a:r>
                        <a:rPr lang="en-US" sz="1800" b="1" dirty="0">
                          <a:solidFill>
                            <a:srgbClr val="FFFFFF"/>
                          </a:solidFill>
                          <a:latin typeface="Arial" pitchFamily="34" charset="0"/>
                          <a:ea typeface="Arial" pitchFamily="34" charset="-122"/>
                          <a:cs typeface="Arial" pitchFamily="34" charset="-120"/>
                        </a:rPr>
                        <a:t>Hoy</a:t>
                      </a:r>
                      <a:endParaRPr lang="en-US" sz="1200" dirty="0">
                        <a:latin typeface="Arial" charset="0"/>
                        <a:ea typeface="Arial" charset="0"/>
                        <a:cs typeface="Arial" charset="0"/>
                      </a:endParaRPr>
                    </a:p>
                  </a:txBody>
                  <a:tcPr marL="73152" marR="73152" marT="73152" marB="73152"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c>
                  <a:txBody>
                    <a:bodyPr/>
                    <a:lstStyle/>
                    <a:p>
                      <a:pPr indent="0" marL="0">
                        <a:buNone/>
                      </a:pPr>
                      <a:r>
                        <a:rPr lang="en-US" sz="1800" b="1" dirty="0">
                          <a:solidFill>
                            <a:srgbClr val="FFFFFF"/>
                          </a:solidFill>
                          <a:latin typeface="Arial" pitchFamily="34" charset="0"/>
                          <a:ea typeface="Arial" pitchFamily="34" charset="-122"/>
                          <a:cs typeface="Arial" pitchFamily="34" charset="-120"/>
                        </a:rPr>
                        <a:t>Con pm-method</a:t>
                      </a:r>
                      <a:endParaRPr lang="en-US" sz="1200" dirty="0">
                        <a:latin typeface="Arial" charset="0"/>
                        <a:ea typeface="Arial" charset="0"/>
                        <a:cs typeface="Arial" charset="0"/>
                      </a:endParaRPr>
                    </a:p>
                  </a:txBody>
                  <a:tcPr marL="73152" marR="73152" marT="73152" marB="73152"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c>
                  <a:txBody>
                    <a:bodyPr/>
                    <a:lstStyle/>
                    <a:p>
                      <a:pPr indent="0" marL="0">
                        <a:buNone/>
                      </a:pPr>
                      <a:r>
                        <a:rPr lang="en-US" sz="1800" b="1" dirty="0">
                          <a:solidFill>
                            <a:srgbClr val="FFFFFF"/>
                          </a:solidFill>
                          <a:latin typeface="Arial" pitchFamily="34" charset="0"/>
                          <a:ea typeface="Arial" pitchFamily="34" charset="-122"/>
                          <a:cs typeface="Arial" pitchFamily="34" charset="-120"/>
                        </a:rPr>
                        <a:t>Indicador</a:t>
                      </a:r>
                      <a:endParaRPr lang="en-US" sz="1200" dirty="0">
                        <a:latin typeface="Arial" charset="0"/>
                        <a:ea typeface="Arial" charset="0"/>
                        <a:cs typeface="Arial" charset="0"/>
                      </a:endParaRPr>
                    </a:p>
                  </a:txBody>
                  <a:tcPr marL="73152" marR="73152" marT="73152" marB="73152"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r>
              <a:tr h="0">
                <a:tc>
                  <a:txBody>
                    <a:bodyPr/>
                    <a:lstStyle/>
                    <a:p>
                      <a:pPr indent="0" marL="0">
                        <a:buNone/>
                      </a:pPr>
                      <a:r>
                        <a:rPr lang="en-US" sz="1800" b="1" dirty="0">
                          <a:solidFill>
                            <a:srgbClr val="002855"/>
                          </a:solidFill>
                          <a:latin typeface="Arial" pitchFamily="34" charset="0"/>
                          <a:ea typeface="Arial" pitchFamily="34" charset="-122"/>
                          <a:cs typeface="Arial" pitchFamily="34" charset="-120"/>
                        </a:rPr>
                        <a:t>Responder los altos</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una vez, en el taller</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cada sanidad (REG-06) y puerta (E-06)</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altos sin respuesta</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r h="0">
                <a:tc>
                  <a:txBody>
                    <a:bodyPr/>
                    <a:lstStyle/>
                    <a:p>
                      <a:pPr indent="0" marL="0">
                        <a:buNone/>
                      </a:pPr>
                      <a:r>
                        <a:rPr lang="en-US" sz="1800" b="1" dirty="0">
                          <a:solidFill>
                            <a:srgbClr val="002855"/>
                          </a:solidFill>
                          <a:latin typeface="Arial" pitchFamily="34" charset="0"/>
                          <a:ea typeface="Arial" pitchFamily="34" charset="-122"/>
                          <a:cs typeface="Arial" pitchFamily="34" charset="-120"/>
                        </a:rPr>
                        <a:t>Cerrar acciones</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vencen sin aviso</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cada sanidad (REG-07)</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acciones vencidas</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r>
              <a:tr h="0">
                <a:tc>
                  <a:txBody>
                    <a:bodyPr/>
                    <a:lstStyle/>
                    <a:p>
                      <a:pPr indent="0" marL="0">
                        <a:buNone/>
                      </a:pPr>
                      <a:r>
                        <a:rPr lang="en-US" sz="1800" b="1" dirty="0">
                          <a:solidFill>
                            <a:srgbClr val="002855"/>
                          </a:solidFill>
                          <a:latin typeface="Arial" pitchFamily="34" charset="0"/>
                          <a:ea typeface="Arial" pitchFamily="34" charset="-122"/>
                          <a:cs typeface="Arial" pitchFamily="34" charset="-120"/>
                        </a:rPr>
                        <a:t>Revisar el registro</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taller y nunca más</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cada sanidad (REG-09)</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revisiones vencidas</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r h="0">
                <a:tc>
                  <a:txBody>
                    <a:bodyPr/>
                    <a:lstStyle/>
                    <a:p>
                      <a:pPr indent="0" marL="0">
                        <a:buNone/>
                      </a:pPr>
                      <a:r>
                        <a:rPr lang="en-US" sz="1800" b="1" dirty="0">
                          <a:solidFill>
                            <a:srgbClr val="002855"/>
                          </a:solidFill>
                          <a:latin typeface="Arial" pitchFamily="34" charset="0"/>
                          <a:ea typeface="Arial" pitchFamily="34" charset="-122"/>
                          <a:cs typeface="Arial" pitchFamily="34" charset="-120"/>
                        </a:rPr>
                        <a:t>Consumo de la reserva</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se mira al cierre</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cada sanidad (CAM-03)</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 consumido</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r>
              <a:tr h="0">
                <a:tc>
                  <a:txBody>
                    <a:bodyPr/>
                    <a:lstStyle/>
                    <a:p>
                      <a:pPr indent="0" marL="0">
                        <a:buNone/>
                      </a:pPr>
                      <a:r>
                        <a:rPr lang="en-US" sz="1800" b="1" dirty="0">
                          <a:solidFill>
                            <a:srgbClr val="002855"/>
                          </a:solidFill>
                          <a:latin typeface="Arial" pitchFamily="34" charset="0"/>
                          <a:ea typeface="Arial" pitchFamily="34" charset="-122"/>
                          <a:cs typeface="Arial" pitchFamily="34" charset="-120"/>
                        </a:rPr>
                        <a:t>Uso de la reserva</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bolsa general</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cada sanidad (CAM-02)</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cargos sin R-###</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r h="0">
                <a:tc>
                  <a:txBody>
                    <a:bodyPr/>
                    <a:lstStyle/>
                    <a:p>
                      <a:pPr indent="0" marL="0">
                        <a:buNone/>
                      </a:pPr>
                      <a:r>
                        <a:rPr lang="en-US" sz="1800" b="1" dirty="0">
                          <a:solidFill>
                            <a:srgbClr val="002855"/>
                          </a:solidFill>
                          <a:latin typeface="Arial" pitchFamily="34" charset="0"/>
                          <a:ea typeface="Arial" pitchFamily="34" charset="-122"/>
                          <a:cs typeface="Arial" pitchFamily="34" charset="-120"/>
                        </a:rPr>
                        <a:t>Condiciones de la junta</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se olvidan en el acta</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cada sanidad (EST-12)</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condiciones abiertas</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1645920"/>
            <a:ext cx="5486400" cy="411480"/>
          </a:xfrm>
          <a:prstGeom prst="rect">
            <a:avLst/>
          </a:prstGeom>
          <a:noFill/>
          <a:ln/>
        </p:spPr>
        <p:txBody>
          <a:bodyPr wrap="square" lIns="0" tIns="0" rIns="0" bIns="0" rtlCol="0" anchor="t"/>
          <a:lstStyle/>
          <a:p>
            <a:pPr indent="0" marL="0">
              <a:buNone/>
            </a:pPr>
            <a:r>
              <a:rPr lang="en-US" sz="1800" b="1" dirty="0">
                <a:solidFill>
                  <a:srgbClr val="9FD0F0"/>
                </a:solidFill>
                <a:latin typeface="Arial" pitchFamily="34" charset="0"/>
                <a:ea typeface="Arial" pitchFamily="34" charset="-122"/>
                <a:cs typeface="Arial" pitchFamily="34" charset="-120"/>
              </a:rPr>
              <a:t>Clase 1</a:t>
            </a:r>
            <a:endParaRPr lang="en-US" sz="1800" dirty="0"/>
          </a:p>
        </p:txBody>
      </p:sp>
      <p:sp>
        <p:nvSpPr>
          <p:cNvPr id="3" name="Text 2"/>
          <p:cNvSpPr/>
          <p:nvPr>
            <p:ph idx="102" type="title" hasCustomPrompt="1"/>
          </p:nvPr>
        </p:nvSpPr>
        <p:spPr>
          <a:xfrm>
            <a:off x="548640" y="2148840"/>
            <a:ext cx="11091672" cy="1005840"/>
          </a:xfrm>
          <a:prstGeom prst="rect">
            <a:avLst/>
          </a:prstGeom>
          <a:noFill/>
          <a:ln/>
        </p:spPr>
        <p:txBody>
          <a:bodyPr wrap="square" lIns="0" tIns="0" rIns="0" bIns="0" rtlCol="0" anchor="t"/>
          <a:lstStyle/>
          <a:p>
            <a:pPr algn="l" indent="0" marL="0">
              <a:buNone/>
            </a:pPr>
            <a:r>
              <a:rPr lang="en-US" sz="4000" b="1" dirty="0">
                <a:solidFill>
                  <a:srgbClr val="FFFFFF"/>
                </a:solidFill>
                <a:latin typeface="Arial" pitchFamily="34" charset="0"/>
                <a:ea typeface="Arial" pitchFamily="34" charset="-122"/>
                <a:cs typeface="Arial" pitchFamily="34" charset="-120"/>
              </a:rPr>
              <a:t>Antes del taller</a:t>
            </a:r>
            <a:endParaRPr lang="en-US" sz="4000" dirty="0"/>
          </a:p>
        </p:txBody>
      </p:sp>
      <p:sp>
        <p:nvSpPr>
          <p:cNvPr id="4" name="Text 2"/>
          <p:cNvSpPr txBox="1"/>
          <p:nvPr/>
        </p:nvSpPr>
        <p:spPr>
          <a:xfrm>
            <a:off x="548640" y="3291840"/>
            <a:ext cx="11091672" cy="822960"/>
          </a:xfrm>
          <a:prstGeom prst="rect">
            <a:avLst/>
          </a:prstGeom>
          <a:noFill/>
          <a:ln/>
        </p:spPr>
        <p:txBody>
          <a:bodyPr wrap="square" lIns="0" tIns="0" rIns="0" bIns="0" rtlCol="0" anchor="t"/>
          <a:lstStyle/>
          <a:p>
            <a:pPr indent="0" marL="0">
              <a:buNone/>
            </a:pPr>
            <a:r>
              <a:rPr lang="en-US" sz="2200" dirty="0">
                <a:solidFill>
                  <a:srgbClr val="FFFFFF"/>
                </a:solidFill>
                <a:latin typeface="Arial" pitchFamily="34" charset="0"/>
                <a:ea typeface="Arial" pitchFamily="34" charset="-122"/>
                <a:cs typeface="Arial" pitchFamily="34" charset="-120"/>
              </a:rPr>
              <a:t>Lo que decide la junta: apetito, tolerancia, reserva y cadencia</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6E4F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El enfoque de riesgo en una página</a:t>
            </a:r>
            <a:endParaRPr lang="en-US" sz="2400" dirty="0"/>
          </a:p>
        </p:txBody>
      </p:sp>
      <p:sp>
        <p:nvSpPr>
          <p:cNvPr id="3" name="Shape 1"/>
          <p:cNvSpPr/>
          <p:nvPr/>
        </p:nvSpPr>
        <p:spPr>
          <a:xfrm>
            <a:off x="457200" y="1280160"/>
            <a:ext cx="11274552" cy="870509"/>
          </a:xfrm>
          <a:prstGeom prst="roundRect">
            <a:avLst>
              <a:gd name="adj" fmla="val 10504"/>
            </a:avLst>
          </a:prstGeom>
          <a:solidFill>
            <a:srgbClr val="E9F1F8"/>
          </a:solidFill>
          <a:ln w="12700">
            <a:solidFill>
              <a:srgbClr val="E9F1F8"/>
            </a:solidFill>
            <a:prstDash val="solid"/>
          </a:ln>
        </p:spPr>
      </p:sp>
      <p:sp>
        <p:nvSpPr>
          <p:cNvPr id="4" name="Shape 2"/>
          <p:cNvSpPr/>
          <p:nvPr/>
        </p:nvSpPr>
        <p:spPr>
          <a:xfrm>
            <a:off x="621792" y="1486814"/>
            <a:ext cx="457200" cy="457200"/>
          </a:xfrm>
          <a:prstGeom prst="roundRect">
            <a:avLst>
              <a:gd name="adj" fmla="val 16000"/>
            </a:avLst>
          </a:prstGeom>
          <a:solidFill>
            <a:srgbClr val="00629B"/>
          </a:solidFill>
          <a:ln w="12700">
            <a:solidFill>
              <a:srgbClr val="00629B"/>
            </a:solidFill>
            <a:prstDash val="solid"/>
          </a:ln>
        </p:spPr>
      </p:sp>
      <p:sp>
        <p:nvSpPr>
          <p:cNvPr id="5" name="Text 3"/>
          <p:cNvSpPr txBox="1"/>
          <p:nvPr/>
        </p:nvSpPr>
        <p:spPr>
          <a:xfrm>
            <a:off x="621792" y="1486814"/>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6" name="Text 4"/>
          <p:cNvSpPr txBox="1"/>
          <p:nvPr/>
        </p:nvSpPr>
        <p:spPr>
          <a:xfrm>
            <a:off x="1280160" y="1335024"/>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Apetito: bajo en cumplimiento y seguridad; moderado en plazo y costo</a:t>
            </a:r>
            <a:endParaRPr lang="en-US" sz="1600" dirty="0"/>
          </a:p>
        </p:txBody>
      </p:sp>
      <p:sp>
        <p:nvSpPr>
          <p:cNvPr id="7" name="Shape 5"/>
          <p:cNvSpPr/>
          <p:nvPr/>
        </p:nvSpPr>
        <p:spPr>
          <a:xfrm>
            <a:off x="457200" y="2296973"/>
            <a:ext cx="11274552" cy="870509"/>
          </a:xfrm>
          <a:prstGeom prst="roundRect">
            <a:avLst>
              <a:gd name="adj" fmla="val 10504"/>
            </a:avLst>
          </a:prstGeom>
          <a:solidFill>
            <a:srgbClr val="F4F6F8"/>
          </a:solidFill>
          <a:ln w="12700">
            <a:solidFill>
              <a:srgbClr val="F4F6F8"/>
            </a:solidFill>
            <a:prstDash val="solid"/>
          </a:ln>
        </p:spPr>
      </p:sp>
      <p:sp>
        <p:nvSpPr>
          <p:cNvPr id="8" name="Shape 6"/>
          <p:cNvSpPr/>
          <p:nvPr/>
        </p:nvSpPr>
        <p:spPr>
          <a:xfrm>
            <a:off x="621792" y="2503627"/>
            <a:ext cx="457200" cy="457200"/>
          </a:xfrm>
          <a:prstGeom prst="roundRect">
            <a:avLst>
              <a:gd name="adj" fmla="val 16000"/>
            </a:avLst>
          </a:prstGeom>
          <a:solidFill>
            <a:srgbClr val="00629B"/>
          </a:solidFill>
          <a:ln w="12700">
            <a:solidFill>
              <a:srgbClr val="00629B"/>
            </a:solidFill>
            <a:prstDash val="solid"/>
          </a:ln>
        </p:spPr>
      </p:sp>
      <p:sp>
        <p:nvSpPr>
          <p:cNvPr id="9" name="Text 7"/>
          <p:cNvSpPr txBox="1"/>
          <p:nvPr/>
        </p:nvSpPr>
        <p:spPr>
          <a:xfrm>
            <a:off x="621792" y="2503627"/>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0" name="Text 8"/>
          <p:cNvSpPr txBox="1"/>
          <p:nvPr/>
        </p:nvSpPr>
        <p:spPr>
          <a:xfrm>
            <a:off x="1280160" y="2351837"/>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Tolerancia: ningún alto sin respuesta; exposición ≤ USD 60.000</a:t>
            </a:r>
            <a:endParaRPr lang="en-US" sz="1600" dirty="0"/>
          </a:p>
        </p:txBody>
      </p:sp>
      <p:sp>
        <p:nvSpPr>
          <p:cNvPr id="11" name="Shape 9"/>
          <p:cNvSpPr/>
          <p:nvPr/>
        </p:nvSpPr>
        <p:spPr>
          <a:xfrm>
            <a:off x="457200" y="3313786"/>
            <a:ext cx="11274552" cy="870509"/>
          </a:xfrm>
          <a:prstGeom prst="roundRect">
            <a:avLst>
              <a:gd name="adj" fmla="val 10504"/>
            </a:avLst>
          </a:prstGeom>
          <a:solidFill>
            <a:srgbClr val="E9F1F8"/>
          </a:solidFill>
          <a:ln w="12700">
            <a:solidFill>
              <a:srgbClr val="E9F1F8"/>
            </a:solidFill>
            <a:prstDash val="solid"/>
          </a:ln>
        </p:spPr>
      </p:sp>
      <p:sp>
        <p:nvSpPr>
          <p:cNvPr id="12" name="Shape 10"/>
          <p:cNvSpPr/>
          <p:nvPr/>
        </p:nvSpPr>
        <p:spPr>
          <a:xfrm>
            <a:off x="621792" y="3520440"/>
            <a:ext cx="457200" cy="457200"/>
          </a:xfrm>
          <a:prstGeom prst="roundRect">
            <a:avLst>
              <a:gd name="adj" fmla="val 16000"/>
            </a:avLst>
          </a:prstGeom>
          <a:solidFill>
            <a:srgbClr val="00629B"/>
          </a:solidFill>
          <a:ln w="12700">
            <a:solidFill>
              <a:srgbClr val="00629B"/>
            </a:solidFill>
            <a:prstDash val="solid"/>
          </a:ln>
        </p:spPr>
      </p:sp>
      <p:sp>
        <p:nvSpPr>
          <p:cNvPr id="13" name="Text 11"/>
          <p:cNvSpPr txBox="1"/>
          <p:nvPr/>
        </p:nvSpPr>
        <p:spPr>
          <a:xfrm>
            <a:off x="621792" y="35204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4" name="Text 12"/>
          <p:cNvSpPr txBox="1"/>
          <p:nvPr/>
        </p:nvSpPr>
        <p:spPr>
          <a:xfrm>
            <a:off x="1280160" y="3368650"/>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Presupuesto = respuestas + EMV residual + 5 % para no identificados</a:t>
            </a:r>
            <a:endParaRPr lang="en-US" sz="1600" dirty="0"/>
          </a:p>
        </p:txBody>
      </p:sp>
      <p:sp>
        <p:nvSpPr>
          <p:cNvPr id="15" name="Shape 13"/>
          <p:cNvSpPr/>
          <p:nvPr/>
        </p:nvSpPr>
        <p:spPr>
          <a:xfrm>
            <a:off x="457200" y="4330598"/>
            <a:ext cx="11274552" cy="870509"/>
          </a:xfrm>
          <a:prstGeom prst="roundRect">
            <a:avLst>
              <a:gd name="adj" fmla="val 10504"/>
            </a:avLst>
          </a:prstGeom>
          <a:solidFill>
            <a:srgbClr val="F4F6F8"/>
          </a:solidFill>
          <a:ln w="12700">
            <a:solidFill>
              <a:srgbClr val="F4F6F8"/>
            </a:solidFill>
            <a:prstDash val="solid"/>
          </a:ln>
        </p:spPr>
      </p:sp>
      <p:sp>
        <p:nvSpPr>
          <p:cNvPr id="16" name="Shape 14"/>
          <p:cNvSpPr/>
          <p:nvPr/>
        </p:nvSpPr>
        <p:spPr>
          <a:xfrm>
            <a:off x="621792" y="4537253"/>
            <a:ext cx="457200" cy="457200"/>
          </a:xfrm>
          <a:prstGeom prst="roundRect">
            <a:avLst>
              <a:gd name="adj" fmla="val 16000"/>
            </a:avLst>
          </a:prstGeom>
          <a:solidFill>
            <a:srgbClr val="00629B"/>
          </a:solidFill>
          <a:ln w="12700">
            <a:solidFill>
              <a:srgbClr val="00629B"/>
            </a:solidFill>
            <a:prstDash val="solid"/>
          </a:ln>
        </p:spPr>
      </p:sp>
      <p:sp>
        <p:nvSpPr>
          <p:cNvPr id="17" name="Text 15"/>
          <p:cNvSpPr txBox="1"/>
          <p:nvPr/>
        </p:nvSpPr>
        <p:spPr>
          <a:xfrm>
            <a:off x="621792" y="4537253"/>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18" name="Text 16"/>
          <p:cNvSpPr txBox="1"/>
          <p:nvPr/>
        </p:nvSpPr>
        <p:spPr>
          <a:xfrm>
            <a:off x="1280160" y="4385462"/>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Gestor hasta USD 5.000 por respuesta; por encima decide la ejecutiva</a:t>
            </a:r>
            <a:endParaRPr lang="en-US" sz="1600" dirty="0"/>
          </a:p>
        </p:txBody>
      </p:sp>
      <p:sp>
        <p:nvSpPr>
          <p:cNvPr id="19" name="Shape 17"/>
          <p:cNvSpPr/>
          <p:nvPr/>
        </p:nvSpPr>
        <p:spPr>
          <a:xfrm>
            <a:off x="457200" y="5347411"/>
            <a:ext cx="11274552" cy="870509"/>
          </a:xfrm>
          <a:prstGeom prst="roundRect">
            <a:avLst>
              <a:gd name="adj" fmla="val 10504"/>
            </a:avLst>
          </a:prstGeom>
          <a:solidFill>
            <a:srgbClr val="E9F1F8"/>
          </a:solidFill>
          <a:ln w="12700">
            <a:solidFill>
              <a:srgbClr val="E9F1F8"/>
            </a:solidFill>
            <a:prstDash val="solid"/>
          </a:ln>
        </p:spPr>
      </p:sp>
      <p:sp>
        <p:nvSpPr>
          <p:cNvPr id="20" name="Shape 18"/>
          <p:cNvSpPr/>
          <p:nvPr/>
        </p:nvSpPr>
        <p:spPr>
          <a:xfrm>
            <a:off x="621792" y="5554066"/>
            <a:ext cx="457200" cy="457200"/>
          </a:xfrm>
          <a:prstGeom prst="roundRect">
            <a:avLst>
              <a:gd name="adj" fmla="val 16000"/>
            </a:avLst>
          </a:prstGeom>
          <a:solidFill>
            <a:srgbClr val="00629B"/>
          </a:solidFill>
          <a:ln w="12700">
            <a:solidFill>
              <a:srgbClr val="00629B"/>
            </a:solidFill>
            <a:prstDash val="solid"/>
          </a:ln>
        </p:spPr>
      </p:sp>
      <p:sp>
        <p:nvSpPr>
          <p:cNvPr id="21" name="Text 19"/>
          <p:cNvSpPr txBox="1"/>
          <p:nvPr/>
        </p:nvSpPr>
        <p:spPr>
          <a:xfrm>
            <a:off x="621792" y="5554066"/>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5</a:t>
            </a:r>
            <a:endParaRPr lang="en-US" sz="1600" dirty="0"/>
          </a:p>
        </p:txBody>
      </p:sp>
      <p:sp>
        <p:nvSpPr>
          <p:cNvPr id="22" name="Text 20"/>
          <p:cNvSpPr txBox="1"/>
          <p:nvPr/>
        </p:nvSpPr>
        <p:spPr>
          <a:xfrm>
            <a:off x="1280160" y="5402275"/>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Revisión en cada sprint; auditoría en cada fin de etapa</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Demo · Paso 3: enfoque de riesgo y escala P×I</a:t>
            </a:r>
            <a:endParaRPr lang="en-US" sz="2400" dirty="0"/>
          </a:p>
        </p:txBody>
      </p:sp>
      <p:sp>
        <p:nvSpPr>
          <p:cNvPr id="3" name="Text 1"/>
          <p:cNvSpPr txBox="1"/>
          <p:nvPr/>
        </p:nvSpPr>
        <p:spPr>
          <a:xfrm>
            <a:off x="457200" y="1280160"/>
            <a:ext cx="5486400" cy="292608"/>
          </a:xfrm>
          <a:prstGeom prst="rect">
            <a:avLst/>
          </a:prstGeom>
          <a:noFill/>
          <a:ln/>
        </p:spPr>
        <p:txBody>
          <a:bodyPr wrap="square" lIns="0" tIns="0" rIns="0" bIns="0" rtlCol="0" anchor="t"/>
          <a:lstStyle/>
          <a:p>
            <a:pPr indent="0" marL="0">
              <a:buNone/>
            </a:pPr>
            <a:r>
              <a:rPr lang="en-US" sz="1300" b="1" dirty="0">
                <a:solidFill>
                  <a:srgbClr val="696969"/>
                </a:solidFill>
                <a:latin typeface="Arial" pitchFamily="34" charset="0"/>
                <a:ea typeface="Arial" pitchFamily="34" charset="-122"/>
                <a:cs typeface="Arial" pitchFamily="34" charset="-120"/>
              </a:rPr>
              <a:t>Prompt · escribilo tal cual</a:t>
            </a:r>
            <a:endParaRPr lang="en-US" sz="1300" dirty="0"/>
          </a:p>
        </p:txBody>
      </p:sp>
      <p:sp>
        <p:nvSpPr>
          <p:cNvPr id="4" name="Shape 2"/>
          <p:cNvSpPr/>
          <p:nvPr/>
        </p:nvSpPr>
        <p:spPr>
          <a:xfrm>
            <a:off x="457200" y="1627632"/>
            <a:ext cx="11274552" cy="4043934"/>
          </a:xfrm>
          <a:prstGeom prst="roundRect">
            <a:avLst>
              <a:gd name="adj" fmla="val 1809"/>
            </a:avLst>
          </a:prstGeom>
          <a:solidFill>
            <a:srgbClr val="0F2238"/>
          </a:solidFill>
          <a:ln w="12700">
            <a:solidFill>
              <a:srgbClr val="0F2238"/>
            </a:solidFill>
            <a:prstDash val="solid"/>
          </a:ln>
        </p:spPr>
      </p:sp>
      <p:sp>
        <p:nvSpPr>
          <p:cNvPr id="5" name="Text 3"/>
          <p:cNvSpPr txBox="1"/>
          <p:nvPr/>
        </p:nvSpPr>
        <p:spPr>
          <a:xfrm>
            <a:off x="685800" y="1792224"/>
            <a:ext cx="10817352" cy="3714750"/>
          </a:xfrm>
          <a:prstGeom prst="rect">
            <a:avLst/>
          </a:prstGeom>
          <a:noFill/>
          <a:ln/>
        </p:spPr>
        <p:txBody>
          <a:bodyPr wrap="square" lIns="0" tIns="0" rIns="0" bIns="0" rtlCol="0" anchor="ctr"/>
          <a:lstStyle/>
          <a:p>
            <a:pPr indent="0" marL="0">
              <a:buNone/>
            </a:pPr>
            <a:r>
              <a:rPr lang="en-US" sz="1800" dirty="0">
                <a:solidFill>
                  <a:srgbClr val="E8EEF5"/>
                </a:solidFill>
                <a:latin typeface="Courier New" pitchFamily="34" charset="0"/>
                <a:ea typeface="Courier New" pitchFamily="34" charset="-122"/>
                <a:cs typeface="Courier New" pitchFamily="34" charset="-120"/>
              </a:rPr>
              <a:t>Proponé el enfoque de gestión de riesgos del proyecto en su versión mínima, con la escala de probabilidad e impacto (1 a 5, umbrales del paquete y conversión a porcentaje para el valor esperado). Incluí: - apetito: bajo en cumplimiento (Ley 18.331) y en seguridad del acceso; moderado en plazo y costo; abierto a   oportunidades de reutilización; - tolerancia: ningún riesgo alto sin respuesta y exposición de amenazas ≤ USD 60.000; lo que quede sobre la línea va a   la junta con su hoja de riesgo; - presupuesto de riesgo = costo de las respuestas + EMV residual + provisión del 5 % del costo de la WBS para riesgos no   identificados; el gestor compromete hasta USD 5.000 por respuesta ya aceptada y, por encima o para un riesgo nuevo,   decide Laura; todo uso de la reserva va a cambios.csv con cargo reserva-riesgo y el R-### al que responde; - cadencia: revisión en cada sprint, reevaluación y auditoría en cada fin de etapa, vigilancia normativa mensual. Después se lo llevo a Laura para aprobarlo.</a:t>
            </a:r>
            <a:endParaRPr lang="en-US" sz="18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1645920"/>
            <a:ext cx="5486400" cy="411480"/>
          </a:xfrm>
          <a:prstGeom prst="rect">
            <a:avLst/>
          </a:prstGeom>
          <a:noFill/>
          <a:ln/>
        </p:spPr>
        <p:txBody>
          <a:bodyPr wrap="square" lIns="0" tIns="0" rIns="0" bIns="0" rtlCol="0" anchor="t"/>
          <a:lstStyle/>
          <a:p>
            <a:pPr indent="0" marL="0">
              <a:buNone/>
            </a:pPr>
            <a:r>
              <a:rPr lang="en-US" sz="1800" b="1" dirty="0">
                <a:solidFill>
                  <a:srgbClr val="9FD0F0"/>
                </a:solidFill>
                <a:latin typeface="Arial" pitchFamily="34" charset="0"/>
                <a:ea typeface="Arial" pitchFamily="34" charset="-122"/>
                <a:cs typeface="Arial" pitchFamily="34" charset="-120"/>
              </a:rPr>
              <a:t>Clase 1</a:t>
            </a:r>
            <a:endParaRPr lang="en-US" sz="1800" dirty="0"/>
          </a:p>
        </p:txBody>
      </p:sp>
      <p:sp>
        <p:nvSpPr>
          <p:cNvPr id="3" name="Text 2"/>
          <p:cNvSpPr/>
          <p:nvPr>
            <p:ph idx="102" type="title" hasCustomPrompt="1"/>
          </p:nvPr>
        </p:nvSpPr>
        <p:spPr>
          <a:xfrm>
            <a:off x="548640" y="2148840"/>
            <a:ext cx="11091672" cy="1005840"/>
          </a:xfrm>
          <a:prstGeom prst="rect">
            <a:avLst/>
          </a:prstGeom>
          <a:noFill/>
          <a:ln/>
        </p:spPr>
        <p:txBody>
          <a:bodyPr wrap="square" lIns="0" tIns="0" rIns="0" bIns="0" rtlCol="0" anchor="t"/>
          <a:lstStyle/>
          <a:p>
            <a:pPr algn="l" indent="0" marL="0">
              <a:buNone/>
            </a:pPr>
            <a:r>
              <a:rPr lang="en-US" sz="4000" b="1" dirty="0">
                <a:solidFill>
                  <a:srgbClr val="FFFFFF"/>
                </a:solidFill>
                <a:latin typeface="Arial" pitchFamily="34" charset="0"/>
                <a:ea typeface="Arial" pitchFamily="34" charset="-122"/>
                <a:cs typeface="Arial" pitchFamily="34" charset="-120"/>
              </a:rPr>
              <a:t>Identificar y evaluar</a:t>
            </a:r>
            <a:endParaRPr lang="en-US" sz="4000" dirty="0"/>
          </a:p>
        </p:txBody>
      </p:sp>
      <p:sp>
        <p:nvSpPr>
          <p:cNvPr id="4" name="Text 2"/>
          <p:cNvSpPr txBox="1"/>
          <p:nvPr/>
        </p:nvSpPr>
        <p:spPr>
          <a:xfrm>
            <a:off x="548640" y="3291840"/>
            <a:ext cx="11091672" cy="822960"/>
          </a:xfrm>
          <a:prstGeom prst="rect">
            <a:avLst/>
          </a:prstGeom>
          <a:noFill/>
          <a:ln/>
        </p:spPr>
        <p:txBody>
          <a:bodyPr wrap="square" lIns="0" tIns="0" rIns="0" bIns="0" rtlCol="0" anchor="t"/>
          <a:lstStyle/>
          <a:p>
            <a:pPr indent="0" marL="0">
              <a:buNone/>
            </a:pPr>
            <a:r>
              <a:rPr lang="en-US" sz="2200" dirty="0">
                <a:solidFill>
                  <a:srgbClr val="FFFFFF"/>
                </a:solidFill>
                <a:latin typeface="Arial" pitchFamily="34" charset="0"/>
                <a:ea typeface="Arial" pitchFamily="34" charset="-122"/>
                <a:cs typeface="Arial" pitchFamily="34" charset="-120"/>
              </a:rPr>
              <a:t>Cuatro fuentes con cita de origen</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6E4F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Demo · Paso 4: candidatos de BMAD y de la ronda</a:t>
            </a:r>
            <a:endParaRPr lang="en-US" sz="2400" dirty="0"/>
          </a:p>
        </p:txBody>
      </p:sp>
      <p:sp>
        <p:nvSpPr>
          <p:cNvPr id="3" name="Text 1"/>
          <p:cNvSpPr txBox="1"/>
          <p:nvPr/>
        </p:nvSpPr>
        <p:spPr>
          <a:xfrm>
            <a:off x="457200" y="1280160"/>
            <a:ext cx="5486400" cy="292608"/>
          </a:xfrm>
          <a:prstGeom prst="rect">
            <a:avLst/>
          </a:prstGeom>
          <a:noFill/>
          <a:ln/>
        </p:spPr>
        <p:txBody>
          <a:bodyPr wrap="square" lIns="0" tIns="0" rIns="0" bIns="0" rtlCol="0" anchor="t"/>
          <a:lstStyle/>
          <a:p>
            <a:pPr indent="0" marL="0">
              <a:buNone/>
            </a:pPr>
            <a:r>
              <a:rPr lang="en-US" sz="1300" b="1" dirty="0">
                <a:solidFill>
                  <a:srgbClr val="696969"/>
                </a:solidFill>
                <a:latin typeface="Arial" pitchFamily="34" charset="0"/>
                <a:ea typeface="Arial" pitchFamily="34" charset="-122"/>
                <a:cs typeface="Arial" pitchFamily="34" charset="-120"/>
              </a:rPr>
              <a:t>Prompt · escribilo tal cual</a:t>
            </a:r>
            <a:endParaRPr lang="en-US" sz="1300" dirty="0"/>
          </a:p>
        </p:txBody>
      </p:sp>
      <p:sp>
        <p:nvSpPr>
          <p:cNvPr id="4" name="Shape 2"/>
          <p:cNvSpPr/>
          <p:nvPr/>
        </p:nvSpPr>
        <p:spPr>
          <a:xfrm>
            <a:off x="457200" y="1627632"/>
            <a:ext cx="11274552" cy="1472184"/>
          </a:xfrm>
          <a:prstGeom prst="roundRect">
            <a:avLst>
              <a:gd name="adj" fmla="val 4969"/>
            </a:avLst>
          </a:prstGeom>
          <a:solidFill>
            <a:srgbClr val="0F2238"/>
          </a:solidFill>
          <a:ln w="12700">
            <a:solidFill>
              <a:srgbClr val="0F2238"/>
            </a:solidFill>
            <a:prstDash val="solid"/>
          </a:ln>
        </p:spPr>
      </p:sp>
      <p:sp>
        <p:nvSpPr>
          <p:cNvPr id="5" name="Text 3"/>
          <p:cNvSpPr txBox="1"/>
          <p:nvPr/>
        </p:nvSpPr>
        <p:spPr>
          <a:xfrm>
            <a:off x="685800" y="1792224"/>
            <a:ext cx="10817352" cy="1143000"/>
          </a:xfrm>
          <a:prstGeom prst="rect">
            <a:avLst/>
          </a:prstGeom>
          <a:noFill/>
          <a:ln/>
        </p:spPr>
        <p:txBody>
          <a:bodyPr wrap="square" lIns="0" tIns="0" rIns="0" bIns="0" rtlCol="0" anchor="ctr"/>
          <a:lstStyle/>
          <a:p>
            <a:pPr indent="0" marL="0">
              <a:buNone/>
            </a:pPr>
            <a:r>
              <a:rPr lang="en-US" sz="1800" dirty="0">
                <a:solidFill>
                  <a:srgbClr val="E8EEF5"/>
                </a:solidFill>
                <a:latin typeface="Courier New" pitchFamily="34" charset="0"/>
                <a:ea typeface="Courier New" pitchFamily="34" charset="-122"/>
                <a:cs typeface="Courier New" pitchFamily="34" charset="-120"/>
              </a:rPr>
              <a:t>Antes del taller, buscá riesgos candidatos en lo que ya tenemos: los artefactos de BMAD (brief, PRD, arquitectura y lo que haya de la fase de descubrimiento) y la transcripción de la ronda de riesgos del 27/10. Citá de dónde sale cada uno.</a:t>
            </a:r>
            <a:endParaRPr lang="en-US" sz="18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Sin BMAD: los artefactos del proyecto</a:t>
            </a:r>
            <a:endParaRPr lang="en-US" sz="2400" dirty="0"/>
          </a:p>
        </p:txBody>
      </p:sp>
      <p:sp>
        <p:nvSpPr>
          <p:cNvPr id="3" name="Shape 1"/>
          <p:cNvSpPr/>
          <p:nvPr/>
        </p:nvSpPr>
        <p:spPr>
          <a:xfrm>
            <a:off x="457200" y="1280160"/>
            <a:ext cx="11274552" cy="870509"/>
          </a:xfrm>
          <a:prstGeom prst="roundRect">
            <a:avLst>
              <a:gd name="adj" fmla="val 10504"/>
            </a:avLst>
          </a:prstGeom>
          <a:solidFill>
            <a:srgbClr val="E9F1F8"/>
          </a:solidFill>
          <a:ln w="12700">
            <a:solidFill>
              <a:srgbClr val="E9F1F8"/>
            </a:solidFill>
            <a:prstDash val="solid"/>
          </a:ln>
        </p:spPr>
      </p:sp>
      <p:sp>
        <p:nvSpPr>
          <p:cNvPr id="4" name="Shape 2"/>
          <p:cNvSpPr/>
          <p:nvPr/>
        </p:nvSpPr>
        <p:spPr>
          <a:xfrm>
            <a:off x="621792" y="1486814"/>
            <a:ext cx="457200" cy="457200"/>
          </a:xfrm>
          <a:prstGeom prst="roundRect">
            <a:avLst>
              <a:gd name="adj" fmla="val 16000"/>
            </a:avLst>
          </a:prstGeom>
          <a:solidFill>
            <a:srgbClr val="00629B"/>
          </a:solidFill>
          <a:ln w="12700">
            <a:solidFill>
              <a:srgbClr val="00629B"/>
            </a:solidFill>
            <a:prstDash val="solid"/>
          </a:ln>
        </p:spPr>
      </p:sp>
      <p:sp>
        <p:nvSpPr>
          <p:cNvPr id="5" name="Text 3"/>
          <p:cNvSpPr txBox="1"/>
          <p:nvPr/>
        </p:nvSpPr>
        <p:spPr>
          <a:xfrm>
            <a:off x="621792" y="1486814"/>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6" name="Text 4"/>
          <p:cNvSpPr txBox="1"/>
          <p:nvPr/>
        </p:nvSpPr>
        <p:spPr>
          <a:xfrm>
            <a:off x="1280160" y="1335024"/>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bmad: no aplica; los riesgos salen del propio proyecto</a:t>
            </a:r>
            <a:endParaRPr lang="en-US" sz="1600" dirty="0"/>
          </a:p>
        </p:txBody>
      </p:sp>
      <p:sp>
        <p:nvSpPr>
          <p:cNvPr id="7" name="Shape 5"/>
          <p:cNvSpPr/>
          <p:nvPr/>
        </p:nvSpPr>
        <p:spPr>
          <a:xfrm>
            <a:off x="457200" y="2296973"/>
            <a:ext cx="11274552" cy="870509"/>
          </a:xfrm>
          <a:prstGeom prst="roundRect">
            <a:avLst>
              <a:gd name="adj" fmla="val 10504"/>
            </a:avLst>
          </a:prstGeom>
          <a:solidFill>
            <a:srgbClr val="F4F6F8"/>
          </a:solidFill>
          <a:ln w="12700">
            <a:solidFill>
              <a:srgbClr val="F4F6F8"/>
            </a:solidFill>
            <a:prstDash val="solid"/>
          </a:ln>
        </p:spPr>
      </p:sp>
      <p:sp>
        <p:nvSpPr>
          <p:cNvPr id="8" name="Shape 6"/>
          <p:cNvSpPr/>
          <p:nvPr/>
        </p:nvSpPr>
        <p:spPr>
          <a:xfrm>
            <a:off x="621792" y="2503627"/>
            <a:ext cx="457200" cy="457200"/>
          </a:xfrm>
          <a:prstGeom prst="roundRect">
            <a:avLst>
              <a:gd name="adj" fmla="val 16000"/>
            </a:avLst>
          </a:prstGeom>
          <a:solidFill>
            <a:srgbClr val="00629B"/>
          </a:solidFill>
          <a:ln w="12700">
            <a:solidFill>
              <a:srgbClr val="00629B"/>
            </a:solidFill>
            <a:prstDash val="solid"/>
          </a:ln>
        </p:spPr>
      </p:sp>
      <p:sp>
        <p:nvSpPr>
          <p:cNvPr id="9" name="Text 7"/>
          <p:cNvSpPr txBox="1"/>
          <p:nvPr/>
        </p:nvSpPr>
        <p:spPr>
          <a:xfrm>
            <a:off x="621792" y="2503627"/>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0" name="Text 8"/>
          <p:cNvSpPr txBox="1"/>
          <p:nvPr/>
        </p:nvSpPr>
        <p:spPr>
          <a:xfrm>
            <a:off x="1280160" y="2351837"/>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Mandato: restricciones y lecciones de proyectos anteriores</a:t>
            </a:r>
            <a:endParaRPr lang="en-US" sz="1600" dirty="0"/>
          </a:p>
        </p:txBody>
      </p:sp>
      <p:sp>
        <p:nvSpPr>
          <p:cNvPr id="11" name="Shape 9"/>
          <p:cNvSpPr/>
          <p:nvPr/>
        </p:nvSpPr>
        <p:spPr>
          <a:xfrm>
            <a:off x="457200" y="3313786"/>
            <a:ext cx="11274552" cy="870509"/>
          </a:xfrm>
          <a:prstGeom prst="roundRect">
            <a:avLst>
              <a:gd name="adj" fmla="val 10504"/>
            </a:avLst>
          </a:prstGeom>
          <a:solidFill>
            <a:srgbClr val="E9F1F8"/>
          </a:solidFill>
          <a:ln w="12700">
            <a:solidFill>
              <a:srgbClr val="E9F1F8"/>
            </a:solidFill>
            <a:prstDash val="solid"/>
          </a:ln>
        </p:spPr>
      </p:sp>
      <p:sp>
        <p:nvSpPr>
          <p:cNvPr id="12" name="Shape 10"/>
          <p:cNvSpPr/>
          <p:nvPr/>
        </p:nvSpPr>
        <p:spPr>
          <a:xfrm>
            <a:off x="621792" y="3520440"/>
            <a:ext cx="457200" cy="457200"/>
          </a:xfrm>
          <a:prstGeom prst="roundRect">
            <a:avLst>
              <a:gd name="adj" fmla="val 16000"/>
            </a:avLst>
          </a:prstGeom>
          <a:solidFill>
            <a:srgbClr val="00629B"/>
          </a:solidFill>
          <a:ln w="12700">
            <a:solidFill>
              <a:srgbClr val="00629B"/>
            </a:solidFill>
            <a:prstDash val="solid"/>
          </a:ln>
        </p:spPr>
      </p:sp>
      <p:sp>
        <p:nvSpPr>
          <p:cNvPr id="13" name="Text 11"/>
          <p:cNvSpPr txBox="1"/>
          <p:nvPr/>
        </p:nvSpPr>
        <p:spPr>
          <a:xfrm>
            <a:off x="621792" y="35204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4" name="Text 12"/>
          <p:cNvSpPr txBox="1"/>
          <p:nvPr/>
        </p:nvSpPr>
        <p:spPr>
          <a:xfrm>
            <a:off x="1280160" y="3368650"/>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Brief y requisitos: supuestos y preguntas abiertas</a:t>
            </a:r>
            <a:endParaRPr lang="en-US" sz="1600" dirty="0"/>
          </a:p>
        </p:txBody>
      </p:sp>
      <p:sp>
        <p:nvSpPr>
          <p:cNvPr id="15" name="Shape 13"/>
          <p:cNvSpPr/>
          <p:nvPr/>
        </p:nvSpPr>
        <p:spPr>
          <a:xfrm>
            <a:off x="457200" y="4330598"/>
            <a:ext cx="11274552" cy="870509"/>
          </a:xfrm>
          <a:prstGeom prst="roundRect">
            <a:avLst>
              <a:gd name="adj" fmla="val 10504"/>
            </a:avLst>
          </a:prstGeom>
          <a:solidFill>
            <a:srgbClr val="F4F6F8"/>
          </a:solidFill>
          <a:ln w="12700">
            <a:solidFill>
              <a:srgbClr val="F4F6F8"/>
            </a:solidFill>
            <a:prstDash val="solid"/>
          </a:ln>
        </p:spPr>
      </p:sp>
      <p:sp>
        <p:nvSpPr>
          <p:cNvPr id="16" name="Shape 14"/>
          <p:cNvSpPr/>
          <p:nvPr/>
        </p:nvSpPr>
        <p:spPr>
          <a:xfrm>
            <a:off x="621792" y="4537253"/>
            <a:ext cx="457200" cy="457200"/>
          </a:xfrm>
          <a:prstGeom prst="roundRect">
            <a:avLst>
              <a:gd name="adj" fmla="val 16000"/>
            </a:avLst>
          </a:prstGeom>
          <a:solidFill>
            <a:srgbClr val="00629B"/>
          </a:solidFill>
          <a:ln w="12700">
            <a:solidFill>
              <a:srgbClr val="00629B"/>
            </a:solidFill>
            <a:prstDash val="solid"/>
          </a:ln>
        </p:spPr>
      </p:sp>
      <p:sp>
        <p:nvSpPr>
          <p:cNvPr id="17" name="Text 15"/>
          <p:cNvSpPr txBox="1"/>
          <p:nvPr/>
        </p:nvSpPr>
        <p:spPr>
          <a:xfrm>
            <a:off x="621792" y="4537253"/>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18" name="Text 16"/>
          <p:cNvSpPr txBox="1"/>
          <p:nvPr/>
        </p:nvSpPr>
        <p:spPr>
          <a:xfrm>
            <a:off x="1280160" y="4385462"/>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supuestos.csv: S-001 sin validar</a:t>
            </a:r>
            <a:endParaRPr lang="en-US" sz="1600" dirty="0"/>
          </a:p>
        </p:txBody>
      </p:sp>
      <p:sp>
        <p:nvSpPr>
          <p:cNvPr id="19" name="Shape 17"/>
          <p:cNvSpPr/>
          <p:nvPr/>
        </p:nvSpPr>
        <p:spPr>
          <a:xfrm>
            <a:off x="457200" y="5347411"/>
            <a:ext cx="11274552" cy="870509"/>
          </a:xfrm>
          <a:prstGeom prst="roundRect">
            <a:avLst>
              <a:gd name="adj" fmla="val 10504"/>
            </a:avLst>
          </a:prstGeom>
          <a:solidFill>
            <a:srgbClr val="E9F1F8"/>
          </a:solidFill>
          <a:ln w="12700">
            <a:solidFill>
              <a:srgbClr val="E9F1F8"/>
            </a:solidFill>
            <a:prstDash val="solid"/>
          </a:ln>
        </p:spPr>
      </p:sp>
      <p:sp>
        <p:nvSpPr>
          <p:cNvPr id="20" name="Shape 18"/>
          <p:cNvSpPr/>
          <p:nvPr/>
        </p:nvSpPr>
        <p:spPr>
          <a:xfrm>
            <a:off x="621792" y="5554066"/>
            <a:ext cx="457200" cy="457200"/>
          </a:xfrm>
          <a:prstGeom prst="roundRect">
            <a:avLst>
              <a:gd name="adj" fmla="val 16000"/>
            </a:avLst>
          </a:prstGeom>
          <a:solidFill>
            <a:srgbClr val="00629B"/>
          </a:solidFill>
          <a:ln w="12700">
            <a:solidFill>
              <a:srgbClr val="00629B"/>
            </a:solidFill>
            <a:prstDash val="solid"/>
          </a:ln>
        </p:spPr>
      </p:sp>
      <p:sp>
        <p:nvSpPr>
          <p:cNvPr id="21" name="Text 19"/>
          <p:cNvSpPr txBox="1"/>
          <p:nvPr/>
        </p:nvSpPr>
        <p:spPr>
          <a:xfrm>
            <a:off x="621792" y="5554066"/>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5</a:t>
            </a:r>
            <a:endParaRPr lang="en-US" sz="1600" dirty="0"/>
          </a:p>
        </p:txBody>
      </p:sp>
      <p:sp>
        <p:nvSpPr>
          <p:cNvPr id="22" name="Text 20"/>
          <p:cNvSpPr txBox="1"/>
          <p:nvPr/>
        </p:nvSpPr>
        <p:spPr>
          <a:xfrm>
            <a:off x="1280160" y="5402275"/>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Resultado: 7 candidatos de 5 fuentes</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Perfil al 3/11: dos altos sin respuesta</a:t>
            </a:r>
            <a:endParaRPr lang="en-US" sz="24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2818638"/>
                <a:gridCol w="2818638"/>
                <a:gridCol w="2818638"/>
                <a:gridCol w="2818638"/>
              </a:tblGrid>
              <a:tr h="0">
                <a:tc>
                  <a:txBody>
                    <a:bodyPr/>
                    <a:lstStyle/>
                    <a:p>
                      <a:pPr indent="0" marL="0">
                        <a:buNone/>
                      </a:pPr>
                      <a:r>
                        <a:rPr lang="en-US" sz="1800" b="1" dirty="0">
                          <a:solidFill>
                            <a:srgbClr val="FFFFFF"/>
                          </a:solidFill>
                          <a:latin typeface="Arial" pitchFamily="34" charset="0"/>
                          <a:ea typeface="Arial" pitchFamily="34" charset="-122"/>
                          <a:cs typeface="Arial" pitchFamily="34" charset="-120"/>
                        </a:rPr>
                        <a:t>Id</a:t>
                      </a:r>
                      <a:endParaRPr lang="en-US" sz="1200" dirty="0">
                        <a:latin typeface="Arial" charset="0"/>
                        <a:ea typeface="Arial" charset="0"/>
                        <a:cs typeface="Arial" charset="0"/>
                      </a:endParaRPr>
                    </a:p>
                  </a:txBody>
                  <a:tcPr marL="73152" marR="73152" marT="73152" marB="73152"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c>
                  <a:txBody>
                    <a:bodyPr/>
                    <a:lstStyle/>
                    <a:p>
                      <a:pPr indent="0" marL="0">
                        <a:buNone/>
                      </a:pPr>
                      <a:r>
                        <a:rPr lang="en-US" sz="1800" b="1" dirty="0">
                          <a:solidFill>
                            <a:srgbClr val="FFFFFF"/>
                          </a:solidFill>
                          <a:latin typeface="Arial" pitchFamily="34" charset="0"/>
                          <a:ea typeface="Arial" pitchFamily="34" charset="-122"/>
                          <a:cs typeface="Arial" pitchFamily="34" charset="-120"/>
                        </a:rPr>
                        <a:t>P×I</a:t>
                      </a:r>
                      <a:endParaRPr lang="en-US" sz="1200" dirty="0">
                        <a:latin typeface="Arial" charset="0"/>
                        <a:ea typeface="Arial" charset="0"/>
                        <a:cs typeface="Arial" charset="0"/>
                      </a:endParaRPr>
                    </a:p>
                  </a:txBody>
                  <a:tcPr marL="73152" marR="73152" marT="73152" marB="73152"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c>
                  <a:txBody>
                    <a:bodyPr/>
                    <a:lstStyle/>
                    <a:p>
                      <a:pPr indent="0" marL="0">
                        <a:buNone/>
                      </a:pPr>
                      <a:r>
                        <a:rPr lang="en-US" sz="1800" b="1" dirty="0">
                          <a:solidFill>
                            <a:srgbClr val="FFFFFF"/>
                          </a:solidFill>
                          <a:latin typeface="Arial" pitchFamily="34" charset="0"/>
                          <a:ea typeface="Arial" pitchFamily="34" charset="-122"/>
                          <a:cs typeface="Arial" pitchFamily="34" charset="-120"/>
                        </a:rPr>
                        <a:t>EMV USD</a:t>
                      </a:r>
                      <a:endParaRPr lang="en-US" sz="1200" dirty="0">
                        <a:latin typeface="Arial" charset="0"/>
                        <a:ea typeface="Arial" charset="0"/>
                        <a:cs typeface="Arial" charset="0"/>
                      </a:endParaRPr>
                    </a:p>
                  </a:txBody>
                  <a:tcPr marL="73152" marR="73152" marT="73152" marB="73152"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c>
                  <a:txBody>
                    <a:bodyPr/>
                    <a:lstStyle/>
                    <a:p>
                      <a:pPr indent="0" marL="0">
                        <a:buNone/>
                      </a:pPr>
                      <a:r>
                        <a:rPr lang="en-US" sz="1800" b="1" dirty="0">
                          <a:solidFill>
                            <a:srgbClr val="FFFFFF"/>
                          </a:solidFill>
                          <a:latin typeface="Arial" pitchFamily="34" charset="0"/>
                          <a:ea typeface="Arial" pitchFamily="34" charset="-122"/>
                          <a:cs typeface="Arial" pitchFamily="34" charset="-120"/>
                        </a:rPr>
                        <a:t>Nivel</a:t>
                      </a:r>
                      <a:endParaRPr lang="en-US" sz="1200" dirty="0">
                        <a:latin typeface="Arial" charset="0"/>
                        <a:ea typeface="Arial" charset="0"/>
                        <a:cs typeface="Arial" charset="0"/>
                      </a:endParaRPr>
                    </a:p>
                  </a:txBody>
                  <a:tcPr marL="73152" marR="73152" marT="73152" marB="73152"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r>
              <a:tr h="0">
                <a:tc>
                  <a:txBody>
                    <a:bodyPr/>
                    <a:lstStyle/>
                    <a:p>
                      <a:pPr indent="0" marL="0">
                        <a:buNone/>
                      </a:pPr>
                      <a:r>
                        <a:rPr lang="en-US" sz="1800" b="1" dirty="0">
                          <a:solidFill>
                            <a:srgbClr val="002855"/>
                          </a:solidFill>
                          <a:latin typeface="Arial" pitchFamily="34" charset="0"/>
                          <a:ea typeface="Arial" pitchFamily="34" charset="-122"/>
                          <a:cs typeface="Arial" pitchFamily="34" charset="-120"/>
                        </a:rPr>
                        <a:t>R-001</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4×4 = 16</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21.000</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alto</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r h="0">
                <a:tc>
                  <a:txBody>
                    <a:bodyPr/>
                    <a:lstStyle/>
                    <a:p>
                      <a:pPr indent="0" marL="0">
                        <a:buNone/>
                      </a:pPr>
                      <a:r>
                        <a:rPr lang="en-US" sz="1800" b="1" dirty="0">
                          <a:solidFill>
                            <a:srgbClr val="002855"/>
                          </a:solidFill>
                          <a:latin typeface="Arial" pitchFamily="34" charset="0"/>
                          <a:ea typeface="Arial" pitchFamily="34" charset="-122"/>
                          <a:cs typeface="Arial" pitchFamily="34" charset="-120"/>
                        </a:rPr>
                        <a:t>R-003</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3×5 = 15</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12.500</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alto</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r>
              <a:tr h="0">
                <a:tc>
                  <a:txBody>
                    <a:bodyPr/>
                    <a:lstStyle/>
                    <a:p>
                      <a:pPr indent="0" marL="0">
                        <a:buNone/>
                      </a:pPr>
                      <a:r>
                        <a:rPr lang="en-US" sz="1800" b="1" dirty="0">
                          <a:solidFill>
                            <a:srgbClr val="002855"/>
                          </a:solidFill>
                          <a:latin typeface="Arial" pitchFamily="34" charset="0"/>
                          <a:ea typeface="Arial" pitchFamily="34" charset="-122"/>
                          <a:cs typeface="Arial" pitchFamily="34" charset="-120"/>
                        </a:rPr>
                        <a:t>R-002</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3×4 = 12</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7.500</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medio</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r h="0">
                <a:tc>
                  <a:txBody>
                    <a:bodyPr/>
                    <a:lstStyle/>
                    <a:p>
                      <a:pPr indent="0" marL="0">
                        <a:buNone/>
                      </a:pPr>
                      <a:r>
                        <a:rPr lang="en-US" sz="1800" b="1" dirty="0">
                          <a:solidFill>
                            <a:srgbClr val="002855"/>
                          </a:solidFill>
                          <a:latin typeface="Arial" pitchFamily="34" charset="0"/>
                          <a:ea typeface="Arial" pitchFamily="34" charset="-122"/>
                          <a:cs typeface="Arial" pitchFamily="34" charset="-120"/>
                        </a:rPr>
                        <a:t>R-005</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3×3 = 9</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9.000</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medio</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r>
              <a:tr h="0">
                <a:tc>
                  <a:txBody>
                    <a:bodyPr/>
                    <a:lstStyle/>
                    <a:p>
                      <a:pPr indent="0" marL="0">
                        <a:buNone/>
                      </a:pPr>
                      <a:r>
                        <a:rPr lang="en-US" sz="1800" b="1" dirty="0">
                          <a:solidFill>
                            <a:srgbClr val="002855"/>
                          </a:solidFill>
                          <a:latin typeface="Arial" pitchFamily="34" charset="0"/>
                          <a:ea typeface="Arial" pitchFamily="34" charset="-122"/>
                          <a:cs typeface="Arial" pitchFamily="34" charset="-120"/>
                        </a:rPr>
                        <a:t>R-004</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2×4 = 8</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3.600</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medio</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bl>
          </a:graphicData>
        </a:graphic>
      </p:graphicFrame>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1645920"/>
            <a:ext cx="5486400" cy="411480"/>
          </a:xfrm>
          <a:prstGeom prst="rect">
            <a:avLst/>
          </a:prstGeom>
          <a:noFill/>
          <a:ln/>
        </p:spPr>
        <p:txBody>
          <a:bodyPr wrap="square" lIns="0" tIns="0" rIns="0" bIns="0" rtlCol="0" anchor="t"/>
          <a:lstStyle/>
          <a:p>
            <a:pPr indent="0" marL="0">
              <a:buNone/>
            </a:pPr>
            <a:r>
              <a:rPr lang="en-US" sz="1800" b="1" dirty="0">
                <a:solidFill>
                  <a:srgbClr val="9FD0F0"/>
                </a:solidFill>
                <a:latin typeface="Arial" pitchFamily="34" charset="0"/>
                <a:ea typeface="Arial" pitchFamily="34" charset="-122"/>
                <a:cs typeface="Arial" pitchFamily="34" charset="-120"/>
              </a:rPr>
              <a:t>Clase 1</a:t>
            </a:r>
            <a:endParaRPr lang="en-US" sz="1800" dirty="0"/>
          </a:p>
        </p:txBody>
      </p:sp>
      <p:sp>
        <p:nvSpPr>
          <p:cNvPr id="3" name="Text 2"/>
          <p:cNvSpPr/>
          <p:nvPr>
            <p:ph idx="102" type="title" hasCustomPrompt="1"/>
          </p:nvPr>
        </p:nvSpPr>
        <p:spPr>
          <a:xfrm>
            <a:off x="548640" y="2148840"/>
            <a:ext cx="11091672" cy="1005840"/>
          </a:xfrm>
          <a:prstGeom prst="rect">
            <a:avLst/>
          </a:prstGeom>
          <a:noFill/>
          <a:ln/>
        </p:spPr>
        <p:txBody>
          <a:bodyPr wrap="square" lIns="0" tIns="0" rIns="0" bIns="0" rtlCol="0" anchor="t"/>
          <a:lstStyle/>
          <a:p>
            <a:pPr algn="l" indent="0" marL="0">
              <a:buNone/>
            </a:pPr>
            <a:r>
              <a:rPr lang="en-US" sz="4000" b="1" dirty="0">
                <a:solidFill>
                  <a:srgbClr val="FFFFFF"/>
                </a:solidFill>
                <a:latin typeface="Arial" pitchFamily="34" charset="0"/>
                <a:ea typeface="Arial" pitchFamily="34" charset="-122"/>
                <a:cs typeface="Arial" pitchFamily="34" charset="-120"/>
              </a:rPr>
              <a:t>Responder y presupuestar</a:t>
            </a:r>
            <a:endParaRPr lang="en-US" sz="4000" dirty="0"/>
          </a:p>
        </p:txBody>
      </p:sp>
      <p:sp>
        <p:nvSpPr>
          <p:cNvPr id="4" name="Text 2"/>
          <p:cNvSpPr txBox="1"/>
          <p:nvPr/>
        </p:nvSpPr>
        <p:spPr>
          <a:xfrm>
            <a:off x="548640" y="3291840"/>
            <a:ext cx="11091672" cy="822960"/>
          </a:xfrm>
          <a:prstGeom prst="rect">
            <a:avLst/>
          </a:prstGeom>
          <a:noFill/>
          <a:ln/>
        </p:spPr>
        <p:txBody>
          <a:bodyPr wrap="square" lIns="0" tIns="0" rIns="0" bIns="0" rtlCol="0" anchor="t"/>
          <a:lstStyle/>
          <a:p>
            <a:pPr indent="0" marL="0">
              <a:buNone/>
            </a:pPr>
            <a:r>
              <a:rPr lang="en-US" sz="2200" dirty="0">
                <a:solidFill>
                  <a:srgbClr val="FFFFFF"/>
                </a:solidFill>
                <a:latin typeface="Arial" pitchFamily="34" charset="0"/>
                <a:ea typeface="Arial" pitchFamily="34" charset="-122"/>
                <a:cs typeface="Arial" pitchFamily="34" charset="-120"/>
              </a:rPr>
              <a:t>Costo frente a reducción de EMV</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6E4F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Demo · Paso 6: respuestas con costo y secundario</a:t>
            </a:r>
            <a:endParaRPr lang="en-US" sz="2400" dirty="0"/>
          </a:p>
        </p:txBody>
      </p:sp>
      <p:sp>
        <p:nvSpPr>
          <p:cNvPr id="3" name="Text 1"/>
          <p:cNvSpPr txBox="1"/>
          <p:nvPr/>
        </p:nvSpPr>
        <p:spPr>
          <a:xfrm>
            <a:off x="457200" y="1280160"/>
            <a:ext cx="5486400" cy="292608"/>
          </a:xfrm>
          <a:prstGeom prst="rect">
            <a:avLst/>
          </a:prstGeom>
          <a:noFill/>
          <a:ln/>
        </p:spPr>
        <p:txBody>
          <a:bodyPr wrap="square" lIns="0" tIns="0" rIns="0" bIns="0" rtlCol="0" anchor="t"/>
          <a:lstStyle/>
          <a:p>
            <a:pPr indent="0" marL="0">
              <a:buNone/>
            </a:pPr>
            <a:r>
              <a:rPr lang="en-US" sz="1300" b="1" dirty="0">
                <a:solidFill>
                  <a:srgbClr val="696969"/>
                </a:solidFill>
                <a:latin typeface="Arial" pitchFamily="34" charset="0"/>
                <a:ea typeface="Arial" pitchFamily="34" charset="-122"/>
                <a:cs typeface="Arial" pitchFamily="34" charset="-120"/>
              </a:rPr>
              <a:t>Prompt · escribilo tal cual</a:t>
            </a:r>
            <a:endParaRPr lang="en-US" sz="1300" dirty="0"/>
          </a:p>
        </p:txBody>
      </p:sp>
      <p:sp>
        <p:nvSpPr>
          <p:cNvPr id="4" name="Shape 2"/>
          <p:cNvSpPr/>
          <p:nvPr/>
        </p:nvSpPr>
        <p:spPr>
          <a:xfrm>
            <a:off x="457200" y="1627632"/>
            <a:ext cx="11274552" cy="4043934"/>
          </a:xfrm>
          <a:prstGeom prst="roundRect">
            <a:avLst>
              <a:gd name="adj" fmla="val 1809"/>
            </a:avLst>
          </a:prstGeom>
          <a:solidFill>
            <a:srgbClr val="0F2238"/>
          </a:solidFill>
          <a:ln w="12700">
            <a:solidFill>
              <a:srgbClr val="0F2238"/>
            </a:solidFill>
            <a:prstDash val="solid"/>
          </a:ln>
        </p:spPr>
      </p:sp>
      <p:sp>
        <p:nvSpPr>
          <p:cNvPr id="5" name="Text 3"/>
          <p:cNvSpPr txBox="1"/>
          <p:nvPr/>
        </p:nvSpPr>
        <p:spPr>
          <a:xfrm>
            <a:off x="685800" y="1792224"/>
            <a:ext cx="10817352" cy="3714750"/>
          </a:xfrm>
          <a:prstGeom prst="rect">
            <a:avLst/>
          </a:prstGeom>
          <a:noFill/>
          <a:ln/>
        </p:spPr>
        <p:txBody>
          <a:bodyPr wrap="square" lIns="0" tIns="0" rIns="0" bIns="0" rtlCol="0" anchor="ctr"/>
          <a:lstStyle/>
          <a:p>
            <a:pPr indent="0" marL="0">
              <a:buNone/>
            </a:pPr>
            <a:r>
              <a:rPr lang="en-US" sz="1800" dirty="0">
                <a:solidFill>
                  <a:srgbClr val="E8EEF5"/>
                </a:solidFill>
                <a:latin typeface="Courier New" pitchFamily="34" charset="0"/>
                <a:ea typeface="Courier New" pitchFamily="34" charset="-122"/>
                <a:cs typeface="Courier New" pitchFamily="34" charset="-120"/>
              </a:rPr>
              <a:t>Proponé respuestas para todos los riesgos con su residual, su disparador y su costo, y justificá cada una: el costo de la respuesta tiene que ser menor que la reducción de EMV que logra. Mi propuesta: R-001 reducir con un spike de integración con datos sintéticos en el sprint 1 (residual P2 I4, disparador "spike sin datos del padrón al día 5", USD 2.000); R-002 reducir con un taller con operadores (P2 I3, USD 1.500); R-003 transferir con un SLA de 99,9 % con penalidad (P2 I4, USD 2.500); R-004 aceptar con seguimiento mensual (P2 I4, sin costo); R-005 reducir con cláusula de permanencia (P2 I3, USD 3.000); R-006 explotar con un spike de reutilización (P4 I3, USD 800). Ojo con R-003: la penalidad del SLA tiene un tope de USD 2.000 por mes y no cubre el costo del atraso. Registralo como riesgo secundario (P2, I3, USD 6.000, aceptar; propietario Diego). Acciones: spike del padrón (Lucía, 11/12), taller con operadores y delegado sindical (Martín, 20/11), SLA con el proveedor de SMS (Diego, 25/11).</a:t>
            </a:r>
            <a:endParaRPr lang="en-US" sz="18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200" b="1" dirty="0">
                <a:solidFill>
                  <a:srgbClr val="FFFFFF"/>
                </a:solidFill>
                <a:latin typeface="Arial" pitchFamily="34" charset="0"/>
                <a:ea typeface="Arial" pitchFamily="34" charset="-122"/>
                <a:cs typeface="Arial" pitchFamily="34" charset="-120"/>
              </a:rPr>
              <a:t>Después de las respuestas, ninguna amenaza queda en zona alta</a:t>
            </a:r>
            <a:endParaRPr lang="en-US" sz="2400" dirty="0"/>
          </a:p>
        </p:txBody>
      </p:sp>
      <p:pic>
        <p:nvPicPr>
          <p:cNvPr id="3" name="Image 0" descr="Después de las respuestas, ninguna amenaza queda en zona alta">    </p:cNvPr>
          <p:cNvPicPr>
            <a:picLocks noChangeAspect="1"/>
          </p:cNvPicPr>
          <p:nvPr/>
        </p:nvPicPr>
        <p:blipFill>
          <a:blip r:embed="rId1"/>
          <a:stretch>
            <a:fillRect/>
          </a:stretch>
        </p:blipFill>
        <p:spPr>
          <a:xfrm>
            <a:off x="1705356" y="1280160"/>
            <a:ext cx="8778240" cy="4937760"/>
          </a:xfrm>
          <a:prstGeom prst="rect">
            <a:avLst/>
          </a:prstGeom>
        </p:spPr>
      </p:pic>
      <p:sp>
        <p:nvSpPr>
          <p:cNvPr id="4" name="Shape 1"/>
          <p:cNvSpPr/>
          <p:nvPr/>
        </p:nvSpPr>
        <p:spPr>
          <a:xfrm>
            <a:off x="1705356" y="1280160"/>
            <a:ext cx="8778240" cy="4937760"/>
          </a:xfrm>
          <a:prstGeom prst="rect">
            <a:avLst/>
          </a:prstGeom>
          <a:solidFill>
            <a:srgbClr val="FFFFFF">
              <a:alpha val="0"/>
            </a:srgbClr>
          </a:solidFill>
          <a:ln w="9525">
            <a:solidFill>
              <a:srgbClr val="E2E2E6"/>
            </a:solidFill>
            <a:prstDash val="solid"/>
          </a:ln>
        </p:spPr>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200" b="1" dirty="0">
                <a:solidFill>
                  <a:srgbClr val="FFFFFF"/>
                </a:solidFill>
                <a:latin typeface="Arial" pitchFamily="34" charset="0"/>
                <a:ea typeface="Arial" pitchFamily="34" charset="-122"/>
                <a:cs typeface="Arial" pitchFamily="34" charset="-120"/>
              </a:rPr>
              <a:t>Con USD 9.800 en respuestas, la exposición baja de 53.600 a 31.800</a:t>
            </a:r>
            <a:endParaRPr lang="en-US" sz="2400" dirty="0"/>
          </a:p>
        </p:txBody>
      </p:sp>
      <p:pic>
        <p:nvPicPr>
          <p:cNvPr id="3" name="Image 0" descr="Con USD 9.800 en respuestas, la exposición baja de 53.600 a 31.800">    </p:cNvPr>
          <p:cNvPicPr>
            <a:picLocks noChangeAspect="1"/>
          </p:cNvPicPr>
          <p:nvPr/>
        </p:nvPicPr>
        <p:blipFill>
          <a:blip r:embed="rId1"/>
          <a:stretch>
            <a:fillRect/>
          </a:stretch>
        </p:blipFill>
        <p:spPr>
          <a:xfrm>
            <a:off x="1705356" y="1280160"/>
            <a:ext cx="8778240" cy="4937760"/>
          </a:xfrm>
          <a:prstGeom prst="rect">
            <a:avLst/>
          </a:prstGeom>
        </p:spPr>
      </p:pic>
      <p:sp>
        <p:nvSpPr>
          <p:cNvPr id="4" name="Shape 1"/>
          <p:cNvSpPr/>
          <p:nvPr/>
        </p:nvSpPr>
        <p:spPr>
          <a:xfrm>
            <a:off x="1705356" y="1280160"/>
            <a:ext cx="8778240" cy="4937760"/>
          </a:xfrm>
          <a:prstGeom prst="rect">
            <a:avLst/>
          </a:prstGeom>
          <a:solidFill>
            <a:srgbClr val="FFFFFF">
              <a:alpha val="0"/>
            </a:srgbClr>
          </a:solidFill>
          <a:ln w="9525">
            <a:solidFill>
              <a:srgbClr val="E2E2E6"/>
            </a:solidFill>
            <a:prstDash val="solid"/>
          </a:ln>
        </p:spPr>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Paso 7 · Presupuesto de riesgo: 47.800</a:t>
            </a:r>
            <a:endParaRPr lang="en-US" sz="2400" dirty="0"/>
          </a:p>
        </p:txBody>
      </p:sp>
      <p:sp>
        <p:nvSpPr>
          <p:cNvPr id="3" name="Shape 1"/>
          <p:cNvSpPr/>
          <p:nvPr/>
        </p:nvSpPr>
        <p:spPr>
          <a:xfrm>
            <a:off x="457200" y="1280160"/>
            <a:ext cx="11274552" cy="870509"/>
          </a:xfrm>
          <a:prstGeom prst="roundRect">
            <a:avLst>
              <a:gd name="adj" fmla="val 10504"/>
            </a:avLst>
          </a:prstGeom>
          <a:solidFill>
            <a:srgbClr val="E9F1F8"/>
          </a:solidFill>
          <a:ln w="12700">
            <a:solidFill>
              <a:srgbClr val="E9F1F8"/>
            </a:solidFill>
            <a:prstDash val="solid"/>
          </a:ln>
        </p:spPr>
      </p:sp>
      <p:sp>
        <p:nvSpPr>
          <p:cNvPr id="4" name="Shape 2"/>
          <p:cNvSpPr/>
          <p:nvPr/>
        </p:nvSpPr>
        <p:spPr>
          <a:xfrm>
            <a:off x="621792" y="1486814"/>
            <a:ext cx="457200" cy="457200"/>
          </a:xfrm>
          <a:prstGeom prst="roundRect">
            <a:avLst>
              <a:gd name="adj" fmla="val 16000"/>
            </a:avLst>
          </a:prstGeom>
          <a:solidFill>
            <a:srgbClr val="00629B"/>
          </a:solidFill>
          <a:ln w="12700">
            <a:solidFill>
              <a:srgbClr val="00629B"/>
            </a:solidFill>
            <a:prstDash val="solid"/>
          </a:ln>
        </p:spPr>
      </p:sp>
      <p:sp>
        <p:nvSpPr>
          <p:cNvPr id="5" name="Text 3"/>
          <p:cNvSpPr txBox="1"/>
          <p:nvPr/>
        </p:nvSpPr>
        <p:spPr>
          <a:xfrm>
            <a:off x="621792" y="1486814"/>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6" name="Text 4"/>
          <p:cNvSpPr txBox="1"/>
          <p:nvPr/>
        </p:nvSpPr>
        <p:spPr>
          <a:xfrm>
            <a:off x="1280160" y="1335024"/>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Respuestas 9.800 + EMV residual 31.800 + provisión 6.200</a:t>
            </a:r>
            <a:endParaRPr lang="en-US" sz="1600" dirty="0"/>
          </a:p>
        </p:txBody>
      </p:sp>
      <p:sp>
        <p:nvSpPr>
          <p:cNvPr id="7" name="Shape 5"/>
          <p:cNvSpPr/>
          <p:nvPr/>
        </p:nvSpPr>
        <p:spPr>
          <a:xfrm>
            <a:off x="457200" y="2296973"/>
            <a:ext cx="11274552" cy="870509"/>
          </a:xfrm>
          <a:prstGeom prst="roundRect">
            <a:avLst>
              <a:gd name="adj" fmla="val 10504"/>
            </a:avLst>
          </a:prstGeom>
          <a:solidFill>
            <a:srgbClr val="F4F6F8"/>
          </a:solidFill>
          <a:ln w="12700">
            <a:solidFill>
              <a:srgbClr val="F4F6F8"/>
            </a:solidFill>
            <a:prstDash val="solid"/>
          </a:ln>
        </p:spPr>
      </p:sp>
      <p:sp>
        <p:nvSpPr>
          <p:cNvPr id="8" name="Shape 6"/>
          <p:cNvSpPr/>
          <p:nvPr/>
        </p:nvSpPr>
        <p:spPr>
          <a:xfrm>
            <a:off x="621792" y="2503627"/>
            <a:ext cx="457200" cy="457200"/>
          </a:xfrm>
          <a:prstGeom prst="roundRect">
            <a:avLst>
              <a:gd name="adj" fmla="val 16000"/>
            </a:avLst>
          </a:prstGeom>
          <a:solidFill>
            <a:srgbClr val="00629B"/>
          </a:solidFill>
          <a:ln w="12700">
            <a:solidFill>
              <a:srgbClr val="00629B"/>
            </a:solidFill>
            <a:prstDash val="solid"/>
          </a:ln>
        </p:spPr>
      </p:sp>
      <p:sp>
        <p:nvSpPr>
          <p:cNvPr id="9" name="Text 7"/>
          <p:cNvSpPr txBox="1"/>
          <p:nvPr/>
        </p:nvSpPr>
        <p:spPr>
          <a:xfrm>
            <a:off x="621792" y="2503627"/>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0" name="Text 8"/>
          <p:cNvSpPr txBox="1"/>
          <p:nvPr/>
        </p:nvSpPr>
        <p:spPr>
          <a:xfrm>
            <a:off x="1280160" y="2351837"/>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La transferencia de R-003 no descuenta su residual</a:t>
            </a:r>
            <a:endParaRPr lang="en-US" sz="1600" dirty="0"/>
          </a:p>
        </p:txBody>
      </p:sp>
      <p:sp>
        <p:nvSpPr>
          <p:cNvPr id="11" name="Shape 9"/>
          <p:cNvSpPr/>
          <p:nvPr/>
        </p:nvSpPr>
        <p:spPr>
          <a:xfrm>
            <a:off x="457200" y="3313786"/>
            <a:ext cx="11274552" cy="870509"/>
          </a:xfrm>
          <a:prstGeom prst="roundRect">
            <a:avLst>
              <a:gd name="adj" fmla="val 10504"/>
            </a:avLst>
          </a:prstGeom>
          <a:solidFill>
            <a:srgbClr val="E9F1F8"/>
          </a:solidFill>
          <a:ln w="12700">
            <a:solidFill>
              <a:srgbClr val="E9F1F8"/>
            </a:solidFill>
            <a:prstDash val="solid"/>
          </a:ln>
        </p:spPr>
      </p:sp>
      <p:sp>
        <p:nvSpPr>
          <p:cNvPr id="12" name="Shape 10"/>
          <p:cNvSpPr/>
          <p:nvPr/>
        </p:nvSpPr>
        <p:spPr>
          <a:xfrm>
            <a:off x="621792" y="3520440"/>
            <a:ext cx="457200" cy="457200"/>
          </a:xfrm>
          <a:prstGeom prst="roundRect">
            <a:avLst>
              <a:gd name="adj" fmla="val 16000"/>
            </a:avLst>
          </a:prstGeom>
          <a:solidFill>
            <a:srgbClr val="00629B"/>
          </a:solidFill>
          <a:ln w="12700">
            <a:solidFill>
              <a:srgbClr val="00629B"/>
            </a:solidFill>
            <a:prstDash val="solid"/>
          </a:ln>
        </p:spPr>
      </p:sp>
      <p:sp>
        <p:nvSpPr>
          <p:cNvPr id="13" name="Text 11"/>
          <p:cNvSpPr txBox="1"/>
          <p:nvPr/>
        </p:nvSpPr>
        <p:spPr>
          <a:xfrm>
            <a:off x="621792" y="35204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4" name="Text 12"/>
          <p:cNvSpPr txBox="1"/>
          <p:nvPr/>
        </p:nvSpPr>
        <p:spPr>
          <a:xfrm>
            <a:off x="1280160" y="3368650"/>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Lo fija la ejecutiva: estado.py presupuesto riesgo=47800</a:t>
            </a:r>
            <a:endParaRPr lang="en-US" sz="1600" dirty="0"/>
          </a:p>
        </p:txBody>
      </p:sp>
      <p:sp>
        <p:nvSpPr>
          <p:cNvPr id="15" name="Shape 13"/>
          <p:cNvSpPr/>
          <p:nvPr/>
        </p:nvSpPr>
        <p:spPr>
          <a:xfrm>
            <a:off x="457200" y="4330598"/>
            <a:ext cx="11274552" cy="870509"/>
          </a:xfrm>
          <a:prstGeom prst="roundRect">
            <a:avLst>
              <a:gd name="adj" fmla="val 10504"/>
            </a:avLst>
          </a:prstGeom>
          <a:solidFill>
            <a:srgbClr val="F4F6F8"/>
          </a:solidFill>
          <a:ln w="12700">
            <a:solidFill>
              <a:srgbClr val="F4F6F8"/>
            </a:solidFill>
            <a:prstDash val="solid"/>
          </a:ln>
        </p:spPr>
      </p:sp>
      <p:sp>
        <p:nvSpPr>
          <p:cNvPr id="16" name="Shape 14"/>
          <p:cNvSpPr/>
          <p:nvPr/>
        </p:nvSpPr>
        <p:spPr>
          <a:xfrm>
            <a:off x="621792" y="4537253"/>
            <a:ext cx="457200" cy="457200"/>
          </a:xfrm>
          <a:prstGeom prst="roundRect">
            <a:avLst>
              <a:gd name="adj" fmla="val 16000"/>
            </a:avLst>
          </a:prstGeom>
          <a:solidFill>
            <a:srgbClr val="00629B"/>
          </a:solidFill>
          <a:ln w="12700">
            <a:solidFill>
              <a:srgbClr val="00629B"/>
            </a:solidFill>
            <a:prstDash val="solid"/>
          </a:ln>
        </p:spPr>
      </p:sp>
      <p:sp>
        <p:nvSpPr>
          <p:cNvPr id="17" name="Text 15"/>
          <p:cNvSpPr txBox="1"/>
          <p:nvPr/>
        </p:nvSpPr>
        <p:spPr>
          <a:xfrm>
            <a:off x="621792" y="4537253"/>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18" name="Text 16"/>
          <p:cNvSpPr txBox="1"/>
          <p:nvPr/>
        </p:nvSpPr>
        <p:spPr>
          <a:xfrm>
            <a:off x="1280160" y="4385462"/>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C-001 carga 9.800: CAM-03 informa 21 %</a:t>
            </a:r>
            <a:endParaRPr lang="en-US" sz="1600" dirty="0"/>
          </a:p>
        </p:txBody>
      </p:sp>
      <p:sp>
        <p:nvSpPr>
          <p:cNvPr id="19" name="Shape 17"/>
          <p:cNvSpPr/>
          <p:nvPr/>
        </p:nvSpPr>
        <p:spPr>
          <a:xfrm>
            <a:off x="457200" y="5347411"/>
            <a:ext cx="11274552" cy="870509"/>
          </a:xfrm>
          <a:prstGeom prst="roundRect">
            <a:avLst>
              <a:gd name="adj" fmla="val 10504"/>
            </a:avLst>
          </a:prstGeom>
          <a:solidFill>
            <a:srgbClr val="E9F1F8"/>
          </a:solidFill>
          <a:ln w="12700">
            <a:solidFill>
              <a:srgbClr val="E9F1F8"/>
            </a:solidFill>
            <a:prstDash val="solid"/>
          </a:ln>
        </p:spPr>
      </p:sp>
      <p:sp>
        <p:nvSpPr>
          <p:cNvPr id="20" name="Shape 18"/>
          <p:cNvSpPr/>
          <p:nvPr/>
        </p:nvSpPr>
        <p:spPr>
          <a:xfrm>
            <a:off x="621792" y="5554066"/>
            <a:ext cx="457200" cy="457200"/>
          </a:xfrm>
          <a:prstGeom prst="roundRect">
            <a:avLst>
              <a:gd name="adj" fmla="val 16000"/>
            </a:avLst>
          </a:prstGeom>
          <a:solidFill>
            <a:srgbClr val="00629B"/>
          </a:solidFill>
          <a:ln w="12700">
            <a:solidFill>
              <a:srgbClr val="00629B"/>
            </a:solidFill>
            <a:prstDash val="solid"/>
          </a:ln>
        </p:spPr>
      </p:sp>
      <p:sp>
        <p:nvSpPr>
          <p:cNvPr id="21" name="Text 19"/>
          <p:cNvSpPr txBox="1"/>
          <p:nvPr/>
        </p:nvSpPr>
        <p:spPr>
          <a:xfrm>
            <a:off x="621792" y="5554066"/>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5</a:t>
            </a:r>
            <a:endParaRPr lang="en-US" sz="1600" dirty="0"/>
          </a:p>
        </p:txBody>
      </p:sp>
      <p:sp>
        <p:nvSpPr>
          <p:cNvPr id="22" name="Text 20"/>
          <p:cNvSpPr txBox="1"/>
          <p:nvPr/>
        </p:nvSpPr>
        <p:spPr>
          <a:xfrm>
            <a:off x="1280160" y="5402275"/>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REG-07: A-002 y A-003 hechas pero sin cerrar</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2"/>
          <p:cNvSpPr/>
          <p:nvPr>
            <p:ph idx="102" type="title" hasCustomPrompt="1"/>
          </p:nvPr>
        </p:nvSpPr>
        <p:spPr>
          <a:xfrm>
            <a:off x="548640" y="365760"/>
            <a:ext cx="9445752" cy="713232"/>
          </a:xfrm>
          <a:prstGeom prst="rect">
            <a:avLst/>
          </a:prstGeom>
          <a:noFill/>
          <a:ln/>
        </p:spPr>
        <p:txBody>
          <a:bodyPr wrap="square" lIns="0" tIns="0" rIns="0" bIns="0" rtlCol="0" anchor="ctr"/>
          <a:lstStyle/>
          <a:p>
            <a:pPr algn="l" indent="0" marL="0">
              <a:buNone/>
            </a:pPr>
            <a:r>
              <a:rPr lang="en-US" sz="2200" b="1" dirty="0">
                <a:solidFill>
                  <a:srgbClr val="9FD0F0"/>
                </a:solidFill>
                <a:latin typeface="Arial" pitchFamily="34" charset="0"/>
                <a:ea typeface="Arial" pitchFamily="34" charset="-122"/>
                <a:cs typeface="Arial" pitchFamily="34" charset="-120"/>
              </a:rPr>
              <a:t>Discusión</a:t>
            </a:r>
            <a:endParaRPr lang="en-US" sz="2200" dirty="0"/>
          </a:p>
        </p:txBody>
      </p:sp>
      <p:sp>
        <p:nvSpPr>
          <p:cNvPr id="3" name="Shape 1"/>
          <p:cNvSpPr/>
          <p:nvPr/>
        </p:nvSpPr>
        <p:spPr>
          <a:xfrm>
            <a:off x="548640" y="3131820"/>
            <a:ext cx="1188720" cy="1188720"/>
          </a:xfrm>
          <a:prstGeom prst="ellipse">
            <a:avLst/>
          </a:prstGeom>
          <a:solidFill>
            <a:srgbClr val="B5651D"/>
          </a:solidFill>
          <a:ln w="12700">
            <a:solidFill>
              <a:srgbClr val="B5651D"/>
            </a:solidFill>
            <a:prstDash val="solid"/>
          </a:ln>
        </p:spPr>
      </p:sp>
      <p:sp>
        <p:nvSpPr>
          <p:cNvPr id="4" name="Text 2"/>
          <p:cNvSpPr txBox="1"/>
          <p:nvPr/>
        </p:nvSpPr>
        <p:spPr>
          <a:xfrm>
            <a:off x="548640" y="3131820"/>
            <a:ext cx="1188720" cy="1188720"/>
          </a:xfrm>
          <a:prstGeom prst="rect">
            <a:avLst/>
          </a:prstGeom>
          <a:noFill/>
          <a:ln/>
        </p:spPr>
        <p:txBody>
          <a:bodyPr wrap="square" lIns="0" tIns="0" rIns="0" bIns="0" rtlCol="0" anchor="ctr"/>
          <a:lstStyle/>
          <a:p>
            <a:pPr algn="ctr" indent="0" marL="0">
              <a:buNone/>
            </a:pPr>
            <a:r>
              <a:rPr lang="en-US" sz="5400" b="1" dirty="0">
                <a:solidFill>
                  <a:srgbClr val="FFFFFF"/>
                </a:solidFill>
                <a:latin typeface="Arial" pitchFamily="34" charset="0"/>
                <a:ea typeface="Arial" pitchFamily="34" charset="-122"/>
                <a:cs typeface="Arial" pitchFamily="34" charset="-120"/>
              </a:rPr>
              <a:t>?</a:t>
            </a:r>
            <a:endParaRPr lang="en-US" sz="5400" dirty="0"/>
          </a:p>
        </p:txBody>
      </p:sp>
      <p:sp>
        <p:nvSpPr>
          <p:cNvPr id="5" name="Text 3"/>
          <p:cNvSpPr txBox="1"/>
          <p:nvPr/>
        </p:nvSpPr>
        <p:spPr>
          <a:xfrm>
            <a:off x="2103120" y="1417320"/>
            <a:ext cx="9537192" cy="4617720"/>
          </a:xfrm>
          <a:prstGeom prst="rect">
            <a:avLst/>
          </a:prstGeom>
          <a:noFill/>
          <a:ln/>
        </p:spPr>
        <p:txBody>
          <a:bodyPr wrap="square" lIns="0" tIns="0" rIns="0" bIns="0" rtlCol="0" anchor="ctr"/>
          <a:lstStyle/>
          <a:p>
            <a:pPr indent="0" marL="0">
              <a:buNone/>
            </a:pPr>
            <a:r>
              <a:rPr lang="en-US" sz="3200" b="1" dirty="0">
                <a:solidFill>
                  <a:srgbClr val="FFFFFF"/>
                </a:solidFill>
                <a:latin typeface="Arial" pitchFamily="34" charset="0"/>
                <a:ea typeface="Arial" pitchFamily="34" charset="-122"/>
                <a:cs typeface="Arial" pitchFamily="34" charset="-120"/>
              </a:rPr>
              <a:t>R-003 se transfiere con un SLA. ¿Por qué su EMV residual sigue en el presupuesto de riesgo?</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6E4F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Ejercicio · Parte A: tu enfoque y tu presupuesto</a:t>
            </a:r>
            <a:endParaRPr lang="en-US" sz="2400" dirty="0"/>
          </a:p>
        </p:txBody>
      </p:sp>
      <p:sp>
        <p:nvSpPr>
          <p:cNvPr id="3" name="Shape 1"/>
          <p:cNvSpPr/>
          <p:nvPr/>
        </p:nvSpPr>
        <p:spPr>
          <a:xfrm>
            <a:off x="457200" y="1280160"/>
            <a:ext cx="5500116" cy="2331720"/>
          </a:xfrm>
          <a:prstGeom prst="roundRect">
            <a:avLst>
              <a:gd name="adj" fmla="val 3922"/>
            </a:avLst>
          </a:prstGeom>
          <a:solidFill>
            <a:srgbClr val="FBF1E6"/>
          </a:solidFill>
          <a:ln w="12700">
            <a:solidFill>
              <a:srgbClr val="FBF1E6"/>
            </a:solidFill>
            <a:prstDash val="solid"/>
          </a:ln>
        </p:spPr>
      </p:sp>
      <p:sp>
        <p:nvSpPr>
          <p:cNvPr id="4" name="Text 2"/>
          <p:cNvSpPr txBox="1"/>
          <p:nvPr/>
        </p:nvSpPr>
        <p:spPr>
          <a:xfrm>
            <a:off x="658368" y="1389888"/>
            <a:ext cx="731520" cy="420624"/>
          </a:xfrm>
          <a:prstGeom prst="rect">
            <a:avLst/>
          </a:prstGeom>
          <a:noFill/>
          <a:ln/>
        </p:spPr>
        <p:txBody>
          <a:bodyPr wrap="square" lIns="0" tIns="0" rIns="0" bIns="0" rtlCol="0" anchor="t"/>
          <a:lstStyle/>
          <a:p>
            <a:pPr indent="0" marL="0">
              <a:buNone/>
            </a:pPr>
            <a:r>
              <a:rPr lang="en-US" sz="2600" b="1" dirty="0">
                <a:solidFill>
                  <a:srgbClr val="B5651D"/>
                </a:solidFill>
                <a:latin typeface="Arial" pitchFamily="34" charset="0"/>
                <a:ea typeface="Arial" pitchFamily="34" charset="-122"/>
                <a:cs typeface="Arial" pitchFamily="34" charset="-120"/>
              </a:rPr>
              <a:t>1</a:t>
            </a:r>
            <a:endParaRPr lang="en-US" sz="2600" dirty="0"/>
          </a:p>
        </p:txBody>
      </p:sp>
      <p:sp>
        <p:nvSpPr>
          <p:cNvPr id="5" name="Text 3"/>
          <p:cNvSpPr txBox="1"/>
          <p:nvPr/>
        </p:nvSpPr>
        <p:spPr>
          <a:xfrm>
            <a:off x="658368" y="1847088"/>
            <a:ext cx="5097780" cy="1581912"/>
          </a:xfrm>
          <a:prstGeom prst="rect">
            <a:avLst/>
          </a:prstGeom>
          <a:noFill/>
          <a:ln/>
        </p:spPr>
        <p:txBody>
          <a:bodyPr wrap="square" lIns="0" tIns="0" rIns="0" bIns="0" rtlCol="0" anchor="t"/>
          <a:lstStyle/>
          <a:p>
            <a:pPr indent="0" marL="0">
              <a:buNone/>
            </a:pPr>
            <a:r>
              <a:rPr lang="en-US" sz="2000" dirty="0">
                <a:solidFill>
                  <a:srgbClr val="272425"/>
                </a:solidFill>
                <a:latin typeface="Arial" pitchFamily="34" charset="0"/>
                <a:ea typeface="Arial" pitchFamily="34" charset="-122"/>
                <a:cs typeface="Arial" pitchFamily="34" charset="-120"/>
              </a:rPr>
              <a:t>A1: apetito, tolerancia, autoridad sobre la reserva y cadencia</a:t>
            </a:r>
            <a:endParaRPr lang="en-US" sz="1600" dirty="0"/>
          </a:p>
        </p:txBody>
      </p:sp>
      <p:sp>
        <p:nvSpPr>
          <p:cNvPr id="6" name="Shape 4"/>
          <p:cNvSpPr/>
          <p:nvPr/>
        </p:nvSpPr>
        <p:spPr>
          <a:xfrm>
            <a:off x="6231636" y="1280160"/>
            <a:ext cx="5500116" cy="2331720"/>
          </a:xfrm>
          <a:prstGeom prst="roundRect">
            <a:avLst>
              <a:gd name="adj" fmla="val 3922"/>
            </a:avLst>
          </a:prstGeom>
          <a:solidFill>
            <a:srgbClr val="FBF1E6"/>
          </a:solidFill>
          <a:ln w="12700">
            <a:solidFill>
              <a:srgbClr val="FBF1E6"/>
            </a:solidFill>
            <a:prstDash val="solid"/>
          </a:ln>
        </p:spPr>
      </p:sp>
      <p:sp>
        <p:nvSpPr>
          <p:cNvPr id="7" name="Text 5"/>
          <p:cNvSpPr txBox="1"/>
          <p:nvPr/>
        </p:nvSpPr>
        <p:spPr>
          <a:xfrm>
            <a:off x="6432804" y="1389888"/>
            <a:ext cx="731520" cy="420624"/>
          </a:xfrm>
          <a:prstGeom prst="rect">
            <a:avLst/>
          </a:prstGeom>
          <a:noFill/>
          <a:ln/>
        </p:spPr>
        <p:txBody>
          <a:bodyPr wrap="square" lIns="0" tIns="0" rIns="0" bIns="0" rtlCol="0" anchor="t"/>
          <a:lstStyle/>
          <a:p>
            <a:pPr indent="0" marL="0">
              <a:buNone/>
            </a:pPr>
            <a:r>
              <a:rPr lang="en-US" sz="2600" b="1" dirty="0">
                <a:solidFill>
                  <a:srgbClr val="B5651D"/>
                </a:solidFill>
                <a:latin typeface="Arial" pitchFamily="34" charset="0"/>
                <a:ea typeface="Arial" pitchFamily="34" charset="-122"/>
                <a:cs typeface="Arial" pitchFamily="34" charset="-120"/>
              </a:rPr>
              <a:t>2</a:t>
            </a:r>
            <a:endParaRPr lang="en-US" sz="2600" dirty="0"/>
          </a:p>
        </p:txBody>
      </p:sp>
      <p:sp>
        <p:nvSpPr>
          <p:cNvPr id="8" name="Text 6"/>
          <p:cNvSpPr txBox="1"/>
          <p:nvPr/>
        </p:nvSpPr>
        <p:spPr>
          <a:xfrm>
            <a:off x="6432804" y="1847088"/>
            <a:ext cx="5097780" cy="1581912"/>
          </a:xfrm>
          <a:prstGeom prst="rect">
            <a:avLst/>
          </a:prstGeom>
          <a:noFill/>
          <a:ln/>
        </p:spPr>
        <p:txBody>
          <a:bodyPr wrap="square" lIns="0" tIns="0" rIns="0" bIns="0" rtlCol="0" anchor="t"/>
          <a:lstStyle/>
          <a:p>
            <a:pPr indent="0" marL="0">
              <a:buNone/>
            </a:pPr>
            <a:r>
              <a:rPr lang="en-US" sz="2000" dirty="0">
                <a:solidFill>
                  <a:srgbClr val="272425"/>
                </a:solidFill>
                <a:latin typeface="Arial" pitchFamily="34" charset="0"/>
                <a:ea typeface="Arial" pitchFamily="34" charset="-122"/>
                <a:cs typeface="Arial" pitchFamily="34" charset="-120"/>
              </a:rPr>
              <a:t>A2: tres riesgos con respuesta, costo y EMV residual</a:t>
            </a:r>
            <a:endParaRPr lang="en-US" sz="1600" dirty="0"/>
          </a:p>
        </p:txBody>
      </p:sp>
      <p:sp>
        <p:nvSpPr>
          <p:cNvPr id="9" name="Shape 7"/>
          <p:cNvSpPr/>
          <p:nvPr/>
        </p:nvSpPr>
        <p:spPr>
          <a:xfrm>
            <a:off x="457200" y="3886200"/>
            <a:ext cx="5500116" cy="2331720"/>
          </a:xfrm>
          <a:prstGeom prst="roundRect">
            <a:avLst>
              <a:gd name="adj" fmla="val 3922"/>
            </a:avLst>
          </a:prstGeom>
          <a:solidFill>
            <a:srgbClr val="FBF1E6"/>
          </a:solidFill>
          <a:ln w="12700">
            <a:solidFill>
              <a:srgbClr val="FBF1E6"/>
            </a:solidFill>
            <a:prstDash val="solid"/>
          </a:ln>
        </p:spPr>
      </p:sp>
      <p:sp>
        <p:nvSpPr>
          <p:cNvPr id="10" name="Text 8"/>
          <p:cNvSpPr txBox="1"/>
          <p:nvPr/>
        </p:nvSpPr>
        <p:spPr>
          <a:xfrm>
            <a:off x="658368" y="3995928"/>
            <a:ext cx="731520" cy="420624"/>
          </a:xfrm>
          <a:prstGeom prst="rect">
            <a:avLst/>
          </a:prstGeom>
          <a:noFill/>
          <a:ln/>
        </p:spPr>
        <p:txBody>
          <a:bodyPr wrap="square" lIns="0" tIns="0" rIns="0" bIns="0" rtlCol="0" anchor="t"/>
          <a:lstStyle/>
          <a:p>
            <a:pPr indent="0" marL="0">
              <a:buNone/>
            </a:pPr>
            <a:r>
              <a:rPr lang="en-US" sz="2600" b="1" dirty="0">
                <a:solidFill>
                  <a:srgbClr val="B5651D"/>
                </a:solidFill>
                <a:latin typeface="Arial" pitchFamily="34" charset="0"/>
                <a:ea typeface="Arial" pitchFamily="34" charset="-122"/>
                <a:cs typeface="Arial" pitchFamily="34" charset="-120"/>
              </a:rPr>
              <a:t>3</a:t>
            </a:r>
            <a:endParaRPr lang="en-US" sz="2600" dirty="0"/>
          </a:p>
        </p:txBody>
      </p:sp>
      <p:sp>
        <p:nvSpPr>
          <p:cNvPr id="11" name="Text 9"/>
          <p:cNvSpPr txBox="1"/>
          <p:nvPr/>
        </p:nvSpPr>
        <p:spPr>
          <a:xfrm>
            <a:off x="658368" y="4453128"/>
            <a:ext cx="5097780" cy="1581912"/>
          </a:xfrm>
          <a:prstGeom prst="rect">
            <a:avLst/>
          </a:prstGeom>
          <a:noFill/>
          <a:ln/>
        </p:spPr>
        <p:txBody>
          <a:bodyPr wrap="square" lIns="0" tIns="0" rIns="0" bIns="0" rtlCol="0" anchor="t"/>
          <a:lstStyle/>
          <a:p>
            <a:pPr indent="0" marL="0">
              <a:buNone/>
            </a:pPr>
            <a:r>
              <a:rPr lang="en-US" sz="2000" dirty="0">
                <a:solidFill>
                  <a:srgbClr val="272425"/>
                </a:solidFill>
                <a:latin typeface="Arial" pitchFamily="34" charset="0"/>
                <a:ea typeface="Arial" pitchFamily="34" charset="-122"/>
                <a:cs typeface="Arial" pitchFamily="34" charset="-120"/>
              </a:rPr>
              <a:t>A3: presupuesto = respuestas + residual + provisión</a:t>
            </a:r>
            <a:endParaRPr lang="en-US" sz="1600" dirty="0"/>
          </a:p>
        </p:txBody>
      </p:sp>
      <p:sp>
        <p:nvSpPr>
          <p:cNvPr id="12" name="Shape 10"/>
          <p:cNvSpPr/>
          <p:nvPr/>
        </p:nvSpPr>
        <p:spPr>
          <a:xfrm>
            <a:off x="6231636" y="3886200"/>
            <a:ext cx="5500116" cy="2331720"/>
          </a:xfrm>
          <a:prstGeom prst="roundRect">
            <a:avLst>
              <a:gd name="adj" fmla="val 3922"/>
            </a:avLst>
          </a:prstGeom>
          <a:solidFill>
            <a:srgbClr val="FBF1E6"/>
          </a:solidFill>
          <a:ln w="12700">
            <a:solidFill>
              <a:srgbClr val="FBF1E6"/>
            </a:solidFill>
            <a:prstDash val="solid"/>
          </a:ln>
        </p:spPr>
      </p:sp>
      <p:sp>
        <p:nvSpPr>
          <p:cNvPr id="13" name="Text 11"/>
          <p:cNvSpPr txBox="1"/>
          <p:nvPr/>
        </p:nvSpPr>
        <p:spPr>
          <a:xfrm>
            <a:off x="6432804" y="3995928"/>
            <a:ext cx="731520" cy="420624"/>
          </a:xfrm>
          <a:prstGeom prst="rect">
            <a:avLst/>
          </a:prstGeom>
          <a:noFill/>
          <a:ln/>
        </p:spPr>
        <p:txBody>
          <a:bodyPr wrap="square" lIns="0" tIns="0" rIns="0" bIns="0" rtlCol="0" anchor="t"/>
          <a:lstStyle/>
          <a:p>
            <a:pPr indent="0" marL="0">
              <a:buNone/>
            </a:pPr>
            <a:r>
              <a:rPr lang="en-US" sz="2600" b="1" dirty="0">
                <a:solidFill>
                  <a:srgbClr val="B5651D"/>
                </a:solidFill>
                <a:latin typeface="Arial" pitchFamily="34" charset="0"/>
                <a:ea typeface="Arial" pitchFamily="34" charset="-122"/>
                <a:cs typeface="Arial" pitchFamily="34" charset="-120"/>
              </a:rPr>
              <a:t>4</a:t>
            </a:r>
            <a:endParaRPr lang="en-US" sz="2600" dirty="0"/>
          </a:p>
        </p:txBody>
      </p:sp>
      <p:sp>
        <p:nvSpPr>
          <p:cNvPr id="14" name="Text 12"/>
          <p:cNvSpPr txBox="1"/>
          <p:nvPr/>
        </p:nvSpPr>
        <p:spPr>
          <a:xfrm>
            <a:off x="6432804" y="4453128"/>
            <a:ext cx="5097780" cy="1581912"/>
          </a:xfrm>
          <a:prstGeom prst="rect">
            <a:avLst/>
          </a:prstGeom>
          <a:noFill/>
          <a:ln/>
        </p:spPr>
        <p:txBody>
          <a:bodyPr wrap="square" lIns="0" tIns="0" rIns="0" bIns="0" rtlCol="0" anchor="t"/>
          <a:lstStyle/>
          <a:p>
            <a:pPr indent="0" marL="0">
              <a:buNone/>
            </a:pPr>
            <a:r>
              <a:rPr lang="en-US" sz="2000" dirty="0">
                <a:solidFill>
                  <a:srgbClr val="272425"/>
                </a:solidFill>
                <a:latin typeface="Arial" pitchFamily="34" charset="0"/>
                <a:ea typeface="Arial" pitchFamily="34" charset="-122"/>
                <a:cs typeface="Arial" pitchFamily="34" charset="-120"/>
              </a:rPr>
              <a:t>10 minutos; autoevaluación al final de la hoja</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2"/>
          <p:cNvSpPr/>
          <p:nvPr>
            <p:ph idx="102" type="title" hasCustomPrompt="1"/>
          </p:nvPr>
        </p:nvSpPr>
        <p:spPr>
          <a:xfrm>
            <a:off x="548640" y="1143000"/>
            <a:ext cx="11091672" cy="914400"/>
          </a:xfrm>
          <a:prstGeom prst="rect">
            <a:avLst/>
          </a:prstGeom>
          <a:noFill/>
          <a:ln/>
        </p:spPr>
        <p:txBody>
          <a:bodyPr wrap="square" lIns="0" tIns="0" rIns="0" bIns="0" rtlCol="0" anchor="t"/>
          <a:lstStyle/>
          <a:p>
            <a:pPr algn="l" indent="0" marL="0">
              <a:buNone/>
            </a:pPr>
            <a:r>
              <a:rPr lang="en-US" sz="3600" b="1" dirty="0">
                <a:solidFill>
                  <a:srgbClr val="FFFFFF"/>
                </a:solidFill>
                <a:latin typeface="Arial" pitchFamily="34" charset="0"/>
                <a:ea typeface="Arial" pitchFamily="34" charset="-122"/>
                <a:cs typeface="Arial" pitchFamily="34" charset="-120"/>
              </a:rPr>
              <a:t>Mensajes clave de la clase 1</a:t>
            </a:r>
            <a:endParaRPr lang="en-US" sz="3600" dirty="0"/>
          </a:p>
        </p:txBody>
      </p:sp>
      <p:sp>
        <p:nvSpPr>
          <p:cNvPr id="3" name="Text 1"/>
          <p:cNvSpPr txBox="1"/>
          <p:nvPr/>
        </p:nvSpPr>
        <p:spPr>
          <a:xfrm>
            <a:off x="548640" y="2194560"/>
            <a:ext cx="11091672" cy="4023360"/>
          </a:xfrm>
          <a:prstGeom prst="rect">
            <a:avLst/>
          </a:prstGeom>
          <a:noFill/>
          <a:ln/>
        </p:spPr>
        <p:txBody>
          <a:bodyPr wrap="square" lIns="0" tIns="0" rIns="0" bIns="0" rtlCol="0" anchor="t"/>
          <a:lstStyle/>
          <a:p>
            <a:pPr indent="0" marL="0">
              <a:spcAft>
                <a:spcPts val="1200"/>
              </a:spcAft>
              <a:buNone/>
            </a:pPr>
            <a:r>
              <a:rPr lang="en-US" sz="2200" b="1" dirty="0">
                <a:solidFill>
                  <a:srgbClr val="9FD0F0"/>
                </a:solidFill>
                <a:latin typeface="Arial" pitchFamily="34" charset="0"/>
                <a:ea typeface="Arial" pitchFamily="34" charset="-122"/>
                <a:cs typeface="Arial" pitchFamily="34" charset="-120"/>
              </a:rPr>
              <a:t>✓  </a:t>
            </a:r>
            <a:pPr indent="0" marL="0">
              <a:spcAft>
                <a:spcPts val="1200"/>
              </a:spcAft>
              <a:buNone/>
            </a:pPr>
            <a:r>
              <a:rPr lang="en-US" sz="2200" dirty="0">
                <a:solidFill>
                  <a:srgbClr val="FFFFFF"/>
                </a:solidFill>
                <a:latin typeface="Arial" pitchFamily="34" charset="0"/>
                <a:ea typeface="Arial" pitchFamily="34" charset="-122"/>
                <a:cs typeface="Arial" pitchFamily="34" charset="-120"/>
              </a:rPr>
              <a:t>El enfoque de riesgo se aprueba antes del taller</a:t>
            </a:r>
            <a:endParaRPr lang="en-US" sz="1600" dirty="0"/>
          </a:p>
          <a:p>
            <a:pPr indent="0" marL="0">
              <a:spcAft>
                <a:spcPts val="1200"/>
              </a:spcAft>
              <a:buNone/>
            </a:pPr>
            <a:r>
              <a:rPr lang="en-US" sz="2200" b="1" dirty="0">
                <a:solidFill>
                  <a:srgbClr val="9FD0F0"/>
                </a:solidFill>
                <a:latin typeface="Arial" pitchFamily="34" charset="0"/>
                <a:ea typeface="Arial" pitchFamily="34" charset="-122"/>
                <a:cs typeface="Arial" pitchFamily="34" charset="-120"/>
              </a:rPr>
              <a:t>✓  </a:t>
            </a:r>
            <a:pPr indent="0" marL="0">
              <a:spcAft>
                <a:spcPts val="1200"/>
              </a:spcAft>
              <a:buNone/>
            </a:pPr>
            <a:r>
              <a:rPr lang="en-US" sz="2200" dirty="0">
                <a:solidFill>
                  <a:srgbClr val="FFFFFF"/>
                </a:solidFill>
                <a:latin typeface="Arial" pitchFamily="34" charset="0"/>
                <a:ea typeface="Arial" pitchFamily="34" charset="-122"/>
                <a:cs typeface="Arial" pitchFamily="34" charset="-120"/>
              </a:rPr>
              <a:t>Cada respuesta se justifica por números o por apetito, por escrito</a:t>
            </a:r>
            <a:endParaRPr lang="en-US" sz="1600" dirty="0"/>
          </a:p>
          <a:p>
            <a:pPr indent="0" marL="0">
              <a:spcAft>
                <a:spcPts val="1200"/>
              </a:spcAft>
              <a:buNone/>
            </a:pPr>
            <a:r>
              <a:rPr lang="en-US" sz="2200" b="1" dirty="0">
                <a:solidFill>
                  <a:srgbClr val="9FD0F0"/>
                </a:solidFill>
                <a:latin typeface="Arial" pitchFamily="34" charset="0"/>
                <a:ea typeface="Arial" pitchFamily="34" charset="-122"/>
                <a:cs typeface="Arial" pitchFamily="34" charset="-120"/>
              </a:rPr>
              <a:t>✓  </a:t>
            </a:r>
            <a:pPr indent="0" marL="0">
              <a:spcAft>
                <a:spcPts val="1200"/>
              </a:spcAft>
              <a:buNone/>
            </a:pPr>
            <a:r>
              <a:rPr lang="en-US" sz="2200" dirty="0">
                <a:solidFill>
                  <a:srgbClr val="FFFFFF"/>
                </a:solidFill>
                <a:latin typeface="Arial" pitchFamily="34" charset="0"/>
                <a:ea typeface="Arial" pitchFamily="34" charset="-122"/>
                <a:cs typeface="Arial" pitchFamily="34" charset="-120"/>
              </a:rPr>
              <a:t>Toda respuesta puede crear un riesgo secundario</a:t>
            </a:r>
            <a:endParaRPr lang="en-US" sz="1600" dirty="0"/>
          </a:p>
          <a:p>
            <a:pPr indent="0" marL="0">
              <a:spcAft>
                <a:spcPts val="1200"/>
              </a:spcAft>
              <a:buNone/>
            </a:pPr>
            <a:r>
              <a:rPr lang="en-US" sz="2200" b="1" dirty="0">
                <a:solidFill>
                  <a:srgbClr val="9FD0F0"/>
                </a:solidFill>
                <a:latin typeface="Arial" pitchFamily="34" charset="0"/>
                <a:ea typeface="Arial" pitchFamily="34" charset="-122"/>
                <a:cs typeface="Arial" pitchFamily="34" charset="-120"/>
              </a:rPr>
              <a:t>✓  </a:t>
            </a:r>
            <a:pPr indent="0" marL="0">
              <a:spcAft>
                <a:spcPts val="1200"/>
              </a:spcAft>
              <a:buNone/>
            </a:pPr>
            <a:r>
              <a:rPr lang="en-US" sz="2200" dirty="0">
                <a:solidFill>
                  <a:srgbClr val="FFFFFF"/>
                </a:solidFill>
                <a:latin typeface="Arial" pitchFamily="34" charset="0"/>
                <a:ea typeface="Arial" pitchFamily="34" charset="-122"/>
                <a:cs typeface="Arial" pitchFamily="34" charset="-120"/>
              </a:rPr>
              <a:t>El presupuesto de riesgo sale de una fórmula y lo fija la junta</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6E4F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48640" y="640080"/>
            <a:ext cx="7315200" cy="365760"/>
          </a:xfrm>
          <a:prstGeom prst="rect">
            <a:avLst/>
          </a:prstGeom>
          <a:noFill/>
          <a:ln/>
        </p:spPr>
        <p:txBody>
          <a:bodyPr wrap="square" lIns="0" tIns="0" rIns="0" bIns="0" rtlCol="0" anchor="t"/>
          <a:lstStyle/>
          <a:p>
            <a:pPr indent="0" marL="0">
              <a:buNone/>
            </a:pPr>
            <a:r>
              <a:rPr lang="en-US" sz="1600" b="1" dirty="0">
                <a:solidFill>
                  <a:srgbClr val="9FD0F0"/>
                </a:solidFill>
                <a:latin typeface="Arial" pitchFamily="34" charset="0"/>
                <a:ea typeface="Arial" pitchFamily="34" charset="-122"/>
                <a:cs typeface="Arial" pitchFamily="34" charset="-120"/>
              </a:rPr>
              <a:t>Clase 2 · 90 minutos</a:t>
            </a:r>
            <a:endParaRPr lang="en-US" sz="1600" dirty="0"/>
          </a:p>
        </p:txBody>
      </p:sp>
      <p:sp>
        <p:nvSpPr>
          <p:cNvPr id="3" name="Text 2"/>
          <p:cNvSpPr/>
          <p:nvPr>
            <p:ph idx="102" type="title" hasCustomPrompt="1"/>
          </p:nvPr>
        </p:nvSpPr>
        <p:spPr>
          <a:xfrm>
            <a:off x="548640" y="1143000"/>
            <a:ext cx="11091672" cy="914400"/>
          </a:xfrm>
          <a:prstGeom prst="rect">
            <a:avLst/>
          </a:prstGeom>
          <a:noFill/>
          <a:ln/>
        </p:spPr>
        <p:txBody>
          <a:bodyPr wrap="square" lIns="0" tIns="0" rIns="0" bIns="0" rtlCol="0" anchor="t"/>
          <a:lstStyle/>
          <a:p>
            <a:pPr algn="l" indent="0" marL="0">
              <a:buNone/>
            </a:pPr>
            <a:r>
              <a:rPr lang="en-US" sz="3600" b="1" dirty="0">
                <a:solidFill>
                  <a:srgbClr val="FFFFFF"/>
                </a:solidFill>
                <a:latin typeface="Arial" pitchFamily="34" charset="0"/>
                <a:ea typeface="Arial" pitchFamily="34" charset="-122"/>
                <a:cs typeface="Arial" pitchFamily="34" charset="-120"/>
              </a:rPr>
              <a:t>El control continuo</a:t>
            </a:r>
            <a:endParaRPr lang="en-US" sz="3600" dirty="0"/>
          </a:p>
        </p:txBody>
      </p:sp>
      <p:sp>
        <p:nvSpPr>
          <p:cNvPr id="4" name="Text 2"/>
          <p:cNvSpPr txBox="1"/>
          <p:nvPr/>
        </p:nvSpPr>
        <p:spPr>
          <a:xfrm>
            <a:off x="548640" y="2240280"/>
            <a:ext cx="7315200" cy="365760"/>
          </a:xfrm>
          <a:prstGeom prst="rect">
            <a:avLst/>
          </a:prstGeom>
          <a:noFill/>
          <a:ln/>
        </p:spPr>
        <p:txBody>
          <a:bodyPr wrap="square" lIns="0" tIns="0" rIns="0" bIns="0" rtlCol="0" anchor="t"/>
          <a:lstStyle/>
          <a:p>
            <a:pPr indent="0" marL="0">
              <a:buNone/>
            </a:pPr>
            <a:r>
              <a:rPr lang="en-US" sz="1800" b="1" dirty="0">
                <a:solidFill>
                  <a:srgbClr val="FFFFFF"/>
                </a:solidFill>
                <a:latin typeface="Arial" pitchFamily="34" charset="0"/>
                <a:ea typeface="Arial" pitchFamily="34" charset="-122"/>
                <a:cs typeface="Arial" pitchFamily="34" charset="-120"/>
              </a:rPr>
              <a:t>Objetivos de la clase</a:t>
            </a:r>
            <a:endParaRPr lang="en-US" sz="1800" dirty="0"/>
          </a:p>
        </p:txBody>
      </p:sp>
      <p:sp>
        <p:nvSpPr>
          <p:cNvPr id="5" name="Shape 3"/>
          <p:cNvSpPr/>
          <p:nvPr/>
        </p:nvSpPr>
        <p:spPr>
          <a:xfrm>
            <a:off x="548640" y="2743200"/>
            <a:ext cx="11091672" cy="772668"/>
          </a:xfrm>
          <a:prstGeom prst="roundRect">
            <a:avLst>
              <a:gd name="adj" fmla="val 11834"/>
            </a:avLst>
          </a:prstGeom>
          <a:solidFill>
            <a:srgbClr val="173D66"/>
          </a:solidFill>
          <a:ln w="12700">
            <a:solidFill>
              <a:srgbClr val="173D66"/>
            </a:solidFill>
            <a:prstDash val="solid"/>
          </a:ln>
        </p:spPr>
      </p:sp>
      <p:sp>
        <p:nvSpPr>
          <p:cNvPr id="6" name="Text 4"/>
          <p:cNvSpPr txBox="1"/>
          <p:nvPr/>
        </p:nvSpPr>
        <p:spPr>
          <a:xfrm>
            <a:off x="685800" y="2743200"/>
            <a:ext cx="411480" cy="772668"/>
          </a:xfrm>
          <a:prstGeom prst="rect">
            <a:avLst/>
          </a:prstGeom>
          <a:noFill/>
          <a:ln/>
        </p:spPr>
        <p:txBody>
          <a:bodyPr wrap="square" lIns="0" tIns="0" rIns="0" bIns="0" rtlCol="0" anchor="ctr"/>
          <a:lstStyle/>
          <a:p>
            <a:pPr indent="0" marL="0">
              <a:buNone/>
            </a:pPr>
            <a:r>
              <a:rPr lang="en-US" sz="2000" b="1" dirty="0">
                <a:solidFill>
                  <a:srgbClr val="9FD0F0"/>
                </a:solidFill>
                <a:latin typeface="Arial" pitchFamily="34" charset="0"/>
                <a:ea typeface="Arial" pitchFamily="34" charset="-122"/>
                <a:cs typeface="Arial" pitchFamily="34" charset="-120"/>
              </a:rPr>
              <a:t>1</a:t>
            </a:r>
            <a:endParaRPr lang="en-US" sz="2000" dirty="0"/>
          </a:p>
        </p:txBody>
      </p:sp>
      <p:sp>
        <p:nvSpPr>
          <p:cNvPr id="7" name="Text 5"/>
          <p:cNvSpPr txBox="1"/>
          <p:nvPr/>
        </p:nvSpPr>
        <p:spPr>
          <a:xfrm>
            <a:off x="1234440" y="2779776"/>
            <a:ext cx="10268712" cy="699516"/>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Reconocer un registro que se dejó de revisar</a:t>
            </a:r>
            <a:endParaRPr lang="en-US" sz="1600" dirty="0"/>
          </a:p>
        </p:txBody>
      </p:sp>
      <p:sp>
        <p:nvSpPr>
          <p:cNvPr id="8" name="Shape 6"/>
          <p:cNvSpPr/>
          <p:nvPr/>
        </p:nvSpPr>
        <p:spPr>
          <a:xfrm>
            <a:off x="548640" y="3643884"/>
            <a:ext cx="11091672" cy="772668"/>
          </a:xfrm>
          <a:prstGeom prst="roundRect">
            <a:avLst>
              <a:gd name="adj" fmla="val 11834"/>
            </a:avLst>
          </a:prstGeom>
          <a:solidFill>
            <a:srgbClr val="173D66"/>
          </a:solidFill>
          <a:ln w="12700">
            <a:solidFill>
              <a:srgbClr val="173D66"/>
            </a:solidFill>
            <a:prstDash val="solid"/>
          </a:ln>
        </p:spPr>
      </p:sp>
      <p:sp>
        <p:nvSpPr>
          <p:cNvPr id="9" name="Text 7"/>
          <p:cNvSpPr txBox="1"/>
          <p:nvPr/>
        </p:nvSpPr>
        <p:spPr>
          <a:xfrm>
            <a:off x="685800" y="3643884"/>
            <a:ext cx="411480" cy="772668"/>
          </a:xfrm>
          <a:prstGeom prst="rect">
            <a:avLst/>
          </a:prstGeom>
          <a:noFill/>
          <a:ln/>
        </p:spPr>
        <p:txBody>
          <a:bodyPr wrap="square" lIns="0" tIns="0" rIns="0" bIns="0" rtlCol="0" anchor="ctr"/>
          <a:lstStyle/>
          <a:p>
            <a:pPr indent="0" marL="0">
              <a:buNone/>
            </a:pPr>
            <a:r>
              <a:rPr lang="en-US" sz="2000" b="1" dirty="0">
                <a:solidFill>
                  <a:srgbClr val="9FD0F0"/>
                </a:solidFill>
                <a:latin typeface="Arial" pitchFamily="34" charset="0"/>
                <a:ea typeface="Arial" pitchFamily="34" charset="-122"/>
                <a:cs typeface="Arial" pitchFamily="34" charset="-120"/>
              </a:rPr>
              <a:t>2</a:t>
            </a:r>
            <a:endParaRPr lang="en-US" sz="2000" dirty="0"/>
          </a:p>
        </p:txBody>
      </p:sp>
      <p:sp>
        <p:nvSpPr>
          <p:cNvPr id="10" name="Text 8"/>
          <p:cNvSpPr txBox="1"/>
          <p:nvPr/>
        </p:nvSpPr>
        <p:spPr>
          <a:xfrm>
            <a:off x="1234440" y="3680460"/>
            <a:ext cx="10268712" cy="699516"/>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Gestionar un riesgo que ocurre: issue y contingencia</a:t>
            </a:r>
            <a:endParaRPr lang="en-US" sz="1600" dirty="0"/>
          </a:p>
        </p:txBody>
      </p:sp>
      <p:sp>
        <p:nvSpPr>
          <p:cNvPr id="11" name="Shape 9"/>
          <p:cNvSpPr/>
          <p:nvPr/>
        </p:nvSpPr>
        <p:spPr>
          <a:xfrm>
            <a:off x="548640" y="4544568"/>
            <a:ext cx="11091672" cy="772668"/>
          </a:xfrm>
          <a:prstGeom prst="roundRect">
            <a:avLst>
              <a:gd name="adj" fmla="val 11834"/>
            </a:avLst>
          </a:prstGeom>
          <a:solidFill>
            <a:srgbClr val="173D66"/>
          </a:solidFill>
          <a:ln w="12700">
            <a:solidFill>
              <a:srgbClr val="173D66"/>
            </a:solidFill>
            <a:prstDash val="solid"/>
          </a:ln>
        </p:spPr>
      </p:sp>
      <p:sp>
        <p:nvSpPr>
          <p:cNvPr id="12" name="Text 10"/>
          <p:cNvSpPr txBox="1"/>
          <p:nvPr/>
        </p:nvSpPr>
        <p:spPr>
          <a:xfrm>
            <a:off x="685800" y="4544568"/>
            <a:ext cx="411480" cy="772668"/>
          </a:xfrm>
          <a:prstGeom prst="rect">
            <a:avLst/>
          </a:prstGeom>
          <a:noFill/>
          <a:ln/>
        </p:spPr>
        <p:txBody>
          <a:bodyPr wrap="square" lIns="0" tIns="0" rIns="0" bIns="0" rtlCol="0" anchor="ctr"/>
          <a:lstStyle/>
          <a:p>
            <a:pPr indent="0" marL="0">
              <a:buNone/>
            </a:pPr>
            <a:r>
              <a:rPr lang="en-US" sz="2000" b="1" dirty="0">
                <a:solidFill>
                  <a:srgbClr val="9FD0F0"/>
                </a:solidFill>
                <a:latin typeface="Arial" pitchFamily="34" charset="0"/>
                <a:ea typeface="Arial" pitchFamily="34" charset="-122"/>
                <a:cs typeface="Arial" pitchFamily="34" charset="-120"/>
              </a:rPr>
              <a:t>3</a:t>
            </a:r>
            <a:endParaRPr lang="en-US" sz="2000" dirty="0"/>
          </a:p>
        </p:txBody>
      </p:sp>
      <p:sp>
        <p:nvSpPr>
          <p:cNvPr id="13" name="Text 11"/>
          <p:cNvSpPr txBox="1"/>
          <p:nvPr/>
        </p:nvSpPr>
        <p:spPr>
          <a:xfrm>
            <a:off x="1234440" y="4581144"/>
            <a:ext cx="10268712" cy="699516"/>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Leer el consumo de la reserva y decidir al cruzar el 80 %</a:t>
            </a:r>
            <a:endParaRPr lang="en-US" sz="1600" dirty="0"/>
          </a:p>
        </p:txBody>
      </p:sp>
      <p:sp>
        <p:nvSpPr>
          <p:cNvPr id="14" name="Shape 12"/>
          <p:cNvSpPr/>
          <p:nvPr/>
        </p:nvSpPr>
        <p:spPr>
          <a:xfrm>
            <a:off x="548640" y="5445252"/>
            <a:ext cx="11091672" cy="772668"/>
          </a:xfrm>
          <a:prstGeom prst="roundRect">
            <a:avLst>
              <a:gd name="adj" fmla="val 11834"/>
            </a:avLst>
          </a:prstGeom>
          <a:solidFill>
            <a:srgbClr val="173D66"/>
          </a:solidFill>
          <a:ln w="12700">
            <a:solidFill>
              <a:srgbClr val="173D66"/>
            </a:solidFill>
            <a:prstDash val="solid"/>
          </a:ln>
        </p:spPr>
      </p:sp>
      <p:sp>
        <p:nvSpPr>
          <p:cNvPr id="15" name="Text 13"/>
          <p:cNvSpPr txBox="1"/>
          <p:nvPr/>
        </p:nvSpPr>
        <p:spPr>
          <a:xfrm>
            <a:off x="685800" y="5445252"/>
            <a:ext cx="411480" cy="772668"/>
          </a:xfrm>
          <a:prstGeom prst="rect">
            <a:avLst/>
          </a:prstGeom>
          <a:noFill/>
          <a:ln/>
        </p:spPr>
        <p:txBody>
          <a:bodyPr wrap="square" lIns="0" tIns="0" rIns="0" bIns="0" rtlCol="0" anchor="ctr"/>
          <a:lstStyle/>
          <a:p>
            <a:pPr indent="0" marL="0">
              <a:buNone/>
            </a:pPr>
            <a:r>
              <a:rPr lang="en-US" sz="2000" b="1" dirty="0">
                <a:solidFill>
                  <a:srgbClr val="9FD0F0"/>
                </a:solidFill>
                <a:latin typeface="Arial" pitchFamily="34" charset="0"/>
                <a:ea typeface="Arial" pitchFamily="34" charset="-122"/>
                <a:cs typeface="Arial" pitchFamily="34" charset="-120"/>
              </a:rPr>
              <a:t>4</a:t>
            </a:r>
            <a:endParaRPr lang="en-US" sz="2000" dirty="0"/>
          </a:p>
        </p:txBody>
      </p:sp>
      <p:sp>
        <p:nvSpPr>
          <p:cNvPr id="16" name="Text 14"/>
          <p:cNvSpPr txBox="1"/>
          <p:nvPr/>
        </p:nvSpPr>
        <p:spPr>
          <a:xfrm>
            <a:off x="1234440" y="5481828"/>
            <a:ext cx="10268712" cy="699516"/>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Seguir las condiciones de la junta hasta cumplirlas</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6E4F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200" b="1" dirty="0">
                <a:solidFill>
                  <a:srgbClr val="FFFFFF"/>
                </a:solidFill>
                <a:latin typeface="Arial" pitchFamily="34" charset="0"/>
                <a:ea typeface="Arial" pitchFamily="34" charset="-122"/>
                <a:cs typeface="Arial" pitchFamily="34" charset="-120"/>
              </a:rPr>
              <a:t>El 12/02, los 6 riesgos abiertos llevaban hasta 45 días sin revisar</a:t>
            </a:r>
            <a:endParaRPr lang="en-US" sz="2400" dirty="0"/>
          </a:p>
        </p:txBody>
      </p:sp>
      <p:sp>
        <p:nvSpPr>
          <p:cNvPr id="3" name="Shape 1"/>
          <p:cNvSpPr/>
          <p:nvPr/>
        </p:nvSpPr>
        <p:spPr>
          <a:xfrm>
            <a:off x="457200" y="2331720"/>
            <a:ext cx="2612898" cy="2926080"/>
          </a:xfrm>
          <a:prstGeom prst="roundRect">
            <a:avLst>
              <a:gd name="adj" fmla="val 3500"/>
            </a:avLst>
          </a:prstGeom>
          <a:solidFill>
            <a:srgbClr val="002855"/>
          </a:solidFill>
          <a:ln w="12700">
            <a:solidFill>
              <a:srgbClr val="002855"/>
            </a:solidFill>
            <a:prstDash val="solid"/>
          </a:ln>
        </p:spPr>
      </p:sp>
      <p:sp>
        <p:nvSpPr>
          <p:cNvPr id="4" name="Text 2"/>
          <p:cNvSpPr txBox="1"/>
          <p:nvPr/>
        </p:nvSpPr>
        <p:spPr>
          <a:xfrm>
            <a:off x="658368" y="2532888"/>
            <a:ext cx="2210562" cy="2542032"/>
          </a:xfrm>
          <a:prstGeom prst="rect">
            <a:avLst/>
          </a:prstGeom>
          <a:noFill/>
          <a:ln/>
        </p:spPr>
        <p:txBody>
          <a:bodyPr wrap="square" lIns="0" tIns="0" rIns="0" bIns="0" rtlCol="0" anchor="ctr"/>
          <a:lstStyle/>
          <a:p>
            <a:pPr indent="0" marL="0">
              <a:buNone/>
            </a:pPr>
            <a:r>
              <a:rPr lang="en-US" sz="2200" dirty="0">
                <a:solidFill>
                  <a:srgbClr val="FFFFFF"/>
                </a:solidFill>
                <a:latin typeface="Arial" pitchFamily="34" charset="0"/>
                <a:ea typeface="Arial" pitchFamily="34" charset="-122"/>
                <a:cs typeface="Arial" pitchFamily="34" charset="-120"/>
              </a:rPr>
              <a:t>Cinco con 45 días de atraso; uno con 17</a:t>
            </a:r>
            <a:endParaRPr lang="en-US" sz="1600" dirty="0"/>
          </a:p>
        </p:txBody>
      </p:sp>
      <p:sp>
        <p:nvSpPr>
          <p:cNvPr id="5" name="Shape 3"/>
          <p:cNvSpPr/>
          <p:nvPr/>
        </p:nvSpPr>
        <p:spPr>
          <a:xfrm>
            <a:off x="3344418" y="2331720"/>
            <a:ext cx="2612898" cy="2926080"/>
          </a:xfrm>
          <a:prstGeom prst="roundRect">
            <a:avLst>
              <a:gd name="adj" fmla="val 3500"/>
            </a:avLst>
          </a:prstGeom>
          <a:solidFill>
            <a:srgbClr val="E9F1F8"/>
          </a:solidFill>
          <a:ln w="12700">
            <a:solidFill>
              <a:srgbClr val="E9F1F8"/>
            </a:solidFill>
            <a:prstDash val="solid"/>
          </a:ln>
        </p:spPr>
      </p:sp>
      <p:sp>
        <p:nvSpPr>
          <p:cNvPr id="6" name="Text 4"/>
          <p:cNvSpPr txBox="1"/>
          <p:nvPr/>
        </p:nvSpPr>
        <p:spPr>
          <a:xfrm>
            <a:off x="3545586" y="2532888"/>
            <a:ext cx="2210562" cy="2542032"/>
          </a:xfrm>
          <a:prstGeom prst="rect">
            <a:avLst/>
          </a:prstGeom>
          <a:noFill/>
          <a:ln/>
        </p:spPr>
        <p:txBody>
          <a:bodyPr wrap="square" lIns="0" tIns="0" rIns="0" bIns="0" rtlCol="0" anchor="ctr"/>
          <a:lstStyle/>
          <a:p>
            <a:pPr indent="0" marL="0">
              <a:buNone/>
            </a:pPr>
            <a:r>
              <a:rPr lang="en-US" sz="2200" dirty="0">
                <a:solidFill>
                  <a:srgbClr val="272425"/>
                </a:solidFill>
                <a:latin typeface="Arial" pitchFamily="34" charset="0"/>
                <a:ea typeface="Arial" pitchFamily="34" charset="-122"/>
                <a:cs typeface="Arial" pitchFamily="34" charset="-120"/>
              </a:rPr>
              <a:t>La sanidad lo avisaba con REG-09 desde el 12/01</a:t>
            </a:r>
            <a:endParaRPr lang="en-US" sz="1600" dirty="0"/>
          </a:p>
        </p:txBody>
      </p:sp>
      <p:sp>
        <p:nvSpPr>
          <p:cNvPr id="7" name="Shape 5"/>
          <p:cNvSpPr/>
          <p:nvPr/>
        </p:nvSpPr>
        <p:spPr>
          <a:xfrm>
            <a:off x="6231636" y="2331720"/>
            <a:ext cx="2612898" cy="2926080"/>
          </a:xfrm>
          <a:prstGeom prst="roundRect">
            <a:avLst>
              <a:gd name="adj" fmla="val 3500"/>
            </a:avLst>
          </a:prstGeom>
          <a:solidFill>
            <a:srgbClr val="E9F1F8"/>
          </a:solidFill>
          <a:ln w="12700">
            <a:solidFill>
              <a:srgbClr val="E9F1F8"/>
            </a:solidFill>
            <a:prstDash val="solid"/>
          </a:ln>
        </p:spPr>
      </p:sp>
      <p:sp>
        <p:nvSpPr>
          <p:cNvPr id="8" name="Text 6"/>
          <p:cNvSpPr txBox="1"/>
          <p:nvPr/>
        </p:nvSpPr>
        <p:spPr>
          <a:xfrm>
            <a:off x="6432804" y="2532888"/>
            <a:ext cx="2210562" cy="2542032"/>
          </a:xfrm>
          <a:prstGeom prst="rect">
            <a:avLst/>
          </a:prstGeom>
          <a:noFill/>
          <a:ln/>
        </p:spPr>
        <p:txBody>
          <a:bodyPr wrap="square" lIns="0" tIns="0" rIns="0" bIns="0" rtlCol="0" anchor="ctr"/>
          <a:lstStyle/>
          <a:p>
            <a:pPr indent="0" marL="0">
              <a:buNone/>
            </a:pPr>
            <a:r>
              <a:rPr lang="en-US" sz="2200" dirty="0">
                <a:solidFill>
                  <a:srgbClr val="272425"/>
                </a:solidFill>
                <a:latin typeface="Arial" pitchFamily="34" charset="0"/>
                <a:ea typeface="Arial" pitchFamily="34" charset="-122"/>
                <a:cs typeface="Arial" pitchFamily="34" charset="-120"/>
              </a:rPr>
              <a:t>R-003 ya había alcanzado su disparador: dos caídas en un mes</a:t>
            </a:r>
            <a:endParaRPr lang="en-US" sz="1600" dirty="0"/>
          </a:p>
        </p:txBody>
      </p:sp>
      <p:sp>
        <p:nvSpPr>
          <p:cNvPr id="9" name="Shape 7"/>
          <p:cNvSpPr/>
          <p:nvPr/>
        </p:nvSpPr>
        <p:spPr>
          <a:xfrm>
            <a:off x="9118854" y="2331720"/>
            <a:ext cx="2612898" cy="2926080"/>
          </a:xfrm>
          <a:prstGeom prst="roundRect">
            <a:avLst>
              <a:gd name="adj" fmla="val 3500"/>
            </a:avLst>
          </a:prstGeom>
          <a:solidFill>
            <a:srgbClr val="E9F1F8"/>
          </a:solidFill>
          <a:ln w="12700">
            <a:solidFill>
              <a:srgbClr val="E9F1F8"/>
            </a:solidFill>
            <a:prstDash val="solid"/>
          </a:ln>
        </p:spPr>
      </p:sp>
      <p:sp>
        <p:nvSpPr>
          <p:cNvPr id="10" name="Text 8"/>
          <p:cNvSpPr txBox="1"/>
          <p:nvPr/>
        </p:nvSpPr>
        <p:spPr>
          <a:xfrm>
            <a:off x="9320022" y="2532888"/>
            <a:ext cx="2210562" cy="2542032"/>
          </a:xfrm>
          <a:prstGeom prst="rect">
            <a:avLst/>
          </a:prstGeom>
          <a:noFill/>
          <a:ln/>
        </p:spPr>
        <p:txBody>
          <a:bodyPr wrap="square" lIns="0" tIns="0" rIns="0" bIns="0" rtlCol="0" anchor="ctr"/>
          <a:lstStyle/>
          <a:p>
            <a:pPr indent="0" marL="0">
              <a:buNone/>
            </a:pPr>
            <a:r>
              <a:rPr lang="en-US" sz="2200" dirty="0">
                <a:solidFill>
                  <a:srgbClr val="272425"/>
                </a:solidFill>
                <a:latin typeface="Arial" pitchFamily="34" charset="0"/>
                <a:ea typeface="Arial" pitchFamily="34" charset="-122"/>
                <a:cs typeface="Arial" pitchFamily="34" charset="-120"/>
              </a:rPr>
              <a:t>¿Por qué un aviso a tiempo no alcanzó?</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200" b="1" dirty="0">
                <a:solidFill>
                  <a:srgbClr val="FFFFFF"/>
                </a:solidFill>
                <a:latin typeface="Arial" pitchFamily="34" charset="0"/>
                <a:ea typeface="Arial" pitchFamily="34" charset="-122"/>
                <a:cs typeface="Arial" pitchFamily="34" charset="-120"/>
              </a:rPr>
              <a:t>Al 12/02, los 6 riesgos abiertos llevan entre 17 y 45 días sin revisar</a:t>
            </a:r>
            <a:endParaRPr lang="en-US" sz="2400" dirty="0"/>
          </a:p>
        </p:txBody>
      </p:sp>
      <p:pic>
        <p:nvPicPr>
          <p:cNvPr id="3" name="Image 0" descr="Al 12/02, los 6 riesgos abiertos llevan entre 17 y 45 días sin revisar">    </p:cNvPr>
          <p:cNvPicPr>
            <a:picLocks noChangeAspect="1"/>
          </p:cNvPicPr>
          <p:nvPr/>
        </p:nvPicPr>
        <p:blipFill>
          <a:blip r:embed="rId1"/>
          <a:stretch>
            <a:fillRect/>
          </a:stretch>
        </p:blipFill>
        <p:spPr>
          <a:xfrm>
            <a:off x="1705356" y="1280160"/>
            <a:ext cx="8778240" cy="4937760"/>
          </a:xfrm>
          <a:prstGeom prst="rect">
            <a:avLst/>
          </a:prstGeom>
        </p:spPr>
      </p:pic>
      <p:sp>
        <p:nvSpPr>
          <p:cNvPr id="4" name="Shape 1"/>
          <p:cNvSpPr/>
          <p:nvPr/>
        </p:nvSpPr>
        <p:spPr>
          <a:xfrm>
            <a:off x="1705356" y="1280160"/>
            <a:ext cx="8778240" cy="4937760"/>
          </a:xfrm>
          <a:prstGeom prst="rect">
            <a:avLst/>
          </a:prstGeom>
          <a:solidFill>
            <a:srgbClr val="FFFFFF">
              <a:alpha val="0"/>
            </a:srgbClr>
          </a:solidFill>
          <a:ln w="9525">
            <a:solidFill>
              <a:srgbClr val="E2E2E6"/>
            </a:solidFill>
            <a:prstDash val="solid"/>
          </a:ln>
        </p:spPr>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Paso 8 · La revisión del sprint</a:t>
            </a:r>
            <a:endParaRPr lang="en-US" sz="2400" dirty="0"/>
          </a:p>
        </p:txBody>
      </p:sp>
      <p:sp>
        <p:nvSpPr>
          <p:cNvPr id="3" name="Shape 1"/>
          <p:cNvSpPr/>
          <p:nvPr/>
        </p:nvSpPr>
        <p:spPr>
          <a:xfrm>
            <a:off x="457200" y="1280160"/>
            <a:ext cx="11274552" cy="870509"/>
          </a:xfrm>
          <a:prstGeom prst="roundRect">
            <a:avLst>
              <a:gd name="adj" fmla="val 10504"/>
            </a:avLst>
          </a:prstGeom>
          <a:solidFill>
            <a:srgbClr val="E9F1F8"/>
          </a:solidFill>
          <a:ln w="12700">
            <a:solidFill>
              <a:srgbClr val="E9F1F8"/>
            </a:solidFill>
            <a:prstDash val="solid"/>
          </a:ln>
        </p:spPr>
      </p:sp>
      <p:sp>
        <p:nvSpPr>
          <p:cNvPr id="4" name="Shape 2"/>
          <p:cNvSpPr/>
          <p:nvPr/>
        </p:nvSpPr>
        <p:spPr>
          <a:xfrm>
            <a:off x="621792" y="1486814"/>
            <a:ext cx="457200" cy="457200"/>
          </a:xfrm>
          <a:prstGeom prst="roundRect">
            <a:avLst>
              <a:gd name="adj" fmla="val 16000"/>
            </a:avLst>
          </a:prstGeom>
          <a:solidFill>
            <a:srgbClr val="00629B"/>
          </a:solidFill>
          <a:ln w="12700">
            <a:solidFill>
              <a:srgbClr val="00629B"/>
            </a:solidFill>
            <a:prstDash val="solid"/>
          </a:ln>
        </p:spPr>
      </p:sp>
      <p:sp>
        <p:nvSpPr>
          <p:cNvPr id="5" name="Text 3"/>
          <p:cNvSpPr txBox="1"/>
          <p:nvPr/>
        </p:nvSpPr>
        <p:spPr>
          <a:xfrm>
            <a:off x="621792" y="1486814"/>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6" name="Text 4"/>
          <p:cNvSpPr txBox="1"/>
          <p:nvPr/>
        </p:nvSpPr>
        <p:spPr>
          <a:xfrm>
            <a:off x="1280160" y="1335024"/>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Reevaluar: R-002 baja de 12 a 8 tras el taller</a:t>
            </a:r>
            <a:endParaRPr lang="en-US" sz="1600" dirty="0"/>
          </a:p>
        </p:txBody>
      </p:sp>
      <p:sp>
        <p:nvSpPr>
          <p:cNvPr id="7" name="Shape 5"/>
          <p:cNvSpPr/>
          <p:nvPr/>
        </p:nvSpPr>
        <p:spPr>
          <a:xfrm>
            <a:off x="457200" y="2296973"/>
            <a:ext cx="11274552" cy="870509"/>
          </a:xfrm>
          <a:prstGeom prst="roundRect">
            <a:avLst>
              <a:gd name="adj" fmla="val 10504"/>
            </a:avLst>
          </a:prstGeom>
          <a:solidFill>
            <a:srgbClr val="F4F6F8"/>
          </a:solidFill>
          <a:ln w="12700">
            <a:solidFill>
              <a:srgbClr val="F4F6F8"/>
            </a:solidFill>
            <a:prstDash val="solid"/>
          </a:ln>
        </p:spPr>
      </p:sp>
      <p:sp>
        <p:nvSpPr>
          <p:cNvPr id="8" name="Shape 6"/>
          <p:cNvSpPr/>
          <p:nvPr/>
        </p:nvSpPr>
        <p:spPr>
          <a:xfrm>
            <a:off x="621792" y="2503627"/>
            <a:ext cx="457200" cy="457200"/>
          </a:xfrm>
          <a:prstGeom prst="roundRect">
            <a:avLst>
              <a:gd name="adj" fmla="val 16000"/>
            </a:avLst>
          </a:prstGeom>
          <a:solidFill>
            <a:srgbClr val="00629B"/>
          </a:solidFill>
          <a:ln w="12700">
            <a:solidFill>
              <a:srgbClr val="00629B"/>
            </a:solidFill>
            <a:prstDash val="solid"/>
          </a:ln>
        </p:spPr>
      </p:sp>
      <p:sp>
        <p:nvSpPr>
          <p:cNvPr id="9" name="Text 7"/>
          <p:cNvSpPr txBox="1"/>
          <p:nvPr/>
        </p:nvSpPr>
        <p:spPr>
          <a:xfrm>
            <a:off x="621792" y="2503627"/>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0" name="Text 8"/>
          <p:cNvSpPr txBox="1"/>
          <p:nvPr/>
        </p:nvSpPr>
        <p:spPr>
          <a:xfrm>
            <a:off x="1280160" y="2351837"/>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Cerrar: la oportunidad R-006 se aprovechó (60 h)</a:t>
            </a:r>
            <a:endParaRPr lang="en-US" sz="1600" dirty="0"/>
          </a:p>
        </p:txBody>
      </p:sp>
      <p:sp>
        <p:nvSpPr>
          <p:cNvPr id="11" name="Shape 9"/>
          <p:cNvSpPr/>
          <p:nvPr/>
        </p:nvSpPr>
        <p:spPr>
          <a:xfrm>
            <a:off x="457200" y="3313786"/>
            <a:ext cx="11274552" cy="870509"/>
          </a:xfrm>
          <a:prstGeom prst="roundRect">
            <a:avLst>
              <a:gd name="adj" fmla="val 10504"/>
            </a:avLst>
          </a:prstGeom>
          <a:solidFill>
            <a:srgbClr val="E9F1F8"/>
          </a:solidFill>
          <a:ln w="12700">
            <a:solidFill>
              <a:srgbClr val="E9F1F8"/>
            </a:solidFill>
            <a:prstDash val="solid"/>
          </a:ln>
        </p:spPr>
      </p:sp>
      <p:sp>
        <p:nvSpPr>
          <p:cNvPr id="12" name="Shape 10"/>
          <p:cNvSpPr/>
          <p:nvPr/>
        </p:nvSpPr>
        <p:spPr>
          <a:xfrm>
            <a:off x="621792" y="3520440"/>
            <a:ext cx="457200" cy="457200"/>
          </a:xfrm>
          <a:prstGeom prst="roundRect">
            <a:avLst>
              <a:gd name="adj" fmla="val 16000"/>
            </a:avLst>
          </a:prstGeom>
          <a:solidFill>
            <a:srgbClr val="00629B"/>
          </a:solidFill>
          <a:ln w="12700">
            <a:solidFill>
              <a:srgbClr val="00629B"/>
            </a:solidFill>
            <a:prstDash val="solid"/>
          </a:ln>
        </p:spPr>
      </p:sp>
      <p:sp>
        <p:nvSpPr>
          <p:cNvPr id="13" name="Text 11"/>
          <p:cNvSpPr txBox="1"/>
          <p:nvPr/>
        </p:nvSpPr>
        <p:spPr>
          <a:xfrm>
            <a:off x="621792" y="35204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4" name="Text 12"/>
          <p:cNvSpPr txBox="1"/>
          <p:nvPr/>
        </p:nvSpPr>
        <p:spPr>
          <a:xfrm>
            <a:off x="1280160" y="3368650"/>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Detectar: REG-07 marca A-001 vencida</a:t>
            </a:r>
            <a:endParaRPr lang="en-US" sz="1600" dirty="0"/>
          </a:p>
        </p:txBody>
      </p:sp>
      <p:sp>
        <p:nvSpPr>
          <p:cNvPr id="15" name="Shape 13"/>
          <p:cNvSpPr/>
          <p:nvPr/>
        </p:nvSpPr>
        <p:spPr>
          <a:xfrm>
            <a:off x="457200" y="4330598"/>
            <a:ext cx="11274552" cy="870509"/>
          </a:xfrm>
          <a:prstGeom prst="roundRect">
            <a:avLst>
              <a:gd name="adj" fmla="val 10504"/>
            </a:avLst>
          </a:prstGeom>
          <a:solidFill>
            <a:srgbClr val="F4F6F8"/>
          </a:solidFill>
          <a:ln w="12700">
            <a:solidFill>
              <a:srgbClr val="F4F6F8"/>
            </a:solidFill>
            <a:prstDash val="solid"/>
          </a:ln>
        </p:spPr>
      </p:sp>
      <p:sp>
        <p:nvSpPr>
          <p:cNvPr id="16" name="Shape 14"/>
          <p:cNvSpPr/>
          <p:nvPr/>
        </p:nvSpPr>
        <p:spPr>
          <a:xfrm>
            <a:off x="621792" y="4537253"/>
            <a:ext cx="457200" cy="457200"/>
          </a:xfrm>
          <a:prstGeom prst="roundRect">
            <a:avLst>
              <a:gd name="adj" fmla="val 16000"/>
            </a:avLst>
          </a:prstGeom>
          <a:solidFill>
            <a:srgbClr val="00629B"/>
          </a:solidFill>
          <a:ln w="12700">
            <a:solidFill>
              <a:srgbClr val="00629B"/>
            </a:solidFill>
            <a:prstDash val="solid"/>
          </a:ln>
        </p:spPr>
      </p:sp>
      <p:sp>
        <p:nvSpPr>
          <p:cNvPr id="17" name="Text 15"/>
          <p:cNvSpPr txBox="1"/>
          <p:nvPr/>
        </p:nvSpPr>
        <p:spPr>
          <a:xfrm>
            <a:off x="621792" y="4537253"/>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18" name="Text 16"/>
          <p:cNvSpPr txBox="1"/>
          <p:nvPr/>
        </p:nvSpPr>
        <p:spPr>
          <a:xfrm>
            <a:off x="1280160" y="4385462"/>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Fijar la próxima revisión de cada abierto: 29/12</a:t>
            </a:r>
            <a:endParaRPr lang="en-US" sz="1600" dirty="0"/>
          </a:p>
        </p:txBody>
      </p:sp>
      <p:sp>
        <p:nvSpPr>
          <p:cNvPr id="19" name="Shape 17"/>
          <p:cNvSpPr/>
          <p:nvPr/>
        </p:nvSpPr>
        <p:spPr>
          <a:xfrm>
            <a:off x="457200" y="5347411"/>
            <a:ext cx="11274552" cy="870509"/>
          </a:xfrm>
          <a:prstGeom prst="roundRect">
            <a:avLst>
              <a:gd name="adj" fmla="val 10504"/>
            </a:avLst>
          </a:prstGeom>
          <a:solidFill>
            <a:srgbClr val="E9F1F8"/>
          </a:solidFill>
          <a:ln w="12700">
            <a:solidFill>
              <a:srgbClr val="E9F1F8"/>
            </a:solidFill>
            <a:prstDash val="solid"/>
          </a:ln>
        </p:spPr>
      </p:sp>
      <p:sp>
        <p:nvSpPr>
          <p:cNvPr id="20" name="Shape 18"/>
          <p:cNvSpPr/>
          <p:nvPr/>
        </p:nvSpPr>
        <p:spPr>
          <a:xfrm>
            <a:off x="621792" y="5554066"/>
            <a:ext cx="457200" cy="457200"/>
          </a:xfrm>
          <a:prstGeom prst="roundRect">
            <a:avLst>
              <a:gd name="adj" fmla="val 16000"/>
            </a:avLst>
          </a:prstGeom>
          <a:solidFill>
            <a:srgbClr val="00629B"/>
          </a:solidFill>
          <a:ln w="12700">
            <a:solidFill>
              <a:srgbClr val="00629B"/>
            </a:solidFill>
            <a:prstDash val="solid"/>
          </a:ln>
        </p:spPr>
      </p:sp>
      <p:sp>
        <p:nvSpPr>
          <p:cNvPr id="21" name="Text 19"/>
          <p:cNvSpPr txBox="1"/>
          <p:nvPr/>
        </p:nvSpPr>
        <p:spPr>
          <a:xfrm>
            <a:off x="621792" y="5554066"/>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5</a:t>
            </a:r>
            <a:endParaRPr lang="en-US" sz="1600" dirty="0"/>
          </a:p>
        </p:txBody>
      </p:sp>
      <p:sp>
        <p:nvSpPr>
          <p:cNvPr id="22" name="Text 20"/>
          <p:cNvSpPr txBox="1"/>
          <p:nvPr/>
        </p:nvSpPr>
        <p:spPr>
          <a:xfrm>
            <a:off x="1280160" y="5402275"/>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Exposición 52.400; reserva 21 %</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48640" y="1645920"/>
            <a:ext cx="5486400" cy="411480"/>
          </a:xfrm>
          <a:prstGeom prst="rect">
            <a:avLst/>
          </a:prstGeom>
          <a:noFill/>
          <a:ln/>
        </p:spPr>
        <p:txBody>
          <a:bodyPr wrap="square" lIns="0" tIns="0" rIns="0" bIns="0" rtlCol="0" anchor="t"/>
          <a:lstStyle/>
          <a:p>
            <a:pPr indent="0" marL="0">
              <a:buNone/>
            </a:pPr>
            <a:r>
              <a:rPr lang="en-US" sz="1800" b="1" dirty="0">
                <a:solidFill>
                  <a:srgbClr val="9FD0F0"/>
                </a:solidFill>
                <a:latin typeface="Arial" pitchFamily="34" charset="0"/>
                <a:ea typeface="Arial" pitchFamily="34" charset="-122"/>
                <a:cs typeface="Arial" pitchFamily="34" charset="-120"/>
              </a:rPr>
              <a:t>Clase 2</a:t>
            </a:r>
            <a:endParaRPr lang="en-US" sz="1800" dirty="0"/>
          </a:p>
        </p:txBody>
      </p:sp>
      <p:sp>
        <p:nvSpPr>
          <p:cNvPr id="3" name="Text 2"/>
          <p:cNvSpPr/>
          <p:nvPr>
            <p:ph idx="102" type="title" hasCustomPrompt="1"/>
          </p:nvPr>
        </p:nvSpPr>
        <p:spPr>
          <a:xfrm>
            <a:off x="548640" y="2148840"/>
            <a:ext cx="11091672" cy="1005840"/>
          </a:xfrm>
          <a:prstGeom prst="rect">
            <a:avLst/>
          </a:prstGeom>
          <a:noFill/>
          <a:ln/>
        </p:spPr>
        <p:txBody>
          <a:bodyPr wrap="square" lIns="0" tIns="0" rIns="0" bIns="0" rtlCol="0" anchor="t"/>
          <a:lstStyle/>
          <a:p>
            <a:pPr algn="l" indent="0" marL="0">
              <a:buNone/>
            </a:pPr>
            <a:r>
              <a:rPr lang="en-US" sz="4000" b="1" dirty="0">
                <a:solidFill>
                  <a:srgbClr val="FFFFFF"/>
                </a:solidFill>
                <a:latin typeface="Arial" pitchFamily="34" charset="0"/>
                <a:ea typeface="Arial" pitchFamily="34" charset="-122"/>
                <a:cs typeface="Arial" pitchFamily="34" charset="-120"/>
              </a:rPr>
              <a:t>Cuando el riesgo ocurre</a:t>
            </a:r>
            <a:endParaRPr lang="en-US" sz="4000" dirty="0"/>
          </a:p>
        </p:txBody>
      </p:sp>
      <p:sp>
        <p:nvSpPr>
          <p:cNvPr id="4" name="Text 2"/>
          <p:cNvSpPr txBox="1"/>
          <p:nvPr/>
        </p:nvSpPr>
        <p:spPr>
          <a:xfrm>
            <a:off x="548640" y="3291840"/>
            <a:ext cx="11091672" cy="822960"/>
          </a:xfrm>
          <a:prstGeom prst="rect">
            <a:avLst/>
          </a:prstGeom>
          <a:noFill/>
          <a:ln/>
        </p:spPr>
        <p:txBody>
          <a:bodyPr wrap="square" lIns="0" tIns="0" rIns="0" bIns="0" rtlCol="0" anchor="t"/>
          <a:lstStyle/>
          <a:p>
            <a:pPr indent="0" marL="0">
              <a:buNone/>
            </a:pPr>
            <a:r>
              <a:rPr lang="en-US" sz="2200" dirty="0">
                <a:solidFill>
                  <a:srgbClr val="FFFFFF"/>
                </a:solidFill>
                <a:latin typeface="Arial" pitchFamily="34" charset="0"/>
                <a:ea typeface="Arial" pitchFamily="34" charset="-122"/>
                <a:cs typeface="Arial" pitchFamily="34" charset="-120"/>
              </a:rPr>
              <a:t>Issue, contingencia y la reserva bien y mal usada</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6E4F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Demo · Paso 9: la reserva para R-001 y unas licencias</a:t>
            </a:r>
            <a:endParaRPr lang="en-US" sz="2400" dirty="0"/>
          </a:p>
        </p:txBody>
      </p:sp>
      <p:sp>
        <p:nvSpPr>
          <p:cNvPr id="3" name="Text 1"/>
          <p:cNvSpPr txBox="1"/>
          <p:nvPr/>
        </p:nvSpPr>
        <p:spPr>
          <a:xfrm>
            <a:off x="457200" y="1280160"/>
            <a:ext cx="5486400" cy="292608"/>
          </a:xfrm>
          <a:prstGeom prst="rect">
            <a:avLst/>
          </a:prstGeom>
          <a:noFill/>
          <a:ln/>
        </p:spPr>
        <p:txBody>
          <a:bodyPr wrap="square" lIns="0" tIns="0" rIns="0" bIns="0" rtlCol="0" anchor="t"/>
          <a:lstStyle/>
          <a:p>
            <a:pPr indent="0" marL="0">
              <a:buNone/>
            </a:pPr>
            <a:r>
              <a:rPr lang="en-US" sz="1300" b="1" dirty="0">
                <a:solidFill>
                  <a:srgbClr val="696969"/>
                </a:solidFill>
                <a:latin typeface="Arial" pitchFamily="34" charset="0"/>
                <a:ea typeface="Arial" pitchFamily="34" charset="-122"/>
                <a:cs typeface="Arial" pitchFamily="34" charset="-120"/>
              </a:rPr>
              <a:t>Prompt · escribilo tal cual</a:t>
            </a:r>
            <a:endParaRPr lang="en-US" sz="1300" dirty="0"/>
          </a:p>
        </p:txBody>
      </p:sp>
      <p:sp>
        <p:nvSpPr>
          <p:cNvPr id="4" name="Shape 2"/>
          <p:cNvSpPr/>
          <p:nvPr/>
        </p:nvSpPr>
        <p:spPr>
          <a:xfrm>
            <a:off x="457200" y="1627632"/>
            <a:ext cx="11274552" cy="1757934"/>
          </a:xfrm>
          <a:prstGeom prst="roundRect">
            <a:avLst>
              <a:gd name="adj" fmla="val 4161"/>
            </a:avLst>
          </a:prstGeom>
          <a:solidFill>
            <a:srgbClr val="0F2238"/>
          </a:solidFill>
          <a:ln w="12700">
            <a:solidFill>
              <a:srgbClr val="0F2238"/>
            </a:solidFill>
            <a:prstDash val="solid"/>
          </a:ln>
        </p:spPr>
      </p:sp>
      <p:sp>
        <p:nvSpPr>
          <p:cNvPr id="5" name="Text 3"/>
          <p:cNvSpPr txBox="1"/>
          <p:nvPr/>
        </p:nvSpPr>
        <p:spPr>
          <a:xfrm>
            <a:off x="685800" y="1792224"/>
            <a:ext cx="10817352" cy="1428750"/>
          </a:xfrm>
          <a:prstGeom prst="rect">
            <a:avLst/>
          </a:prstGeom>
          <a:noFill/>
          <a:ln/>
        </p:spPr>
        <p:txBody>
          <a:bodyPr wrap="square" lIns="0" tIns="0" rIns="0" bIns="0" rtlCol="0" anchor="ctr"/>
          <a:lstStyle/>
          <a:p>
            <a:pPr indent="0" marL="0">
              <a:buNone/>
            </a:pPr>
            <a:r>
              <a:rPr lang="en-US" sz="1800" dirty="0">
                <a:solidFill>
                  <a:srgbClr val="E8EEF5"/>
                </a:solidFill>
                <a:latin typeface="Courier New" pitchFamily="34" charset="0"/>
                <a:ea typeface="Courier New" pitchFamily="34" charset="-122"/>
                <a:cs typeface="Courier New" pitchFamily="34" charset="-120"/>
              </a:rPr>
              <a:t>Para no perder dos semanas, Laura aprueba pagar un entorno de pruebas temporal del padrón (copia anonimizada en la nube durante 8 semanas, USD 8.000): registralo contra la reserva de riesgo como respuesta a R-001. Además, Lucía pidió dos licencias de la herramienta de diseño (USD 3.000) y Martín las aprobó contra la reserva porque "hay plata". ¿Cómo queda la reserva?</a:t>
            </a:r>
            <a:endParaRPr lang="en-US" sz="18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El control mira el propósito, no el monto</a:t>
            </a:r>
            <a:endParaRPr lang="en-US" sz="2400" dirty="0"/>
          </a:p>
        </p:txBody>
      </p:sp>
      <p:sp>
        <p:nvSpPr>
          <p:cNvPr id="3" name="Shape 1"/>
          <p:cNvSpPr/>
          <p:nvPr/>
        </p:nvSpPr>
        <p:spPr>
          <a:xfrm>
            <a:off x="457200" y="1280160"/>
            <a:ext cx="11274552" cy="870509"/>
          </a:xfrm>
          <a:prstGeom prst="roundRect">
            <a:avLst>
              <a:gd name="adj" fmla="val 10504"/>
            </a:avLst>
          </a:prstGeom>
          <a:solidFill>
            <a:srgbClr val="E9F1F8"/>
          </a:solidFill>
          <a:ln w="12700">
            <a:solidFill>
              <a:srgbClr val="E9F1F8"/>
            </a:solidFill>
            <a:prstDash val="solid"/>
          </a:ln>
        </p:spPr>
      </p:sp>
      <p:sp>
        <p:nvSpPr>
          <p:cNvPr id="4" name="Shape 2"/>
          <p:cNvSpPr/>
          <p:nvPr/>
        </p:nvSpPr>
        <p:spPr>
          <a:xfrm>
            <a:off x="621792" y="1486814"/>
            <a:ext cx="457200" cy="457200"/>
          </a:xfrm>
          <a:prstGeom prst="roundRect">
            <a:avLst>
              <a:gd name="adj" fmla="val 16000"/>
            </a:avLst>
          </a:prstGeom>
          <a:solidFill>
            <a:srgbClr val="00629B"/>
          </a:solidFill>
          <a:ln w="12700">
            <a:solidFill>
              <a:srgbClr val="00629B"/>
            </a:solidFill>
            <a:prstDash val="solid"/>
          </a:ln>
        </p:spPr>
      </p:sp>
      <p:sp>
        <p:nvSpPr>
          <p:cNvPr id="5" name="Text 3"/>
          <p:cNvSpPr txBox="1"/>
          <p:nvPr/>
        </p:nvSpPr>
        <p:spPr>
          <a:xfrm>
            <a:off x="621792" y="1486814"/>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6" name="Text 4"/>
          <p:cNvSpPr txBox="1"/>
          <p:nvPr/>
        </p:nvSpPr>
        <p:spPr>
          <a:xfrm>
            <a:off x="1280160" y="1335024"/>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R-001 ocurre: pasa a ocurrido y se abre I-001</a:t>
            </a:r>
            <a:endParaRPr lang="en-US" sz="1600" dirty="0"/>
          </a:p>
        </p:txBody>
      </p:sp>
      <p:sp>
        <p:nvSpPr>
          <p:cNvPr id="7" name="Shape 5"/>
          <p:cNvSpPr/>
          <p:nvPr/>
        </p:nvSpPr>
        <p:spPr>
          <a:xfrm>
            <a:off x="457200" y="2296973"/>
            <a:ext cx="11274552" cy="870509"/>
          </a:xfrm>
          <a:prstGeom prst="roundRect">
            <a:avLst>
              <a:gd name="adj" fmla="val 10504"/>
            </a:avLst>
          </a:prstGeom>
          <a:solidFill>
            <a:srgbClr val="F4F6F8"/>
          </a:solidFill>
          <a:ln w="12700">
            <a:solidFill>
              <a:srgbClr val="F4F6F8"/>
            </a:solidFill>
            <a:prstDash val="solid"/>
          </a:ln>
        </p:spPr>
      </p:sp>
      <p:sp>
        <p:nvSpPr>
          <p:cNvPr id="8" name="Shape 6"/>
          <p:cNvSpPr/>
          <p:nvPr/>
        </p:nvSpPr>
        <p:spPr>
          <a:xfrm>
            <a:off x="621792" y="2503627"/>
            <a:ext cx="457200" cy="457200"/>
          </a:xfrm>
          <a:prstGeom prst="roundRect">
            <a:avLst>
              <a:gd name="adj" fmla="val 16000"/>
            </a:avLst>
          </a:prstGeom>
          <a:solidFill>
            <a:srgbClr val="00629B"/>
          </a:solidFill>
          <a:ln w="12700">
            <a:solidFill>
              <a:srgbClr val="00629B"/>
            </a:solidFill>
            <a:prstDash val="solid"/>
          </a:ln>
        </p:spPr>
      </p:sp>
      <p:sp>
        <p:nvSpPr>
          <p:cNvPr id="9" name="Text 7"/>
          <p:cNvSpPr txBox="1"/>
          <p:nvPr/>
        </p:nvSpPr>
        <p:spPr>
          <a:xfrm>
            <a:off x="621792" y="2503627"/>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0" name="Text 8"/>
          <p:cNvSpPr txBox="1"/>
          <p:nvPr/>
        </p:nvSpPr>
        <p:spPr>
          <a:xfrm>
            <a:off x="1280160" y="2351837"/>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C-002 entorno temporal: 8.000, cita R-001, decide la ejecutiva</a:t>
            </a:r>
            <a:endParaRPr lang="en-US" sz="1600" dirty="0"/>
          </a:p>
        </p:txBody>
      </p:sp>
      <p:sp>
        <p:nvSpPr>
          <p:cNvPr id="11" name="Shape 9"/>
          <p:cNvSpPr/>
          <p:nvPr/>
        </p:nvSpPr>
        <p:spPr>
          <a:xfrm>
            <a:off x="457200" y="3313786"/>
            <a:ext cx="11274552" cy="870509"/>
          </a:xfrm>
          <a:prstGeom prst="roundRect">
            <a:avLst>
              <a:gd name="adj" fmla="val 10504"/>
            </a:avLst>
          </a:prstGeom>
          <a:solidFill>
            <a:srgbClr val="E9F1F8"/>
          </a:solidFill>
          <a:ln w="12700">
            <a:solidFill>
              <a:srgbClr val="E9F1F8"/>
            </a:solidFill>
            <a:prstDash val="solid"/>
          </a:ln>
        </p:spPr>
      </p:sp>
      <p:sp>
        <p:nvSpPr>
          <p:cNvPr id="12" name="Shape 10"/>
          <p:cNvSpPr/>
          <p:nvPr/>
        </p:nvSpPr>
        <p:spPr>
          <a:xfrm>
            <a:off x="621792" y="3520440"/>
            <a:ext cx="457200" cy="457200"/>
          </a:xfrm>
          <a:prstGeom prst="roundRect">
            <a:avLst>
              <a:gd name="adj" fmla="val 16000"/>
            </a:avLst>
          </a:prstGeom>
          <a:solidFill>
            <a:srgbClr val="00629B"/>
          </a:solidFill>
          <a:ln w="12700">
            <a:solidFill>
              <a:srgbClr val="00629B"/>
            </a:solidFill>
            <a:prstDash val="solid"/>
          </a:ln>
        </p:spPr>
      </p:sp>
      <p:sp>
        <p:nvSpPr>
          <p:cNvPr id="13" name="Text 11"/>
          <p:cNvSpPr txBox="1"/>
          <p:nvPr/>
        </p:nvSpPr>
        <p:spPr>
          <a:xfrm>
            <a:off x="621792" y="35204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4" name="Text 12"/>
          <p:cNvSpPr txBox="1"/>
          <p:nvPr/>
        </p:nvSpPr>
        <p:spPr>
          <a:xfrm>
            <a:off x="1280160" y="3368650"/>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C-003 licencias: 3.000, dentro del límite del gestor</a:t>
            </a:r>
            <a:endParaRPr lang="en-US" sz="1600" dirty="0"/>
          </a:p>
        </p:txBody>
      </p:sp>
      <p:sp>
        <p:nvSpPr>
          <p:cNvPr id="15" name="Shape 13"/>
          <p:cNvSpPr/>
          <p:nvPr/>
        </p:nvSpPr>
        <p:spPr>
          <a:xfrm>
            <a:off x="457200" y="4330598"/>
            <a:ext cx="11274552" cy="870509"/>
          </a:xfrm>
          <a:prstGeom prst="roundRect">
            <a:avLst>
              <a:gd name="adj" fmla="val 10504"/>
            </a:avLst>
          </a:prstGeom>
          <a:solidFill>
            <a:srgbClr val="F4F6F8"/>
          </a:solidFill>
          <a:ln w="12700">
            <a:solidFill>
              <a:srgbClr val="F4F6F8"/>
            </a:solidFill>
            <a:prstDash val="solid"/>
          </a:ln>
        </p:spPr>
      </p:sp>
      <p:sp>
        <p:nvSpPr>
          <p:cNvPr id="16" name="Shape 14"/>
          <p:cNvSpPr/>
          <p:nvPr/>
        </p:nvSpPr>
        <p:spPr>
          <a:xfrm>
            <a:off x="621792" y="4537253"/>
            <a:ext cx="457200" cy="457200"/>
          </a:xfrm>
          <a:prstGeom prst="roundRect">
            <a:avLst>
              <a:gd name="adj" fmla="val 16000"/>
            </a:avLst>
          </a:prstGeom>
          <a:solidFill>
            <a:srgbClr val="00629B"/>
          </a:solidFill>
          <a:ln w="12700">
            <a:solidFill>
              <a:srgbClr val="00629B"/>
            </a:solidFill>
            <a:prstDash val="solid"/>
          </a:ln>
        </p:spPr>
      </p:sp>
      <p:sp>
        <p:nvSpPr>
          <p:cNvPr id="17" name="Text 15"/>
          <p:cNvSpPr txBox="1"/>
          <p:nvPr/>
        </p:nvSpPr>
        <p:spPr>
          <a:xfrm>
            <a:off x="621792" y="4537253"/>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18" name="Text 16"/>
          <p:cNvSpPr txBox="1"/>
          <p:nvPr/>
        </p:nvSpPr>
        <p:spPr>
          <a:xfrm>
            <a:off x="1280160" y="4385462"/>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CAM-02: cargo a la reserva sin un R-### citado</a:t>
            </a:r>
            <a:endParaRPr lang="en-US" sz="1600" dirty="0"/>
          </a:p>
        </p:txBody>
      </p:sp>
      <p:sp>
        <p:nvSpPr>
          <p:cNvPr id="19" name="Shape 17"/>
          <p:cNvSpPr/>
          <p:nvPr/>
        </p:nvSpPr>
        <p:spPr>
          <a:xfrm>
            <a:off x="457200" y="5347411"/>
            <a:ext cx="11274552" cy="870509"/>
          </a:xfrm>
          <a:prstGeom prst="roundRect">
            <a:avLst>
              <a:gd name="adj" fmla="val 10504"/>
            </a:avLst>
          </a:prstGeom>
          <a:solidFill>
            <a:srgbClr val="E9F1F8"/>
          </a:solidFill>
          <a:ln w="12700">
            <a:solidFill>
              <a:srgbClr val="E9F1F8"/>
            </a:solidFill>
            <a:prstDash val="solid"/>
          </a:ln>
        </p:spPr>
      </p:sp>
      <p:sp>
        <p:nvSpPr>
          <p:cNvPr id="20" name="Shape 18"/>
          <p:cNvSpPr/>
          <p:nvPr/>
        </p:nvSpPr>
        <p:spPr>
          <a:xfrm>
            <a:off x="621792" y="5554066"/>
            <a:ext cx="457200" cy="457200"/>
          </a:xfrm>
          <a:prstGeom prst="roundRect">
            <a:avLst>
              <a:gd name="adj" fmla="val 16000"/>
            </a:avLst>
          </a:prstGeom>
          <a:solidFill>
            <a:srgbClr val="00629B"/>
          </a:solidFill>
          <a:ln w="12700">
            <a:solidFill>
              <a:srgbClr val="00629B"/>
            </a:solidFill>
            <a:prstDash val="solid"/>
          </a:ln>
        </p:spPr>
      </p:sp>
      <p:sp>
        <p:nvSpPr>
          <p:cNvPr id="21" name="Text 19"/>
          <p:cNvSpPr txBox="1"/>
          <p:nvPr/>
        </p:nvSpPr>
        <p:spPr>
          <a:xfrm>
            <a:off x="621792" y="5554066"/>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5</a:t>
            </a:r>
            <a:endParaRPr lang="en-US" sz="1600" dirty="0"/>
          </a:p>
        </p:txBody>
      </p:sp>
      <p:sp>
        <p:nvSpPr>
          <p:cNvPr id="22" name="Text 20"/>
          <p:cNvSpPr txBox="1"/>
          <p:nvPr/>
        </p:nvSpPr>
        <p:spPr>
          <a:xfrm>
            <a:off x="1280160" y="5402275"/>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Tras el rechazo: 17.800 de 47.800 (37 %)</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Pasos 10 y 11 · Lo que decide la junta</a:t>
            </a:r>
            <a:endParaRPr lang="en-US" sz="2400" dirty="0"/>
          </a:p>
        </p:txBody>
      </p:sp>
      <p:sp>
        <p:nvSpPr>
          <p:cNvPr id="3" name="Shape 1"/>
          <p:cNvSpPr/>
          <p:nvPr/>
        </p:nvSpPr>
        <p:spPr>
          <a:xfrm>
            <a:off x="457200" y="1280160"/>
            <a:ext cx="11274552" cy="870509"/>
          </a:xfrm>
          <a:prstGeom prst="roundRect">
            <a:avLst>
              <a:gd name="adj" fmla="val 10504"/>
            </a:avLst>
          </a:prstGeom>
          <a:solidFill>
            <a:srgbClr val="E9F1F8"/>
          </a:solidFill>
          <a:ln w="12700">
            <a:solidFill>
              <a:srgbClr val="E9F1F8"/>
            </a:solidFill>
            <a:prstDash val="solid"/>
          </a:ln>
        </p:spPr>
      </p:sp>
      <p:sp>
        <p:nvSpPr>
          <p:cNvPr id="4" name="Shape 2"/>
          <p:cNvSpPr/>
          <p:nvPr/>
        </p:nvSpPr>
        <p:spPr>
          <a:xfrm>
            <a:off x="621792" y="1486814"/>
            <a:ext cx="457200" cy="457200"/>
          </a:xfrm>
          <a:prstGeom prst="roundRect">
            <a:avLst>
              <a:gd name="adj" fmla="val 16000"/>
            </a:avLst>
          </a:prstGeom>
          <a:solidFill>
            <a:srgbClr val="00629B"/>
          </a:solidFill>
          <a:ln w="12700">
            <a:solidFill>
              <a:srgbClr val="00629B"/>
            </a:solidFill>
            <a:prstDash val="solid"/>
          </a:ln>
        </p:spPr>
      </p:sp>
      <p:sp>
        <p:nvSpPr>
          <p:cNvPr id="5" name="Text 3"/>
          <p:cNvSpPr txBox="1"/>
          <p:nvPr/>
        </p:nvSpPr>
        <p:spPr>
          <a:xfrm>
            <a:off x="621792" y="1486814"/>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6" name="Text 4"/>
          <p:cNvSpPr txBox="1"/>
          <p:nvPr/>
        </p:nvSpPr>
        <p:spPr>
          <a:xfrm>
            <a:off x="1280160" y="1335024"/>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R-008, norma de biometría: P3 × I5 = 15, EMV 20.000</a:t>
            </a:r>
            <a:endParaRPr lang="en-US" sz="1600" dirty="0"/>
          </a:p>
        </p:txBody>
      </p:sp>
      <p:sp>
        <p:nvSpPr>
          <p:cNvPr id="7" name="Shape 5"/>
          <p:cNvSpPr/>
          <p:nvPr/>
        </p:nvSpPr>
        <p:spPr>
          <a:xfrm>
            <a:off x="457200" y="2296973"/>
            <a:ext cx="11274552" cy="870509"/>
          </a:xfrm>
          <a:prstGeom prst="roundRect">
            <a:avLst>
              <a:gd name="adj" fmla="val 10504"/>
            </a:avLst>
          </a:prstGeom>
          <a:solidFill>
            <a:srgbClr val="F4F6F8"/>
          </a:solidFill>
          <a:ln w="12700">
            <a:solidFill>
              <a:srgbClr val="F4F6F8"/>
            </a:solidFill>
            <a:prstDash val="solid"/>
          </a:ln>
        </p:spPr>
      </p:sp>
      <p:sp>
        <p:nvSpPr>
          <p:cNvPr id="8" name="Shape 6"/>
          <p:cNvSpPr/>
          <p:nvPr/>
        </p:nvSpPr>
        <p:spPr>
          <a:xfrm>
            <a:off x="621792" y="2503627"/>
            <a:ext cx="457200" cy="457200"/>
          </a:xfrm>
          <a:prstGeom prst="roundRect">
            <a:avLst>
              <a:gd name="adj" fmla="val 16000"/>
            </a:avLst>
          </a:prstGeom>
          <a:solidFill>
            <a:srgbClr val="00629B"/>
          </a:solidFill>
          <a:ln w="12700">
            <a:solidFill>
              <a:srgbClr val="00629B"/>
            </a:solidFill>
            <a:prstDash val="solid"/>
          </a:ln>
        </p:spPr>
      </p:sp>
      <p:sp>
        <p:nvSpPr>
          <p:cNvPr id="9" name="Text 7"/>
          <p:cNvSpPr txBox="1"/>
          <p:nvPr/>
        </p:nvSpPr>
        <p:spPr>
          <a:xfrm>
            <a:off x="621792" y="2503627"/>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0" name="Text 8"/>
          <p:cNvSpPr txBox="1"/>
          <p:nvPr/>
        </p:nvSpPr>
        <p:spPr>
          <a:xfrm>
            <a:off x="1280160" y="2351837"/>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Respuesta de 10.000 frente a una reducción de 8.000</a:t>
            </a:r>
            <a:endParaRPr lang="en-US" sz="1600" dirty="0"/>
          </a:p>
        </p:txBody>
      </p:sp>
      <p:sp>
        <p:nvSpPr>
          <p:cNvPr id="11" name="Shape 9"/>
          <p:cNvSpPr/>
          <p:nvPr/>
        </p:nvSpPr>
        <p:spPr>
          <a:xfrm>
            <a:off x="457200" y="3313786"/>
            <a:ext cx="11274552" cy="870509"/>
          </a:xfrm>
          <a:prstGeom prst="roundRect">
            <a:avLst>
              <a:gd name="adj" fmla="val 10504"/>
            </a:avLst>
          </a:prstGeom>
          <a:solidFill>
            <a:srgbClr val="E9F1F8"/>
          </a:solidFill>
          <a:ln w="12700">
            <a:solidFill>
              <a:srgbClr val="E9F1F8"/>
            </a:solidFill>
            <a:prstDash val="solid"/>
          </a:ln>
        </p:spPr>
      </p:sp>
      <p:sp>
        <p:nvSpPr>
          <p:cNvPr id="12" name="Shape 10"/>
          <p:cNvSpPr/>
          <p:nvPr/>
        </p:nvSpPr>
        <p:spPr>
          <a:xfrm>
            <a:off x="621792" y="3520440"/>
            <a:ext cx="457200" cy="457200"/>
          </a:xfrm>
          <a:prstGeom prst="roundRect">
            <a:avLst>
              <a:gd name="adj" fmla="val 16000"/>
            </a:avLst>
          </a:prstGeom>
          <a:solidFill>
            <a:srgbClr val="00629B"/>
          </a:solidFill>
          <a:ln w="12700">
            <a:solidFill>
              <a:srgbClr val="00629B"/>
            </a:solidFill>
            <a:prstDash val="solid"/>
          </a:ln>
        </p:spPr>
      </p:sp>
      <p:sp>
        <p:nvSpPr>
          <p:cNvPr id="13" name="Text 11"/>
          <p:cNvSpPr txBox="1"/>
          <p:nvPr/>
        </p:nvSpPr>
        <p:spPr>
          <a:xfrm>
            <a:off x="621792" y="35204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4" name="Text 12"/>
          <p:cNvSpPr txBox="1"/>
          <p:nvPr/>
        </p:nvSpPr>
        <p:spPr>
          <a:xfrm>
            <a:off x="1280160" y="3368650"/>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Se justifica por apetito bajo en cumplimiento: decide la junta</a:t>
            </a:r>
            <a:endParaRPr lang="en-US" sz="1600" dirty="0"/>
          </a:p>
        </p:txBody>
      </p:sp>
      <p:sp>
        <p:nvSpPr>
          <p:cNvPr id="15" name="Shape 13"/>
          <p:cNvSpPr/>
          <p:nvPr/>
        </p:nvSpPr>
        <p:spPr>
          <a:xfrm>
            <a:off x="457200" y="4330598"/>
            <a:ext cx="11274552" cy="870509"/>
          </a:xfrm>
          <a:prstGeom prst="roundRect">
            <a:avLst>
              <a:gd name="adj" fmla="val 10504"/>
            </a:avLst>
          </a:prstGeom>
          <a:solidFill>
            <a:srgbClr val="F4F6F8"/>
          </a:solidFill>
          <a:ln w="12700">
            <a:solidFill>
              <a:srgbClr val="F4F6F8"/>
            </a:solidFill>
            <a:prstDash val="solid"/>
          </a:ln>
        </p:spPr>
      </p:sp>
      <p:sp>
        <p:nvSpPr>
          <p:cNvPr id="16" name="Shape 14"/>
          <p:cNvSpPr/>
          <p:nvPr/>
        </p:nvSpPr>
        <p:spPr>
          <a:xfrm>
            <a:off x="621792" y="4537253"/>
            <a:ext cx="457200" cy="457200"/>
          </a:xfrm>
          <a:prstGeom prst="roundRect">
            <a:avLst>
              <a:gd name="adj" fmla="val 16000"/>
            </a:avLst>
          </a:prstGeom>
          <a:solidFill>
            <a:srgbClr val="00629B"/>
          </a:solidFill>
          <a:ln w="12700">
            <a:solidFill>
              <a:srgbClr val="00629B"/>
            </a:solidFill>
            <a:prstDash val="solid"/>
          </a:ln>
        </p:spPr>
      </p:sp>
      <p:sp>
        <p:nvSpPr>
          <p:cNvPr id="17" name="Text 15"/>
          <p:cNvSpPr txBox="1"/>
          <p:nvPr/>
        </p:nvSpPr>
        <p:spPr>
          <a:xfrm>
            <a:off x="621792" y="4537253"/>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18" name="Text 16"/>
          <p:cNvSpPr txBox="1"/>
          <p:nvPr/>
        </p:nvSpPr>
        <p:spPr>
          <a:xfrm>
            <a:off x="1280160" y="4385462"/>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Business case v1.1; reserva al 58 %; EST-12 vigila la condición</a:t>
            </a:r>
            <a:endParaRPr lang="en-US" sz="1600" dirty="0"/>
          </a:p>
        </p:txBody>
      </p:sp>
      <p:sp>
        <p:nvSpPr>
          <p:cNvPr id="19" name="Shape 17"/>
          <p:cNvSpPr/>
          <p:nvPr/>
        </p:nvSpPr>
        <p:spPr>
          <a:xfrm>
            <a:off x="457200" y="5347411"/>
            <a:ext cx="11274552" cy="870509"/>
          </a:xfrm>
          <a:prstGeom prst="roundRect">
            <a:avLst>
              <a:gd name="adj" fmla="val 10504"/>
            </a:avLst>
          </a:prstGeom>
          <a:solidFill>
            <a:srgbClr val="E9F1F8"/>
          </a:solidFill>
          <a:ln w="12700">
            <a:solidFill>
              <a:srgbClr val="E9F1F8"/>
            </a:solidFill>
            <a:prstDash val="solid"/>
          </a:ln>
        </p:spPr>
      </p:sp>
      <p:sp>
        <p:nvSpPr>
          <p:cNvPr id="20" name="Shape 18"/>
          <p:cNvSpPr/>
          <p:nvPr/>
        </p:nvSpPr>
        <p:spPr>
          <a:xfrm>
            <a:off x="621792" y="5554066"/>
            <a:ext cx="457200" cy="457200"/>
          </a:xfrm>
          <a:prstGeom prst="roundRect">
            <a:avLst>
              <a:gd name="adj" fmla="val 16000"/>
            </a:avLst>
          </a:prstGeom>
          <a:solidFill>
            <a:srgbClr val="00629B"/>
          </a:solidFill>
          <a:ln w="12700">
            <a:solidFill>
              <a:srgbClr val="00629B"/>
            </a:solidFill>
            <a:prstDash val="solid"/>
          </a:ln>
        </p:spPr>
      </p:sp>
      <p:sp>
        <p:nvSpPr>
          <p:cNvPr id="21" name="Text 19"/>
          <p:cNvSpPr txBox="1"/>
          <p:nvPr/>
        </p:nvSpPr>
        <p:spPr>
          <a:xfrm>
            <a:off x="621792" y="5554066"/>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5</a:t>
            </a:r>
            <a:endParaRPr lang="en-US" sz="1600" dirty="0"/>
          </a:p>
        </p:txBody>
      </p:sp>
      <p:sp>
        <p:nvSpPr>
          <p:cNvPr id="22" name="Text 20"/>
          <p:cNvSpPr txBox="1"/>
          <p:nvPr/>
        </p:nvSpPr>
        <p:spPr>
          <a:xfrm>
            <a:off x="1280160" y="5402275"/>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La misma sanidad del 12/01 trae cinco REG-09</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548640" y="1645920"/>
            <a:ext cx="5486400" cy="411480"/>
          </a:xfrm>
          <a:prstGeom prst="rect">
            <a:avLst/>
          </a:prstGeom>
          <a:noFill/>
          <a:ln/>
        </p:spPr>
        <p:txBody>
          <a:bodyPr wrap="square" lIns="0" tIns="0" rIns="0" bIns="0" rtlCol="0" anchor="t"/>
          <a:lstStyle/>
          <a:p>
            <a:pPr indent="0" marL="0">
              <a:buNone/>
            </a:pPr>
            <a:r>
              <a:rPr lang="en-US" sz="1800" b="1" dirty="0">
                <a:solidFill>
                  <a:srgbClr val="9FD0F0"/>
                </a:solidFill>
                <a:latin typeface="Arial" pitchFamily="34" charset="0"/>
                <a:ea typeface="Arial" pitchFamily="34" charset="-122"/>
                <a:cs typeface="Arial" pitchFamily="34" charset="-120"/>
              </a:rPr>
              <a:t>Clase 2</a:t>
            </a:r>
            <a:endParaRPr lang="en-US" sz="1800" dirty="0"/>
          </a:p>
        </p:txBody>
      </p:sp>
      <p:sp>
        <p:nvSpPr>
          <p:cNvPr id="3" name="Text 2"/>
          <p:cNvSpPr/>
          <p:nvPr>
            <p:ph idx="102" type="title" hasCustomPrompt="1"/>
          </p:nvPr>
        </p:nvSpPr>
        <p:spPr>
          <a:xfrm>
            <a:off x="548640" y="2148840"/>
            <a:ext cx="11091672" cy="1005840"/>
          </a:xfrm>
          <a:prstGeom prst="rect">
            <a:avLst/>
          </a:prstGeom>
          <a:noFill/>
          <a:ln/>
        </p:spPr>
        <p:txBody>
          <a:bodyPr wrap="square" lIns="0" tIns="0" rIns="0" bIns="0" rtlCol="0" anchor="t"/>
          <a:lstStyle/>
          <a:p>
            <a:pPr algn="l" indent="0" marL="0">
              <a:buNone/>
            </a:pPr>
            <a:r>
              <a:rPr lang="en-US" sz="4000" b="1" dirty="0">
                <a:solidFill>
                  <a:srgbClr val="FFFFFF"/>
                </a:solidFill>
                <a:latin typeface="Arial" pitchFamily="34" charset="0"/>
                <a:ea typeface="Arial" pitchFamily="34" charset="-122"/>
                <a:cs typeface="Arial" pitchFamily="34" charset="-120"/>
              </a:rPr>
              <a:t>Revisión periódica</a:t>
            </a:r>
            <a:endParaRPr lang="en-US" sz="4000" dirty="0"/>
          </a:p>
        </p:txBody>
      </p:sp>
      <p:sp>
        <p:nvSpPr>
          <p:cNvPr id="4" name="Text 2"/>
          <p:cNvSpPr txBox="1"/>
          <p:nvPr/>
        </p:nvSpPr>
        <p:spPr>
          <a:xfrm>
            <a:off x="548640" y="3291840"/>
            <a:ext cx="11091672" cy="822960"/>
          </a:xfrm>
          <a:prstGeom prst="rect">
            <a:avLst/>
          </a:prstGeom>
          <a:noFill/>
          <a:ln/>
        </p:spPr>
        <p:txBody>
          <a:bodyPr wrap="square" lIns="0" tIns="0" rIns="0" bIns="0" rtlCol="0" anchor="t"/>
          <a:lstStyle/>
          <a:p>
            <a:pPr indent="0" marL="0">
              <a:buNone/>
            </a:pPr>
            <a:r>
              <a:rPr lang="en-US" sz="2200" dirty="0">
                <a:solidFill>
                  <a:srgbClr val="FFFFFF"/>
                </a:solidFill>
                <a:latin typeface="Arial" pitchFamily="34" charset="0"/>
                <a:ea typeface="Arial" pitchFamily="34" charset="-122"/>
                <a:cs typeface="Arial" pitchFamily="34" charset="-120"/>
              </a:rPr>
              <a:t>Un mes de avisos sin atender</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6E4F0"/>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Lo que ve el gestor al abrir la sesión</a:t>
            </a:r>
            <a:endParaRPr lang="en-US" sz="2400" dirty="0"/>
          </a:p>
        </p:txBody>
      </p:sp>
      <p:sp>
        <p:nvSpPr>
          <p:cNvPr id="3" name="Shape 1"/>
          <p:cNvSpPr/>
          <p:nvPr/>
        </p:nvSpPr>
        <p:spPr>
          <a:xfrm>
            <a:off x="457200" y="1280160"/>
            <a:ext cx="11274552" cy="870509"/>
          </a:xfrm>
          <a:prstGeom prst="roundRect">
            <a:avLst>
              <a:gd name="adj" fmla="val 10504"/>
            </a:avLst>
          </a:prstGeom>
          <a:solidFill>
            <a:srgbClr val="E9F1F8"/>
          </a:solidFill>
          <a:ln w="12700">
            <a:solidFill>
              <a:srgbClr val="E9F1F8"/>
            </a:solidFill>
            <a:prstDash val="solid"/>
          </a:ln>
        </p:spPr>
      </p:sp>
      <p:sp>
        <p:nvSpPr>
          <p:cNvPr id="4" name="Shape 2"/>
          <p:cNvSpPr/>
          <p:nvPr/>
        </p:nvSpPr>
        <p:spPr>
          <a:xfrm>
            <a:off x="621792" y="1486814"/>
            <a:ext cx="457200" cy="457200"/>
          </a:xfrm>
          <a:prstGeom prst="roundRect">
            <a:avLst>
              <a:gd name="adj" fmla="val 16000"/>
            </a:avLst>
          </a:prstGeom>
          <a:solidFill>
            <a:srgbClr val="00629B"/>
          </a:solidFill>
          <a:ln w="12700">
            <a:solidFill>
              <a:srgbClr val="00629B"/>
            </a:solidFill>
            <a:prstDash val="solid"/>
          </a:ln>
        </p:spPr>
      </p:sp>
      <p:sp>
        <p:nvSpPr>
          <p:cNvPr id="5" name="Text 3"/>
          <p:cNvSpPr txBox="1"/>
          <p:nvPr/>
        </p:nvSpPr>
        <p:spPr>
          <a:xfrm>
            <a:off x="621792" y="1486814"/>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6" name="Text 4"/>
          <p:cNvSpPr txBox="1"/>
          <p:nvPr/>
        </p:nvSpPr>
        <p:spPr>
          <a:xfrm>
            <a:off x="1280160" y="1335024"/>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Conteo de la sanidad rápida: 0 ERROR · 8 AVISO</a:t>
            </a:r>
            <a:endParaRPr lang="en-US" sz="1600" dirty="0"/>
          </a:p>
        </p:txBody>
      </p:sp>
      <p:sp>
        <p:nvSpPr>
          <p:cNvPr id="7" name="Shape 5"/>
          <p:cNvSpPr/>
          <p:nvPr/>
        </p:nvSpPr>
        <p:spPr>
          <a:xfrm>
            <a:off x="457200" y="2296973"/>
            <a:ext cx="11274552" cy="870509"/>
          </a:xfrm>
          <a:prstGeom prst="roundRect">
            <a:avLst>
              <a:gd name="adj" fmla="val 10504"/>
            </a:avLst>
          </a:prstGeom>
          <a:solidFill>
            <a:srgbClr val="F4F6F8"/>
          </a:solidFill>
          <a:ln w="12700">
            <a:solidFill>
              <a:srgbClr val="F4F6F8"/>
            </a:solidFill>
            <a:prstDash val="solid"/>
          </a:ln>
        </p:spPr>
      </p:sp>
      <p:sp>
        <p:nvSpPr>
          <p:cNvPr id="8" name="Shape 6"/>
          <p:cNvSpPr/>
          <p:nvPr/>
        </p:nvSpPr>
        <p:spPr>
          <a:xfrm>
            <a:off x="621792" y="2503627"/>
            <a:ext cx="457200" cy="457200"/>
          </a:xfrm>
          <a:prstGeom prst="roundRect">
            <a:avLst>
              <a:gd name="adj" fmla="val 16000"/>
            </a:avLst>
          </a:prstGeom>
          <a:solidFill>
            <a:srgbClr val="00629B"/>
          </a:solidFill>
          <a:ln w="12700">
            <a:solidFill>
              <a:srgbClr val="00629B"/>
            </a:solidFill>
            <a:prstDash val="solid"/>
          </a:ln>
        </p:spPr>
      </p:sp>
      <p:sp>
        <p:nvSpPr>
          <p:cNvPr id="9" name="Text 7"/>
          <p:cNvSpPr txBox="1"/>
          <p:nvPr/>
        </p:nvSpPr>
        <p:spPr>
          <a:xfrm>
            <a:off x="621792" y="2503627"/>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0" name="Text 8"/>
          <p:cNvSpPr txBox="1"/>
          <p:nvPr/>
        </p:nvSpPr>
        <p:spPr>
          <a:xfrm>
            <a:off x="1280160" y="2351837"/>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Abiertos: riesgos 6, issues 1, cambios 3, acciones 1</a:t>
            </a:r>
            <a:endParaRPr lang="en-US" sz="1600" dirty="0"/>
          </a:p>
        </p:txBody>
      </p:sp>
      <p:sp>
        <p:nvSpPr>
          <p:cNvPr id="11" name="Shape 9"/>
          <p:cNvSpPr/>
          <p:nvPr/>
        </p:nvSpPr>
        <p:spPr>
          <a:xfrm>
            <a:off x="457200" y="3313786"/>
            <a:ext cx="11274552" cy="870509"/>
          </a:xfrm>
          <a:prstGeom prst="roundRect">
            <a:avLst>
              <a:gd name="adj" fmla="val 10504"/>
            </a:avLst>
          </a:prstGeom>
          <a:solidFill>
            <a:srgbClr val="E9F1F8"/>
          </a:solidFill>
          <a:ln w="12700">
            <a:solidFill>
              <a:srgbClr val="E9F1F8"/>
            </a:solidFill>
            <a:prstDash val="solid"/>
          </a:ln>
        </p:spPr>
      </p:sp>
      <p:sp>
        <p:nvSpPr>
          <p:cNvPr id="12" name="Shape 10"/>
          <p:cNvSpPr/>
          <p:nvPr/>
        </p:nvSpPr>
        <p:spPr>
          <a:xfrm>
            <a:off x="621792" y="3520440"/>
            <a:ext cx="457200" cy="457200"/>
          </a:xfrm>
          <a:prstGeom prst="roundRect">
            <a:avLst>
              <a:gd name="adj" fmla="val 16000"/>
            </a:avLst>
          </a:prstGeom>
          <a:solidFill>
            <a:srgbClr val="00629B"/>
          </a:solidFill>
          <a:ln w="12700">
            <a:solidFill>
              <a:srgbClr val="00629B"/>
            </a:solidFill>
            <a:prstDash val="solid"/>
          </a:ln>
        </p:spPr>
      </p:sp>
      <p:sp>
        <p:nvSpPr>
          <p:cNvPr id="13" name="Text 11"/>
          <p:cNvSpPr txBox="1"/>
          <p:nvPr/>
        </p:nvSpPr>
        <p:spPr>
          <a:xfrm>
            <a:off x="621792" y="35204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4" name="Text 12"/>
          <p:cNvSpPr txBox="1"/>
          <p:nvPr/>
        </p:nvSpPr>
        <p:spPr>
          <a:xfrm>
            <a:off x="1280160" y="3368650"/>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Seis riesgos con la revisión vencida (REG-09)</a:t>
            </a:r>
            <a:endParaRPr lang="en-US" sz="1600" dirty="0"/>
          </a:p>
        </p:txBody>
      </p:sp>
      <p:sp>
        <p:nvSpPr>
          <p:cNvPr id="15" name="Shape 13"/>
          <p:cNvSpPr/>
          <p:nvPr/>
        </p:nvSpPr>
        <p:spPr>
          <a:xfrm>
            <a:off x="457200" y="4330598"/>
            <a:ext cx="11274552" cy="870509"/>
          </a:xfrm>
          <a:prstGeom prst="roundRect">
            <a:avLst>
              <a:gd name="adj" fmla="val 10504"/>
            </a:avLst>
          </a:prstGeom>
          <a:solidFill>
            <a:srgbClr val="F4F6F8"/>
          </a:solidFill>
          <a:ln w="12700">
            <a:solidFill>
              <a:srgbClr val="F4F6F8"/>
            </a:solidFill>
            <a:prstDash val="solid"/>
          </a:ln>
        </p:spPr>
      </p:sp>
      <p:sp>
        <p:nvSpPr>
          <p:cNvPr id="16" name="Shape 14"/>
          <p:cNvSpPr/>
          <p:nvPr/>
        </p:nvSpPr>
        <p:spPr>
          <a:xfrm>
            <a:off x="621792" y="4537253"/>
            <a:ext cx="457200" cy="457200"/>
          </a:xfrm>
          <a:prstGeom prst="roundRect">
            <a:avLst>
              <a:gd name="adj" fmla="val 16000"/>
            </a:avLst>
          </a:prstGeom>
          <a:solidFill>
            <a:srgbClr val="00629B"/>
          </a:solidFill>
          <a:ln w="12700">
            <a:solidFill>
              <a:srgbClr val="00629B"/>
            </a:solidFill>
            <a:prstDash val="solid"/>
          </a:ln>
        </p:spPr>
      </p:sp>
      <p:sp>
        <p:nvSpPr>
          <p:cNvPr id="17" name="Text 15"/>
          <p:cNvSpPr txBox="1"/>
          <p:nvPr/>
        </p:nvSpPr>
        <p:spPr>
          <a:xfrm>
            <a:off x="621792" y="4537253"/>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18" name="Text 16"/>
          <p:cNvSpPr txBox="1"/>
          <p:nvPr/>
        </p:nvSpPr>
        <p:spPr>
          <a:xfrm>
            <a:off x="1280160" y="4385462"/>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Acción vencida: A-004 (Martín Suárez, 5/2)</a:t>
            </a:r>
            <a:endParaRPr lang="en-US" sz="1600" dirty="0"/>
          </a:p>
        </p:txBody>
      </p:sp>
      <p:sp>
        <p:nvSpPr>
          <p:cNvPr id="19" name="Shape 17"/>
          <p:cNvSpPr/>
          <p:nvPr/>
        </p:nvSpPr>
        <p:spPr>
          <a:xfrm>
            <a:off x="457200" y="5347411"/>
            <a:ext cx="11274552" cy="870509"/>
          </a:xfrm>
          <a:prstGeom prst="roundRect">
            <a:avLst>
              <a:gd name="adj" fmla="val 10504"/>
            </a:avLst>
          </a:prstGeom>
          <a:solidFill>
            <a:srgbClr val="E9F1F8"/>
          </a:solidFill>
          <a:ln w="12700">
            <a:solidFill>
              <a:srgbClr val="E9F1F8"/>
            </a:solidFill>
            <a:prstDash val="solid"/>
          </a:ln>
        </p:spPr>
      </p:sp>
      <p:sp>
        <p:nvSpPr>
          <p:cNvPr id="20" name="Shape 18"/>
          <p:cNvSpPr/>
          <p:nvPr/>
        </p:nvSpPr>
        <p:spPr>
          <a:xfrm>
            <a:off x="621792" y="5554066"/>
            <a:ext cx="457200" cy="457200"/>
          </a:xfrm>
          <a:prstGeom prst="roundRect">
            <a:avLst>
              <a:gd name="adj" fmla="val 16000"/>
            </a:avLst>
          </a:prstGeom>
          <a:solidFill>
            <a:srgbClr val="00629B"/>
          </a:solidFill>
          <a:ln w="12700">
            <a:solidFill>
              <a:srgbClr val="00629B"/>
            </a:solidFill>
            <a:prstDash val="solid"/>
          </a:ln>
        </p:spPr>
      </p:sp>
      <p:sp>
        <p:nvSpPr>
          <p:cNvPr id="21" name="Text 19"/>
          <p:cNvSpPr txBox="1"/>
          <p:nvPr/>
        </p:nvSpPr>
        <p:spPr>
          <a:xfrm>
            <a:off x="621792" y="5554066"/>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5</a:t>
            </a:r>
            <a:endParaRPr lang="en-US" sz="1600" dirty="0"/>
          </a:p>
        </p:txBody>
      </p:sp>
      <p:sp>
        <p:nvSpPr>
          <p:cNvPr id="22" name="Text 20"/>
          <p:cNvSpPr txBox="1"/>
          <p:nvPr/>
        </p:nvSpPr>
        <p:spPr>
          <a:xfrm>
            <a:off x="1280160" y="5402275"/>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Condición de la junta y próxima puerta; manda sobre la memoria</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Demo · Paso 12: qué quedó sin revisar</a:t>
            </a:r>
            <a:endParaRPr lang="en-US" sz="2400" dirty="0"/>
          </a:p>
        </p:txBody>
      </p:sp>
      <p:sp>
        <p:nvSpPr>
          <p:cNvPr id="3" name="Text 1"/>
          <p:cNvSpPr txBox="1"/>
          <p:nvPr/>
        </p:nvSpPr>
        <p:spPr>
          <a:xfrm>
            <a:off x="457200" y="1280160"/>
            <a:ext cx="5486400" cy="292608"/>
          </a:xfrm>
          <a:prstGeom prst="rect">
            <a:avLst/>
          </a:prstGeom>
          <a:noFill/>
          <a:ln/>
        </p:spPr>
        <p:txBody>
          <a:bodyPr wrap="square" lIns="0" tIns="0" rIns="0" bIns="0" rtlCol="0" anchor="t"/>
          <a:lstStyle/>
          <a:p>
            <a:pPr indent="0" marL="0">
              <a:buNone/>
            </a:pPr>
            <a:r>
              <a:rPr lang="en-US" sz="1300" b="1" dirty="0">
                <a:solidFill>
                  <a:srgbClr val="696969"/>
                </a:solidFill>
                <a:latin typeface="Arial" pitchFamily="34" charset="0"/>
                <a:ea typeface="Arial" pitchFamily="34" charset="-122"/>
                <a:cs typeface="Arial" pitchFamily="34" charset="-120"/>
              </a:rPr>
              <a:t>Prompt · escribilo tal cual</a:t>
            </a:r>
            <a:endParaRPr lang="en-US" sz="1300" dirty="0"/>
          </a:p>
        </p:txBody>
      </p:sp>
      <p:sp>
        <p:nvSpPr>
          <p:cNvPr id="4" name="Shape 2"/>
          <p:cNvSpPr/>
          <p:nvPr/>
        </p:nvSpPr>
        <p:spPr>
          <a:xfrm>
            <a:off x="457200" y="1627632"/>
            <a:ext cx="11274552" cy="1186434"/>
          </a:xfrm>
          <a:prstGeom prst="roundRect">
            <a:avLst>
              <a:gd name="adj" fmla="val 6166"/>
            </a:avLst>
          </a:prstGeom>
          <a:solidFill>
            <a:srgbClr val="0F2238"/>
          </a:solidFill>
          <a:ln w="12700">
            <a:solidFill>
              <a:srgbClr val="0F2238"/>
            </a:solidFill>
            <a:prstDash val="solid"/>
          </a:ln>
        </p:spPr>
      </p:sp>
      <p:sp>
        <p:nvSpPr>
          <p:cNvPr id="5" name="Text 3"/>
          <p:cNvSpPr txBox="1"/>
          <p:nvPr/>
        </p:nvSpPr>
        <p:spPr>
          <a:xfrm>
            <a:off x="685800" y="1792224"/>
            <a:ext cx="10817352" cy="857250"/>
          </a:xfrm>
          <a:prstGeom prst="rect">
            <a:avLst/>
          </a:prstGeom>
          <a:noFill/>
          <a:ln/>
        </p:spPr>
        <p:txBody>
          <a:bodyPr wrap="square" lIns="0" tIns="0" rIns="0" bIns="0" rtlCol="0" anchor="ctr"/>
          <a:lstStyle/>
          <a:p>
            <a:pPr indent="0" marL="0">
              <a:buNone/>
            </a:pPr>
            <a:r>
              <a:rPr lang="en-US" sz="1800" dirty="0">
                <a:solidFill>
                  <a:srgbClr val="E8EEF5"/>
                </a:solidFill>
                <a:latin typeface="Courier New" pitchFamily="34" charset="0"/>
                <a:ea typeface="Courier New" pitchFamily="34" charset="-122"/>
                <a:cs typeface="Courier New" pitchFamily="34" charset="-120"/>
              </a:rPr>
              <a:t>Revisión de riesgos del sprint, corte 12/02. Antes de actualizar nada, decime qué quedó sin revisar: riesgos con la revisión vencida, acciones de respuesta vencidas, condiciones de la junta abiertas y cómo está la reserva.</a:t>
            </a:r>
            <a:endParaRPr lang="en-US" sz="18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Revisión del 12/02: lo que encontró</a:t>
            </a:r>
            <a:endParaRPr lang="en-US" sz="24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4606806"/>
                <a:gridCol w="3758184"/>
                <a:gridCol w="2909562"/>
              </a:tblGrid>
              <a:tr h="0">
                <a:tc>
                  <a:txBody>
                    <a:bodyPr/>
                    <a:lstStyle/>
                    <a:p>
                      <a:pPr indent="0" marL="0">
                        <a:buNone/>
                      </a:pPr>
                      <a:r>
                        <a:rPr lang="en-US" sz="1800" b="1" dirty="0">
                          <a:solidFill>
                            <a:srgbClr val="FFFFFF"/>
                          </a:solidFill>
                          <a:latin typeface="Arial" pitchFamily="34" charset="0"/>
                          <a:ea typeface="Arial" pitchFamily="34" charset="-122"/>
                          <a:cs typeface="Arial" pitchFamily="34" charset="-120"/>
                        </a:rPr>
                        <a:t>Hallazgo</a:t>
                      </a:r>
                      <a:endParaRPr lang="en-US" sz="1200" dirty="0">
                        <a:latin typeface="Arial" charset="0"/>
                        <a:ea typeface="Arial" charset="0"/>
                        <a:cs typeface="Arial" charset="0"/>
                      </a:endParaRPr>
                    </a:p>
                  </a:txBody>
                  <a:tcPr marL="73152" marR="73152" marT="73152" marB="73152"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c>
                  <a:txBody>
                    <a:bodyPr/>
                    <a:lstStyle/>
                    <a:p>
                      <a:pPr indent="0" marL="0">
                        <a:buNone/>
                      </a:pPr>
                      <a:r>
                        <a:rPr lang="en-US" sz="1800" b="1" dirty="0">
                          <a:solidFill>
                            <a:srgbClr val="FFFFFF"/>
                          </a:solidFill>
                          <a:latin typeface="Arial" pitchFamily="34" charset="0"/>
                          <a:ea typeface="Arial" pitchFamily="34" charset="-122"/>
                          <a:cs typeface="Arial" pitchFamily="34" charset="-120"/>
                        </a:rPr>
                        <a:t>Quién lo detecta</a:t>
                      </a:r>
                      <a:endParaRPr lang="en-US" sz="1200" dirty="0">
                        <a:latin typeface="Arial" charset="0"/>
                        <a:ea typeface="Arial" charset="0"/>
                        <a:cs typeface="Arial" charset="0"/>
                      </a:endParaRPr>
                    </a:p>
                  </a:txBody>
                  <a:tcPr marL="73152" marR="73152" marT="73152" marB="73152"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c>
                  <a:txBody>
                    <a:bodyPr/>
                    <a:lstStyle/>
                    <a:p>
                      <a:pPr indent="0" marL="0">
                        <a:buNone/>
                      </a:pPr>
                      <a:r>
                        <a:rPr lang="en-US" sz="1800" b="1" dirty="0">
                          <a:solidFill>
                            <a:srgbClr val="FFFFFF"/>
                          </a:solidFill>
                          <a:latin typeface="Arial" pitchFamily="34" charset="0"/>
                          <a:ea typeface="Arial" pitchFamily="34" charset="-122"/>
                          <a:cs typeface="Arial" pitchFamily="34" charset="-120"/>
                        </a:rPr>
                        <a:t>Qué se hizo</a:t>
                      </a:r>
                      <a:endParaRPr lang="en-US" sz="1200" dirty="0">
                        <a:latin typeface="Arial" charset="0"/>
                        <a:ea typeface="Arial" charset="0"/>
                        <a:cs typeface="Arial" charset="0"/>
                      </a:endParaRPr>
                    </a:p>
                  </a:txBody>
                  <a:tcPr marL="73152" marR="73152" marT="73152" marB="73152"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r>
              <a:tr h="0">
                <a:tc>
                  <a:txBody>
                    <a:bodyPr/>
                    <a:lstStyle/>
                    <a:p>
                      <a:pPr indent="0" marL="0">
                        <a:buNone/>
                      </a:pPr>
                      <a:r>
                        <a:rPr lang="en-US" sz="1800" b="1" dirty="0">
                          <a:solidFill>
                            <a:srgbClr val="002855"/>
                          </a:solidFill>
                          <a:latin typeface="Arial" pitchFamily="34" charset="0"/>
                          <a:ea typeface="Arial" pitchFamily="34" charset="-122"/>
                          <a:cs typeface="Arial" pitchFamily="34" charset="-120"/>
                        </a:rPr>
                        <a:t>6 de 6 riesgos con la revisión vencida</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sanidad REG-09 (desde el 12/01)</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próxima revisión 26/2</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r h="0">
                <a:tc>
                  <a:txBody>
                    <a:bodyPr/>
                    <a:lstStyle/>
                    <a:p>
                      <a:pPr indent="0" marL="0">
                        <a:buNone/>
                      </a:pPr>
                      <a:r>
                        <a:rPr lang="en-US" sz="1800" b="1" dirty="0">
                          <a:solidFill>
                            <a:srgbClr val="002855"/>
                          </a:solidFill>
                          <a:latin typeface="Arial" pitchFamily="34" charset="0"/>
                          <a:ea typeface="Arial" pitchFamily="34" charset="-122"/>
                          <a:cs typeface="Arial" pitchFamily="34" charset="-120"/>
                        </a:rPr>
                        <a:t>A-004 vencida el 5/2</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resumen de sesión y REG-07</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replanificada al 26/2</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r>
              <a:tr h="0">
                <a:tc>
                  <a:txBody>
                    <a:bodyPr/>
                    <a:lstStyle/>
                    <a:p>
                      <a:pPr indent="0" marL="0">
                        <a:buNone/>
                      </a:pPr>
                      <a:r>
                        <a:rPr lang="en-US" sz="1800" b="1" dirty="0">
                          <a:solidFill>
                            <a:srgbClr val="002855"/>
                          </a:solidFill>
                          <a:latin typeface="Arial" pitchFamily="34" charset="0"/>
                          <a:ea typeface="Arial" pitchFamily="34" charset="-122"/>
                          <a:cs typeface="Arial" pitchFamily="34" charset="-120"/>
                        </a:rPr>
                        <a:t>Disparador de R-003 alcanzado</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revisión del sprint</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P sube a 4: R-003 = 20</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r h="0">
                <a:tc>
                  <a:txBody>
                    <a:bodyPr/>
                    <a:lstStyle/>
                    <a:p>
                      <a:pPr indent="0" marL="0">
                        <a:buNone/>
                      </a:pPr>
                      <a:r>
                        <a:rPr lang="en-US" sz="1800" b="1" dirty="0">
                          <a:solidFill>
                            <a:srgbClr val="002855"/>
                          </a:solidFill>
                          <a:latin typeface="Arial" pitchFamily="34" charset="0"/>
                          <a:ea typeface="Arial" pitchFamily="34" charset="-122"/>
                          <a:cs typeface="Arial" pitchFamily="34" charset="-120"/>
                        </a:rPr>
                        <a:t>Condición de la junta abierta</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sanidad EST-12</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sigue hasta el 1/3</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r>
              <a:tr h="0">
                <a:tc>
                  <a:txBody>
                    <a:bodyPr/>
                    <a:lstStyle/>
                    <a:p>
                      <a:pPr indent="0" marL="0">
                        <a:buNone/>
                      </a:pPr>
                      <a:r>
                        <a:rPr lang="en-US" sz="1800" b="1" dirty="0">
                          <a:solidFill>
                            <a:srgbClr val="002855"/>
                          </a:solidFill>
                          <a:latin typeface="Arial" pitchFamily="34" charset="0"/>
                          <a:ea typeface="Arial" pitchFamily="34" charset="-122"/>
                          <a:cs typeface="Arial" pitchFamily="34" charset="-120"/>
                        </a:rPr>
                        <a:t>Exposición 56.400</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suma de EMV en riesgos.csv</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a 3.600 de la tolerancia</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bl>
          </a:graphicData>
        </a:graphic>
      </p:graphicFrame>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La exposición rozó la tolerancia en febrero</a:t>
            </a:r>
            <a:endParaRPr lang="en-US" sz="2400" dirty="0"/>
          </a:p>
        </p:txBody>
      </p:sp>
      <p:pic>
        <p:nvPicPr>
          <p:cNvPr id="3" name="Image 0" descr="La exposición rozó la tolerancia en febrero">    </p:cNvPr>
          <p:cNvPicPr>
            <a:picLocks noChangeAspect="1"/>
          </p:cNvPicPr>
          <p:nvPr/>
        </p:nvPicPr>
        <p:blipFill>
          <a:blip r:embed="rId1"/>
          <a:stretch>
            <a:fillRect/>
          </a:stretch>
        </p:blipFill>
        <p:spPr>
          <a:xfrm>
            <a:off x="1705356" y="1280160"/>
            <a:ext cx="8778240" cy="4937760"/>
          </a:xfrm>
          <a:prstGeom prst="rect">
            <a:avLst/>
          </a:prstGeom>
        </p:spPr>
      </p:pic>
      <p:sp>
        <p:nvSpPr>
          <p:cNvPr id="4" name="Shape 1"/>
          <p:cNvSpPr/>
          <p:nvPr/>
        </p:nvSpPr>
        <p:spPr>
          <a:xfrm>
            <a:off x="1705356" y="1280160"/>
            <a:ext cx="8778240" cy="4937760"/>
          </a:xfrm>
          <a:prstGeom prst="rect">
            <a:avLst/>
          </a:prstGeom>
          <a:solidFill>
            <a:srgbClr val="FFFFFF">
              <a:alpha val="0"/>
            </a:srgbClr>
          </a:solidFill>
          <a:ln w="9525">
            <a:solidFill>
              <a:srgbClr val="E2E2E6"/>
            </a:solidFill>
            <a:prstDash val="solid"/>
          </a:ln>
        </p:spPr>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txBox="1"/>
          <p:nvPr/>
        </p:nvSpPr>
        <p:spPr>
          <a:xfrm>
            <a:off x="548640" y="1645920"/>
            <a:ext cx="5486400" cy="411480"/>
          </a:xfrm>
          <a:prstGeom prst="rect">
            <a:avLst/>
          </a:prstGeom>
          <a:noFill/>
          <a:ln/>
        </p:spPr>
        <p:txBody>
          <a:bodyPr wrap="square" lIns="0" tIns="0" rIns="0" bIns="0" rtlCol="0" anchor="t"/>
          <a:lstStyle/>
          <a:p>
            <a:pPr indent="0" marL="0">
              <a:buNone/>
            </a:pPr>
            <a:r>
              <a:rPr lang="en-US" sz="1800" b="1" dirty="0">
                <a:solidFill>
                  <a:srgbClr val="9FD0F0"/>
                </a:solidFill>
                <a:latin typeface="Arial" pitchFamily="34" charset="0"/>
                <a:ea typeface="Arial" pitchFamily="34" charset="-122"/>
                <a:cs typeface="Arial" pitchFamily="34" charset="-120"/>
              </a:rPr>
              <a:t>Clase 2</a:t>
            </a:r>
            <a:endParaRPr lang="en-US" sz="1800" dirty="0"/>
          </a:p>
        </p:txBody>
      </p:sp>
      <p:sp>
        <p:nvSpPr>
          <p:cNvPr id="3" name="Text 2"/>
          <p:cNvSpPr/>
          <p:nvPr>
            <p:ph idx="102" type="title" hasCustomPrompt="1"/>
          </p:nvPr>
        </p:nvSpPr>
        <p:spPr>
          <a:xfrm>
            <a:off x="548640" y="2148840"/>
            <a:ext cx="11091672" cy="1005840"/>
          </a:xfrm>
          <a:prstGeom prst="rect">
            <a:avLst/>
          </a:prstGeom>
          <a:noFill/>
          <a:ln/>
        </p:spPr>
        <p:txBody>
          <a:bodyPr wrap="square" lIns="0" tIns="0" rIns="0" bIns="0" rtlCol="0" anchor="t"/>
          <a:lstStyle/>
          <a:p>
            <a:pPr algn="l" indent="0" marL="0">
              <a:buNone/>
            </a:pPr>
            <a:r>
              <a:rPr lang="en-US" sz="4000" b="1" dirty="0">
                <a:solidFill>
                  <a:srgbClr val="FFFFFF"/>
                </a:solidFill>
                <a:latin typeface="Arial" pitchFamily="34" charset="0"/>
                <a:ea typeface="Arial" pitchFamily="34" charset="-122"/>
                <a:cs typeface="Arial" pitchFamily="34" charset="-120"/>
              </a:rPr>
              <a:t>La reserva como presupuesto vivo</a:t>
            </a:r>
            <a:endParaRPr lang="en-US" sz="4000" dirty="0"/>
          </a:p>
        </p:txBody>
      </p:sp>
      <p:sp>
        <p:nvSpPr>
          <p:cNvPr id="4" name="Text 2"/>
          <p:cNvSpPr txBox="1"/>
          <p:nvPr/>
        </p:nvSpPr>
        <p:spPr>
          <a:xfrm>
            <a:off x="548640" y="3291840"/>
            <a:ext cx="11091672" cy="822960"/>
          </a:xfrm>
          <a:prstGeom prst="rect">
            <a:avLst/>
          </a:prstGeom>
          <a:noFill/>
          <a:ln/>
        </p:spPr>
        <p:txBody>
          <a:bodyPr wrap="square" lIns="0" tIns="0" rIns="0" bIns="0" rtlCol="0" anchor="t"/>
          <a:lstStyle/>
          <a:p>
            <a:pPr indent="0" marL="0">
              <a:buNone/>
            </a:pPr>
            <a:r>
              <a:rPr lang="en-US" sz="2200" dirty="0">
                <a:solidFill>
                  <a:srgbClr val="FFFFFF"/>
                </a:solidFill>
                <a:latin typeface="Arial" pitchFamily="34" charset="0"/>
                <a:ea typeface="Arial" pitchFamily="34" charset="-122"/>
                <a:cs typeface="Arial" pitchFamily="34" charset="-120"/>
              </a:rPr>
              <a:t>Contingencia y alerta al 80 %</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6E4F0"/>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Demo · Paso 13: contingencia de R-003</a:t>
            </a:r>
            <a:endParaRPr lang="en-US" sz="2400" dirty="0"/>
          </a:p>
        </p:txBody>
      </p:sp>
      <p:sp>
        <p:nvSpPr>
          <p:cNvPr id="3" name="Text 1"/>
          <p:cNvSpPr txBox="1"/>
          <p:nvPr/>
        </p:nvSpPr>
        <p:spPr>
          <a:xfrm>
            <a:off x="457200" y="1280160"/>
            <a:ext cx="5486400" cy="292608"/>
          </a:xfrm>
          <a:prstGeom prst="rect">
            <a:avLst/>
          </a:prstGeom>
          <a:noFill/>
          <a:ln/>
        </p:spPr>
        <p:txBody>
          <a:bodyPr wrap="square" lIns="0" tIns="0" rIns="0" bIns="0" rtlCol="0" anchor="t"/>
          <a:lstStyle/>
          <a:p>
            <a:pPr indent="0" marL="0">
              <a:buNone/>
            </a:pPr>
            <a:r>
              <a:rPr lang="en-US" sz="1300" b="1" dirty="0">
                <a:solidFill>
                  <a:srgbClr val="696969"/>
                </a:solidFill>
                <a:latin typeface="Arial" pitchFamily="34" charset="0"/>
                <a:ea typeface="Arial" pitchFamily="34" charset="-122"/>
                <a:cs typeface="Arial" pitchFamily="34" charset="-120"/>
              </a:rPr>
              <a:t>Prompt · escribilo tal cual</a:t>
            </a:r>
            <a:endParaRPr lang="en-US" sz="1300" dirty="0"/>
          </a:p>
        </p:txBody>
      </p:sp>
      <p:sp>
        <p:nvSpPr>
          <p:cNvPr id="4" name="Shape 2"/>
          <p:cNvSpPr/>
          <p:nvPr/>
        </p:nvSpPr>
        <p:spPr>
          <a:xfrm>
            <a:off x="457200" y="1627632"/>
            <a:ext cx="11274552" cy="1472184"/>
          </a:xfrm>
          <a:prstGeom prst="roundRect">
            <a:avLst>
              <a:gd name="adj" fmla="val 4969"/>
            </a:avLst>
          </a:prstGeom>
          <a:solidFill>
            <a:srgbClr val="0F2238"/>
          </a:solidFill>
          <a:ln w="12700">
            <a:solidFill>
              <a:srgbClr val="0F2238"/>
            </a:solidFill>
            <a:prstDash val="solid"/>
          </a:ln>
        </p:spPr>
      </p:sp>
      <p:sp>
        <p:nvSpPr>
          <p:cNvPr id="5" name="Text 3"/>
          <p:cNvSpPr txBox="1"/>
          <p:nvPr/>
        </p:nvSpPr>
        <p:spPr>
          <a:xfrm>
            <a:off x="685800" y="1792224"/>
            <a:ext cx="10817352" cy="1143000"/>
          </a:xfrm>
          <a:prstGeom prst="rect">
            <a:avLst/>
          </a:prstGeom>
          <a:noFill/>
          <a:ln/>
        </p:spPr>
        <p:txBody>
          <a:bodyPr wrap="square" lIns="0" tIns="0" rIns="0" bIns="0" rtlCol="0" anchor="ctr"/>
          <a:lstStyle/>
          <a:p>
            <a:pPr indent="0" marL="0">
              <a:buNone/>
            </a:pPr>
            <a:r>
              <a:rPr lang="en-US" sz="1800" dirty="0">
                <a:solidFill>
                  <a:srgbClr val="E8EEF5"/>
                </a:solidFill>
                <a:latin typeface="Courier New" pitchFamily="34" charset="0"/>
                <a:ea typeface="Courier New" pitchFamily="34" charset="-122"/>
                <a:cs typeface="Courier New" pitchFamily="34" charset="-120"/>
              </a:rPr>
              <a:t>Para R-003 proponé activar la contingencia: el proveedor de SMS alternativo que evaluamos en PS-104, en paralelo durante 6 meses, USD 11.000, con residual P2 I3. Supera mi autoridad, así que llevalo a Laura. Después decime cómo queda la reserva contra lo que todavía puede pasar.</a:t>
            </a:r>
            <a:endParaRPr lang="en-US" sz="18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200" b="1" dirty="0">
                <a:solidFill>
                  <a:srgbClr val="FFFFFF"/>
                </a:solidFill>
                <a:latin typeface="Arial" pitchFamily="34" charset="0"/>
                <a:ea typeface="Arial" pitchFamily="34" charset="-122"/>
                <a:cs typeface="Arial" pitchFamily="34" charset="-120"/>
              </a:rPr>
              <a:t>La reserva llegó al 81 % y la sanidad avisó antes de agotarse</a:t>
            </a:r>
            <a:endParaRPr lang="en-US" sz="2400" dirty="0"/>
          </a:p>
        </p:txBody>
      </p:sp>
      <p:pic>
        <p:nvPicPr>
          <p:cNvPr id="3" name="Image 0" descr="La reserva llegó al 81 % y la sanidad avisó antes de agotarse">    </p:cNvPr>
          <p:cNvPicPr>
            <a:picLocks noChangeAspect="1"/>
          </p:cNvPicPr>
          <p:nvPr/>
        </p:nvPicPr>
        <p:blipFill>
          <a:blip r:embed="rId1"/>
          <a:stretch>
            <a:fillRect/>
          </a:stretch>
        </p:blipFill>
        <p:spPr>
          <a:xfrm>
            <a:off x="1705356" y="1280160"/>
            <a:ext cx="8778240" cy="4937760"/>
          </a:xfrm>
          <a:prstGeom prst="rect">
            <a:avLst/>
          </a:prstGeom>
        </p:spPr>
      </p:pic>
      <p:sp>
        <p:nvSpPr>
          <p:cNvPr id="4" name="Shape 1"/>
          <p:cNvSpPr/>
          <p:nvPr/>
        </p:nvSpPr>
        <p:spPr>
          <a:xfrm>
            <a:off x="1705356" y="1280160"/>
            <a:ext cx="8778240" cy="4937760"/>
          </a:xfrm>
          <a:prstGeom prst="rect">
            <a:avLst/>
          </a:prstGeom>
          <a:solidFill>
            <a:srgbClr val="FFFFFF">
              <a:alpha val="0"/>
            </a:srgbClr>
          </a:solidFill>
          <a:ln w="9525">
            <a:solidFill>
              <a:srgbClr val="E2E2E6"/>
            </a:solidFill>
            <a:prstDash val="solid"/>
          </a:ln>
        </p:spPr>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2"/>
          <p:cNvSpPr/>
          <p:nvPr>
            <p:ph idx="102" type="title" hasCustomPrompt="1"/>
          </p:nvPr>
        </p:nvSpPr>
        <p:spPr>
          <a:xfrm>
            <a:off x="548640" y="365760"/>
            <a:ext cx="9445752" cy="713232"/>
          </a:xfrm>
          <a:prstGeom prst="rect">
            <a:avLst/>
          </a:prstGeom>
          <a:noFill/>
          <a:ln/>
        </p:spPr>
        <p:txBody>
          <a:bodyPr wrap="square" lIns="0" tIns="0" rIns="0" bIns="0" rtlCol="0" anchor="ctr"/>
          <a:lstStyle/>
          <a:p>
            <a:pPr algn="l" indent="0" marL="0">
              <a:buNone/>
            </a:pPr>
            <a:r>
              <a:rPr lang="en-US" sz="2200" b="1" dirty="0">
                <a:solidFill>
                  <a:srgbClr val="9FD0F0"/>
                </a:solidFill>
                <a:latin typeface="Arial" pitchFamily="34" charset="0"/>
                <a:ea typeface="Arial" pitchFamily="34" charset="-122"/>
                <a:cs typeface="Arial" pitchFamily="34" charset="-120"/>
              </a:rPr>
              <a:t>Discusión</a:t>
            </a:r>
            <a:endParaRPr lang="en-US" sz="2200" dirty="0"/>
          </a:p>
        </p:txBody>
      </p:sp>
      <p:sp>
        <p:nvSpPr>
          <p:cNvPr id="3" name="Shape 1"/>
          <p:cNvSpPr/>
          <p:nvPr/>
        </p:nvSpPr>
        <p:spPr>
          <a:xfrm>
            <a:off x="548640" y="3131820"/>
            <a:ext cx="1188720" cy="1188720"/>
          </a:xfrm>
          <a:prstGeom prst="ellipse">
            <a:avLst/>
          </a:prstGeom>
          <a:solidFill>
            <a:srgbClr val="B5651D"/>
          </a:solidFill>
          <a:ln w="12700">
            <a:solidFill>
              <a:srgbClr val="B5651D"/>
            </a:solidFill>
            <a:prstDash val="solid"/>
          </a:ln>
        </p:spPr>
      </p:sp>
      <p:sp>
        <p:nvSpPr>
          <p:cNvPr id="4" name="Text 2"/>
          <p:cNvSpPr txBox="1"/>
          <p:nvPr/>
        </p:nvSpPr>
        <p:spPr>
          <a:xfrm>
            <a:off x="548640" y="3131820"/>
            <a:ext cx="1188720" cy="1188720"/>
          </a:xfrm>
          <a:prstGeom prst="rect">
            <a:avLst/>
          </a:prstGeom>
          <a:noFill/>
          <a:ln/>
        </p:spPr>
        <p:txBody>
          <a:bodyPr wrap="square" lIns="0" tIns="0" rIns="0" bIns="0" rtlCol="0" anchor="ctr"/>
          <a:lstStyle/>
          <a:p>
            <a:pPr algn="ctr" indent="0" marL="0">
              <a:buNone/>
            </a:pPr>
            <a:r>
              <a:rPr lang="en-US" sz="5400" b="1" dirty="0">
                <a:solidFill>
                  <a:srgbClr val="FFFFFF"/>
                </a:solidFill>
                <a:latin typeface="Arial" pitchFamily="34" charset="0"/>
                <a:ea typeface="Arial" pitchFamily="34" charset="-122"/>
                <a:cs typeface="Arial" pitchFamily="34" charset="-120"/>
              </a:rPr>
              <a:t>?</a:t>
            </a:r>
            <a:endParaRPr lang="en-US" sz="5400" dirty="0"/>
          </a:p>
        </p:txBody>
      </p:sp>
      <p:sp>
        <p:nvSpPr>
          <p:cNvPr id="5" name="Text 3"/>
          <p:cNvSpPr txBox="1"/>
          <p:nvPr/>
        </p:nvSpPr>
        <p:spPr>
          <a:xfrm>
            <a:off x="2103120" y="1417320"/>
            <a:ext cx="9537192" cy="4617720"/>
          </a:xfrm>
          <a:prstGeom prst="rect">
            <a:avLst/>
          </a:prstGeom>
          <a:noFill/>
          <a:ln/>
        </p:spPr>
        <p:txBody>
          <a:bodyPr wrap="square" lIns="0" tIns="0" rIns="0" bIns="0" rtlCol="0" anchor="ctr"/>
          <a:lstStyle/>
          <a:p>
            <a:pPr indent="0" marL="0">
              <a:buNone/>
            </a:pPr>
            <a:r>
              <a:rPr lang="en-US" sz="3200" b="1" dirty="0">
                <a:solidFill>
                  <a:srgbClr val="FFFFFF"/>
                </a:solidFill>
                <a:latin typeface="Arial" pitchFamily="34" charset="0"/>
                <a:ea typeface="Arial" pitchFamily="34" charset="-122"/>
                <a:cs typeface="Arial" pitchFamily="34" charset="-120"/>
              </a:rPr>
              <a:t>Con la reserva al 81 % y 9.000 de remanente frente a 34.800 de EMV residual, ¿qué harías en lugar de Laura?</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6E4F0"/>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Fin de la etapa 2: solo la reserva queda en atención</a:t>
            </a:r>
            <a:endParaRPr lang="en-US" sz="2400" dirty="0"/>
          </a:p>
        </p:txBody>
      </p:sp>
      <p:pic>
        <p:nvPicPr>
          <p:cNvPr id="3" name="Image 0" descr="Fin de la etapa 2: solo la reserva queda en atención">    </p:cNvPr>
          <p:cNvPicPr>
            <a:picLocks noChangeAspect="1"/>
          </p:cNvPicPr>
          <p:nvPr/>
        </p:nvPicPr>
        <p:blipFill>
          <a:blip r:embed="rId1"/>
          <a:stretch>
            <a:fillRect/>
          </a:stretch>
        </p:blipFill>
        <p:spPr>
          <a:xfrm>
            <a:off x="1705356" y="1280160"/>
            <a:ext cx="8778240" cy="4937760"/>
          </a:xfrm>
          <a:prstGeom prst="rect">
            <a:avLst/>
          </a:prstGeom>
        </p:spPr>
      </p:pic>
      <p:sp>
        <p:nvSpPr>
          <p:cNvPr id="4" name="Shape 1"/>
          <p:cNvSpPr/>
          <p:nvPr/>
        </p:nvSpPr>
        <p:spPr>
          <a:xfrm>
            <a:off x="1705356" y="1280160"/>
            <a:ext cx="8778240" cy="4937760"/>
          </a:xfrm>
          <a:prstGeom prst="rect">
            <a:avLst/>
          </a:prstGeom>
          <a:solidFill>
            <a:srgbClr val="FFFFFF">
              <a:alpha val="0"/>
            </a:srgbClr>
          </a:solidFill>
          <a:ln w="9525">
            <a:solidFill>
              <a:srgbClr val="E2E2E6"/>
            </a:solidFill>
            <a:prstDash val="solid"/>
          </a:ln>
        </p:spPr>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Ejercicio · Parte B: la revisión de tu registro</a:t>
            </a:r>
            <a:endParaRPr lang="en-US" sz="2400" dirty="0"/>
          </a:p>
        </p:txBody>
      </p:sp>
      <p:sp>
        <p:nvSpPr>
          <p:cNvPr id="3" name="Shape 1"/>
          <p:cNvSpPr/>
          <p:nvPr/>
        </p:nvSpPr>
        <p:spPr>
          <a:xfrm>
            <a:off x="457200" y="1280160"/>
            <a:ext cx="5500116" cy="2331720"/>
          </a:xfrm>
          <a:prstGeom prst="roundRect">
            <a:avLst>
              <a:gd name="adj" fmla="val 3922"/>
            </a:avLst>
          </a:prstGeom>
          <a:solidFill>
            <a:srgbClr val="FBF1E6"/>
          </a:solidFill>
          <a:ln w="12700">
            <a:solidFill>
              <a:srgbClr val="FBF1E6"/>
            </a:solidFill>
            <a:prstDash val="solid"/>
          </a:ln>
        </p:spPr>
      </p:sp>
      <p:sp>
        <p:nvSpPr>
          <p:cNvPr id="4" name="Text 2"/>
          <p:cNvSpPr txBox="1"/>
          <p:nvPr/>
        </p:nvSpPr>
        <p:spPr>
          <a:xfrm>
            <a:off x="658368" y="1389888"/>
            <a:ext cx="731520" cy="420624"/>
          </a:xfrm>
          <a:prstGeom prst="rect">
            <a:avLst/>
          </a:prstGeom>
          <a:noFill/>
          <a:ln/>
        </p:spPr>
        <p:txBody>
          <a:bodyPr wrap="square" lIns="0" tIns="0" rIns="0" bIns="0" rtlCol="0" anchor="t"/>
          <a:lstStyle/>
          <a:p>
            <a:pPr indent="0" marL="0">
              <a:buNone/>
            </a:pPr>
            <a:r>
              <a:rPr lang="en-US" sz="2600" b="1" dirty="0">
                <a:solidFill>
                  <a:srgbClr val="B5651D"/>
                </a:solidFill>
                <a:latin typeface="Arial" pitchFamily="34" charset="0"/>
                <a:ea typeface="Arial" pitchFamily="34" charset="-122"/>
                <a:cs typeface="Arial" pitchFamily="34" charset="-120"/>
              </a:rPr>
              <a:t>1</a:t>
            </a:r>
            <a:endParaRPr lang="en-US" sz="2600" dirty="0"/>
          </a:p>
        </p:txBody>
      </p:sp>
      <p:sp>
        <p:nvSpPr>
          <p:cNvPr id="5" name="Text 3"/>
          <p:cNvSpPr txBox="1"/>
          <p:nvPr/>
        </p:nvSpPr>
        <p:spPr>
          <a:xfrm>
            <a:off x="658368" y="1847088"/>
            <a:ext cx="5097780" cy="1581912"/>
          </a:xfrm>
          <a:prstGeom prst="rect">
            <a:avLst/>
          </a:prstGeom>
          <a:noFill/>
          <a:ln/>
        </p:spPr>
        <p:txBody>
          <a:bodyPr wrap="square" lIns="0" tIns="0" rIns="0" bIns="0" rtlCol="0" anchor="t"/>
          <a:lstStyle/>
          <a:p>
            <a:pPr indent="0" marL="0">
              <a:buNone/>
            </a:pPr>
            <a:r>
              <a:rPr lang="en-US" sz="2000" dirty="0">
                <a:solidFill>
                  <a:srgbClr val="272425"/>
                </a:solidFill>
                <a:latin typeface="Arial" pitchFamily="34" charset="0"/>
                <a:ea typeface="Arial" pitchFamily="34" charset="-122"/>
                <a:cs typeface="Arial" pitchFamily="34" charset="-120"/>
              </a:rPr>
              <a:t>B1: revisiones, acciones, disparadores y condiciones vencidas</a:t>
            </a:r>
            <a:endParaRPr lang="en-US" sz="1600" dirty="0"/>
          </a:p>
        </p:txBody>
      </p:sp>
      <p:sp>
        <p:nvSpPr>
          <p:cNvPr id="6" name="Shape 4"/>
          <p:cNvSpPr/>
          <p:nvPr/>
        </p:nvSpPr>
        <p:spPr>
          <a:xfrm>
            <a:off x="6231636" y="1280160"/>
            <a:ext cx="5500116" cy="2331720"/>
          </a:xfrm>
          <a:prstGeom prst="roundRect">
            <a:avLst>
              <a:gd name="adj" fmla="val 3922"/>
            </a:avLst>
          </a:prstGeom>
          <a:solidFill>
            <a:srgbClr val="FBF1E6"/>
          </a:solidFill>
          <a:ln w="12700">
            <a:solidFill>
              <a:srgbClr val="FBF1E6"/>
            </a:solidFill>
            <a:prstDash val="solid"/>
          </a:ln>
        </p:spPr>
      </p:sp>
      <p:sp>
        <p:nvSpPr>
          <p:cNvPr id="7" name="Text 5"/>
          <p:cNvSpPr txBox="1"/>
          <p:nvPr/>
        </p:nvSpPr>
        <p:spPr>
          <a:xfrm>
            <a:off x="6432804" y="1389888"/>
            <a:ext cx="731520" cy="420624"/>
          </a:xfrm>
          <a:prstGeom prst="rect">
            <a:avLst/>
          </a:prstGeom>
          <a:noFill/>
          <a:ln/>
        </p:spPr>
        <p:txBody>
          <a:bodyPr wrap="square" lIns="0" tIns="0" rIns="0" bIns="0" rtlCol="0" anchor="t"/>
          <a:lstStyle/>
          <a:p>
            <a:pPr indent="0" marL="0">
              <a:buNone/>
            </a:pPr>
            <a:r>
              <a:rPr lang="en-US" sz="2600" b="1" dirty="0">
                <a:solidFill>
                  <a:srgbClr val="B5651D"/>
                </a:solidFill>
                <a:latin typeface="Arial" pitchFamily="34" charset="0"/>
                <a:ea typeface="Arial" pitchFamily="34" charset="-122"/>
                <a:cs typeface="Arial" pitchFamily="34" charset="-120"/>
              </a:rPr>
              <a:t>2</a:t>
            </a:r>
            <a:endParaRPr lang="en-US" sz="2600" dirty="0"/>
          </a:p>
        </p:txBody>
      </p:sp>
      <p:sp>
        <p:nvSpPr>
          <p:cNvPr id="8" name="Text 6"/>
          <p:cNvSpPr txBox="1"/>
          <p:nvPr/>
        </p:nvSpPr>
        <p:spPr>
          <a:xfrm>
            <a:off x="6432804" y="1847088"/>
            <a:ext cx="5097780" cy="1581912"/>
          </a:xfrm>
          <a:prstGeom prst="rect">
            <a:avLst/>
          </a:prstGeom>
          <a:noFill/>
          <a:ln/>
        </p:spPr>
        <p:txBody>
          <a:bodyPr wrap="square" lIns="0" tIns="0" rIns="0" bIns="0" rtlCol="0" anchor="t"/>
          <a:lstStyle/>
          <a:p>
            <a:pPr indent="0" marL="0">
              <a:buNone/>
            </a:pPr>
            <a:r>
              <a:rPr lang="en-US" sz="2000" dirty="0">
                <a:solidFill>
                  <a:srgbClr val="272425"/>
                </a:solidFill>
                <a:latin typeface="Arial" pitchFamily="34" charset="0"/>
                <a:ea typeface="Arial" pitchFamily="34" charset="-122"/>
                <a:cs typeface="Arial" pitchFamily="34" charset="-120"/>
              </a:rPr>
              <a:t>B2: consumo de la reserva frente al EMV residual</a:t>
            </a:r>
            <a:endParaRPr lang="en-US" sz="1600" dirty="0"/>
          </a:p>
        </p:txBody>
      </p:sp>
      <p:sp>
        <p:nvSpPr>
          <p:cNvPr id="9" name="Shape 7"/>
          <p:cNvSpPr/>
          <p:nvPr/>
        </p:nvSpPr>
        <p:spPr>
          <a:xfrm>
            <a:off x="457200" y="3886200"/>
            <a:ext cx="5500116" cy="2331720"/>
          </a:xfrm>
          <a:prstGeom prst="roundRect">
            <a:avLst>
              <a:gd name="adj" fmla="val 3922"/>
            </a:avLst>
          </a:prstGeom>
          <a:solidFill>
            <a:srgbClr val="FBF1E6"/>
          </a:solidFill>
          <a:ln w="12700">
            <a:solidFill>
              <a:srgbClr val="FBF1E6"/>
            </a:solidFill>
            <a:prstDash val="solid"/>
          </a:ln>
        </p:spPr>
      </p:sp>
      <p:sp>
        <p:nvSpPr>
          <p:cNvPr id="10" name="Text 8"/>
          <p:cNvSpPr txBox="1"/>
          <p:nvPr/>
        </p:nvSpPr>
        <p:spPr>
          <a:xfrm>
            <a:off x="658368" y="3995928"/>
            <a:ext cx="731520" cy="420624"/>
          </a:xfrm>
          <a:prstGeom prst="rect">
            <a:avLst/>
          </a:prstGeom>
          <a:noFill/>
          <a:ln/>
        </p:spPr>
        <p:txBody>
          <a:bodyPr wrap="square" lIns="0" tIns="0" rIns="0" bIns="0" rtlCol="0" anchor="t"/>
          <a:lstStyle/>
          <a:p>
            <a:pPr indent="0" marL="0">
              <a:buNone/>
            </a:pPr>
            <a:r>
              <a:rPr lang="en-US" sz="2600" b="1" dirty="0">
                <a:solidFill>
                  <a:srgbClr val="B5651D"/>
                </a:solidFill>
                <a:latin typeface="Arial" pitchFamily="34" charset="0"/>
                <a:ea typeface="Arial" pitchFamily="34" charset="-122"/>
                <a:cs typeface="Arial" pitchFamily="34" charset="-120"/>
              </a:rPr>
              <a:t>3</a:t>
            </a:r>
            <a:endParaRPr lang="en-US" sz="2600" dirty="0"/>
          </a:p>
        </p:txBody>
      </p:sp>
      <p:sp>
        <p:nvSpPr>
          <p:cNvPr id="11" name="Text 9"/>
          <p:cNvSpPr txBox="1"/>
          <p:nvPr/>
        </p:nvSpPr>
        <p:spPr>
          <a:xfrm>
            <a:off x="658368" y="4453128"/>
            <a:ext cx="5097780" cy="1581912"/>
          </a:xfrm>
          <a:prstGeom prst="rect">
            <a:avLst/>
          </a:prstGeom>
          <a:noFill/>
          <a:ln/>
        </p:spPr>
        <p:txBody>
          <a:bodyPr wrap="square" lIns="0" tIns="0" rIns="0" bIns="0" rtlCol="0" anchor="t"/>
          <a:lstStyle/>
          <a:p>
            <a:pPr indent="0" marL="0">
              <a:buNone/>
            </a:pPr>
            <a:r>
              <a:rPr lang="en-US" sz="2000" dirty="0">
                <a:solidFill>
                  <a:srgbClr val="272425"/>
                </a:solidFill>
                <a:latin typeface="Arial" pitchFamily="34" charset="0"/>
                <a:ea typeface="Arial" pitchFamily="34" charset="-122"/>
                <a:cs typeface="Arial" pitchFamily="34" charset="-120"/>
              </a:rPr>
              <a:t>B3: tu regla de revisión en una línea</a:t>
            </a:r>
            <a:endParaRPr lang="en-US" sz="1600" dirty="0"/>
          </a:p>
        </p:txBody>
      </p:sp>
      <p:sp>
        <p:nvSpPr>
          <p:cNvPr id="12" name="Shape 10"/>
          <p:cNvSpPr/>
          <p:nvPr/>
        </p:nvSpPr>
        <p:spPr>
          <a:xfrm>
            <a:off x="6231636" y="3886200"/>
            <a:ext cx="5500116" cy="2331720"/>
          </a:xfrm>
          <a:prstGeom prst="roundRect">
            <a:avLst>
              <a:gd name="adj" fmla="val 3922"/>
            </a:avLst>
          </a:prstGeom>
          <a:solidFill>
            <a:srgbClr val="FBF1E6"/>
          </a:solidFill>
          <a:ln w="12700">
            <a:solidFill>
              <a:srgbClr val="FBF1E6"/>
            </a:solidFill>
            <a:prstDash val="solid"/>
          </a:ln>
        </p:spPr>
      </p:sp>
      <p:sp>
        <p:nvSpPr>
          <p:cNvPr id="13" name="Text 11"/>
          <p:cNvSpPr txBox="1"/>
          <p:nvPr/>
        </p:nvSpPr>
        <p:spPr>
          <a:xfrm>
            <a:off x="6432804" y="3995928"/>
            <a:ext cx="731520" cy="420624"/>
          </a:xfrm>
          <a:prstGeom prst="rect">
            <a:avLst/>
          </a:prstGeom>
          <a:noFill/>
          <a:ln/>
        </p:spPr>
        <p:txBody>
          <a:bodyPr wrap="square" lIns="0" tIns="0" rIns="0" bIns="0" rtlCol="0" anchor="t"/>
          <a:lstStyle/>
          <a:p>
            <a:pPr indent="0" marL="0">
              <a:buNone/>
            </a:pPr>
            <a:r>
              <a:rPr lang="en-US" sz="2600" b="1" dirty="0">
                <a:solidFill>
                  <a:srgbClr val="B5651D"/>
                </a:solidFill>
                <a:latin typeface="Arial" pitchFamily="34" charset="0"/>
                <a:ea typeface="Arial" pitchFamily="34" charset="-122"/>
                <a:cs typeface="Arial" pitchFamily="34" charset="-120"/>
              </a:rPr>
              <a:t>4</a:t>
            </a:r>
            <a:endParaRPr lang="en-US" sz="2600" dirty="0"/>
          </a:p>
        </p:txBody>
      </p:sp>
      <p:sp>
        <p:nvSpPr>
          <p:cNvPr id="14" name="Text 12"/>
          <p:cNvSpPr txBox="1"/>
          <p:nvPr/>
        </p:nvSpPr>
        <p:spPr>
          <a:xfrm>
            <a:off x="6432804" y="4453128"/>
            <a:ext cx="5097780" cy="1581912"/>
          </a:xfrm>
          <a:prstGeom prst="rect">
            <a:avLst/>
          </a:prstGeom>
          <a:noFill/>
          <a:ln/>
        </p:spPr>
        <p:txBody>
          <a:bodyPr wrap="square" lIns="0" tIns="0" rIns="0" bIns="0" rtlCol="0" anchor="t"/>
          <a:lstStyle/>
          <a:p>
            <a:pPr indent="0" marL="0">
              <a:buNone/>
            </a:pPr>
            <a:r>
              <a:rPr lang="en-US" sz="2000" dirty="0">
                <a:solidFill>
                  <a:srgbClr val="272425"/>
                </a:solidFill>
                <a:latin typeface="Arial" pitchFamily="34" charset="0"/>
                <a:ea typeface="Arial" pitchFamily="34" charset="-122"/>
                <a:cs typeface="Arial" pitchFamily="34" charset="-120"/>
              </a:rPr>
              <a:t>10 minutos; autoevaluación al final de la hoja</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2"/>
          <p:cNvSpPr/>
          <p:nvPr>
            <p:ph idx="102" type="title" hasCustomPrompt="1"/>
          </p:nvPr>
        </p:nvSpPr>
        <p:spPr>
          <a:xfrm>
            <a:off x="548640" y="1143000"/>
            <a:ext cx="11091672" cy="914400"/>
          </a:xfrm>
          <a:prstGeom prst="rect">
            <a:avLst/>
          </a:prstGeom>
          <a:noFill/>
          <a:ln/>
        </p:spPr>
        <p:txBody>
          <a:bodyPr wrap="square" lIns="0" tIns="0" rIns="0" bIns="0" rtlCol="0" anchor="t"/>
          <a:lstStyle/>
          <a:p>
            <a:pPr algn="l" indent="0" marL="0">
              <a:buNone/>
            </a:pPr>
            <a:r>
              <a:rPr lang="en-US" sz="3600" b="1" dirty="0">
                <a:solidFill>
                  <a:srgbClr val="FFFFFF"/>
                </a:solidFill>
                <a:latin typeface="Arial" pitchFamily="34" charset="0"/>
                <a:ea typeface="Arial" pitchFamily="34" charset="-122"/>
                <a:cs typeface="Arial" pitchFamily="34" charset="-120"/>
              </a:rPr>
              <a:t>Mensajes clave de la clase 2</a:t>
            </a:r>
            <a:endParaRPr lang="en-US" sz="3600" dirty="0"/>
          </a:p>
        </p:txBody>
      </p:sp>
      <p:sp>
        <p:nvSpPr>
          <p:cNvPr id="3" name="Text 1"/>
          <p:cNvSpPr txBox="1"/>
          <p:nvPr/>
        </p:nvSpPr>
        <p:spPr>
          <a:xfrm>
            <a:off x="548640" y="2194560"/>
            <a:ext cx="11091672" cy="4023360"/>
          </a:xfrm>
          <a:prstGeom prst="rect">
            <a:avLst/>
          </a:prstGeom>
          <a:noFill/>
          <a:ln/>
        </p:spPr>
        <p:txBody>
          <a:bodyPr wrap="square" lIns="0" tIns="0" rIns="0" bIns="0" rtlCol="0" anchor="t"/>
          <a:lstStyle/>
          <a:p>
            <a:pPr indent="0" marL="0">
              <a:spcAft>
                <a:spcPts val="1200"/>
              </a:spcAft>
              <a:buNone/>
            </a:pPr>
            <a:r>
              <a:rPr lang="en-US" sz="2200" b="1" dirty="0">
                <a:solidFill>
                  <a:srgbClr val="9FD0F0"/>
                </a:solidFill>
                <a:latin typeface="Arial" pitchFamily="34" charset="0"/>
                <a:ea typeface="Arial" pitchFamily="34" charset="-122"/>
                <a:cs typeface="Arial" pitchFamily="34" charset="-120"/>
              </a:rPr>
              <a:t>✓  </a:t>
            </a:r>
            <a:pPr indent="0" marL="0">
              <a:spcAft>
                <a:spcPts val="1200"/>
              </a:spcAft>
              <a:buNone/>
            </a:pPr>
            <a:r>
              <a:rPr lang="en-US" sz="2200" dirty="0">
                <a:solidFill>
                  <a:srgbClr val="FFFFFF"/>
                </a:solidFill>
                <a:latin typeface="Arial" pitchFamily="34" charset="0"/>
                <a:ea typeface="Arial" pitchFamily="34" charset="-122"/>
                <a:cs typeface="Arial" pitchFamily="34" charset="-120"/>
              </a:rPr>
              <a:t>Un registro vale lo que su última revisión: REG-09 avisa cuando vence</a:t>
            </a:r>
            <a:endParaRPr lang="en-US" sz="1600" dirty="0"/>
          </a:p>
          <a:p>
            <a:pPr indent="0" marL="0">
              <a:spcAft>
                <a:spcPts val="1200"/>
              </a:spcAft>
              <a:buNone/>
            </a:pPr>
            <a:r>
              <a:rPr lang="en-US" sz="2200" b="1" dirty="0">
                <a:solidFill>
                  <a:srgbClr val="9FD0F0"/>
                </a:solidFill>
                <a:latin typeface="Arial" pitchFamily="34" charset="0"/>
                <a:ea typeface="Arial" pitchFamily="34" charset="-122"/>
                <a:cs typeface="Arial" pitchFamily="34" charset="-120"/>
              </a:rPr>
              <a:t>✓  </a:t>
            </a:r>
            <a:pPr indent="0" marL="0">
              <a:spcAft>
                <a:spcPts val="1200"/>
              </a:spcAft>
              <a:buNone/>
            </a:pPr>
            <a:r>
              <a:rPr lang="en-US" sz="2200" dirty="0">
                <a:solidFill>
                  <a:srgbClr val="FFFFFF"/>
                </a:solidFill>
                <a:latin typeface="Arial" pitchFamily="34" charset="0"/>
                <a:ea typeface="Arial" pitchFamily="34" charset="-122"/>
                <a:cs typeface="Arial" pitchFamily="34" charset="-120"/>
              </a:rPr>
              <a:t>La reserva es un presupuesto vivo: propósito (CAM-02) y alerta (CAM-03)</a:t>
            </a:r>
            <a:endParaRPr lang="en-US" sz="1600" dirty="0"/>
          </a:p>
          <a:p>
            <a:pPr indent="0" marL="0">
              <a:spcAft>
                <a:spcPts val="1200"/>
              </a:spcAft>
              <a:buNone/>
            </a:pPr>
            <a:r>
              <a:rPr lang="en-US" sz="2200" b="1" dirty="0">
                <a:solidFill>
                  <a:srgbClr val="9FD0F0"/>
                </a:solidFill>
                <a:latin typeface="Arial" pitchFamily="34" charset="0"/>
                <a:ea typeface="Arial" pitchFamily="34" charset="-122"/>
                <a:cs typeface="Arial" pitchFamily="34" charset="-120"/>
              </a:rPr>
              <a:t>✓  </a:t>
            </a:r>
            <a:pPr indent="0" marL="0">
              <a:spcAft>
                <a:spcPts val="1200"/>
              </a:spcAft>
              <a:buNone/>
            </a:pPr>
            <a:r>
              <a:rPr lang="en-US" sz="2200" dirty="0">
                <a:solidFill>
                  <a:srgbClr val="FFFFFF"/>
                </a:solidFill>
                <a:latin typeface="Arial" pitchFamily="34" charset="0"/>
                <a:ea typeface="Arial" pitchFamily="34" charset="-122"/>
                <a:cs typeface="Arial" pitchFamily="34" charset="-120"/>
              </a:rPr>
              <a:t>Lo ocurrido es un issue; lo que no cierra por números lo decide la junta</a:t>
            </a:r>
            <a:endParaRPr lang="en-US" sz="1600" dirty="0"/>
          </a:p>
          <a:p>
            <a:pPr indent="0" marL="0">
              <a:spcAft>
                <a:spcPts val="1200"/>
              </a:spcAft>
              <a:buNone/>
            </a:pPr>
            <a:r>
              <a:rPr lang="en-US" sz="2200" b="1" dirty="0">
                <a:solidFill>
                  <a:srgbClr val="9FD0F0"/>
                </a:solidFill>
                <a:latin typeface="Arial" pitchFamily="34" charset="0"/>
                <a:ea typeface="Arial" pitchFamily="34" charset="-122"/>
                <a:cs typeface="Arial" pitchFamily="34" charset="-120"/>
              </a:rPr>
              <a:t>✓  </a:t>
            </a:r>
            <a:pPr indent="0" marL="0">
              <a:spcAft>
                <a:spcPts val="1200"/>
              </a:spcAft>
              <a:buNone/>
            </a:pPr>
            <a:r>
              <a:rPr lang="en-US" sz="2200" dirty="0">
                <a:solidFill>
                  <a:srgbClr val="FFFFFF"/>
                </a:solidFill>
                <a:latin typeface="Arial" pitchFamily="34" charset="0"/>
                <a:ea typeface="Arial" pitchFamily="34" charset="-122"/>
                <a:cs typeface="Arial" pitchFamily="34" charset="-120"/>
              </a:rPr>
              <a:t>Las condiciones de la junta no dependen de la memoria (EST-12)</a:t>
            </a:r>
            <a:endParaRPr lang="en-US" sz="1600" dirty="0"/>
          </a:p>
          <a:p>
            <a:pPr indent="0" marL="0">
              <a:spcAft>
                <a:spcPts val="1200"/>
              </a:spcAft>
              <a:buNone/>
            </a:pPr>
            <a:r>
              <a:rPr lang="en-US" sz="2200" b="1" dirty="0">
                <a:solidFill>
                  <a:srgbClr val="9FD0F0"/>
                </a:solidFill>
                <a:latin typeface="Arial" pitchFamily="34" charset="0"/>
                <a:ea typeface="Arial" pitchFamily="34" charset="-122"/>
                <a:cs typeface="Arial" pitchFamily="34" charset="-120"/>
              </a:rPr>
              <a:t>✓  </a:t>
            </a:r>
            <a:pPr indent="0" marL="0">
              <a:spcAft>
                <a:spcPts val="1200"/>
              </a:spcAft>
              <a:buNone/>
            </a:pPr>
            <a:r>
              <a:rPr lang="en-US" sz="2200" dirty="0">
                <a:solidFill>
                  <a:srgbClr val="FFFFFF"/>
                </a:solidFill>
                <a:latin typeface="Arial" pitchFamily="34" charset="0"/>
                <a:ea typeface="Arial" pitchFamily="34" charset="-122"/>
                <a:cs typeface="Arial" pitchFamily="34" charset="-120"/>
              </a:rPr>
              <a:t>Siguiente: E2E-2, el cambio y su presupuesto</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6E4F0"/>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Glosario (1/2)</a:t>
            </a:r>
            <a:endParaRPr lang="en-US" sz="240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5486400" cy="914400"/>
        </p:xfrm>
        <a:graphic>
          <a:graphicData uri="http://schemas.openxmlformats.org/drawingml/2006/table">
            <a:tbl>
              <a:tblPr/>
              <a:tblGrid>
                <a:gridCol w="1965960"/>
                <a:gridCol w="3520440"/>
              </a:tblGrid>
              <a:tr h="0">
                <a:tc>
                  <a:txBody>
                    <a:bodyPr/>
                    <a:lstStyle/>
                    <a:p>
                      <a:pPr indent="0" marL="0">
                        <a:buNone/>
                      </a:pPr>
                      <a:r>
                        <a:rPr lang="en-US" sz="1200" b="1" dirty="0">
                          <a:solidFill>
                            <a:srgbClr val="FFFFFF"/>
                          </a:solidFill>
                          <a:latin typeface="Arial" pitchFamily="34" charset="0"/>
                          <a:ea typeface="Arial" pitchFamily="34" charset="-122"/>
                          <a:cs typeface="Arial" pitchFamily="34" charset="-120"/>
                        </a:rPr>
                        <a:t>Término</a:t>
                      </a:r>
                      <a:endParaRPr lang="en-US" sz="1200" dirty="0">
                        <a:latin typeface="Arial" charset="0"/>
                        <a:ea typeface="Arial" charset="0"/>
                        <a:cs typeface="Arial" charset="0"/>
                      </a:endParaRPr>
                    </a:p>
                  </a:txBody>
                  <a:tcPr marL="54864" marR="54864" marT="54864" marB="54864"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Definición</a:t>
                      </a:r>
                      <a:endParaRPr lang="en-US" sz="1200" dirty="0">
                        <a:latin typeface="Arial" charset="0"/>
                        <a:ea typeface="Arial" charset="0"/>
                        <a:cs typeface="Arial" charset="0"/>
                      </a:endParaRPr>
                    </a:p>
                  </a:txBody>
                  <a:tcPr marL="54864" marR="54864" marT="54864" marB="54864"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Amenaza</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Riesgo con efecto negativo sobre un objetivo del proyecto.</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Apetito de riesgo (risk appetite)</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Cuánto riesgo está dispuesta a aceptar la organización en cada tipo de objetivo.</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Contingencia</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Plan que se ejecuta solo si se alcanza el disparador; se paga con la reserva de riesgo.</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Disparador (trigger)</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Señal observable que indica que el riesgo está por ocurrir y activa la contingencia.</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Enfoque de gestión de riesgos (risk management approach)</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Documento que fija procedimiento, escalas, apetito, tolerancia, presupuesto, roles y cadencia de revisión.</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Exposición</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Suma del EMV de las amenazas abiertas; se compara con la tolerancia de riesgo.</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Fecha de revisión</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Columna fecha_revision de riesgos.csv: cuándo se vuelve a mirar cada riesgo. Si pasa y el riesgo sigue abierto, la sanidad avisa con REG-09.</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bl>
          </a:graphicData>
        </a:graphic>
      </p:graphicFrame>
      <p:graphicFrame>
        <p:nvGraphicFramePr>
          <p:cNvPr id="83" name="Table 1"/>
          <p:cNvGraphicFramePr>
            <a:graphicFrameLocks noGrp="1"/>
          </p:cNvGraphicFramePr>
          <p:nvPr>
            <p:extLst>
              <p:ext uri="{D42A27DB-BD31-4B8C-83A1-F6EECF244321}">
                <p14:modId xmlns:p14="http://schemas.microsoft.com/office/powerpoint/2010/main" val="1579011935"/>
              </p:ext>
            </p:extLst>
          </p:nvPr>
        </p:nvGraphicFramePr>
        <p:xfrm>
          <a:off x="6245352" y="1280160"/>
          <a:ext cx="5486400" cy="914400"/>
        </p:xfrm>
        <a:graphic>
          <a:graphicData uri="http://schemas.openxmlformats.org/drawingml/2006/table">
            <a:tbl>
              <a:tblPr/>
              <a:tblGrid>
                <a:gridCol w="1965960"/>
                <a:gridCol w="3520440"/>
              </a:tblGrid>
              <a:tr h="0">
                <a:tc>
                  <a:txBody>
                    <a:bodyPr/>
                    <a:lstStyle/>
                    <a:p>
                      <a:pPr indent="0" marL="0">
                        <a:buNone/>
                      </a:pPr>
                      <a:r>
                        <a:rPr lang="en-US" sz="1200" b="1" dirty="0">
                          <a:solidFill>
                            <a:srgbClr val="FFFFFF"/>
                          </a:solidFill>
                          <a:latin typeface="Arial" pitchFamily="34" charset="0"/>
                          <a:ea typeface="Arial" pitchFamily="34" charset="-122"/>
                          <a:cs typeface="Arial" pitchFamily="34" charset="-120"/>
                        </a:rPr>
                        <a:t>Término</a:t>
                      </a:r>
                      <a:endParaRPr lang="en-US" sz="1200" dirty="0">
                        <a:latin typeface="Arial" charset="0"/>
                        <a:ea typeface="Arial" charset="0"/>
                        <a:cs typeface="Arial" charset="0"/>
                      </a:endParaRPr>
                    </a:p>
                  </a:txBody>
                  <a:tcPr marL="54864" marR="54864" marT="54864" marB="54864"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Definición</a:t>
                      </a:r>
                      <a:endParaRPr lang="en-US" sz="1200" dirty="0">
                        <a:latin typeface="Arial" charset="0"/>
                        <a:ea typeface="Arial" charset="0"/>
                        <a:cs typeface="Arial" charset="0"/>
                      </a:endParaRPr>
                    </a:p>
                  </a:txBody>
                  <a:tcPr marL="54864" marR="54864" marT="54864" marB="54864"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Hoja de riesgo</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Ficha de un riesgo sobre la línea, con evaluación, respuesta y justificación para que decida la junta.</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Issue</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Algo que ya ocurrió y hay que gestionar; un riesgo materializado pasa a ocurrido y se abre un issue.</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Junta del proyecto (project board)</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Ejecutiva, usuaria sénior y proveedor sénior; decide tolerancias, presupuestos y excepciones.</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Límite de etapa (stage boundary)</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Cierre de una etapa: auditoría, lecciones, plan de la siguiente y decisión de la junta.</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Oportunidad</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Riesgo con efecto positivo; sus respuestas buscan aumentar su probabilidad o su impacto (explotar, mejorar).</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Presupuesto de riesgo (risk budget)</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Monto que fija la junta para respuestas y contingencias: respuestas + EMV residual + provisión para no identificados.</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Glosario (2/2)</a:t>
            </a:r>
            <a:endParaRPr lang="en-US" sz="240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5486400" cy="914400"/>
        </p:xfrm>
        <a:graphic>
          <a:graphicData uri="http://schemas.openxmlformats.org/drawingml/2006/table">
            <a:tbl>
              <a:tblPr/>
              <a:tblGrid>
                <a:gridCol w="1965960"/>
                <a:gridCol w="3520440"/>
              </a:tblGrid>
              <a:tr h="0">
                <a:tc>
                  <a:txBody>
                    <a:bodyPr/>
                    <a:lstStyle/>
                    <a:p>
                      <a:pPr indent="0" marL="0">
                        <a:buNone/>
                      </a:pPr>
                      <a:r>
                        <a:rPr lang="en-US" sz="1200" b="1" dirty="0">
                          <a:solidFill>
                            <a:srgbClr val="FFFFFF"/>
                          </a:solidFill>
                          <a:latin typeface="Arial" pitchFamily="34" charset="0"/>
                          <a:ea typeface="Arial" pitchFamily="34" charset="-122"/>
                          <a:cs typeface="Arial" pitchFamily="34" charset="-120"/>
                        </a:rPr>
                        <a:t>Término</a:t>
                      </a:r>
                      <a:endParaRPr lang="en-US" sz="1200" dirty="0">
                        <a:latin typeface="Arial" charset="0"/>
                        <a:ea typeface="Arial" charset="0"/>
                        <a:cs typeface="Arial" charset="0"/>
                      </a:endParaRPr>
                    </a:p>
                  </a:txBody>
                  <a:tcPr marL="54864" marR="54864" marT="54864" marB="54864"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Definición</a:t>
                      </a:r>
                      <a:endParaRPr lang="en-US" sz="1200" dirty="0">
                        <a:latin typeface="Arial" charset="0"/>
                        <a:ea typeface="Arial" charset="0"/>
                        <a:cs typeface="Arial" charset="0"/>
                      </a:endParaRPr>
                    </a:p>
                  </a:txBody>
                  <a:tcPr marL="54864" marR="54864" marT="54864" marB="54864"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Probabilidad × impacto (P×I)</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Puntuación de 1 a 25 que ubica un riesgo en el mapa de calor; en el caso, alto ≥ 15, medio 6–12, bajo ≤ 5.</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Propietario del riesgo (risk owner)</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Persona que responde por el riesgo y acepta su respuesta.</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Registro de riesgos (risk register)</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Lista de riesgos con causa, evento, efecto, evaluación, respuesta, propietario y estado; en pm-method, riesgos.csv.</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Reserva de gestión (management reserve)</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Fondo para lo no previsto, fuera del presupuesto de riesgo; solo la libera la junta.</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Respuesta</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Acción elegida frente a un riesgo: evitar, reducir, transferir, compartir, aceptar, escalar, explotar o mejorar.</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Resumen de inicio de sesión</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Resumen que pm-method agrega al abrir cada sesión (estado.py contexto): abiertos, acciones vencidas, condiciones de la junta y próxima puerta. Manda sobre la memoria.</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r>
            </a:tbl>
          </a:graphicData>
        </a:graphic>
      </p:graphicFrame>
      <p:graphicFrame>
        <p:nvGraphicFramePr>
          <p:cNvPr id="85" name="Table 1"/>
          <p:cNvGraphicFramePr>
            <a:graphicFrameLocks noGrp="1"/>
          </p:cNvGraphicFramePr>
          <p:nvPr>
            <p:extLst>
              <p:ext uri="{D42A27DB-BD31-4B8C-83A1-F6EECF244321}">
                <p14:modId xmlns:p14="http://schemas.microsoft.com/office/powerpoint/2010/main" val="1579011935"/>
              </p:ext>
            </p:extLst>
          </p:nvPr>
        </p:nvGraphicFramePr>
        <p:xfrm>
          <a:off x="6245352" y="1280160"/>
          <a:ext cx="5486400" cy="914400"/>
        </p:xfrm>
        <a:graphic>
          <a:graphicData uri="http://schemas.openxmlformats.org/drawingml/2006/table">
            <a:tbl>
              <a:tblPr/>
              <a:tblGrid>
                <a:gridCol w="1965960"/>
                <a:gridCol w="3520440"/>
              </a:tblGrid>
              <a:tr h="0">
                <a:tc>
                  <a:txBody>
                    <a:bodyPr/>
                    <a:lstStyle/>
                    <a:p>
                      <a:pPr indent="0" marL="0">
                        <a:buNone/>
                      </a:pPr>
                      <a:r>
                        <a:rPr lang="en-US" sz="1200" b="1" dirty="0">
                          <a:solidFill>
                            <a:srgbClr val="FFFFFF"/>
                          </a:solidFill>
                          <a:latin typeface="Arial" pitchFamily="34" charset="0"/>
                          <a:ea typeface="Arial" pitchFamily="34" charset="-122"/>
                          <a:cs typeface="Arial" pitchFamily="34" charset="-120"/>
                        </a:rPr>
                        <a:t>Término</a:t>
                      </a:r>
                      <a:endParaRPr lang="en-US" sz="1200" dirty="0">
                        <a:latin typeface="Arial" charset="0"/>
                        <a:ea typeface="Arial" charset="0"/>
                        <a:cs typeface="Arial" charset="0"/>
                      </a:endParaRPr>
                    </a:p>
                  </a:txBody>
                  <a:tcPr marL="54864" marR="54864" marT="54864" marB="54864"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Definición</a:t>
                      </a:r>
                      <a:endParaRPr lang="en-US" sz="1200" dirty="0">
                        <a:latin typeface="Arial" charset="0"/>
                        <a:ea typeface="Arial" charset="0"/>
                        <a:cs typeface="Arial" charset="0"/>
                      </a:endParaRPr>
                    </a:p>
                  </a:txBody>
                  <a:tcPr marL="54864" marR="54864" marT="54864" marB="54864"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Riesgo residual</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Probabilidad e impacto que se esperan después de aplicar la respuesta.</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Riesgo secundario (secondary risk)</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Riesgo nuevo que crea una respuesta; en el caso, R-007 nace de la transferencia de R-003.</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Sanidad</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Control automático de pm-method que, en cada corrida, informa hallazgos ERROR, AVISO o INFO con su código.</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Tolerancia</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Margen fijado por la junta; superarlo es una excepción que decide un nivel superior.</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Valor monetario esperado (EMV)</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Impacto en dinero por la probabilidad convertida a porcentaje (P1 10 % … P5 90 %).</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bl>
          </a:graphicData>
        </a:graphic>
      </p:graphicFrame>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42</a:t>
            </a:fld>
            <a:endParaRPr lang="en-US"/>
          </a:p>
        </p:txBody>
      </p:sp>
    </p:spTree>
  </p:cSld>
  <p:clrMapOvr>
    <a:masterClrMapping/>
  </p:clrMapOvr>
</p:sld>
</file>

<file path=ppt/theme/theme1.xml><?xml version="1.0" encoding="utf-8"?>
<a:theme xmlns:a="http://schemas.openxmlformats.org/drawingml/2006/main" name="Webinar pm-method">
  <a:themeElements>
    <a:clrScheme name="Webinar pm-method">
      <a:dk1>
        <a:srgbClr val="272425"/>
      </a:dk1>
      <a:lt1>
        <a:srgbClr val="FFFFFF"/>
      </a:lt1>
      <a:dk2>
        <a:srgbClr val="002855"/>
      </a:dk2>
      <a:lt2>
        <a:srgbClr val="F4F6F8"/>
      </a:lt2>
      <a:accent1>
        <a:srgbClr val="00629B"/>
      </a:accent1>
      <a:accent2>
        <a:srgbClr val="B5651D"/>
      </a:accent2>
      <a:accent3>
        <a:srgbClr val="002855"/>
      </a:accent3>
      <a:accent4>
        <a:srgbClr val="696969"/>
      </a:accent4>
      <a:accent5>
        <a:srgbClr val="272425"/>
      </a:accent5>
      <a:accent6>
        <a:srgbClr val="00629B"/>
      </a:accent6>
      <a:hlink>
        <a:srgbClr val="00629B"/>
      </a:hlink>
      <a:folHlink>
        <a:srgbClr val="002855"/>
      </a:folHlink>
    </a:clrScheme>
    <a:fontScheme name="Webinar pm-method">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42</Slides>
  <Notes>42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42</vt:i4>
      </vt:variant>
    </vt:vector>
  </HeadingPairs>
  <TitlesOfParts>
    <vt:vector size="4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Webinar E2E-1 · Ciclo completo de gestión de riesgos</dc:title>
  <dc:subject>pm-method 2.3.0</dc:subject>
  <dc:creator>pm-method</dc:creator>
  <cp:lastModifiedBy>pm-method</cp:lastModifiedBy>
  <cp:revision>1</cp:revision>
  <dcterms:created xsi:type="dcterms:W3CDTF">2026-10-20T16:54:25Z</dcterms:created>
  <dcterms:modified xsi:type="dcterms:W3CDTF">2026-10-20T16:54:25Z</dcterms:modified>
</cp:coreProperties>
</file>