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2aea23a-94de-9f9a-6d4e-2165a3dd91a7}">
          <p14:sldIdLst>
            <p14:sldId id="256"/>
          </p14:sldIdLst>
        </p14:section>
        <p14:section name="Clase 1 · Del taller al plan de respuesta" id="{f788678c-a54e-158e-aebd-b1c991c68351}">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Lst>
        </p14:section>
        <p14:section name="Clase 2 · El control continuo" id="{62d8591b-8d46-a850-c662-5b0bf654d541}">
          <p14:sldIdLst>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Glosario" id="{81dec5bd-03d2-b36c-399b-dbf5c8c7d752}">
          <p14:sldIdLst>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E2E-1: Ciclo completo de gestión de riesgos.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Del taller al plan de respuesta. Objetivos: Explicar qué decide la junta antes del taller: apetito, tolerancia, reserva y cadencia; Identificar riesgos con cita de origen, con y sin BMAD; Comparar opciones de respuesta por valor neto y decidir con el propietario; Escribir un plan de contingencia listo para activar; Calcular un presupuesto de riesgo con fórmula.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resultado antes del método. No mostrar todavía el gráfico: llega con el paso 6a. El SLA baja la probabilidad, pero la penalidad (tope de USD 2.000 por mes) no cubre el atraso. Después, la pregunta a mano alzada.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esperan pocas manos. El registro nace en el taller y se congela: es el problema que resuelve la clase 2. Hoy construimos lo que la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el mapa de las dos clases. Hoy cubrimos las dos primeras filas y preparamos la reserva; la clase 2 recorre el resto. Cada fila tiene su control: no depende de que alguien se acuerde.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 3. La ejecutiva decide las reglas antes de que aparezca el primer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versión mínima de la plantilla enfoque-riesgo. Lo que importa es que quede aprobado por la ejecutiva con fecha. Todo lo que vigila la sanidad después sale de estas cinco líneas.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Mostrar que el sistema deja la propuesta en revisión (v0.1) y que solo con la respuesta de la ejecutiva se congela la v1.0 (D-001, D-002). Si pregunta quién aprueba: Laura Méndez, ejecutiva, hoy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4, 15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prompt de descubrimiento. Señalar la cobertura: bmad 42 candidatos de 3 fuentes y transcripciones 6 candidatos. Leer una cita con hablante y marca de tiempo. El taller se muestra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15 con evidencia. Cualquier proyecto tiene fuentes: lo que cambia es de dónde se leen. Ninguna fuente da riesgos listos; da candidatos que el taller formula y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Exposición de amenazas: 53.600, bajo la tolerancia de 60.000. Pero la sanidad ya avisa REG-06 para R-001 y R-003: la regla de ningún alto sin respuesta se incumple. R-006 es una oportunidad y no suma 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6a, 6b 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Pegar la tabla de datos de la guía debajo del prompt. Primero riesgos.py opciones --proponer crea las plantillas sin registrar nada; después la tabla con la recomendada marcada (★). Respuesta del propietario: Diego elige la recomendada en cada uno (D-003 y D-004). Al elegir la contingencia de R-003, el script y la sanidad avisan REG-10: falta 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 neto = EMV inherente − EMV residual − EMV del secundario − costo. Evitar deja el menor residual en los dos riesgos, pero cuesta más y crea un secundario. El SLA de R-003 queda en 700. La contingencia de R-003 entra con sus 12.000 ponderados al 50 % y aun así gana. La recomendada es una propuesta: decide el propietario.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Señalar las partes del plan: disparador y alerta temprana, acciones con ejecutor y plazo, monto y fuente, quién lo autoriza (Laura, porque 12.000 supera los 5.000 del gestor) y plan alternativo. Con el plan escrito, la sanidad del 4/11 da 0 avisos. Las respuestas de R-002, R-004, R-005 y R-006 se muestran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Izquierda: 5 amenazas del taller, 2 en zona alta. Derecha: las mismas 5 con las respuestas elegidas, ninguna en zona alta. Con USD 7.300 en respuestas, la exposición planificada baja de 53.600 a 32.500 (g1-exposicion-respuestas.png en la guía). El borde rojo marca P×I mayor o igual 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presupuesto sale de una fórmula escrita en el enfoque, no de un porcentaje. La contingencia no se paga hoy, pero su monto ya está previsto en la reserva. La provisión para lo no identificado no se mezcla: va a la reserva de gestión, que solo libera la junta. Desde este momento cada uso de la reserva pasa por cambios.csv con su riesgo citado, y la sanidad lo suma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cuesta USD 6.000 y crea un riesgo secundario sobre B-01 (EMV 6.000): valor neto 7.800 frente a 10.000 de reducir. El residual más bajo no es la mejor respuesta si cuesta más de lo que ahorra.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está en docs/webinar/E2E-1/ejercicio.md y explica la mecánica al comienzo. Quien no tenga proyecto usa las opciones de R-003 de la hoja. Pedir órdenes de magnitud, no precisión. El ejemplo resuelto está plegado al final: mostrarlo al terminar, no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Anticipo de la clase 2: el plan de R-003 quedó escrito el 4/11. Vamos a ver qué pasa cuando llega su disparador y nadie está mirando.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El control continuo. Objetivos: Reconocer un registro que se dejó de revisar; Gestionar un riesgo que ocurre: issue y contingencia; Elegir otra opción que la recomendada, con el motivo escrito; Ordenar el día con el radar y activar un plan de contingencia; Leer el consumo de la reserva y decidir al cruzar el 80 %; Seguir las condiciones de la junta hasta cumplirlas.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en un minuto el presupuesto de 39.800 (con la reserva de gestión de 6.200 aparte) y el plan de R-003 de la clase 1. Después contar el 12/02: el control avisó un mes entero y las urgencias lo taparon. Es lo que pasa en casi todos los proyectos.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 riesgo abierto: días entre su revisión prevista y el 12/02. Rojo, más de dos sprints; naranja, más de uno. El estado va también en texto. Datos de REG-09 en la sanidad del 12/02.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revisión no solo actualiza: deja escrito cuándo se vuelve a mirar cada riesgo (fecha_revision). Esa fecha es la que después delata que nadie volvió. Si hay tiempo, abrir el tablero HTML del 15/12 (img/g1-tablero.png en la guía): la vista por actor muestra cada riesgo con su revisión del 29/12.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9 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entorno temporal es la opción O4 que se había evaluado para R-001 en el paso 6a. Si pregunta por las licencias tras el aviso: Sofía Ramírez, autoridad de cambio, las rechaza como cargo a la reserva. Mostrar CAM-02 y el consumo de 46 % a 38 %.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revisión por monto frenaría las licencias: están dentro de los USD 5.000 del gestor. Lo que falla es el propósito. Lo ocurrido ya no es riesgo: es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recomendación es una propuesta: la junta puede elegir otra, y el sistema le pide que deje el motivo escrito. La hoja de riesgo muestra las opciones y la justificación regulatoria. La condición de la junta queda vigilada por la sanidad hasta que la ejecutiva la da por cumplida. Señalar los REG-09: la revisión del 29/12 no se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12. Qué ve el gestor al abrir la sesión, qué encuentra la sanidad, qué cuesta haber postergado la revisión y qué pone primero el radar.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hook de inicio arma este resumen desde estado.json y los registros (estado.py contexto) y agrega la línea del radar, en cada inicio, reanudación o compactación: los riesgos sin revisar aparecen antes de correr la sanidad. Si la memoria de la sesión dice otra cosa, mandan los registros. Las cifras son las del 12/02 del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Primero la sanidad: 7 avisos, entre ellos EST-12, REG-07 para A-004 y cinco REG-09 (la lista completa, con los días de atraso, sale con --json). CAM-03 sigue en 64 %.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hallazgos, y todos tenían un aviso. El más caro, el disparador de R-003, recién aparece cuando alguien abre el riesgo: por eso la revisión empieza por los REG-09 y no se saltea.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estado.py radar, de solo lectura: «Hoy: decidir R-003». P1 RAD-03: contingencia por activar (inminente), propietario Diego, siguiente paso en pm-riesgos. P2: la condición de la junta. Vigilar: bloqueos de la próxima puerta y el EVM. El radar no decide: ordena lo que pide una decisión.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Azul: exposición actual. Naranja: hasta dónde baja si las respuestas funcionan. La distancia entre las dos es trabajo de respuesta pendiente. En febrero la azul llega a 54.600 contra 60.000.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13. El disparador llega, el plan del 4/11 dice qué hacer, y su costo lleva la reserva al 94 %.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Se sigue la sección «Activación» del plan: C-005 por 12.000, D-018 (activar, con las opciones consideradas) y A-005 (conmutación, Lucía). La decisión de Laura: aprobado contra la reserva; mantiene 39.800, concentra la autoridad hasta el límite de etapa y lleva a la junta lo que supere el remanente (D-019). Mostrar el AVISO de CAM-03 al 94 %.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una corrida de la sanidad. Verde hasta el 64 %; naranja al 94 %, cuando se activa el plan. Quedan 2.500 frente a un EMV residual de 27.900, y la reserva de gestión (6.200) sigue intacta porque es de la junta: el aviso llega antes de que falte plata y la junta decide con su propia reserva a mano. Por encima del 100 % sería ERROR y bloquearía las puertas.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hay una única respuesta. Laura mantuvo el tope, concentró la autoridad y lleva a la junta lo que supere el remanente; las alternativas registradas eran pedir a la junta que pase reserva de gestión al presupuesto de riesgo o pedir un plan de excepción. Lo importante es que la decisión quede escrita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14 con evidencia. Exposición 27.600, cero altos abiertos, cero acciones y revisiones vencidas, condición cumplida (D-020). Solo la reserva queda en atención, y se recalcula con el plan de la etapa 3. Lecciones L-001 y L-002.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asistente no tiene reserva de riesgo formal, que anote cuánto se gastó en respuestas a riesgos y de qué partida salió. Mostrar el ejemplo resuelto de la hoja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Puente a E2E-2: las licencias no eran un riesgo, eran un cambio. En el próximo caso vemos quién decide cada cambio, contra qué presupuesto se cobra y qué pasa cuando excede la autoridad delegada.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1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2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3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2.5.0 · Webinar E2E-1</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2.5.0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2.5.0 · E2E-1</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Ciclo completo de gestión de riesgos</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taller al control continuo: opciones de respuesta por valor neto, planes de contingencia, reserva vigilada y revisiones que no se saltean</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Del taller al plan de respuesta</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El control continuo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Del taller al plan de respuesta</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592531"/>
          </a:xfrm>
          <a:prstGeom prst="roundRect">
            <a:avLst>
              <a:gd name="adj" fmla="val 15432"/>
            </a:avLst>
          </a:prstGeom>
          <a:solidFill>
            <a:srgbClr val="173D66"/>
          </a:solidFill>
          <a:ln w="12700">
            <a:solidFill>
              <a:srgbClr val="173D66"/>
            </a:solidFill>
            <a:prstDash val="solid"/>
          </a:ln>
        </p:spPr>
      </p:sp>
      <p:sp>
        <p:nvSpPr>
          <p:cNvPr id="6" name="Text 4"/>
          <p:cNvSpPr txBox="1"/>
          <p:nvPr/>
        </p:nvSpPr>
        <p:spPr>
          <a:xfrm>
            <a:off x="685800" y="2743200"/>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Explicar qué decide la junta antes del taller: apetito, tolerancia, reserva y cadencia</a:t>
            </a:r>
            <a:endParaRPr lang="en-US" sz="1600" dirty="0"/>
          </a:p>
        </p:txBody>
      </p:sp>
      <p:sp>
        <p:nvSpPr>
          <p:cNvPr id="8" name="Shape 6"/>
          <p:cNvSpPr/>
          <p:nvPr/>
        </p:nvSpPr>
        <p:spPr>
          <a:xfrm>
            <a:off x="548640" y="3463747"/>
            <a:ext cx="11091672" cy="592531"/>
          </a:xfrm>
          <a:prstGeom prst="roundRect">
            <a:avLst>
              <a:gd name="adj" fmla="val 15432"/>
            </a:avLst>
          </a:prstGeom>
          <a:solidFill>
            <a:srgbClr val="173D66"/>
          </a:solidFill>
          <a:ln w="12700">
            <a:solidFill>
              <a:srgbClr val="173D66"/>
            </a:solidFill>
            <a:prstDash val="solid"/>
          </a:ln>
        </p:spPr>
      </p:sp>
      <p:sp>
        <p:nvSpPr>
          <p:cNvPr id="9" name="Text 7"/>
          <p:cNvSpPr txBox="1"/>
          <p:nvPr/>
        </p:nvSpPr>
        <p:spPr>
          <a:xfrm>
            <a:off x="685800" y="3463747"/>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500323"/>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Identificar riesgos con cita de origen, con y sin BMAD</a:t>
            </a:r>
            <a:endParaRPr lang="en-US" sz="1600" dirty="0"/>
          </a:p>
        </p:txBody>
      </p:sp>
      <p:sp>
        <p:nvSpPr>
          <p:cNvPr id="11" name="Shape 9"/>
          <p:cNvSpPr/>
          <p:nvPr/>
        </p:nvSpPr>
        <p:spPr>
          <a:xfrm>
            <a:off x="548640" y="4184294"/>
            <a:ext cx="11091672" cy="592531"/>
          </a:xfrm>
          <a:prstGeom prst="roundRect">
            <a:avLst>
              <a:gd name="adj" fmla="val 15432"/>
            </a:avLst>
          </a:prstGeom>
          <a:solidFill>
            <a:srgbClr val="173D66"/>
          </a:solidFill>
          <a:ln w="12700">
            <a:solidFill>
              <a:srgbClr val="173D66"/>
            </a:solidFill>
            <a:prstDash val="solid"/>
          </a:ln>
        </p:spPr>
      </p:sp>
      <p:sp>
        <p:nvSpPr>
          <p:cNvPr id="12" name="Text 10"/>
          <p:cNvSpPr txBox="1"/>
          <p:nvPr/>
        </p:nvSpPr>
        <p:spPr>
          <a:xfrm>
            <a:off x="685800" y="4184294"/>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220870"/>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Comparar opciones de respuesta por valor neto y decidir con el propietario</a:t>
            </a:r>
            <a:endParaRPr lang="en-US" sz="1600" dirty="0"/>
          </a:p>
        </p:txBody>
      </p:sp>
      <p:sp>
        <p:nvSpPr>
          <p:cNvPr id="14" name="Shape 12"/>
          <p:cNvSpPr/>
          <p:nvPr/>
        </p:nvSpPr>
        <p:spPr>
          <a:xfrm>
            <a:off x="548640" y="4904842"/>
            <a:ext cx="11091672" cy="592531"/>
          </a:xfrm>
          <a:prstGeom prst="roundRect">
            <a:avLst>
              <a:gd name="adj" fmla="val 15432"/>
            </a:avLst>
          </a:prstGeom>
          <a:solidFill>
            <a:srgbClr val="173D66"/>
          </a:solidFill>
          <a:ln w="12700">
            <a:solidFill>
              <a:srgbClr val="173D66"/>
            </a:solidFill>
            <a:prstDash val="solid"/>
          </a:ln>
        </p:spPr>
      </p:sp>
      <p:sp>
        <p:nvSpPr>
          <p:cNvPr id="15" name="Text 13"/>
          <p:cNvSpPr txBox="1"/>
          <p:nvPr/>
        </p:nvSpPr>
        <p:spPr>
          <a:xfrm>
            <a:off x="685800" y="4904842"/>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4941418"/>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Escribir un plan de contingencia listo para activar</a:t>
            </a:r>
            <a:endParaRPr lang="en-US" sz="1600" dirty="0"/>
          </a:p>
        </p:txBody>
      </p:sp>
      <p:sp>
        <p:nvSpPr>
          <p:cNvPr id="17" name="Shape 15"/>
          <p:cNvSpPr/>
          <p:nvPr/>
        </p:nvSpPr>
        <p:spPr>
          <a:xfrm>
            <a:off x="548640" y="5625389"/>
            <a:ext cx="11091672" cy="592531"/>
          </a:xfrm>
          <a:prstGeom prst="roundRect">
            <a:avLst>
              <a:gd name="adj" fmla="val 15432"/>
            </a:avLst>
          </a:prstGeom>
          <a:solidFill>
            <a:srgbClr val="173D66"/>
          </a:solidFill>
          <a:ln w="12700">
            <a:solidFill>
              <a:srgbClr val="173D66"/>
            </a:solidFill>
            <a:prstDash val="solid"/>
          </a:ln>
        </p:spPr>
      </p:sp>
      <p:sp>
        <p:nvSpPr>
          <p:cNvPr id="18" name="Text 16"/>
          <p:cNvSpPr txBox="1"/>
          <p:nvPr/>
        </p:nvSpPr>
        <p:spPr>
          <a:xfrm>
            <a:off x="685800" y="5625389"/>
            <a:ext cx="411480" cy="592531"/>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5</a:t>
            </a:r>
            <a:endParaRPr lang="en-US" sz="2000" dirty="0"/>
          </a:p>
        </p:txBody>
      </p:sp>
      <p:sp>
        <p:nvSpPr>
          <p:cNvPr id="19" name="Text 17"/>
          <p:cNvSpPr txBox="1"/>
          <p:nvPr/>
        </p:nvSpPr>
        <p:spPr>
          <a:xfrm>
            <a:off x="1234440" y="5661965"/>
            <a:ext cx="10268712" cy="519379"/>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Calcular un presupuesto de riesgo con fórmula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R-003: el SLA habitual tiene el menor valor neto</a:t>
            </a:r>
            <a:endParaRPr lang="en-US" sz="2400" dirty="0"/>
          </a:p>
        </p:txBody>
      </p:sp>
      <p:sp>
        <p:nvSpPr>
          <p:cNvPr id="3" name="Shape 1"/>
          <p:cNvSpPr/>
          <p:nvPr/>
        </p:nvSpPr>
        <p:spPr>
          <a:xfrm>
            <a:off x="457200" y="2331720"/>
            <a:ext cx="2035454" cy="2926080"/>
          </a:xfrm>
          <a:prstGeom prst="roundRect">
            <a:avLst>
              <a:gd name="adj" fmla="val 4492"/>
            </a:avLst>
          </a:prstGeom>
          <a:solidFill>
            <a:srgbClr val="002855"/>
          </a:solidFill>
          <a:ln w="12700">
            <a:solidFill>
              <a:srgbClr val="002855"/>
            </a:solidFill>
            <a:prstDash val="solid"/>
          </a:ln>
        </p:spPr>
      </p:sp>
      <p:sp>
        <p:nvSpPr>
          <p:cNvPr id="4" name="Text 2"/>
          <p:cNvSpPr txBox="1"/>
          <p:nvPr/>
        </p:nvSpPr>
        <p:spPr>
          <a:xfrm>
            <a:off x="658368" y="2532888"/>
            <a:ext cx="1633118" cy="2542032"/>
          </a:xfrm>
          <a:prstGeom prst="rect">
            <a:avLst/>
          </a:prstGeom>
          <a:noFill/>
          <a:ln/>
        </p:spPr>
        <p:txBody>
          <a:bodyPr wrap="square" lIns="0" tIns="0" rIns="0" bIns="0" rtlCol="0" anchor="ctr"/>
          <a:lstStyle/>
          <a:p>
            <a:pPr indent="0" marL="0">
              <a:buNone/>
            </a:pPr>
            <a:r>
              <a:rPr lang="en-US" sz="2150" dirty="0">
                <a:solidFill>
                  <a:srgbClr val="FFFFFF"/>
                </a:solidFill>
                <a:latin typeface="Arial" pitchFamily="34" charset="0"/>
                <a:ea typeface="Arial" pitchFamily="34" charset="-122"/>
                <a:cs typeface="Arial" pitchFamily="34" charset="-120"/>
              </a:rPr>
              <a:t>R-003: el proveedor de SMS del segundo factor no cumple la disponibilidad</a:t>
            </a:r>
            <a:endParaRPr lang="en-US" sz="1600" dirty="0"/>
          </a:p>
        </p:txBody>
      </p:sp>
      <p:sp>
        <p:nvSpPr>
          <p:cNvPr id="5" name="Shape 3"/>
          <p:cNvSpPr/>
          <p:nvPr/>
        </p:nvSpPr>
        <p:spPr>
          <a:xfrm>
            <a:off x="2766974" y="2331720"/>
            <a:ext cx="2035454" cy="2926080"/>
          </a:xfrm>
          <a:prstGeom prst="roundRect">
            <a:avLst>
              <a:gd name="adj" fmla="val 4492"/>
            </a:avLst>
          </a:prstGeom>
          <a:solidFill>
            <a:srgbClr val="E9F1F8"/>
          </a:solidFill>
          <a:ln w="12700">
            <a:solidFill>
              <a:srgbClr val="E9F1F8"/>
            </a:solidFill>
            <a:prstDash val="solid"/>
          </a:ln>
        </p:spPr>
      </p:sp>
      <p:sp>
        <p:nvSpPr>
          <p:cNvPr id="6" name="Text 4"/>
          <p:cNvSpPr txBox="1"/>
          <p:nvPr/>
        </p:nvSpPr>
        <p:spPr>
          <a:xfrm>
            <a:off x="2968142"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Cinco opciones: evitar, reducir, transferir, contingencia y aceptar</a:t>
            </a:r>
            <a:endParaRPr lang="en-US" sz="1600" dirty="0"/>
          </a:p>
        </p:txBody>
      </p:sp>
      <p:sp>
        <p:nvSpPr>
          <p:cNvPr id="7" name="Shape 5"/>
          <p:cNvSpPr/>
          <p:nvPr/>
        </p:nvSpPr>
        <p:spPr>
          <a:xfrm>
            <a:off x="5076749" y="2331720"/>
            <a:ext cx="2035454" cy="2926080"/>
          </a:xfrm>
          <a:prstGeom prst="roundRect">
            <a:avLst>
              <a:gd name="adj" fmla="val 4492"/>
            </a:avLst>
          </a:prstGeom>
          <a:solidFill>
            <a:srgbClr val="E9F1F8"/>
          </a:solidFill>
          <a:ln w="12700">
            <a:solidFill>
              <a:srgbClr val="E9F1F8"/>
            </a:solidFill>
            <a:prstDash val="solid"/>
          </a:ln>
        </p:spPr>
      </p:sp>
      <p:sp>
        <p:nvSpPr>
          <p:cNvPr id="8" name="Text 6"/>
          <p:cNvSpPr txBox="1"/>
          <p:nvPr/>
        </p:nvSpPr>
        <p:spPr>
          <a:xfrm>
            <a:off x="5277917"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El SLA con penalidad, la respuesta habitual: valor neto 700, el menor de las cuatro</a:t>
            </a:r>
            <a:endParaRPr lang="en-US" sz="1600" dirty="0"/>
          </a:p>
        </p:txBody>
      </p:sp>
      <p:sp>
        <p:nvSpPr>
          <p:cNvPr id="9" name="Shape 7"/>
          <p:cNvSpPr/>
          <p:nvPr/>
        </p:nvSpPr>
        <p:spPr>
          <a:xfrm>
            <a:off x="7386523" y="2331720"/>
            <a:ext cx="2035454" cy="2926080"/>
          </a:xfrm>
          <a:prstGeom prst="roundRect">
            <a:avLst>
              <a:gd name="adj" fmla="val 4492"/>
            </a:avLst>
          </a:prstGeom>
          <a:solidFill>
            <a:srgbClr val="E9F1F8"/>
          </a:solidFill>
          <a:ln w="12700">
            <a:solidFill>
              <a:srgbClr val="E9F1F8"/>
            </a:solidFill>
            <a:prstDash val="solid"/>
          </a:ln>
        </p:spPr>
      </p:sp>
      <p:sp>
        <p:nvSpPr>
          <p:cNvPr id="10" name="Text 8"/>
          <p:cNvSpPr txBox="1"/>
          <p:nvPr/>
        </p:nvSpPr>
        <p:spPr>
          <a:xfrm>
            <a:off x="7587691"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La recomendada: una contingencia que hoy no cuesta nada (valor neto 2.500)</a:t>
            </a:r>
            <a:endParaRPr lang="en-US" sz="1600" dirty="0"/>
          </a:p>
        </p:txBody>
      </p:sp>
      <p:sp>
        <p:nvSpPr>
          <p:cNvPr id="11" name="Shape 9"/>
          <p:cNvSpPr/>
          <p:nvPr/>
        </p:nvSpPr>
        <p:spPr>
          <a:xfrm>
            <a:off x="9696298" y="2331720"/>
            <a:ext cx="2035454" cy="2926080"/>
          </a:xfrm>
          <a:prstGeom prst="roundRect">
            <a:avLst>
              <a:gd name="adj" fmla="val 4492"/>
            </a:avLst>
          </a:prstGeom>
          <a:solidFill>
            <a:srgbClr val="E9F1F8"/>
          </a:solidFill>
          <a:ln w="12700">
            <a:solidFill>
              <a:srgbClr val="E9F1F8"/>
            </a:solidFill>
            <a:prstDash val="solid"/>
          </a:ln>
        </p:spPr>
      </p:sp>
      <p:sp>
        <p:nvSpPr>
          <p:cNvPr id="12" name="Text 10"/>
          <p:cNvSpPr txBox="1"/>
          <p:nvPr/>
        </p:nvSpPr>
        <p:spPr>
          <a:xfrm>
            <a:off x="9897466"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¿Cómo se elige entre opciones sin hacer la cuenta a mano?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Mano alzada</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¿Cuántos tienen un registro de riesgos que se actualizó en las últimas dos semanas?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88819"/>
                <a:gridCol w="2543132"/>
                <a:gridCol w="3390843"/>
                <a:gridCol w="305175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Responder los altos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la primera respuesta que surge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opciones por valor neto (REG-06, REG-10)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altos sin respuesta u opciones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Tener lista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una palabra en el registro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escrito (REG-10) y radar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contingencias sin plan o por activar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Cerrar acciones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vencen sin aviso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acciones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Revisar el registro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y nunca más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Reserva de riesgo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bolsa que se mira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(CAM-02,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cargos sin R-### y % consumido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Condiciones de la junta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olvidan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condiciones abiertas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Antes del taller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Lo que decide la junta: apetito, tolerancia, reserva y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enfoque de riesgo en una página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Apetito: bajo en cumplimiento y seguridad; moderado en plazo y costo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ningún alto sin respuesta; exposición ≤ USD 60.000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Presupuesto = respuestas + EMV residual; 5 % para no identificados a la reserva de gestión</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Gestor hasta USD 5.000 por respuesta; por encima decide la ejecutiva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Revisión en cada sprint; auditoría en cada fin de etapa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3: enfoque de riesgo y escala P×I</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329684"/>
          </a:xfrm>
          <a:prstGeom prst="roundRect">
            <a:avLst>
              <a:gd name="adj" fmla="val 1690"/>
            </a:avLst>
          </a:prstGeom>
          <a:solidFill>
            <a:srgbClr val="0F2238"/>
          </a:solidFill>
          <a:ln w="12700">
            <a:solidFill>
              <a:srgbClr val="0F2238"/>
            </a:solidFill>
            <a:prstDash val="solid"/>
          </a:ln>
        </p:spPr>
      </p:sp>
      <p:sp>
        <p:nvSpPr>
          <p:cNvPr id="5" name="Text 3"/>
          <p:cNvSpPr txBox="1"/>
          <p:nvPr/>
        </p:nvSpPr>
        <p:spPr>
          <a:xfrm>
            <a:off x="685800" y="1792224"/>
            <a:ext cx="10817352" cy="4000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el enfoque de gestión de riesgos del proyecto en su versión mínima, con la escala de probabilidad e impacto (1 a 5, umbrales del paquete y conversión a porcentaje para el valor esperado). Incluí: - apetito: bajo en cumplimiento (Ley 18.331) y en seguridad del acceso; moderado en plazo y costo; abierto a   oportunidades de reutilización; - tolerancia: ningún riesgo alto sin respuesta y exposición de amenazas ≤ USD 60.000; lo que quede sobre la línea va a   la junta con su hoja de riesgo; - presupuesto de riesgo = costo de las respuestas + EMV residual de las amenazas identificadas; la provisión del 5 % del   costo de la WBS para riesgos no identificados va a la reserva de gestión, que solo libera la junta; el gestor compromete hasta USD 5.000 por respuesta ya aceptada y, por encima o para un riesgo nuevo,   decide Laura; todo uso de la reserva va a cambios.csv con cargo reserva-riesgo y el R-### al que responde; - cadencia: revisión en cada sprint, reevaluación y auditoría en cada fin de etapa, vigilancia normativa mensual. Después se lo llevo a Laura para aprobarlo.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Identificar y evaluar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Cuatro fuentes con cita de origen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4: candidatos de BMAD y de la ronda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del taller, buscá riesgos candidatos en lo que ya tenemos: los artefactos de BMAD (brief, PRD, arquitectura y lo que haya de la fase de descubrimiento) y la transcripción de la ronda de riesgos del 27/10. Citá de dónde sale cada uno.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Sin BMAD: los artefactos del proyecto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no aplica; los riesgos salen del propio proyecto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Mandato: restricciones y lecciones de proyectos anteriores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Brief y requisitos: supuestos y preguntas abiertas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supuestos.csv: S-001 sin validar</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Resultado: 7 candidatos de 5 fuentes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Perfil al 3/11: dos altos sin respuesta</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818638"/>
                <a:gridCol w="2818638"/>
                <a:gridCol w="2818638"/>
                <a:gridCol w="281863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P×I</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EMV USD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4×4 = 16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21.000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3×5 = 15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12.500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3×4 = 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7.500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3×3 = 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9.000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R-004</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2×4 = 8</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Elegir y preparar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Opciones por valor neto y plan de contingencia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6a: opciones de R-001 y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 elegir respuestas para R-001 y R-003, armá sus opciones con estos datos (evitar, reducir, transferir, contingencia y aceptar), compará el valor neto de cada una y decime cuál conviene en cada riesgo.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R-001: reducir. R-003: preparar la contingencia</a:t>
            </a:r>
            <a:endParaRPr lang="en-US" sz="2400" dirty="0"/>
          </a:p>
        </p:txBody>
      </p:sp>
      <p:pic>
        <p:nvPicPr>
          <p:cNvPr id="3" name="Image 0" descr="R-001: reducir. R-003: preparar la continge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6b: el plan de contingencia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3472434"/>
          </a:xfrm>
          <a:prstGeom prst="roundRect">
            <a:avLst>
              <a:gd name="adj" fmla="val 2107"/>
            </a:avLst>
          </a:prstGeom>
          <a:solidFill>
            <a:srgbClr val="0F2238"/>
          </a:solidFill>
          <a:ln w="12700">
            <a:solidFill>
              <a:srgbClr val="0F2238"/>
            </a:solidFill>
            <a:prstDash val="solid"/>
          </a:ln>
        </p:spPr>
      </p:sp>
      <p:sp>
        <p:nvSpPr>
          <p:cNvPr id="5" name="Text 3"/>
          <p:cNvSpPr txBox="1"/>
          <p:nvPr/>
        </p:nvSpPr>
        <p:spPr>
          <a:xfrm>
            <a:off x="685800" y="1792224"/>
            <a:ext cx="10817352" cy="3143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Escribí el plan de contingencia de R-003. Disparador: dos caídas del proveedor de SMS en un mes; alerta temprana: la primera caída o una disponibilidad mensual menor que 99,9 %, que vigila Lucía en cada revisión del sprint. Al disparo: 1) Diego activa el contrato del proveedor alternativo en paralelo durante 6 meses (5 días hábiles, USD 12.000); 2) Lucía conmuta el segundo factor detrás de IdentityPort y lo verifica con socios de prueba (3 días hábiles más), con el correo como factor alternativo mientras tanto. Lo paga la reserva de riesgo y, como supera mis USD 5.000, lo autoriza Laura. Si el proveedor alternativo también falla en las dos semanas siguientes, correo como único segundo factor temporal y aviso a cumplimiento. Preparación: Diego firma el acuerdo marco antes del 25/11.</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Después de las respuestas, ninguna amenaza queda en zona alta</a:t>
            </a:r>
            <a:endParaRPr lang="en-US" sz="2400" dirty="0"/>
          </a:p>
        </p:txBody>
      </p:sp>
      <p:pic>
        <p:nvPicPr>
          <p:cNvPr id="3" name="Image 0" descr="Después de las respuestas, ninguna amenaza queda en zona alt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Presupuesto de riesgo: 39.800</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Respuestas 7.300 + EMV residual 32.500; provisión 6.200 a la reserva de gestión</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contingencia de R-003 entra ponderada: 50 % × (8.000 + 12.000)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estado.py presupuesto riesgo=39800 gestion=6200 (nivel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carga 7.300: CAM-03 informa 18 %</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REG-07: A-002 y A-003 hechas pero sin cerrar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Para R-001, evitar deja el residual más bajo (P×I 3). ¿Por qué no es la opción recomendada?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Ejercicio · Parte A: opciones, contingencia y presupuesto</a:t>
            </a:r>
            <a:endParaRPr lang="en-US" sz="2400" dirty="0"/>
          </a:p>
        </p:txBody>
      </p:sp>
      <p:sp>
        <p:nvSpPr>
          <p:cNvPr id="3" name="Shape 1"/>
          <p:cNvSpPr/>
          <p:nvPr/>
        </p:nvSpPr>
        <p:spPr>
          <a:xfrm>
            <a:off x="457200" y="1280160"/>
            <a:ext cx="3575304"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apetito, tolerancia, autoridad sobre la reserva y cadencia</a:t>
            </a:r>
            <a:endParaRPr lang="en-US" sz="1600" dirty="0"/>
          </a:p>
        </p:txBody>
      </p:sp>
      <p:sp>
        <p:nvSpPr>
          <p:cNvPr id="6" name="Shape 4"/>
          <p:cNvSpPr/>
          <p:nvPr/>
        </p:nvSpPr>
        <p:spPr>
          <a:xfrm>
            <a:off x="4306824" y="1280160"/>
            <a:ext cx="3575304"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4507992"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4507992"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opciones de tu riesgo más alto y su valor neto</a:t>
            </a:r>
            <a:endParaRPr lang="en-US" sz="1600" dirty="0"/>
          </a:p>
        </p:txBody>
      </p:sp>
      <p:sp>
        <p:nvSpPr>
          <p:cNvPr id="9" name="Shape 7"/>
          <p:cNvSpPr/>
          <p:nvPr/>
        </p:nvSpPr>
        <p:spPr>
          <a:xfrm>
            <a:off x="8156448" y="1280160"/>
            <a:ext cx="3575304"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8357616"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8357616"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el plan de contingencia en una fila</a:t>
            </a:r>
            <a:endParaRPr lang="en-US" sz="1600" dirty="0"/>
          </a:p>
        </p:txBody>
      </p:sp>
      <p:sp>
        <p:nvSpPr>
          <p:cNvPr id="12" name="Shape 10"/>
          <p:cNvSpPr/>
          <p:nvPr/>
        </p:nvSpPr>
        <p:spPr>
          <a:xfrm>
            <a:off x="457200" y="3886200"/>
            <a:ext cx="3575304"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58368" y="445312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A4: presupuesto = respuestas + residual; provisión aparte</a:t>
            </a:r>
            <a:endParaRPr lang="en-US" sz="1600" dirty="0"/>
          </a:p>
        </p:txBody>
      </p:sp>
      <p:sp>
        <p:nvSpPr>
          <p:cNvPr id="15" name="Shape 13"/>
          <p:cNvSpPr/>
          <p:nvPr/>
        </p:nvSpPr>
        <p:spPr>
          <a:xfrm>
            <a:off x="4306824" y="3886200"/>
            <a:ext cx="3575304" cy="2331720"/>
          </a:xfrm>
          <a:prstGeom prst="roundRect">
            <a:avLst>
              <a:gd name="adj" fmla="val 3922"/>
            </a:avLst>
          </a:prstGeom>
          <a:solidFill>
            <a:srgbClr val="FBF1E6"/>
          </a:solidFill>
          <a:ln w="12700">
            <a:solidFill>
              <a:srgbClr val="FBF1E6"/>
            </a:solidFill>
            <a:prstDash val="solid"/>
          </a:ln>
        </p:spPr>
      </p:sp>
      <p:sp>
        <p:nvSpPr>
          <p:cNvPr id="16" name="Text 14"/>
          <p:cNvSpPr txBox="1"/>
          <p:nvPr/>
        </p:nvSpPr>
        <p:spPr>
          <a:xfrm>
            <a:off x="4507992"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7" name="Text 15"/>
          <p:cNvSpPr txBox="1"/>
          <p:nvPr/>
        </p:nvSpPr>
        <p:spPr>
          <a:xfrm>
            <a:off x="4507992" y="445312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A4 puede quedar para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1</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enfoque de riesgo se aprueba antes del taller</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respuesta se elige entre opciones, por valor neto; decide el propietario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Una contingencia es un plan: disparador, monto, fuente y quién la autoriza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presupuesto de riesgo sale de una fórmula y lo fija la junta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El control continuo</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472440"/>
          </a:xfrm>
          <a:prstGeom prst="roundRect">
            <a:avLst>
              <a:gd name="adj" fmla="val 19355"/>
            </a:avLst>
          </a:prstGeom>
          <a:solidFill>
            <a:srgbClr val="173D66"/>
          </a:solidFill>
          <a:ln w="12700">
            <a:solidFill>
              <a:srgbClr val="173D66"/>
            </a:solidFill>
            <a:prstDash val="solid"/>
          </a:ln>
        </p:spPr>
      </p:sp>
      <p:sp>
        <p:nvSpPr>
          <p:cNvPr id="6" name="Text 4"/>
          <p:cNvSpPr txBox="1"/>
          <p:nvPr/>
        </p:nvSpPr>
        <p:spPr>
          <a:xfrm>
            <a:off x="685800" y="274320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Reconocer un registro que se dejó de revisar</a:t>
            </a:r>
            <a:endParaRPr lang="en-US" sz="1600" dirty="0"/>
          </a:p>
        </p:txBody>
      </p:sp>
      <p:sp>
        <p:nvSpPr>
          <p:cNvPr id="8" name="Shape 6"/>
          <p:cNvSpPr/>
          <p:nvPr/>
        </p:nvSpPr>
        <p:spPr>
          <a:xfrm>
            <a:off x="548640" y="3343656"/>
            <a:ext cx="11091672" cy="472440"/>
          </a:xfrm>
          <a:prstGeom prst="roundRect">
            <a:avLst>
              <a:gd name="adj" fmla="val 19355"/>
            </a:avLst>
          </a:prstGeom>
          <a:solidFill>
            <a:srgbClr val="173D66"/>
          </a:solidFill>
          <a:ln w="12700">
            <a:solidFill>
              <a:srgbClr val="173D66"/>
            </a:solidFill>
            <a:prstDash val="solid"/>
          </a:ln>
        </p:spPr>
      </p:sp>
      <p:sp>
        <p:nvSpPr>
          <p:cNvPr id="9" name="Text 7"/>
          <p:cNvSpPr txBox="1"/>
          <p:nvPr/>
        </p:nvSpPr>
        <p:spPr>
          <a:xfrm>
            <a:off x="685800" y="3343656"/>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380232"/>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Gestionar un riesgo que ocurre: issue y contingencia</a:t>
            </a:r>
            <a:endParaRPr lang="en-US" sz="1600" dirty="0"/>
          </a:p>
        </p:txBody>
      </p:sp>
      <p:sp>
        <p:nvSpPr>
          <p:cNvPr id="11" name="Shape 9"/>
          <p:cNvSpPr/>
          <p:nvPr/>
        </p:nvSpPr>
        <p:spPr>
          <a:xfrm>
            <a:off x="548640" y="3944112"/>
            <a:ext cx="11091672" cy="472440"/>
          </a:xfrm>
          <a:prstGeom prst="roundRect">
            <a:avLst>
              <a:gd name="adj" fmla="val 19355"/>
            </a:avLst>
          </a:prstGeom>
          <a:solidFill>
            <a:srgbClr val="173D66"/>
          </a:solidFill>
          <a:ln w="12700">
            <a:solidFill>
              <a:srgbClr val="173D66"/>
            </a:solidFill>
            <a:prstDash val="solid"/>
          </a:ln>
        </p:spPr>
      </p:sp>
      <p:sp>
        <p:nvSpPr>
          <p:cNvPr id="12" name="Text 10"/>
          <p:cNvSpPr txBox="1"/>
          <p:nvPr/>
        </p:nvSpPr>
        <p:spPr>
          <a:xfrm>
            <a:off x="685800" y="3944112"/>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3980688"/>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Elegir otra opción que la recomendada, con el motivo escrito</a:t>
            </a:r>
            <a:endParaRPr lang="en-US" sz="1600" dirty="0"/>
          </a:p>
        </p:txBody>
      </p:sp>
      <p:sp>
        <p:nvSpPr>
          <p:cNvPr id="14" name="Shape 12"/>
          <p:cNvSpPr/>
          <p:nvPr/>
        </p:nvSpPr>
        <p:spPr>
          <a:xfrm>
            <a:off x="548640" y="4544568"/>
            <a:ext cx="11091672" cy="472440"/>
          </a:xfrm>
          <a:prstGeom prst="roundRect">
            <a:avLst>
              <a:gd name="adj" fmla="val 19355"/>
            </a:avLst>
          </a:prstGeom>
          <a:solidFill>
            <a:srgbClr val="173D66"/>
          </a:solidFill>
          <a:ln w="12700">
            <a:solidFill>
              <a:srgbClr val="173D66"/>
            </a:solidFill>
            <a:prstDash val="solid"/>
          </a:ln>
        </p:spPr>
      </p:sp>
      <p:sp>
        <p:nvSpPr>
          <p:cNvPr id="15" name="Text 13"/>
          <p:cNvSpPr txBox="1"/>
          <p:nvPr/>
        </p:nvSpPr>
        <p:spPr>
          <a:xfrm>
            <a:off x="685800" y="4544568"/>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4581144"/>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Ordenar el día con el radar y activar un plan de contingencia</a:t>
            </a:r>
            <a:endParaRPr lang="en-US" sz="1600" dirty="0"/>
          </a:p>
        </p:txBody>
      </p:sp>
      <p:sp>
        <p:nvSpPr>
          <p:cNvPr id="17" name="Shape 15"/>
          <p:cNvSpPr/>
          <p:nvPr/>
        </p:nvSpPr>
        <p:spPr>
          <a:xfrm>
            <a:off x="548640" y="5145024"/>
            <a:ext cx="11091672" cy="472440"/>
          </a:xfrm>
          <a:prstGeom prst="roundRect">
            <a:avLst>
              <a:gd name="adj" fmla="val 19355"/>
            </a:avLst>
          </a:prstGeom>
          <a:solidFill>
            <a:srgbClr val="173D66"/>
          </a:solidFill>
          <a:ln w="12700">
            <a:solidFill>
              <a:srgbClr val="173D66"/>
            </a:solidFill>
            <a:prstDash val="solid"/>
          </a:ln>
        </p:spPr>
      </p:sp>
      <p:sp>
        <p:nvSpPr>
          <p:cNvPr id="18" name="Text 16"/>
          <p:cNvSpPr txBox="1"/>
          <p:nvPr/>
        </p:nvSpPr>
        <p:spPr>
          <a:xfrm>
            <a:off x="685800" y="5145024"/>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5</a:t>
            </a:r>
            <a:endParaRPr lang="en-US" sz="2000" dirty="0"/>
          </a:p>
        </p:txBody>
      </p:sp>
      <p:sp>
        <p:nvSpPr>
          <p:cNvPr id="19" name="Text 17"/>
          <p:cNvSpPr txBox="1"/>
          <p:nvPr/>
        </p:nvSpPr>
        <p:spPr>
          <a:xfrm>
            <a:off x="1234440" y="5181600"/>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el consumo de la reserva y decidir al cruzar el 80 %</a:t>
            </a:r>
            <a:endParaRPr lang="en-US" sz="1600" dirty="0"/>
          </a:p>
        </p:txBody>
      </p:sp>
      <p:sp>
        <p:nvSpPr>
          <p:cNvPr id="20" name="Shape 18"/>
          <p:cNvSpPr/>
          <p:nvPr/>
        </p:nvSpPr>
        <p:spPr>
          <a:xfrm>
            <a:off x="548640" y="5745480"/>
            <a:ext cx="11091672" cy="472440"/>
          </a:xfrm>
          <a:prstGeom prst="roundRect">
            <a:avLst>
              <a:gd name="adj" fmla="val 19355"/>
            </a:avLst>
          </a:prstGeom>
          <a:solidFill>
            <a:srgbClr val="173D66"/>
          </a:solidFill>
          <a:ln w="12700">
            <a:solidFill>
              <a:srgbClr val="173D66"/>
            </a:solidFill>
            <a:prstDash val="solid"/>
          </a:ln>
        </p:spPr>
      </p:sp>
      <p:sp>
        <p:nvSpPr>
          <p:cNvPr id="21" name="Text 19"/>
          <p:cNvSpPr txBox="1"/>
          <p:nvPr/>
        </p:nvSpPr>
        <p:spPr>
          <a:xfrm>
            <a:off x="685800" y="574548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6</a:t>
            </a:r>
            <a:endParaRPr lang="en-US" sz="2000" dirty="0"/>
          </a:p>
        </p:txBody>
      </p:sp>
      <p:sp>
        <p:nvSpPr>
          <p:cNvPr id="22" name="Text 20"/>
          <p:cNvSpPr txBox="1"/>
          <p:nvPr/>
        </p:nvSpPr>
        <p:spPr>
          <a:xfrm>
            <a:off x="1234440" y="5782056"/>
            <a:ext cx="10268712" cy="399288"/>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Seguir las condiciones de la junta hasta cumplirlas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El 12/02, los 5 riesgos abiertos llevaban hasta 45 días sin revisar</a:t>
            </a:r>
            <a:endParaRPr lang="en-US" sz="2400" dirty="0"/>
          </a:p>
        </p:txBody>
      </p:sp>
      <p:sp>
        <p:nvSpPr>
          <p:cNvPr id="3" name="Shape 1"/>
          <p:cNvSpPr/>
          <p:nvPr/>
        </p:nvSpPr>
        <p:spPr>
          <a:xfrm>
            <a:off x="457200" y="2331720"/>
            <a:ext cx="2035454" cy="2926080"/>
          </a:xfrm>
          <a:prstGeom prst="roundRect">
            <a:avLst>
              <a:gd name="adj" fmla="val 4492"/>
            </a:avLst>
          </a:prstGeom>
          <a:solidFill>
            <a:srgbClr val="002855"/>
          </a:solidFill>
          <a:ln w="12700">
            <a:solidFill>
              <a:srgbClr val="002855"/>
            </a:solidFill>
            <a:prstDash val="solid"/>
          </a:ln>
        </p:spPr>
      </p:sp>
      <p:sp>
        <p:nvSpPr>
          <p:cNvPr id="4" name="Text 2"/>
          <p:cNvSpPr txBox="1"/>
          <p:nvPr/>
        </p:nvSpPr>
        <p:spPr>
          <a:xfrm>
            <a:off x="658368" y="2532888"/>
            <a:ext cx="163311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Cuatro con 45 días de atraso; uno con 17</a:t>
            </a:r>
            <a:endParaRPr lang="en-US" sz="1600" dirty="0"/>
          </a:p>
        </p:txBody>
      </p:sp>
      <p:sp>
        <p:nvSpPr>
          <p:cNvPr id="5" name="Shape 3"/>
          <p:cNvSpPr/>
          <p:nvPr/>
        </p:nvSpPr>
        <p:spPr>
          <a:xfrm>
            <a:off x="2766974" y="2331720"/>
            <a:ext cx="2035454" cy="2926080"/>
          </a:xfrm>
          <a:prstGeom prst="roundRect">
            <a:avLst>
              <a:gd name="adj" fmla="val 4492"/>
            </a:avLst>
          </a:prstGeom>
          <a:solidFill>
            <a:srgbClr val="E9F1F8"/>
          </a:solidFill>
          <a:ln w="12700">
            <a:solidFill>
              <a:srgbClr val="E9F1F8"/>
            </a:solidFill>
            <a:prstDash val="solid"/>
          </a:ln>
        </p:spPr>
      </p:sp>
      <p:sp>
        <p:nvSpPr>
          <p:cNvPr id="6" name="Text 4"/>
          <p:cNvSpPr txBox="1"/>
          <p:nvPr/>
        </p:nvSpPr>
        <p:spPr>
          <a:xfrm>
            <a:off x="2968142"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sanidad lo avisaba con REG-09 desde el 12/01</a:t>
            </a:r>
            <a:endParaRPr lang="en-US" sz="1600" dirty="0"/>
          </a:p>
        </p:txBody>
      </p:sp>
      <p:sp>
        <p:nvSpPr>
          <p:cNvPr id="7" name="Shape 5"/>
          <p:cNvSpPr/>
          <p:nvPr/>
        </p:nvSpPr>
        <p:spPr>
          <a:xfrm>
            <a:off x="5076749" y="2331720"/>
            <a:ext cx="2035454" cy="2926080"/>
          </a:xfrm>
          <a:prstGeom prst="roundRect">
            <a:avLst>
              <a:gd name="adj" fmla="val 4492"/>
            </a:avLst>
          </a:prstGeom>
          <a:solidFill>
            <a:srgbClr val="E9F1F8"/>
          </a:solidFill>
          <a:ln w="12700">
            <a:solidFill>
              <a:srgbClr val="E9F1F8"/>
            </a:solidFill>
            <a:prstDash val="solid"/>
          </a:ln>
        </p:spPr>
      </p:sp>
      <p:sp>
        <p:nvSpPr>
          <p:cNvPr id="8" name="Text 6"/>
          <p:cNvSpPr txBox="1"/>
          <p:nvPr/>
        </p:nvSpPr>
        <p:spPr>
          <a:xfrm>
            <a:off x="5277917"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R-003 ya había alcanzado su disparador: dos caídas en un mes</a:t>
            </a:r>
            <a:endParaRPr lang="en-US" sz="1600" dirty="0"/>
          </a:p>
        </p:txBody>
      </p:sp>
      <p:sp>
        <p:nvSpPr>
          <p:cNvPr id="9" name="Shape 7"/>
          <p:cNvSpPr/>
          <p:nvPr/>
        </p:nvSpPr>
        <p:spPr>
          <a:xfrm>
            <a:off x="7386523" y="2331720"/>
            <a:ext cx="2035454" cy="2926080"/>
          </a:xfrm>
          <a:prstGeom prst="roundRect">
            <a:avLst>
              <a:gd name="adj" fmla="val 4492"/>
            </a:avLst>
          </a:prstGeom>
          <a:solidFill>
            <a:srgbClr val="E9F1F8"/>
          </a:solidFill>
          <a:ln w="12700">
            <a:solidFill>
              <a:srgbClr val="E9F1F8"/>
            </a:solidFill>
            <a:prstDash val="solid"/>
          </a:ln>
        </p:spPr>
      </p:sp>
      <p:sp>
        <p:nvSpPr>
          <p:cNvPr id="10" name="Text 8"/>
          <p:cNvSpPr txBox="1"/>
          <p:nvPr/>
        </p:nvSpPr>
        <p:spPr>
          <a:xfrm>
            <a:off x="7587691"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Su plan de contingencia estaba escrito desde el 4/11</a:t>
            </a:r>
            <a:endParaRPr lang="en-US" sz="1600" dirty="0"/>
          </a:p>
        </p:txBody>
      </p:sp>
      <p:sp>
        <p:nvSpPr>
          <p:cNvPr id="11" name="Shape 9"/>
          <p:cNvSpPr/>
          <p:nvPr/>
        </p:nvSpPr>
        <p:spPr>
          <a:xfrm>
            <a:off x="9696298" y="2331720"/>
            <a:ext cx="2035454" cy="2926080"/>
          </a:xfrm>
          <a:prstGeom prst="roundRect">
            <a:avLst>
              <a:gd name="adj" fmla="val 4492"/>
            </a:avLst>
          </a:prstGeom>
          <a:solidFill>
            <a:srgbClr val="E9F1F8"/>
          </a:solidFill>
          <a:ln w="12700">
            <a:solidFill>
              <a:srgbClr val="E9F1F8"/>
            </a:solidFill>
            <a:prstDash val="solid"/>
          </a:ln>
        </p:spPr>
      </p:sp>
      <p:sp>
        <p:nvSpPr>
          <p:cNvPr id="12" name="Text 10"/>
          <p:cNvSpPr txBox="1"/>
          <p:nvPr/>
        </p:nvSpPr>
        <p:spPr>
          <a:xfrm>
            <a:off x="9897466"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¿Por qué un aviso a tiempo no alcanzó?</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Al 12/02, los 5 riesgos abiertos llevan entre 17 y 45 días sin revisar</a:t>
            </a:r>
            <a:endParaRPr lang="en-US" sz="2400" dirty="0"/>
          </a:p>
        </p:txBody>
      </p:sp>
      <p:pic>
        <p:nvPicPr>
          <p:cNvPr id="3" name="Image 0" descr="Al 12/02, los 5 riesgos abiertos llevan entre 17 y 45 días sin revisar">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La revisión del sprint</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Reevaluar: R-002 baja de 12 a 8 tras el taller</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Cerrar: la oportunidad R-006 se aprovechó (60 h)</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Detectar: REG-07 marca A-001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Fijar la próxima revisión de cada abierto: 29/12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Exposición 50.600; reserva 18 %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Cuando el riesgo ocurre</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Issue, contingencia y la reserva bien y mal usada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9: la reserva para R-001 y unas licencias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2043684"/>
          </a:xfrm>
          <a:prstGeom prst="roundRect">
            <a:avLst>
              <a:gd name="adj" fmla="val 3579"/>
            </a:avLst>
          </a:prstGeom>
          <a:solidFill>
            <a:srgbClr val="0F2238"/>
          </a:solidFill>
          <a:ln w="12700">
            <a:solidFill>
              <a:srgbClr val="0F2238"/>
            </a:solidFill>
            <a:prstDash val="solid"/>
          </a:ln>
        </p:spPr>
      </p:sp>
      <p:sp>
        <p:nvSpPr>
          <p:cNvPr id="5" name="Text 3"/>
          <p:cNvSpPr txBox="1"/>
          <p:nvPr/>
        </p:nvSpPr>
        <p:spPr>
          <a:xfrm>
            <a:off x="685800" y="1792224"/>
            <a:ext cx="10817352" cy="1714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no perder dos semanas, Laura aprueba la opción O4 que habíamos evaluado para R-001: un entorno de pruebas temporal del padrón (copia anonimizada en la nube durante 8 semanas, USD 8.000). Registralo contra la reserva de riesgo como respuesta a R-001. Además, Lucía pidió dos licencias de la herramienta de diseño (USD 3.000) y Martín las aprobó contra la reserva porque "hay plata". ¿Cómo queda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control mira el propósito, no el monto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R-001 ocurre: pasa a ocurrido y se abre I-001</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C-002 entorno temporal: 8.000, la opción O4 evaluada en el paso 6a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C-003 licencias: 3.000, dentro del límite del gestor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CAM-02: cargo a la reserva sin un R-### citado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Tras el rechazo: 15.300 de 39.800 (38 %)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Pasos 10 y 11 · La junta elige otra opción, por escrito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R-007, norma de biometría: P3 × I5 = 15, EMV 20.000</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Recomendada por valor neto: O3 contingencia (3.000)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junta elige O2 reducir (−2.000) por apetito bajo en cumplimiento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--motivo, --elegir no registra nada; con el motivo, D-016</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Business case v1.1; reserva al 64 %; EST-12 y cuatro REG-09</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Revisión periódica</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 mes de avisos sin atender y qué decidir primero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Lo que ve el gestor al abrir la sesión</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Conteo de la sanidad rápida: 0 ERROR · 7 AVISO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riesgos 5, issues 1, cambios 3, acciones 1</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Cinco riesgos con la revisión vencida (REG-09) y A-004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Radar: decidir 1 · escalar 0 · desbloquear 1 · vigilar 6</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Condición de la junta y próxima puerta; manda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quedó sin revisar</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Revisión de riesgos del sprint, corte 12/02. Antes de actualizar nada, decime qué quedó sin revisar: riesgos con la revisión vencida, acciones de respuesta vencidas, condiciones de la junta abiertas y cómo está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Revisión del 12/02: lo que encontró</a:t>
            </a:r>
            <a:endParaRPr lang="en-US" sz="2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509821"/>
                <a:gridCol w="3679064"/>
                <a:gridCol w="3085667"/>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Quién lo detecta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5 de 5 riesgos con la revisión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REG-09 (desde el 12/01)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próxima revisión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A-004 vencida el 5/2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resumen de sesión y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replanificada al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Disparador de R-003 alcanzado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revisión del sprint</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 4, inminente: R-003 = 20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la junta abierta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sigue hasta el 1/3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Exposición 54.600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suma de EMV en riesgos.csv</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 5.400 de la tolerancia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decido hoy?</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731520"/>
          </a:xfrm>
          <a:prstGeom prst="roundRect">
            <a:avLst>
              <a:gd name="adj" fmla="val 10000"/>
            </a:avLst>
          </a:prstGeom>
          <a:solidFill>
            <a:srgbClr val="0F2238"/>
          </a:solidFill>
          <a:ln w="12700">
            <a:solidFill>
              <a:srgbClr val="0F2238"/>
            </a:solidFill>
            <a:prstDash val="solid"/>
          </a:ln>
        </p:spPr>
      </p:sp>
      <p:sp>
        <p:nvSpPr>
          <p:cNvPr id="5" name="Text 3"/>
          <p:cNvSpPr txBox="1"/>
          <p:nvPr/>
        </p:nvSpPr>
        <p:spPr>
          <a:xfrm>
            <a:off x="685800" y="1792224"/>
            <a:ext cx="10817352" cy="402336"/>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Con la revisión hecha, ¿qué tengo que decidir, escalar y desbloquear hoy?</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exposición rozó la tolerancia en febrero</a:t>
            </a:r>
            <a:endParaRPr lang="en-US" sz="2400" dirty="0"/>
          </a:p>
        </p:txBody>
      </p:sp>
      <p:pic>
        <p:nvPicPr>
          <p:cNvPr id="3" name="Image 0" descr="La exposición rozó la tolerancia en febrer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El plan de contingencia en acción</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Activación y alerta al 80 %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13: activar el plan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Activá el plan de contingencia de R-003: el disparador se alcanzó. Supera mi autoridad, así que llevalo a Laura como dice el plan. Después decime cómo queda la reserva contra lo que todavía puede pasar.</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La reserva llegó al 94 % y la sanidad avisó antes de agotarse</a:t>
            </a:r>
            <a:endParaRPr lang="en-US" sz="2400" dirty="0"/>
          </a:p>
        </p:txBody>
      </p:sp>
      <p:pic>
        <p:nvPicPr>
          <p:cNvPr id="3" name="Image 0" descr="La reserva llegó al 94 % y la sanidad avisó antes de agotarse">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Con la reserva al 94 % y 2.500 de remanente frente a 27.900 de EMV residual, ¿qué harías en lugar de Laura?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Fin de la etapa 2: solo la reserva queda en atención</a:t>
            </a:r>
            <a:endParaRPr lang="en-US" sz="2400" dirty="0"/>
          </a:p>
        </p:txBody>
      </p:sp>
      <p:pic>
        <p:nvPicPr>
          <p:cNvPr id="3" name="Image 0" descr="Fin de la etapa 2: solo la reserva queda en atenc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 la revisión de tu registro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revisiones, acciones, disparadores, condiciones y lo primero de hoy</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consumo de la reserva frente al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tu regla de revisión en una línea</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2</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registro vale lo que su última revisión: REG-09 avisa cuando vence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Con el plan escrito, el disparador es una decisión de minutos; el radar la pone primera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reserva es un presupuesto vivo: propósito (CAM-02) y alerta (CAM-03)</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Lo que no cierra por números lo decide la junta, con el motivo escrito; EST-12 lo sigue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Siguiente: E2E-2, el cambio y su presupuesto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(1/3)</a:t>
            </a:r>
            <a:endParaRPr lang="en-US" sz="2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Amenaza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negativo sobre un objetivo del proyecto.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Apetito de riesgo (risk appetite)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Cuánto riesgo está dispuesta a aceptar la organización en cada tipo de objetivo.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Disparador (trigger)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Señal observable que indica que el riesgo está por ocurrir y activa la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gestión de riesgos (risk management approach)</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fija procedimiento, escalas, apetito, tolerancia, presupuesto, roles y cadencia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Exposición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Suma del EMV de las amenazas abiertas; se compara con la tolerancia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Fecha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Columna fecha_revision de riesgos.csv: cuándo se vuelve a mirar cada riesgo. Si pasa y el riesgo sigue abierto, la sanidad avisa con REG-09.</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Hoja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Ficha de un riesgo sobre la línea, con evaluación, respuesta y justificación para que decida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Algo que ya ocurrió y hay que gestionar; un riesgo materializado pasa a ocurrido y se abre un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Junta del proyecto (project board)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Ejecutiva, usuaria sénior y proveedor sénior; decide tolerancias, presupuestos y excepciones.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(2/3)</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Límite de etapa (stage boundary)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Cierre de una etapa: auditoría, lecciones, plan de la siguiente y decisión de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positivo; sus respuestas buscan aumentar su probabilidad o su impacto (explotar,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Respuesta preparada que se ejecuta solo si se alcanza el disparador: acciones, monto, fuente (la reserva de riesgo) y quién la autoriza, escritos antes de necesitarla.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riesgo (risk budget)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fija la ejecutiva para respuestas y contingencias de riesgos identificados: respuestas + EMV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Probabilidad × impacto (P×I)</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Puntuación de 1 a 25 que ubica un riesgo en el mapa de calor; en el caso, alto ≥ 15, medio 6–12, bajo ≤ 5.</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Propietario del riesgo (risk owner)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Persona que responde por el riesgo y acepta su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riesgos (risk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Lista de riesgos con causa, evento, efecto, evaluación, respuesta, propietario y estado; en pm-method, riesgos.csv.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Reserva de gestión (management reserve)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Fondo para lo no previsto, fuera del presupuesto de riesgo; recibe la provisión para riesgos no identificados y solo la libera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(3/3)</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Acción elegida frente a un riesgo: evitar, reducir, transferir, compartir, preparar una contingencia, aceptar o escalar; explotar o mejorar para una 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Resumen de inicio de sesión y radar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Lo que pm-method agrega al abrir cada sesión: el estado derivado de los registros (estado.py contexto) y una línea de radar con lo que hay que decidir, escalar, desbloquear y vigilar. Manda sobre la memoria.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Probabilidad e impacto que se esperan después de aplicar la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secundario (secondary risk)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nuevo que crea una respuesta; su EMV se descuenta del valor neto de la opción. En el caso, la penalidad del SLA de R-003 no cubre el atraso.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automático de pm-method que, en cada corrida, informa hallazgos ERROR, AVISO o INFO con su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Margen fijado por la junta; superarlo es una excepción que decide un nivel superior.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monetario esperado (EMV)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Impacto en dinero por la probabilidad convertida a porcentaje (P1 10 % … P5 90 %).</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neto de una opción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EMV inherente − EMV residual − EMV del riesgo secundario − costo; la de mayor valor neto bajo la línea es la recomendada, y decide el propietario.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E2E-1 · Ciclo completo de gestión de riesgos</dc:title>
  <dc:subject>pm-method 2.5.0</dc:subject>
  <dc:creator>pm-method</dc:creator>
  <cp:lastModifiedBy>pm-method</cp:lastModifiedBy>
  <cp:revision>1</cp:revision>
  <dcterms:created xsi:type="dcterms:W3CDTF">2026-10-27T22:43:45Z</dcterms:created>
  <dcterms:modified xsi:type="dcterms:W3CDTF">2026-10-27T22:43:45Z</dcterms:modified>
</cp:coreProperties>
</file>