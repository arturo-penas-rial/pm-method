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746036b3-2888-47df-e1c6-d9d46a55c816}">
          <p14:sldIdLst>
            <p14:sldId id="256"/>
          </p14:sldIdLst>
        </p14:section>
        <p14:section name="Clase 1 · Del taller al plan de respuesta" id="{6f84a510-9c9c-17da-35e3-e47acd5e04cb}">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 name="Clase 2 · El control continuo" id="{685f1770-b4a9-09fe-8559-a0f24dcd83b1}">
          <p14:sldIdLst>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 name="Glosario" id="{43bfe0a0-18b6-8d80-6914-04418152deee}">
          <p14:sldIdLst>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E2E-1: Ciclo completo de gestión de riesgos.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Del taller al plan de respuesta. Objetivos: Explicar qué decide la junta antes del taller: apetito, tolerancia, reserva y cadencia; Identificar riesgos con cita de origen, con y sin BMAD; Justificar respuestas por costo frente a reducción de EMV y reconocer el secundario; Calcular un presupuesto de riesgo con fórmula.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resultado antes del método. No mostrar todavía el mapa: la imagen llega con el paso 6. Preguntar cuántos tienen un registro actualizado en las últimas dos semanas.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esperan pocas manos. El registro nace en el taller y se congela: es el problema que resuelve la clase 2. Hoy construimos lo que la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el mapa de las dos clases. Hoy cubrimos las dos primeras filas y preparamos la reserva; la clase 2 recorre el resto. Cada fila tiene su código: el control no depende de que alguien se acuerde.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 3. La ejecutiva decide las reglas antes de que aparezca el primer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versión mínima de la plantilla enfoque-riesgo. Lo que importa es que quede aprobado por la ejecutiva con fecha. Todo lo que vigila la sanidad después sale de estas cinco líneas.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Mostrar que el sistema deja la propuesta en revisión (v0.1) y que solo con la respuesta de la ejecutiva se congela la v1.0 (D-001, D-002). Si pregunta quién aprueba: Laura Méndez, ejecutiva, hoy 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4, 15 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prompt de descubrimiento. Señalar la cobertura: bmad 42 candidatos de 3 fuentes y transcripciones 6 candidatos. Leer una cita con hablante y marca de tiempo. El taller se muestra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15 con evidencia. Cualquier proyecto tiene fuentes: lo que cambia es de dónde se leen. Ninguna fuente da riesgos listos; da candidatos que el taller formula y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Exposición de amenazas: 53.600, bajo la tolerancia de 60.000. Pero la sanidad ya avisa REG-06 para R-001 y R-003: la regla de ningún alto sin respuesta se incumple. R-006 es una oportunidad y no suma a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 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Respuestas de los propietarios: Diego acepta R-001, R-003, R-005 y el secundario; Sofía R-002 y R-006; Laura el residual de R-004. Mostrar la tabla de justificación: todas cumplen costo menor que la reducción de EMV.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Izquierda: 5 amenazas del taller, 2 en zona alta. Derecha: 6 amenazas residuales, porque aparece el secundario R-007, y ninguna en zona alta. El borde rojo marca P×I mayor o igual 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 de barras es una amenaza. R-004 no baja porque se acepta. R-007 no existía: lo crea la transferencia de R-003. Toda respuesta puede crear un riesgo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presupuesto sale de una fórmula escrita en el enfoque, no de un porcentaje. Desde este momento cada uso de la reserva pasa por cambios.csv con su riesgo citado, y la sanidad lo suma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la penalidad tiene un tope de USD 2.000 por mes y no cubre el atraso. El riesgo no salió del proyecto; por eso aparece R-007 como secundario.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está en docs/webinar/E2E-1/ejercicio.md y explica la mecánica al comienzo. Pedir órdenes de magnitud, no precisión. El ejemplo resuelto está plegado al final de la hoja: mostrarlo al terminar, no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Anticipo de la clase 2: el registro quedó listo el 27/11. Vamos a ver qué pasa con él cuando el proyecto se pone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El control continuo. Objetivos: Reconocer un registro que se dejó de revisar; Gestionar un riesgo que ocurre: issue y contingencia; Leer el consumo de la reserva y decidir al cruzar el 80 %; Seguir las condiciones de la junta hasta cumplirlas.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en un minuto el presupuesto de 47.800 de la clase 1. Después contar el 12/02: el control avisó un mes entero y las urgencias lo taparon. Es lo que pasa en casi todos los proyectos.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 riesgo abierto: días entre su revisión prevista y el 12/02. Rojo, más de dos sprints; naranja, más de uno. El estado va también en texto. Datos de REG-09 en la sanidad del 12/02.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revisión no solo actualiza: deja escrito cuándo se vuelve a mirar cada riesgo (fecha_revision). Esa fecha es la que después delata que nadie volvió. Si hay tiempo, abrir el tablero HTML del 15/12 (img/g1-tablero.png en la guía): la vista por actor muestra cada riesgo con su revisión del 29/12.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9 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Si pregunta por las licencias tras el aviso: Sofía Ramírez, autoridad de cambio, las rechaza como cargo a la reserva. Mostrar CAM-02 y el consumo de 44 % a 37 %.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revisión por monto frenaría las licencias: están dentro de los USD 5.000 del gestor. Lo que falla es el propósito. Lo ocurrido ya no es riesgo: es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de riesgo deja escrito por qué se aprueba algo que no cierra por números. La condición de la junta queda vigilada por la sanidad hasta que la ejecutiva la da por cumplida. Señalar los REG-09: la revisión del 29/12 no se hizo, y el equipo prioriza la junta.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12. Qué ve el gestor al abrir la sesión, qué encuentra la sanidad y qué cuesta haber postergado la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hook de inicio arma este resumen desde estado.json y los registros (estado.py contexto), en cada inicio, reanudación o compactación: los seis riesgos sin revisar aparecen antes de correr la sanidad. Si la memoria de la sesión dice otra cosa, mandan los registros. Las cifras son las del 12/02 del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Primero la sanidad: 8 avisos, entre ellos EST-12, REG-07 para A-004 y seis REG-09 (el texto muestra cinco y la lista completa sale con --json). CAM-03 sigue en 58 %.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hallazgos, y todos tenían un aviso. El más caro, el disparador de R-003, recién aparece cuando alguien abre el riesgo: por eso la revisión empieza por los REG-09 y no se saltea.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Azul: exposición actual. Naranja: hasta dónde baja si las respuestas funcionan. La distancia entre las dos es trabajo de respuesta pendiente. En febrero la azul llega a 56.400 contra 60.000.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13. La contingencia que dispara la revisión postergada consume la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La decisión de Laura: aprobado contra la reserva; mantiene el presupuesto en 47.800 y concentra la autoridad hasta el límite de etapa. Mostrar el AVISO de CAM-03 al 81 % y D-015 con sus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una corrida de la sanidad. Verde hasta el 58 %; naranja al 81 %. Quedan 9.000 frente a un EMV residual de 34.800: la junta decide con margen, no cuando ya no queda nada. Por encima del 100 % sería ERROR y bloquearía las puertas.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hay una única respuesta. Laura mantuvo el tope y concentró la autoridad; las alternativas registradas eran ampliar con reserva de gestión o pedir un plan de excepción. Lo importante es que la decisión quede escrita con sus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14 con evidencia. Exposición 29.400, cero altos abiertos, cero acciones y revisiones vencidas, condición cumplida (D-016). Solo la reserva queda en atención, y se recalcula con el plan de la etapa 3. Lecciones L-001 y L-002.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asistente no tiene reserva de riesgo formal, que anote cuánto se gastó en respuestas a riesgos y de qué partida salió. Mostrar el ejemplo resuelto de la hoja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Puente a E2E-2: las licencias no eran un riesgo, eran un cambio. En el próximo caso vemos quién decide cada cambio, contra qué presupuesto se cobra y qué pasa cuando excede la autoridad delegada.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24 términos, página 1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24 términos, página 2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2.3.0 · Webinar E2E-1</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7.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2.3.0 · E2E-1</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Ciclo completo de gestión de riesgos</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taller al control continuo: respuestas costeadas, reserva vigilada y revisiones que no se saltean</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Del taller al plan de respuesta</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El control continuo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Del taller al plan de respuesta</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Explicar qué decide la junta antes del taller: apetito, tolerancia, reserva y cadencia</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Identificar riesgos con cita de origen, con y sin BMAD</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Justificar respuestas por costo frente a reducción de EMV y reconocer el secundario</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Calcular un presupuesto de riesgo con fórmula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Dos amenazas en zona alta el 29/10; ninguna el 4/11</a:t>
            </a:r>
            <a:endParaRPr lang="en-US" sz="2400" dirty="0"/>
          </a:p>
        </p:txBody>
      </p:sp>
      <p:sp>
        <p:nvSpPr>
          <p:cNvPr id="3" name="Shape 1"/>
          <p:cNvSpPr/>
          <p:nvPr/>
        </p:nvSpPr>
        <p:spPr>
          <a:xfrm>
            <a:off x="457200" y="2331720"/>
            <a:ext cx="2612898" cy="2926080"/>
          </a:xfrm>
          <a:prstGeom prst="roundRect">
            <a:avLst>
              <a:gd name="adj" fmla="val 3500"/>
            </a:avLst>
          </a:prstGeom>
          <a:solidFill>
            <a:srgbClr val="002855"/>
          </a:solidFill>
          <a:ln w="12700">
            <a:solidFill>
              <a:srgbClr val="002855"/>
            </a:solidFill>
            <a:prstDash val="solid"/>
          </a:ln>
        </p:spPr>
      </p:sp>
      <p:sp>
        <p:nvSpPr>
          <p:cNvPr id="4" name="Text 2"/>
          <p:cNvSpPr txBox="1"/>
          <p:nvPr/>
        </p:nvSpPr>
        <p:spPr>
          <a:xfrm>
            <a:off x="658368" y="2532888"/>
            <a:ext cx="2210562"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El taller deja R-001 (16) y R-003 (15) en zona alta</a:t>
            </a:r>
            <a:endParaRPr lang="en-US" sz="1600" dirty="0"/>
          </a:p>
        </p:txBody>
      </p:sp>
      <p:sp>
        <p:nvSpPr>
          <p:cNvPr id="5" name="Shape 3"/>
          <p:cNvSpPr/>
          <p:nvPr/>
        </p:nvSpPr>
        <p:spPr>
          <a:xfrm>
            <a:off x="3344418" y="2331720"/>
            <a:ext cx="2612898" cy="2926080"/>
          </a:xfrm>
          <a:prstGeom prst="roundRect">
            <a:avLst>
              <a:gd name="adj" fmla="val 3500"/>
            </a:avLst>
          </a:prstGeom>
          <a:solidFill>
            <a:srgbClr val="E9F1F8"/>
          </a:solidFill>
          <a:ln w="12700">
            <a:solidFill>
              <a:srgbClr val="E9F1F8"/>
            </a:solidFill>
            <a:prstDash val="solid"/>
          </a:ln>
        </p:spPr>
      </p:sp>
      <p:sp>
        <p:nvSpPr>
          <p:cNvPr id="6" name="Text 4"/>
          <p:cNvSpPr txBox="1"/>
          <p:nvPr/>
        </p:nvSpPr>
        <p:spPr>
          <a:xfrm>
            <a:off x="3545586"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Cinco días después, ninguna amenaza queda en zona alta</a:t>
            </a:r>
            <a:endParaRPr lang="en-US" sz="1600" dirty="0"/>
          </a:p>
        </p:txBody>
      </p:sp>
      <p:sp>
        <p:nvSpPr>
          <p:cNvPr id="7" name="Shape 5"/>
          <p:cNvSpPr/>
          <p:nvPr/>
        </p:nvSpPr>
        <p:spPr>
          <a:xfrm>
            <a:off x="6231636" y="2331720"/>
            <a:ext cx="2612898" cy="2926080"/>
          </a:xfrm>
          <a:prstGeom prst="roundRect">
            <a:avLst>
              <a:gd name="adj" fmla="val 3500"/>
            </a:avLst>
          </a:prstGeom>
          <a:solidFill>
            <a:srgbClr val="E9F1F8"/>
          </a:solidFill>
          <a:ln w="12700">
            <a:solidFill>
              <a:srgbClr val="E9F1F8"/>
            </a:solidFill>
            <a:prstDash val="solid"/>
          </a:ln>
        </p:spPr>
      </p:sp>
      <p:sp>
        <p:nvSpPr>
          <p:cNvPr id="8" name="Text 6"/>
          <p:cNvSpPr txBox="1"/>
          <p:nvPr/>
        </p:nvSpPr>
        <p:spPr>
          <a:xfrm>
            <a:off x="6432804"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Costo de las respuestas: USD 9.800</a:t>
            </a:r>
            <a:endParaRPr lang="en-US" sz="1600" dirty="0"/>
          </a:p>
        </p:txBody>
      </p:sp>
      <p:sp>
        <p:nvSpPr>
          <p:cNvPr id="9" name="Shape 7"/>
          <p:cNvSpPr/>
          <p:nvPr/>
        </p:nvSpPr>
        <p:spPr>
          <a:xfrm>
            <a:off x="9118854" y="2331720"/>
            <a:ext cx="2612898" cy="2926080"/>
          </a:xfrm>
          <a:prstGeom prst="roundRect">
            <a:avLst>
              <a:gd name="adj" fmla="val 3500"/>
            </a:avLst>
          </a:prstGeom>
          <a:solidFill>
            <a:srgbClr val="E9F1F8"/>
          </a:solidFill>
          <a:ln w="12700">
            <a:solidFill>
              <a:srgbClr val="E9F1F8"/>
            </a:solidFill>
            <a:prstDash val="solid"/>
          </a:ln>
        </p:spPr>
      </p:sp>
      <p:sp>
        <p:nvSpPr>
          <p:cNvPr id="10" name="Text 8"/>
          <p:cNvSpPr txBox="1"/>
          <p:nvPr/>
        </p:nvSpPr>
        <p:spPr>
          <a:xfrm>
            <a:off x="9320022"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¿Qué tuvo que estar decidido antes para que eso fuera posible?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Mano alzada</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¿Cuántos tienen un registro de riesgos que se actualizó en las últimas dos semanas?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567472"/>
                <a:gridCol w="2344214"/>
                <a:gridCol w="4130281"/>
                <a:gridCol w="2232585"/>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Responder los altos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una vez, en el taller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(REG-06) y puerta (E-06)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altos sin respuesta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Cerrar acciones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vencen sin aviso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acciones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Revisar el registro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y nunca más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Consumo de la reserva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mira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 consumido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Uso de la reserva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bolsa general</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(CAM-02)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cargos sin 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Condiciones de la junta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olvidan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condiciones abiertas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Antes del taller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Lo que decide la junta: apetito, tolerancia, reserva y cadencia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enfoque de riesgo en una página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Apetito: bajo en cumplimiento y seguridad; moderado en plazo y costo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ningún alto sin respuesta; exposición ≤ USD 60.000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Presupuesto = respuestas + EMV residual + 5 % para no identificados</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Gestor hasta USD 5.000 por respuesta; por encima decide la ejecutiva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Revisión en cada sprint; auditoría en cada fin de etapa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3: enfoque de riesgo y escala P×I</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4043934"/>
          </a:xfrm>
          <a:prstGeom prst="roundRect">
            <a:avLst>
              <a:gd name="adj" fmla="val 1809"/>
            </a:avLst>
          </a:prstGeom>
          <a:solidFill>
            <a:srgbClr val="0F2238"/>
          </a:solidFill>
          <a:ln w="12700">
            <a:solidFill>
              <a:srgbClr val="0F2238"/>
            </a:solidFill>
            <a:prstDash val="solid"/>
          </a:ln>
        </p:spPr>
      </p:sp>
      <p:sp>
        <p:nvSpPr>
          <p:cNvPr id="5" name="Text 3"/>
          <p:cNvSpPr txBox="1"/>
          <p:nvPr/>
        </p:nvSpPr>
        <p:spPr>
          <a:xfrm>
            <a:off x="685800" y="1792224"/>
            <a:ext cx="10817352" cy="3714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Proponé el enfoque de gestión de riesgos del proyecto en su versión mínima, con la escala de probabilidad e impacto (1 a 5, umbrales del paquete y conversión a porcentaje para el valor esperado). Incluí: - apetito: bajo en cumplimiento (Ley 18.331) y en seguridad del acceso; moderado en plazo y costo; abierto a   oportunidades de reutilización; - tolerancia: ningún riesgo alto sin respuesta y exposición de amenazas ≤ USD 60.000; lo que quede sobre la línea va a   la junta con su hoja de riesgo; - presupuesto de riesgo = costo de las respuestas + EMV residual + provisión del 5 % del costo de la WBS para riesgos no   identificados; el gestor compromete hasta USD 5.000 por respuesta ya aceptada y, por encima o para un riesgo nuevo,   decide Laura; todo uso de la reserva va a cambios.csv con cargo reserva-riesgo y el R-### al que responde; - cadencia: revisión en cada sprint, reevaluación y auditoría en cada fin de etapa, vigilancia normativa mensual. Después se lo llevo a Laura para aprobarlo.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Identificar y evaluar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Cuatro fuentes con cita de origen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4: candidatos de BMAD y de la ronda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del taller, buscá riesgos candidatos en lo que ya tenemos: los artefactos de BMAD (brief, PRD, arquitectura y lo que haya de la fase de descubrimiento) y la transcripción de la ronda de riesgos del 27/10. Citá de dónde sale cada uno.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Sin BMAD: los artefactos del proyecto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no aplica; los riesgos salen del propio proyecto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Mandato: restricciones y lecciones de proyectos anteriores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Brief y requisitos: supuestos y preguntas abiertas</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supuestos.csv: S-001 sin validar</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Resultado: 7 candidatos de 5 fuentes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Perfil al 3/11: dos altos sin respuesta</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818638"/>
                <a:gridCol w="2818638"/>
                <a:gridCol w="2818638"/>
                <a:gridCol w="281863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P×I</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EMV USD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4×4 = 16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21.000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3×5 = 15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12.500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3×4 = 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7.500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3×3 = 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9.000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R-004</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2×4 = 8</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Responder y presupuestar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Costo frente a reducción de EMV</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 respuestas con costo y secundario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4043934"/>
          </a:xfrm>
          <a:prstGeom prst="roundRect">
            <a:avLst>
              <a:gd name="adj" fmla="val 1809"/>
            </a:avLst>
          </a:prstGeom>
          <a:solidFill>
            <a:srgbClr val="0F2238"/>
          </a:solidFill>
          <a:ln w="12700">
            <a:solidFill>
              <a:srgbClr val="0F2238"/>
            </a:solidFill>
            <a:prstDash val="solid"/>
          </a:ln>
        </p:spPr>
      </p:sp>
      <p:sp>
        <p:nvSpPr>
          <p:cNvPr id="5" name="Text 3"/>
          <p:cNvSpPr txBox="1"/>
          <p:nvPr/>
        </p:nvSpPr>
        <p:spPr>
          <a:xfrm>
            <a:off x="685800" y="1792224"/>
            <a:ext cx="10817352" cy="3714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Proponé respuestas para todos los riesgos con su residual, su disparador y su costo, y justificá cada una: el costo de la respuesta tiene que ser menor que la reducción de EMV que logra. Mi propuesta: R-001 reducir con un spike de integración con datos sintéticos en el sprint 1 (residual P2 I4, disparador "spike sin datos del padrón al día 5", USD 2.000); R-002 reducir con un taller con operadores (P2 I3, USD 1.500); R-003 transferir con un SLA de 99,9 % con penalidad (P2 I4, USD 2.500); R-004 aceptar con seguimiento mensual (P2 I4, sin costo); R-005 reducir con cláusula de permanencia (P2 I3, USD 3.000); R-006 explotar con un spike de reutilización (P4 I3, USD 800). Ojo con R-003: la penalidad del SLA tiene un tope de USD 2.000 por mes y no cubre el costo del atraso. Registralo como riesgo secundario (P2, I3, USD 6.000, aceptar; propietario Diego). Acciones: spike del padrón (Lucía, 11/12), taller con operadores y delegado sindical (Martín, 20/11), SLA con el proveedor de SMS (Diego, 25/11).</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Después de las respuestas, ninguna amenaza queda en zona alta</a:t>
            </a:r>
            <a:endParaRPr lang="en-US" sz="2400" dirty="0"/>
          </a:p>
        </p:txBody>
      </p:sp>
      <p:pic>
        <p:nvPicPr>
          <p:cNvPr id="3" name="Image 0" descr="Después de las respuestas, ninguna amenaza queda en zona alt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Con USD 9.800 en respuestas, la exposición baja de 53.600 a 31.800</a:t>
            </a:r>
            <a:endParaRPr lang="en-US" sz="2400" dirty="0"/>
          </a:p>
        </p:txBody>
      </p:sp>
      <p:pic>
        <p:nvPicPr>
          <p:cNvPr id="3" name="Image 0" descr="Con USD 9.800 en respuestas, la exposición baja de 53.600 a 31.800">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7 · Presupuesto de riesgo: 47.800</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Respuestas 9.800 + EMV residual 31.800 + provisión 6.200</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transferencia de R-003 no descuenta su residual</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 fija la ejecutiva: estado.py presupuesto riesgo=47800</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carga 9.800: CAM-03 informa 21 %</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REG-07: A-002 y A-003 hechas pero sin cerrar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R-003 se transfiere con un SLA. ¿Por qué su EMV residual sigue en el presupuesto de riesgo?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A: tu enfoque y tu presupuesto</a:t>
            </a:r>
            <a:endParaRPr lang="en-US" sz="2400" dirty="0"/>
          </a:p>
        </p:txBody>
      </p:sp>
      <p:sp>
        <p:nvSpPr>
          <p:cNvPr id="3" name="Shape 1"/>
          <p:cNvSpPr/>
          <p:nvPr/>
        </p:nvSpPr>
        <p:spPr>
          <a:xfrm>
            <a:off x="457200" y="1280160"/>
            <a:ext cx="5500116"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apetito, tolerancia, autoridad sobre la reserva y cadencia</a:t>
            </a:r>
            <a:endParaRPr lang="en-US" sz="1600" dirty="0"/>
          </a:p>
        </p:txBody>
      </p:sp>
      <p:sp>
        <p:nvSpPr>
          <p:cNvPr id="6" name="Shape 4"/>
          <p:cNvSpPr/>
          <p:nvPr/>
        </p:nvSpPr>
        <p:spPr>
          <a:xfrm>
            <a:off x="6231636" y="1280160"/>
            <a:ext cx="5500116"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6432804"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6432804"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tres riesgos con respuesta, costo y EMV residual</a:t>
            </a:r>
            <a:endParaRPr lang="en-US" sz="1600" dirty="0"/>
          </a:p>
        </p:txBody>
      </p:sp>
      <p:sp>
        <p:nvSpPr>
          <p:cNvPr id="9" name="Shape 7"/>
          <p:cNvSpPr/>
          <p:nvPr/>
        </p:nvSpPr>
        <p:spPr>
          <a:xfrm>
            <a:off x="457200" y="3886200"/>
            <a:ext cx="5500116"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658368"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presupuesto = respuestas + residual + provisión</a:t>
            </a:r>
            <a:endParaRPr lang="en-US" sz="1600" dirty="0"/>
          </a:p>
        </p:txBody>
      </p:sp>
      <p:sp>
        <p:nvSpPr>
          <p:cNvPr id="12" name="Shape 10"/>
          <p:cNvSpPr/>
          <p:nvPr/>
        </p:nvSpPr>
        <p:spPr>
          <a:xfrm>
            <a:off x="6231636" y="3886200"/>
            <a:ext cx="5500116"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432804"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432804"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autoevaluación al final de la hoja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1</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enfoque de riesgo se aprueba antes del taller</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Cada respuesta se justifica por números o por apetito, por escrito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Toda respuesta puede crear un riesgo secundario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presupuesto de riesgo sale de una fórmula y lo fija la junta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El control continuo</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Reconocer un registro que se dejó de revisar</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Gestionar un riesgo que ocurre: issue y contingencia</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el consumo de la reserva y decidir al cruzar el 80 %</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Seguir las condiciones de la junta hasta cumplirlas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El 12/02, los 6 riesgos abiertos llevaban hasta 45 días sin revisar</a:t>
            </a:r>
            <a:endParaRPr lang="en-US" sz="2400" dirty="0"/>
          </a:p>
        </p:txBody>
      </p:sp>
      <p:sp>
        <p:nvSpPr>
          <p:cNvPr id="3" name="Shape 1"/>
          <p:cNvSpPr/>
          <p:nvPr/>
        </p:nvSpPr>
        <p:spPr>
          <a:xfrm>
            <a:off x="457200" y="2331720"/>
            <a:ext cx="2612898" cy="2926080"/>
          </a:xfrm>
          <a:prstGeom prst="roundRect">
            <a:avLst>
              <a:gd name="adj" fmla="val 3500"/>
            </a:avLst>
          </a:prstGeom>
          <a:solidFill>
            <a:srgbClr val="002855"/>
          </a:solidFill>
          <a:ln w="12700">
            <a:solidFill>
              <a:srgbClr val="002855"/>
            </a:solidFill>
            <a:prstDash val="solid"/>
          </a:ln>
        </p:spPr>
      </p:sp>
      <p:sp>
        <p:nvSpPr>
          <p:cNvPr id="4" name="Text 2"/>
          <p:cNvSpPr txBox="1"/>
          <p:nvPr/>
        </p:nvSpPr>
        <p:spPr>
          <a:xfrm>
            <a:off x="658368" y="2532888"/>
            <a:ext cx="2210562"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Cinco con 45 días de atraso; uno con 17</a:t>
            </a:r>
            <a:endParaRPr lang="en-US" sz="1600" dirty="0"/>
          </a:p>
        </p:txBody>
      </p:sp>
      <p:sp>
        <p:nvSpPr>
          <p:cNvPr id="5" name="Shape 3"/>
          <p:cNvSpPr/>
          <p:nvPr/>
        </p:nvSpPr>
        <p:spPr>
          <a:xfrm>
            <a:off x="3344418" y="2331720"/>
            <a:ext cx="2612898" cy="2926080"/>
          </a:xfrm>
          <a:prstGeom prst="roundRect">
            <a:avLst>
              <a:gd name="adj" fmla="val 3500"/>
            </a:avLst>
          </a:prstGeom>
          <a:solidFill>
            <a:srgbClr val="E9F1F8"/>
          </a:solidFill>
          <a:ln w="12700">
            <a:solidFill>
              <a:srgbClr val="E9F1F8"/>
            </a:solidFill>
            <a:prstDash val="solid"/>
          </a:ln>
        </p:spPr>
      </p:sp>
      <p:sp>
        <p:nvSpPr>
          <p:cNvPr id="6" name="Text 4"/>
          <p:cNvSpPr txBox="1"/>
          <p:nvPr/>
        </p:nvSpPr>
        <p:spPr>
          <a:xfrm>
            <a:off x="3545586"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sanidad lo avisaba con REG-09 desde el 12/01</a:t>
            </a:r>
            <a:endParaRPr lang="en-US" sz="1600" dirty="0"/>
          </a:p>
        </p:txBody>
      </p:sp>
      <p:sp>
        <p:nvSpPr>
          <p:cNvPr id="7" name="Shape 5"/>
          <p:cNvSpPr/>
          <p:nvPr/>
        </p:nvSpPr>
        <p:spPr>
          <a:xfrm>
            <a:off x="6231636" y="2331720"/>
            <a:ext cx="2612898" cy="2926080"/>
          </a:xfrm>
          <a:prstGeom prst="roundRect">
            <a:avLst>
              <a:gd name="adj" fmla="val 3500"/>
            </a:avLst>
          </a:prstGeom>
          <a:solidFill>
            <a:srgbClr val="E9F1F8"/>
          </a:solidFill>
          <a:ln w="12700">
            <a:solidFill>
              <a:srgbClr val="E9F1F8"/>
            </a:solidFill>
            <a:prstDash val="solid"/>
          </a:ln>
        </p:spPr>
      </p:sp>
      <p:sp>
        <p:nvSpPr>
          <p:cNvPr id="8" name="Text 6"/>
          <p:cNvSpPr txBox="1"/>
          <p:nvPr/>
        </p:nvSpPr>
        <p:spPr>
          <a:xfrm>
            <a:off x="6432804"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R-003 ya había alcanzado su disparador: dos caídas en un mes</a:t>
            </a:r>
            <a:endParaRPr lang="en-US" sz="1600" dirty="0"/>
          </a:p>
        </p:txBody>
      </p:sp>
      <p:sp>
        <p:nvSpPr>
          <p:cNvPr id="9" name="Shape 7"/>
          <p:cNvSpPr/>
          <p:nvPr/>
        </p:nvSpPr>
        <p:spPr>
          <a:xfrm>
            <a:off x="9118854" y="2331720"/>
            <a:ext cx="2612898" cy="2926080"/>
          </a:xfrm>
          <a:prstGeom prst="roundRect">
            <a:avLst>
              <a:gd name="adj" fmla="val 3500"/>
            </a:avLst>
          </a:prstGeom>
          <a:solidFill>
            <a:srgbClr val="E9F1F8"/>
          </a:solidFill>
          <a:ln w="12700">
            <a:solidFill>
              <a:srgbClr val="E9F1F8"/>
            </a:solidFill>
            <a:prstDash val="solid"/>
          </a:ln>
        </p:spPr>
      </p:sp>
      <p:sp>
        <p:nvSpPr>
          <p:cNvPr id="10" name="Text 8"/>
          <p:cNvSpPr txBox="1"/>
          <p:nvPr/>
        </p:nvSpPr>
        <p:spPr>
          <a:xfrm>
            <a:off x="9320022"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¿Por qué un aviso a tiempo no alcanzó?</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Al 12/02, los 6 riesgos abiertos llevan entre 17 y 45 días sin revisar</a:t>
            </a:r>
            <a:endParaRPr lang="en-US" sz="2400" dirty="0"/>
          </a:p>
        </p:txBody>
      </p:sp>
      <p:pic>
        <p:nvPicPr>
          <p:cNvPr id="3" name="Image 0" descr="Al 12/02, los 6 riesgos abiertos llevan entre 17 y 45 días sin revisar">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8 · La revisión del sprint</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Reevaluar: R-002 baja de 12 a 8 tras el taller</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Cerrar: la oportunidad R-006 se aprovechó (60 h)</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Detectar: REG-07 marca A-001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Fijar la próxima revisión de cada abierto: 29/12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Exposición 52.400; reserva 21 %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Cuando el riesgo ocurre</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Issue, contingencia y la reserva bien y mal usada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9: la reserva para R-001 y unas licencias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Para no perder dos semanas, Laura aprueba pagar un entorno de pruebas temporal del padrón (copia anonimizada en la nube durante 8 semanas, USD 8.000): registralo contra la reserva de riesgo como respuesta a R-001. Además, Lucía pidió dos licencias de la herramienta de diseño (USD 3.000) y Martín las aprobó contra la reserva porque "hay plata". ¿Cómo queda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control mira el propósito, no el monto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R-001 ocurre: pasa a ocurrido y se abre I-001</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C-002 entorno temporal: 8.000, cita R-001, decide la ejecutiva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C-003 licencias: 3.000, dentro del límite del gestor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CAM-02: cargo a la reserva sin un R-### citado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Tras el rechazo: 17.800 de 47.800 (37 %)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Pasos 10 y 11 · Lo que decide la junta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R-008, norma de biometría: P3 × I5 = 15, EMV 20.000</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Respuesta de 10.000 frente a una reducción de 8.000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Se justifica por apetito bajo en cumplimiento: decide la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Business case v1.1; reserva al 58 %; EST-12 vigila la condición</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misma sanidad del 12/01 trae cinco REG-09</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Revisión periódica</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 mes de avisos sin atender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Lo que ve el gestor al abrir la sesión</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Conteo de la sanidad rápida: 0 ERROR · 8 AVISO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Abiertos: riesgos 6, issues 1, cambios 3, acciones 1</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Seis riesgos con la revisión vencida (REG-09)</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Acción vencida: A-004 (Martín Suárez, 5/2)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Condición de la junta y próxima puerta; manda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quedó sin revisar</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Revisión de riesgos del sprint, corte 12/02. Antes de actualizar nada, decime qué quedó sin revisar: riesgos con la revisión vencida, acciones de respuesta vencidas, condiciones de la junta abiertas y cómo está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Revisión del 12/02: lo que encontró</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606806"/>
                <a:gridCol w="3758184"/>
                <a:gridCol w="2909562"/>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Hallazgo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Quién lo detecta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hizo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6 de 6 riesgos con la revisión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REG-09 (desde el 12/01)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próxima revisión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A-004 vencida el 5/2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resumen de sesión y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replanificada al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Disparador de R-003 alcanzado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revisión del sprint</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 sube a 4: R-003 = 20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la junta abierta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sigue hasta el 1/3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Exposición 56.400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suma de EMV en riesgos.csv</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 3.600 de la tolerancia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exposición rozó la tolerancia en febrero</a:t>
            </a:r>
            <a:endParaRPr lang="en-US" sz="2400" dirty="0"/>
          </a:p>
        </p:txBody>
      </p:sp>
      <p:pic>
        <p:nvPicPr>
          <p:cNvPr id="3" name="Image 0" descr="La exposición rozó la tolerancia en febrer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La reserva como presupuesto vivo</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Contingencia y alerta al 80 %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13: contingencia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Para R-003 proponé activar la contingencia: el proveedor de SMS alternativo que evaluamos en PS-104, en paralelo durante 6 meses, USD 11.000, con residual P2 I3. Supera mi autoridad, así que llevalo a Laura. Después decime cómo queda la reserva contra lo que todavía puede pasar.</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La reserva llegó al 81 % y la sanidad avisó antes de agotarse</a:t>
            </a:r>
            <a:endParaRPr lang="en-US" sz="2400" dirty="0"/>
          </a:p>
        </p:txBody>
      </p:sp>
      <p:pic>
        <p:nvPicPr>
          <p:cNvPr id="3" name="Image 0" descr="La reserva llegó al 81 % y la sanidad avisó antes de agotarse">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Con la reserva al 81 % y 9.000 de remanente frente a 34.800 de EMV residual, ¿qué harías en lugar de Laura?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Fin de la etapa 2: solo la reserva queda en atención</a:t>
            </a:r>
            <a:endParaRPr lang="en-US" sz="2400" dirty="0"/>
          </a:p>
        </p:txBody>
      </p:sp>
      <p:pic>
        <p:nvPicPr>
          <p:cNvPr id="3" name="Image 0" descr="Fin de la etapa 2: solo la reserva queda en atenc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 la revisión de tu registro</a:t>
            </a:r>
            <a:endParaRPr lang="en-US" sz="2400" dirty="0"/>
          </a:p>
        </p:txBody>
      </p:sp>
      <p:sp>
        <p:nvSpPr>
          <p:cNvPr id="3" name="Shape 1"/>
          <p:cNvSpPr/>
          <p:nvPr/>
        </p:nvSpPr>
        <p:spPr>
          <a:xfrm>
            <a:off x="457200" y="1280160"/>
            <a:ext cx="5500116"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revisiones, acciones, disparadores y condiciones vencidas</a:t>
            </a:r>
            <a:endParaRPr lang="en-US" sz="1600" dirty="0"/>
          </a:p>
        </p:txBody>
      </p:sp>
      <p:sp>
        <p:nvSpPr>
          <p:cNvPr id="6" name="Shape 4"/>
          <p:cNvSpPr/>
          <p:nvPr/>
        </p:nvSpPr>
        <p:spPr>
          <a:xfrm>
            <a:off x="6231636" y="1280160"/>
            <a:ext cx="5500116"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6432804"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6432804"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consumo de la reserva frente al EMV residual</a:t>
            </a:r>
            <a:endParaRPr lang="en-US" sz="1600" dirty="0"/>
          </a:p>
        </p:txBody>
      </p:sp>
      <p:sp>
        <p:nvSpPr>
          <p:cNvPr id="9" name="Shape 7"/>
          <p:cNvSpPr/>
          <p:nvPr/>
        </p:nvSpPr>
        <p:spPr>
          <a:xfrm>
            <a:off x="457200" y="3886200"/>
            <a:ext cx="5500116"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658368"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tu regla de revisión en una línea</a:t>
            </a:r>
            <a:endParaRPr lang="en-US" sz="1600" dirty="0"/>
          </a:p>
        </p:txBody>
      </p:sp>
      <p:sp>
        <p:nvSpPr>
          <p:cNvPr id="12" name="Shape 10"/>
          <p:cNvSpPr/>
          <p:nvPr/>
        </p:nvSpPr>
        <p:spPr>
          <a:xfrm>
            <a:off x="6231636" y="3886200"/>
            <a:ext cx="5500116"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432804"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432804"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autoevaluación al final de la hoja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2</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 registro vale lo que su última revisión: REG-09 avisa cuando vence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reserva es un presupuesto vivo: propósito (CAM-02) y alerta (CAM-03)</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Lo ocurrido es un issue; lo que no cierra por números lo decide la junta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Las condiciones de la junta no dependen de la memoria (EST-12)</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Siguiente: E2E-2, el cambio y su presupuesto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(1/2)</a:t>
            </a:r>
            <a:endParaRPr lang="en-US" sz="2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Amenaza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negativo sobre un objetivo del proyecto.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Apetito de riesgo (risk appetite)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Cuánto riesgo está dispuesta a aceptar la organización en cada tipo de objetivo.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Plan que se ejecuta solo si se alcanza el disparador; se paga con la reserva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Disparador (trigger)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Señal observable que indica que el riesgo está por ocurrir y activa la 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gestión de riesgos (risk management approach)</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fija procedimiento, escalas, apetito, tolerancia, presupuesto, roles y cadencia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Exposición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Suma del EMV de las amenazas abiertas; se compara con la tolerancia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Fecha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Columna fecha_revision de riesgos.csv: cuándo se vuelve a mirar cada riesgo. Si pasa y el riesgo sigue abierto, la sanidad avisa con REG-09.</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Hoja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Ficha de un riesgo sobre la línea, con evaluación, respuesta y justificación para que decida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Algo que ya ocurrió y hay que gestionar; un riesgo materializado pasa a ocurrido y se abre un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Junta del proyecto (project board)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Ejecutiva, usuaria sénior y proveedor sénior; decide tolerancias, presupuestos y excepciones.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Límite de etapa (stage boundary)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Cierre de una etapa: auditoría, lecciones, plan de la siguiente y decisión de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Oportunidad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positivo; sus respuestas buscan aumentar su probabilidad o su impacto (explotar, mejorar).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riesgo (risk budget)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fija la junta para respuestas y contingencias: respuestas + EMV residual + provisión para no identificados.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(2/2)</a:t>
            </a:r>
            <a:endParaRPr lang="en-US" sz="24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Probabilidad × impacto (P×I)</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Puntuación de 1 a 25 que ubica un riesgo en el mapa de calor; en el caso, alto ≥ 15, medio 6–12, bajo ≤ 5.</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Propietario del riesgo (risk owner)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Persona que responde por el riesgo y acepta su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riesgos (risk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Lista de riesgos con causa, evento, efecto, evaluación, respuesta, propietario y estado; en pm-method, riesgos.csv.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Reserva de gestión (management reserve)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Fondo para lo no previsto, fuera del presupuesto de riesgo; solo la libera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Acción elegida frente a un riesgo: evitar, reducir, transferir, compartir, aceptar, escalar, explotar o mejorar.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Resumen de inicio de sesión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Resumen que pm-method agrega al abrir cada sesión (estado.py contexto): abiertos, acciones vencidas, condiciones de la junta y próxima puerta. Manda sobre la memoria.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Probabilidad e impacto que se esperan después de aplicar la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secundario (secondary risk)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nuevo que crea una respuesta; en el caso, R-007 nace de la transferencia de R-003.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Control automático de pm-method que, en cada corrida, informa hallazgos ERROR, AVISO o INFO con su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Margen fijado por la junta; superarlo es una excepción que decide un nivel superior.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monetario esperado (EMV)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Impacto en dinero por la probabilidad convertida a porcentaje (P1 10 % … P5 90 %).</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E2E-1 · Ciclo completo de gestión de riesgos</dc:title>
  <dc:subject>pm-method 2.3.0</dc:subject>
  <dc:creator>pm-method</dc:creator>
  <cp:lastModifiedBy>pm-method</cp:lastModifiedBy>
  <cp:revision>1</cp:revision>
  <dcterms:created xsi:type="dcterms:W3CDTF">2026-10-20T19:31:30Z</dcterms:created>
  <dcterms:modified xsi:type="dcterms:W3CDTF">2026-10-20T19:31:30Z</dcterms:modified>
</cp:coreProperties>
</file>