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icha del taller" id="{7e507d3a-ae33-c460-e17d-4a56472021d2}">
          <p14:sldIdLst>
            <p14:sldId id="256"/>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Abrí con la pregunta: ¿cuándo fue la última vez que alguien miró el registro de riesgos de tu proyecto? El taller muestra cómo pasar del registro que se congela después del taller al que avisa solo. La imagen es real, de la corrida del caso: cinco opciones por riesgo, comparadas por valor neto; la recomendada la marca el agente y la elige el propietario. Cerrá con los objetivos y con para quién 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Explicá la división del trabajo: el agente propone, calcula y avisa; las personas deciden y queda registrado quién decidió. Recorré las dos clases: la primera llega hasta el presupuesto de riesgo; la segunda es el control continuo, que es lo que en la práctica no se hace. Subrayá que no hace falta programar ni instalar nada para las clases, y que los beneficios citados salen del propio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CHA_PORTADA">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103120"/>
          </a:xfrm>
          <a:prstGeom prst="rect">
            <a:avLst/>
          </a:prstGeom>
          <a:solidFill>
            <a:srgbClr val="002855"/>
          </a:solidFill>
          <a:ln w="12700">
            <a:solidFill>
              <a:srgbClr val="002855"/>
            </a:solidFill>
            <a:prstDash val="solid"/>
          </a:ln>
        </p:spPr>
      </p:sp>
      <p:sp>
        <p:nvSpPr>
          <p:cNvPr id="3" name="Shape 1"/>
          <p:cNvSpPr/>
          <p:nvPr/>
        </p:nvSpPr>
        <p:spPr>
          <a:xfrm>
            <a:off x="10268712" y="329184"/>
            <a:ext cx="1463040" cy="713232"/>
          </a:xfrm>
          <a:prstGeom prst="rect">
            <a:avLst/>
          </a:prstGeom>
          <a:solidFill>
            <a:srgbClr val="002855">
              <a:alpha val="0"/>
            </a:srgbClr>
          </a:solidFill>
          <a:ln w="12700">
            <a:solidFill>
              <a:srgbClr val="7F9BB8"/>
            </a:solidFill>
            <a:prstDash val="dash"/>
          </a:ln>
        </p:spPr>
      </p:sp>
      <p:sp>
        <p:nvSpPr>
          <p:cNvPr id="4" name="Text 2"/>
          <p:cNvSpPr/>
          <p:nvPr/>
        </p:nvSpPr>
        <p:spPr>
          <a:xfrm>
            <a:off x="10268712" y="329184"/>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5" name="Text 3"/>
          <p:cNvSpPr/>
          <p:nvPr>
            <p:ph idx="103" type="title" hasCustomPrompt="1"/>
          </p:nvPr>
        </p:nvSpPr>
        <p:spPr>
          <a:xfrm>
            <a:off x="457200" y="658368"/>
            <a:ext cx="9445752" cy="841248"/>
          </a:xfrm>
          <a:prstGeom prst="rect">
            <a:avLst/>
          </a:prstGeom>
          <a:noFill/>
          <a:ln/>
        </p:spPr>
        <p:txBody>
          <a:bodyPr wrap="square" rtlCol="0"/>
          <a:lstStyle>
            <a:lvl1pPr algn="l" indent="0" marL="0">
              <a:buNone/>
              <a:defRPr lang="en-US" sz="3000" b="1" dirty="0">
                <a:solidFill>
                  <a:srgbClr val="FFFFFF"/>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6" name="Text 3"/>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696969"/>
                </a:solidFill>
              </a:rPr>
              <a:t>pm-method 2.4.0 · Webinar E2E-1 · Ficha del taller</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ICHA_DETAL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FFFFFF">
              <a:alpha val="0"/>
            </a:srgbClr>
          </a:solidFill>
          <a:ln w="12700">
            <a:solidFill>
              <a:srgbClr val="A9A9A9"/>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A9A9A9"/>
                </a:solidFill>
              </a:rPr>
              <a:t>Logo IEEE</a:t>
            </a:r>
            <a:endParaRPr lang="en-US" sz="1000" dirty="0"/>
          </a:p>
        </p:txBody>
      </p:sp>
      <p:sp>
        <p:nvSpPr>
          <p:cNvPr id="4" name="Shape 2"/>
          <p:cNvSpPr/>
          <p:nvPr/>
        </p:nvSpPr>
        <p:spPr>
          <a:xfrm>
            <a:off x="457200" y="365760"/>
            <a:ext cx="9628632" cy="713232"/>
          </a:xfrm>
          <a:prstGeom prst="rect">
            <a:avLst>
              <a:gd name="adj" fmla="val 12821"/>
            </a:avLst>
          </a:prstGeom>
          <a:solidFill>
            <a:srgbClr val="00629B"/>
          </a:solidFill>
          <a:ln/>
        </p:spPr>
      </p:sp>
      <p:sp>
        <p:nvSpPr>
          <p:cNvPr id="5" name="Text 3"/>
          <p:cNvSpPr/>
          <p:nvPr>
            <p:ph idx="103" type="title" hasCustomPrompt="1"/>
          </p:nvPr>
        </p:nvSpPr>
        <p:spPr>
          <a:xfrm>
            <a:off x="658368" y="365760"/>
            <a:ext cx="9244584" cy="713232"/>
          </a:xfrm>
          <a:prstGeom prst="rect">
            <a:avLst/>
          </a:prstGeom>
          <a:noFill/>
          <a:ln/>
        </p:spPr>
        <p:txBody>
          <a:bodyPr wrap="square" rtlCol="0"/>
          <a:lstStyle>
            <a:lvl1pPr algn="l" indent="0" marL="0">
              <a:buNone/>
              <a:defRPr lang="en-US" sz="2400" b="1" dirty="0">
                <a:solidFill>
                  <a:srgbClr val="FFFFFF"/>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6" name="Text 3"/>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696969"/>
                </a:solidFill>
              </a:rPr>
              <a:t>pm-method 2.4.0 · Webinar E2E-1 · Ficha del taller</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310896"/>
            <a:ext cx="9445752" cy="310896"/>
          </a:xfrm>
          <a:prstGeom prst="rect">
            <a:avLst/>
          </a:prstGeom>
          <a:noFill/>
          <a:ln/>
        </p:spPr>
        <p:txBody>
          <a:bodyPr wrap="square" lIns="0" tIns="0" rIns="0" bIns="0" rtlCol="0" anchor="t"/>
          <a:lstStyle/>
          <a:p>
            <a:pPr indent="0" marL="0">
              <a:buNone/>
            </a:pPr>
            <a:r>
              <a:rPr lang="en-US" sz="1400" b="1" dirty="0">
                <a:solidFill>
                  <a:srgbClr val="9FD0F0"/>
                </a:solidFill>
                <a:latin typeface="Arial" pitchFamily="34" charset="0"/>
                <a:ea typeface="Arial" pitchFamily="34" charset="-122"/>
                <a:cs typeface="Arial" pitchFamily="34" charset="-120"/>
              </a:rPr>
              <a:t>Taller · 2 clases de 90 minutos · Webinar pm-method 2.4.0 · E2E-1</a:t>
            </a:r>
            <a:endParaRPr lang="en-US" sz="1400" dirty="0"/>
          </a:p>
        </p:txBody>
      </p:sp>
      <p:sp>
        <p:nvSpPr>
          <p:cNvPr id="3" name="Text 3"/>
          <p:cNvSpPr/>
          <p:nvPr>
            <p:ph idx="103" type="title" hasCustomPrompt="1"/>
          </p:nvPr>
        </p:nvSpPr>
        <p:spPr>
          <a:xfrm>
            <a:off x="457200" y="658368"/>
            <a:ext cx="9445752" cy="841248"/>
          </a:xfrm>
          <a:prstGeom prst="rect">
            <a:avLst/>
          </a:prstGeom>
          <a:noFill/>
          <a:ln/>
        </p:spPr>
        <p:txBody>
          <a:bodyPr wrap="square" lIns="0" tIns="0" rIns="0" bIns="0" rtlCol="0" anchor="ctr"/>
          <a:lstStyle/>
          <a:p>
            <a:pPr algn="l" indent="0" marL="0">
              <a:buNone/>
            </a:pPr>
            <a:r>
              <a:rPr lang="en-US" sz="2750" b="1" dirty="0">
                <a:solidFill>
                  <a:srgbClr val="FFFFFF"/>
                </a:solidFill>
                <a:latin typeface="Arial" pitchFamily="34" charset="0"/>
                <a:ea typeface="Arial" pitchFamily="34" charset="-122"/>
                <a:cs typeface="Arial" pitchFamily="34" charset="-120"/>
              </a:rPr>
              <a:t>Que el registro de riesgos no muera después del taller</a:t>
            </a:r>
            <a:endParaRPr lang="en-US" sz="3000" dirty="0"/>
          </a:p>
        </p:txBody>
      </p:sp>
      <p:sp>
        <p:nvSpPr>
          <p:cNvPr id="4" name="Text 2"/>
          <p:cNvSpPr txBox="1"/>
          <p:nvPr/>
        </p:nvSpPr>
        <p:spPr>
          <a:xfrm>
            <a:off x="457200" y="1572768"/>
            <a:ext cx="11274552" cy="475488"/>
          </a:xfrm>
          <a:prstGeom prst="rect">
            <a:avLst/>
          </a:prstGeom>
          <a:noFill/>
          <a:ln/>
        </p:spPr>
        <p:txBody>
          <a:bodyPr wrap="square" lIns="0" tIns="0" rIns="0" bIns="0" rtlCol="0" anchor="t"/>
          <a:lstStyle/>
          <a:p>
            <a:pPr indent="0" marL="0">
              <a:buNone/>
            </a:pPr>
            <a:r>
              <a:rPr lang="en-US" sz="1550" dirty="0">
                <a:solidFill>
                  <a:srgbClr val="D6E4F0"/>
                </a:solidFill>
                <a:latin typeface="Arial" pitchFamily="34" charset="0"/>
                <a:ea typeface="Arial" pitchFamily="34" charset="-122"/>
                <a:cs typeface="Arial" pitchFamily="34" charset="-120"/>
              </a:rPr>
              <a:t>Elegí cada respuesta comparando opciones por su valor neto, escribí la contingencia antes de necesitarla y sabé cada día qué hay que decidir.</a:t>
            </a:r>
            <a:endParaRPr lang="en-US" sz="1600" dirty="0"/>
          </a:p>
        </p:txBody>
      </p:sp>
      <p:sp>
        <p:nvSpPr>
          <p:cNvPr id="5" name="Text 3"/>
          <p:cNvSpPr txBox="1"/>
          <p:nvPr/>
        </p:nvSpPr>
        <p:spPr>
          <a:xfrm>
            <a:off x="457200" y="2304288"/>
            <a:ext cx="6355080" cy="329184"/>
          </a:xfrm>
          <a:prstGeom prst="rect">
            <a:avLst/>
          </a:prstGeom>
          <a:noFill/>
          <a:ln/>
        </p:spPr>
        <p:txBody>
          <a:bodyPr wrap="square" lIns="0" tIns="0" rIns="0" bIns="0" rtlCol="0" anchor="t"/>
          <a:lstStyle/>
          <a:p>
            <a:pPr indent="0" marL="0">
              <a:buNone/>
            </a:pPr>
            <a:r>
              <a:rPr lang="en-US" sz="1600" b="1" dirty="0">
                <a:solidFill>
                  <a:srgbClr val="B5651D"/>
                </a:solidFill>
                <a:latin typeface="Arial" pitchFamily="34" charset="0"/>
                <a:ea typeface="Arial" pitchFamily="34" charset="-122"/>
                <a:cs typeface="Arial" pitchFamily="34" charset="-120"/>
              </a:rPr>
              <a:t>Qué vas a poder hacer</a:t>
            </a:r>
            <a:endParaRPr lang="en-US" sz="1600" dirty="0"/>
          </a:p>
        </p:txBody>
      </p:sp>
      <p:sp>
        <p:nvSpPr>
          <p:cNvPr id="6" name="Shape 4"/>
          <p:cNvSpPr/>
          <p:nvPr/>
        </p:nvSpPr>
        <p:spPr>
          <a:xfrm>
            <a:off x="457200" y="2688336"/>
            <a:ext cx="6355080" cy="373075"/>
          </a:xfrm>
          <a:prstGeom prst="roundRect">
            <a:avLst>
              <a:gd name="adj" fmla="val 14706"/>
            </a:avLst>
          </a:prstGeom>
          <a:solidFill>
            <a:srgbClr val="E9F1F8"/>
          </a:solidFill>
          <a:ln w="12700">
            <a:solidFill>
              <a:srgbClr val="E9F1F8"/>
            </a:solidFill>
            <a:prstDash val="solid"/>
          </a:ln>
        </p:spPr>
      </p:sp>
      <p:sp>
        <p:nvSpPr>
          <p:cNvPr id="7" name="Text 5"/>
          <p:cNvSpPr txBox="1"/>
          <p:nvPr/>
        </p:nvSpPr>
        <p:spPr>
          <a:xfrm>
            <a:off x="548640" y="2688336"/>
            <a:ext cx="384048" cy="373075"/>
          </a:xfrm>
          <a:prstGeom prst="rect">
            <a:avLst/>
          </a:prstGeom>
          <a:noFill/>
          <a:ln/>
        </p:spPr>
        <p:txBody>
          <a:bodyPr wrap="square" lIns="0" tIns="0" rIns="0" bIns="0" rtlCol="0" anchor="ctr"/>
          <a:lstStyle/>
          <a:p>
            <a:pPr algn="ctr" indent="0" marL="0">
              <a:buNone/>
            </a:pPr>
            <a:r>
              <a:rPr lang="en-US" sz="1800" b="1" dirty="0">
                <a:solidFill>
                  <a:srgbClr val="00629B"/>
                </a:solidFill>
                <a:latin typeface="Arial" pitchFamily="34" charset="0"/>
                <a:ea typeface="Arial" pitchFamily="34" charset="-122"/>
                <a:cs typeface="Arial" pitchFamily="34" charset="-120"/>
              </a:rPr>
              <a:t>1</a:t>
            </a:r>
            <a:endParaRPr lang="en-US" sz="1800" dirty="0"/>
          </a:p>
        </p:txBody>
      </p:sp>
      <p:sp>
        <p:nvSpPr>
          <p:cNvPr id="8" name="Text 6"/>
          <p:cNvSpPr txBox="1"/>
          <p:nvPr/>
        </p:nvSpPr>
        <p:spPr>
          <a:xfrm>
            <a:off x="1005840" y="2715768"/>
            <a:ext cx="5696712" cy="318211"/>
          </a:xfrm>
          <a:prstGeom prst="rect">
            <a:avLst/>
          </a:prstGeom>
          <a:noFill/>
          <a:ln/>
        </p:spPr>
        <p:txBody>
          <a:bodyPr wrap="square" lIns="0" tIns="0" rIns="0" bIns="0" rtlCol="0" anchor="ctr"/>
          <a:lstStyle/>
          <a:p>
            <a:pPr indent="0" marL="0">
              <a:buNone/>
            </a:pPr>
            <a:r>
              <a:rPr lang="en-US" sz="1200" dirty="0">
                <a:solidFill>
                  <a:srgbClr val="272425"/>
                </a:solidFill>
                <a:latin typeface="Arial" pitchFamily="34" charset="0"/>
                <a:ea typeface="Arial" pitchFamily="34" charset="-122"/>
                <a:cs typeface="Arial" pitchFamily="34" charset="-120"/>
              </a:rPr>
              <a:t>Explicar qué decide la junta antes del taller: apetito, tolerancia, reserva y quién la gasta</a:t>
            </a:r>
            <a:endParaRPr lang="en-US" sz="1600" dirty="0"/>
          </a:p>
        </p:txBody>
      </p:sp>
      <p:sp>
        <p:nvSpPr>
          <p:cNvPr id="9" name="Shape 7"/>
          <p:cNvSpPr/>
          <p:nvPr/>
        </p:nvSpPr>
        <p:spPr>
          <a:xfrm>
            <a:off x="457200" y="3134563"/>
            <a:ext cx="6355080" cy="373075"/>
          </a:xfrm>
          <a:prstGeom prst="roundRect">
            <a:avLst>
              <a:gd name="adj" fmla="val 14706"/>
            </a:avLst>
          </a:prstGeom>
          <a:solidFill>
            <a:srgbClr val="F4F6F8"/>
          </a:solidFill>
          <a:ln w="12700">
            <a:solidFill>
              <a:srgbClr val="F4F6F8"/>
            </a:solidFill>
            <a:prstDash val="solid"/>
          </a:ln>
        </p:spPr>
      </p:sp>
      <p:sp>
        <p:nvSpPr>
          <p:cNvPr id="10" name="Text 8"/>
          <p:cNvSpPr txBox="1"/>
          <p:nvPr/>
        </p:nvSpPr>
        <p:spPr>
          <a:xfrm>
            <a:off x="548640" y="3134563"/>
            <a:ext cx="384048" cy="373075"/>
          </a:xfrm>
          <a:prstGeom prst="rect">
            <a:avLst/>
          </a:prstGeom>
          <a:noFill/>
          <a:ln/>
        </p:spPr>
        <p:txBody>
          <a:bodyPr wrap="square" lIns="0" tIns="0" rIns="0" bIns="0" rtlCol="0" anchor="ctr"/>
          <a:lstStyle/>
          <a:p>
            <a:pPr algn="ctr" indent="0" marL="0">
              <a:buNone/>
            </a:pPr>
            <a:r>
              <a:rPr lang="en-US" sz="1800" b="1" dirty="0">
                <a:solidFill>
                  <a:srgbClr val="00629B"/>
                </a:solidFill>
                <a:latin typeface="Arial" pitchFamily="34" charset="0"/>
                <a:ea typeface="Arial" pitchFamily="34" charset="-122"/>
                <a:cs typeface="Arial" pitchFamily="34" charset="-120"/>
              </a:rPr>
              <a:t>2</a:t>
            </a:r>
            <a:endParaRPr lang="en-US" sz="1800" dirty="0"/>
          </a:p>
        </p:txBody>
      </p:sp>
      <p:sp>
        <p:nvSpPr>
          <p:cNvPr id="11" name="Text 9"/>
          <p:cNvSpPr txBox="1"/>
          <p:nvPr/>
        </p:nvSpPr>
        <p:spPr>
          <a:xfrm>
            <a:off x="1005840" y="3161995"/>
            <a:ext cx="5696712" cy="318211"/>
          </a:xfrm>
          <a:prstGeom prst="rect">
            <a:avLst/>
          </a:prstGeom>
          <a:noFill/>
          <a:ln/>
        </p:spPr>
        <p:txBody>
          <a:bodyPr wrap="square" lIns="0" tIns="0" rIns="0" bIns="0" rtlCol="0" anchor="ctr"/>
          <a:lstStyle/>
          <a:p>
            <a:pPr indent="0" marL="0">
              <a:buNone/>
            </a:pPr>
            <a:r>
              <a:rPr lang="en-US" sz="1200" dirty="0">
                <a:solidFill>
                  <a:srgbClr val="272425"/>
                </a:solidFill>
                <a:latin typeface="Arial" pitchFamily="34" charset="0"/>
                <a:ea typeface="Arial" pitchFamily="34" charset="-122"/>
                <a:cs typeface="Arial" pitchFamily="34" charset="-120"/>
              </a:rPr>
              <a:t>Identificar riesgos con cita de origen desde la especificación, las reuniones, el tracker y los artefactos</a:t>
            </a:r>
            <a:endParaRPr lang="en-US" sz="1600" dirty="0"/>
          </a:p>
        </p:txBody>
      </p:sp>
      <p:sp>
        <p:nvSpPr>
          <p:cNvPr id="12" name="Shape 10"/>
          <p:cNvSpPr/>
          <p:nvPr/>
        </p:nvSpPr>
        <p:spPr>
          <a:xfrm>
            <a:off x="457200" y="3580790"/>
            <a:ext cx="6355080" cy="373075"/>
          </a:xfrm>
          <a:prstGeom prst="roundRect">
            <a:avLst>
              <a:gd name="adj" fmla="val 14706"/>
            </a:avLst>
          </a:prstGeom>
          <a:solidFill>
            <a:srgbClr val="E9F1F8"/>
          </a:solidFill>
          <a:ln w="12700">
            <a:solidFill>
              <a:srgbClr val="E9F1F8"/>
            </a:solidFill>
            <a:prstDash val="solid"/>
          </a:ln>
        </p:spPr>
      </p:sp>
      <p:sp>
        <p:nvSpPr>
          <p:cNvPr id="13" name="Text 11"/>
          <p:cNvSpPr txBox="1"/>
          <p:nvPr/>
        </p:nvSpPr>
        <p:spPr>
          <a:xfrm>
            <a:off x="548640" y="3580790"/>
            <a:ext cx="384048" cy="373075"/>
          </a:xfrm>
          <a:prstGeom prst="rect">
            <a:avLst/>
          </a:prstGeom>
          <a:noFill/>
          <a:ln/>
        </p:spPr>
        <p:txBody>
          <a:bodyPr wrap="square" lIns="0" tIns="0" rIns="0" bIns="0" rtlCol="0" anchor="ctr"/>
          <a:lstStyle/>
          <a:p>
            <a:pPr algn="ctr" indent="0" marL="0">
              <a:buNone/>
            </a:pPr>
            <a:r>
              <a:rPr lang="en-US" sz="1800" b="1" dirty="0">
                <a:solidFill>
                  <a:srgbClr val="00629B"/>
                </a:solidFill>
                <a:latin typeface="Arial" pitchFamily="34" charset="0"/>
                <a:ea typeface="Arial" pitchFamily="34" charset="-122"/>
                <a:cs typeface="Arial" pitchFamily="34" charset="-120"/>
              </a:rPr>
              <a:t>3</a:t>
            </a:r>
            <a:endParaRPr lang="en-US" sz="1800" dirty="0"/>
          </a:p>
        </p:txBody>
      </p:sp>
      <p:sp>
        <p:nvSpPr>
          <p:cNvPr id="14" name="Text 12"/>
          <p:cNvSpPr txBox="1"/>
          <p:nvPr/>
        </p:nvSpPr>
        <p:spPr>
          <a:xfrm>
            <a:off x="1005840" y="3608222"/>
            <a:ext cx="5696712" cy="318211"/>
          </a:xfrm>
          <a:prstGeom prst="rect">
            <a:avLst/>
          </a:prstGeom>
          <a:noFill/>
          <a:ln/>
        </p:spPr>
        <p:txBody>
          <a:bodyPr wrap="square" lIns="0" tIns="0" rIns="0" bIns="0" rtlCol="0" anchor="ctr"/>
          <a:lstStyle/>
          <a:p>
            <a:pPr indent="0" marL="0">
              <a:buNone/>
            </a:pPr>
            <a:r>
              <a:rPr lang="en-US" sz="1200" dirty="0">
                <a:solidFill>
                  <a:srgbClr val="272425"/>
                </a:solidFill>
                <a:latin typeface="Arial" pitchFamily="34" charset="0"/>
                <a:ea typeface="Arial" pitchFamily="34" charset="-122"/>
                <a:cs typeface="Arial" pitchFamily="34" charset="-120"/>
              </a:rPr>
              <a:t>Comparar las opciones de respuesta de un riesgo alto por su valor neto y justificar la elección por escrito</a:t>
            </a:r>
            <a:endParaRPr lang="en-US" sz="1600" dirty="0"/>
          </a:p>
        </p:txBody>
      </p:sp>
      <p:sp>
        <p:nvSpPr>
          <p:cNvPr id="15" name="Shape 13"/>
          <p:cNvSpPr/>
          <p:nvPr/>
        </p:nvSpPr>
        <p:spPr>
          <a:xfrm>
            <a:off x="457200" y="4027018"/>
            <a:ext cx="6355080" cy="373075"/>
          </a:xfrm>
          <a:prstGeom prst="roundRect">
            <a:avLst>
              <a:gd name="adj" fmla="val 14706"/>
            </a:avLst>
          </a:prstGeom>
          <a:solidFill>
            <a:srgbClr val="F4F6F8"/>
          </a:solidFill>
          <a:ln w="12700">
            <a:solidFill>
              <a:srgbClr val="F4F6F8"/>
            </a:solidFill>
            <a:prstDash val="solid"/>
          </a:ln>
        </p:spPr>
      </p:sp>
      <p:sp>
        <p:nvSpPr>
          <p:cNvPr id="16" name="Text 14"/>
          <p:cNvSpPr txBox="1"/>
          <p:nvPr/>
        </p:nvSpPr>
        <p:spPr>
          <a:xfrm>
            <a:off x="548640" y="4027018"/>
            <a:ext cx="384048" cy="373075"/>
          </a:xfrm>
          <a:prstGeom prst="rect">
            <a:avLst/>
          </a:prstGeom>
          <a:noFill/>
          <a:ln/>
        </p:spPr>
        <p:txBody>
          <a:bodyPr wrap="square" lIns="0" tIns="0" rIns="0" bIns="0" rtlCol="0" anchor="ctr"/>
          <a:lstStyle/>
          <a:p>
            <a:pPr algn="ctr" indent="0" marL="0">
              <a:buNone/>
            </a:pPr>
            <a:r>
              <a:rPr lang="en-US" sz="1800" b="1" dirty="0">
                <a:solidFill>
                  <a:srgbClr val="00629B"/>
                </a:solidFill>
                <a:latin typeface="Arial" pitchFamily="34" charset="0"/>
                <a:ea typeface="Arial" pitchFamily="34" charset="-122"/>
                <a:cs typeface="Arial" pitchFamily="34" charset="-120"/>
              </a:rPr>
              <a:t>4</a:t>
            </a:r>
            <a:endParaRPr lang="en-US" sz="1800" dirty="0"/>
          </a:p>
        </p:txBody>
      </p:sp>
      <p:sp>
        <p:nvSpPr>
          <p:cNvPr id="17" name="Text 15"/>
          <p:cNvSpPr txBox="1"/>
          <p:nvPr/>
        </p:nvSpPr>
        <p:spPr>
          <a:xfrm>
            <a:off x="1005840" y="4054450"/>
            <a:ext cx="5696712" cy="318211"/>
          </a:xfrm>
          <a:prstGeom prst="rect">
            <a:avLst/>
          </a:prstGeom>
          <a:noFill/>
          <a:ln/>
        </p:spPr>
        <p:txBody>
          <a:bodyPr wrap="square" lIns="0" tIns="0" rIns="0" bIns="0" rtlCol="0" anchor="ctr"/>
          <a:lstStyle/>
          <a:p>
            <a:pPr indent="0" marL="0">
              <a:buNone/>
            </a:pPr>
            <a:r>
              <a:rPr lang="en-US" sz="1200" dirty="0">
                <a:solidFill>
                  <a:srgbClr val="272425"/>
                </a:solidFill>
                <a:latin typeface="Arial" pitchFamily="34" charset="0"/>
                <a:ea typeface="Arial" pitchFamily="34" charset="-122"/>
                <a:cs typeface="Arial" pitchFamily="34" charset="-120"/>
              </a:rPr>
              <a:t>Escribir un plan de contingencia listo para activar y calcular el presupuesto de riesgo con fórmula</a:t>
            </a:r>
            <a:endParaRPr lang="en-US" sz="1600" dirty="0"/>
          </a:p>
        </p:txBody>
      </p:sp>
      <p:sp>
        <p:nvSpPr>
          <p:cNvPr id="18" name="Shape 16"/>
          <p:cNvSpPr/>
          <p:nvPr/>
        </p:nvSpPr>
        <p:spPr>
          <a:xfrm>
            <a:off x="457200" y="4473245"/>
            <a:ext cx="6355080" cy="373075"/>
          </a:xfrm>
          <a:prstGeom prst="roundRect">
            <a:avLst>
              <a:gd name="adj" fmla="val 14706"/>
            </a:avLst>
          </a:prstGeom>
          <a:solidFill>
            <a:srgbClr val="E9F1F8"/>
          </a:solidFill>
          <a:ln w="12700">
            <a:solidFill>
              <a:srgbClr val="E9F1F8"/>
            </a:solidFill>
            <a:prstDash val="solid"/>
          </a:ln>
        </p:spPr>
      </p:sp>
      <p:sp>
        <p:nvSpPr>
          <p:cNvPr id="19" name="Text 17"/>
          <p:cNvSpPr txBox="1"/>
          <p:nvPr/>
        </p:nvSpPr>
        <p:spPr>
          <a:xfrm>
            <a:off x="548640" y="4473245"/>
            <a:ext cx="384048" cy="373075"/>
          </a:xfrm>
          <a:prstGeom prst="rect">
            <a:avLst/>
          </a:prstGeom>
          <a:noFill/>
          <a:ln/>
        </p:spPr>
        <p:txBody>
          <a:bodyPr wrap="square" lIns="0" tIns="0" rIns="0" bIns="0" rtlCol="0" anchor="ctr"/>
          <a:lstStyle/>
          <a:p>
            <a:pPr algn="ctr" indent="0" marL="0">
              <a:buNone/>
            </a:pPr>
            <a:r>
              <a:rPr lang="en-US" sz="1800" b="1" dirty="0">
                <a:solidFill>
                  <a:srgbClr val="00629B"/>
                </a:solidFill>
                <a:latin typeface="Arial" pitchFamily="34" charset="0"/>
                <a:ea typeface="Arial" pitchFamily="34" charset="-122"/>
                <a:cs typeface="Arial" pitchFamily="34" charset="-120"/>
              </a:rPr>
              <a:t>5</a:t>
            </a:r>
            <a:endParaRPr lang="en-US" sz="1800" dirty="0"/>
          </a:p>
        </p:txBody>
      </p:sp>
      <p:sp>
        <p:nvSpPr>
          <p:cNvPr id="20" name="Text 18"/>
          <p:cNvSpPr txBox="1"/>
          <p:nvPr/>
        </p:nvSpPr>
        <p:spPr>
          <a:xfrm>
            <a:off x="1005840" y="4500677"/>
            <a:ext cx="5696712" cy="318211"/>
          </a:xfrm>
          <a:prstGeom prst="rect">
            <a:avLst/>
          </a:prstGeom>
          <a:noFill/>
          <a:ln/>
        </p:spPr>
        <p:txBody>
          <a:bodyPr wrap="square" lIns="0" tIns="0" rIns="0" bIns="0" rtlCol="0" anchor="ctr"/>
          <a:lstStyle/>
          <a:p>
            <a:pPr indent="0" marL="0">
              <a:buNone/>
            </a:pPr>
            <a:r>
              <a:rPr lang="en-US" sz="1200" dirty="0">
                <a:solidFill>
                  <a:srgbClr val="272425"/>
                </a:solidFill>
                <a:latin typeface="Arial" pitchFamily="34" charset="0"/>
                <a:ea typeface="Arial" pitchFamily="34" charset="-122"/>
                <a:cs typeface="Arial" pitchFamily="34" charset="-120"/>
              </a:rPr>
              <a:t>Reconocer un registro que se dejó de revisar y ordenar con el radar qué decidir primero</a:t>
            </a:r>
            <a:endParaRPr lang="en-US" sz="1600" dirty="0"/>
          </a:p>
        </p:txBody>
      </p:sp>
      <p:sp>
        <p:nvSpPr>
          <p:cNvPr id="21" name="Text 19"/>
          <p:cNvSpPr txBox="1"/>
          <p:nvPr/>
        </p:nvSpPr>
        <p:spPr>
          <a:xfrm>
            <a:off x="457200" y="4992624"/>
            <a:ext cx="6355080" cy="329184"/>
          </a:xfrm>
          <a:prstGeom prst="rect">
            <a:avLst/>
          </a:prstGeom>
          <a:noFill/>
          <a:ln/>
        </p:spPr>
        <p:txBody>
          <a:bodyPr wrap="square" lIns="0" tIns="0" rIns="0" bIns="0" rtlCol="0" anchor="t"/>
          <a:lstStyle/>
          <a:p>
            <a:pPr indent="0" marL="0">
              <a:buNone/>
            </a:pPr>
            <a:r>
              <a:rPr lang="en-US" sz="1600" b="1" dirty="0">
                <a:solidFill>
                  <a:srgbClr val="B5651D"/>
                </a:solidFill>
                <a:latin typeface="Arial" pitchFamily="34" charset="0"/>
                <a:ea typeface="Arial" pitchFamily="34" charset="-122"/>
                <a:cs typeface="Arial" pitchFamily="34" charset="-120"/>
              </a:rPr>
              <a:t>Para quién es</a:t>
            </a:r>
            <a:endParaRPr lang="en-US" sz="1600" dirty="0"/>
          </a:p>
        </p:txBody>
      </p:sp>
      <p:sp>
        <p:nvSpPr>
          <p:cNvPr id="22" name="Text 20"/>
          <p:cNvSpPr txBox="1"/>
          <p:nvPr/>
        </p:nvSpPr>
        <p:spPr>
          <a:xfrm>
            <a:off x="457200" y="5358384"/>
            <a:ext cx="6355080" cy="905256"/>
          </a:xfrm>
          <a:prstGeom prst="rect">
            <a:avLst/>
          </a:prstGeom>
          <a:noFill/>
          <a:ln/>
        </p:spPr>
        <p:txBody>
          <a:bodyPr wrap="square" lIns="0" tIns="0" rIns="0" bIns="0" rtlCol="0" anchor="t"/>
          <a:lstStyle/>
          <a:p>
            <a:pPr indent="0" marL="0">
              <a:spcAft>
                <a:spcPts val="600"/>
              </a:spcAft>
              <a:buNone/>
            </a:pPr>
            <a:r>
              <a:rPr lang="en-US" sz="1200" b="1" dirty="0">
                <a:solidFill>
                  <a:srgbClr val="00629B"/>
                </a:solidFill>
                <a:latin typeface="Arial" pitchFamily="34" charset="0"/>
                <a:ea typeface="Arial" pitchFamily="34" charset="-122"/>
                <a:cs typeface="Arial" pitchFamily="34" charset="-120"/>
              </a:rPr>
              <a:t>▪  </a:t>
            </a:r>
            <a:pPr indent="0" marL="0">
              <a:spcAft>
                <a:spcPts val="600"/>
              </a:spcAft>
              <a:buNone/>
            </a:pPr>
            <a:r>
              <a:rPr lang="en-US" sz="1200" dirty="0">
                <a:solidFill>
                  <a:srgbClr val="272425"/>
                </a:solidFill>
                <a:latin typeface="Arial" pitchFamily="34" charset="0"/>
                <a:ea typeface="Arial" pitchFamily="34" charset="-122"/>
                <a:cs typeface="Arial" pitchFamily="34" charset="-120"/>
              </a:rPr>
              <a:t>Gestores de proyecto con algo de PMBOK o PRINCE2 que llevan un registro de riesgos</a:t>
            </a:r>
            <a:endParaRPr lang="en-US" sz="1600" dirty="0"/>
          </a:p>
          <a:p>
            <a:pPr indent="0" marL="0">
              <a:spcAft>
                <a:spcPts val="600"/>
              </a:spcAft>
              <a:buNone/>
            </a:pPr>
            <a:r>
              <a:rPr lang="en-US" sz="1200" b="1" dirty="0">
                <a:solidFill>
                  <a:srgbClr val="00629B"/>
                </a:solidFill>
                <a:latin typeface="Arial" pitchFamily="34" charset="0"/>
                <a:ea typeface="Arial" pitchFamily="34" charset="-122"/>
                <a:cs typeface="Arial" pitchFamily="34" charset="-120"/>
              </a:rPr>
              <a:t>▪  </a:t>
            </a:r>
            <a:pPr indent="0" marL="0">
              <a:spcAft>
                <a:spcPts val="600"/>
              </a:spcAft>
              <a:buNone/>
            </a:pPr>
            <a:r>
              <a:rPr lang="en-US" sz="1200" dirty="0">
                <a:solidFill>
                  <a:srgbClr val="272425"/>
                </a:solidFill>
                <a:latin typeface="Arial" pitchFamily="34" charset="0"/>
                <a:ea typeface="Arial" pitchFamily="34" charset="-122"/>
                <a:cs typeface="Arial" pitchFamily="34" charset="-120"/>
              </a:rPr>
              <a:t>Líderes de negocio y miembros de juntas que aprueban reservas y deciden escalamientos</a:t>
            </a:r>
            <a:endParaRPr lang="en-US" sz="1600" dirty="0"/>
          </a:p>
          <a:p>
            <a:pPr indent="0" marL="0">
              <a:spcAft>
                <a:spcPts val="600"/>
              </a:spcAft>
              <a:buNone/>
            </a:pPr>
            <a:r>
              <a:rPr lang="en-US" sz="1200" b="1" dirty="0">
                <a:solidFill>
                  <a:srgbClr val="00629B"/>
                </a:solidFill>
                <a:latin typeface="Arial" pitchFamily="34" charset="0"/>
                <a:ea typeface="Arial" pitchFamily="34" charset="-122"/>
                <a:cs typeface="Arial" pitchFamily="34" charset="-120"/>
              </a:rPr>
              <a:t>▪  </a:t>
            </a:r>
            <a:pPr indent="0" marL="0">
              <a:spcAft>
                <a:spcPts val="600"/>
              </a:spcAft>
              <a:buNone/>
            </a:pPr>
            <a:r>
              <a:rPr lang="en-US" sz="1200" dirty="0">
                <a:solidFill>
                  <a:srgbClr val="272425"/>
                </a:solidFill>
                <a:latin typeface="Arial" pitchFamily="34" charset="0"/>
                <a:ea typeface="Arial" pitchFamily="34" charset="-122"/>
                <a:cs typeface="Arial" pitchFamily="34" charset="-120"/>
              </a:rPr>
              <a:t>Equipos de PMO que revisan cómo se controla el riesgo en los proyectos</a:t>
            </a:r>
            <a:endParaRPr lang="en-US" sz="1600" dirty="0"/>
          </a:p>
        </p:txBody>
      </p:sp>
      <p:pic>
        <p:nvPicPr>
          <p:cNvPr id="23" name="Image 0" descr="Del caso: para R-001 conviene reducir; para R-003, preparar la contingencia. Decide el propietario.">    </p:cNvPr>
          <p:cNvPicPr>
            <a:picLocks noChangeAspect="1"/>
          </p:cNvPicPr>
          <p:nvPr/>
        </p:nvPicPr>
        <p:blipFill>
          <a:blip r:embed="rId1"/>
          <a:stretch>
            <a:fillRect/>
          </a:stretch>
        </p:blipFill>
        <p:spPr>
          <a:xfrm>
            <a:off x="7132320" y="2304288"/>
            <a:ext cx="4599432" cy="2587181"/>
          </a:xfrm>
          <a:prstGeom prst="rect">
            <a:avLst/>
          </a:prstGeom>
        </p:spPr>
      </p:pic>
      <p:sp>
        <p:nvSpPr>
          <p:cNvPr id="24" name="Shape 21"/>
          <p:cNvSpPr/>
          <p:nvPr/>
        </p:nvSpPr>
        <p:spPr>
          <a:xfrm>
            <a:off x="7132320" y="2304288"/>
            <a:ext cx="4599432" cy="2587181"/>
          </a:xfrm>
          <a:prstGeom prst="rect">
            <a:avLst/>
          </a:prstGeom>
          <a:solidFill>
            <a:srgbClr val="FFFFFF">
              <a:alpha val="0"/>
            </a:srgbClr>
          </a:solidFill>
          <a:ln w="9525">
            <a:solidFill>
              <a:srgbClr val="E2E2E6"/>
            </a:solidFill>
            <a:prstDash val="solid"/>
          </a:ln>
        </p:spPr>
      </p:sp>
      <p:sp>
        <p:nvSpPr>
          <p:cNvPr id="25" name="Text 22"/>
          <p:cNvSpPr txBox="1"/>
          <p:nvPr/>
        </p:nvSpPr>
        <p:spPr>
          <a:xfrm>
            <a:off x="7132320" y="4946333"/>
            <a:ext cx="4599432" cy="420624"/>
          </a:xfrm>
          <a:prstGeom prst="rect">
            <a:avLst/>
          </a:prstGeom>
          <a:noFill/>
          <a:ln/>
        </p:spPr>
        <p:txBody>
          <a:bodyPr wrap="square" lIns="0" tIns="0" rIns="0" bIns="0" rtlCol="0" anchor="t"/>
          <a:lstStyle/>
          <a:p>
            <a:pPr indent="0" marL="0">
              <a:buNone/>
            </a:pPr>
            <a:r>
              <a:rPr lang="en-US" sz="1200" i="1" dirty="0">
                <a:solidFill>
                  <a:srgbClr val="696969"/>
                </a:solidFill>
                <a:latin typeface="Arial" pitchFamily="34" charset="0"/>
                <a:ea typeface="Arial" pitchFamily="34" charset="-122"/>
                <a:cs typeface="Arial" pitchFamily="34" charset="-120"/>
              </a:rPr>
              <a:t>Del caso: para R-001 conviene reducir; para R-003, preparar la contingencia. Decide el propietario.</a:t>
            </a:r>
            <a:endParaRPr lang="en-US" sz="1600" dirty="0"/>
          </a:p>
        </p:txBody>
      </p:sp>
      <p:sp>
        <p:nvSpPr>
          <p:cNvPr id="26" name="Shape 23"/>
          <p:cNvSpPr/>
          <p:nvPr/>
        </p:nvSpPr>
        <p:spPr>
          <a:xfrm>
            <a:off x="7132320" y="5458396"/>
            <a:ext cx="4599432" cy="805244"/>
          </a:xfrm>
          <a:prstGeom prst="roundRect">
            <a:avLst>
              <a:gd name="adj" fmla="val 9084"/>
            </a:avLst>
          </a:prstGeom>
          <a:solidFill>
            <a:srgbClr val="002855"/>
          </a:solidFill>
          <a:ln w="12700">
            <a:solidFill>
              <a:srgbClr val="002855"/>
            </a:solidFill>
            <a:prstDash val="solid"/>
          </a:ln>
        </p:spPr>
      </p:sp>
      <p:sp>
        <p:nvSpPr>
          <p:cNvPr id="27" name="Text 24"/>
          <p:cNvSpPr txBox="1"/>
          <p:nvPr/>
        </p:nvSpPr>
        <p:spPr>
          <a:xfrm>
            <a:off x="7315200" y="5549836"/>
            <a:ext cx="4233672" cy="310896"/>
          </a:xfrm>
          <a:prstGeom prst="rect">
            <a:avLst/>
          </a:prstGeom>
          <a:noFill/>
          <a:ln/>
        </p:spPr>
        <p:txBody>
          <a:bodyPr wrap="square" lIns="0" tIns="0" rIns="0" bIns="0" rtlCol="0" anchor="t"/>
          <a:lstStyle/>
          <a:p>
            <a:pPr indent="0" marL="0">
              <a:buNone/>
            </a:pPr>
            <a:r>
              <a:rPr lang="en-US" sz="1600" b="1" dirty="0">
                <a:solidFill>
                  <a:srgbClr val="9FD0F0"/>
                </a:solidFill>
                <a:latin typeface="Arial" pitchFamily="34" charset="0"/>
                <a:ea typeface="Arial" pitchFamily="34" charset="-122"/>
                <a:cs typeface="Arial" pitchFamily="34" charset="-120"/>
              </a:rPr>
              <a:t>3 h en total · 2 clases de 90 minutos</a:t>
            </a:r>
            <a:endParaRPr lang="en-US" sz="1600" dirty="0"/>
          </a:p>
        </p:txBody>
      </p:sp>
      <p:sp>
        <p:nvSpPr>
          <p:cNvPr id="28" name="Text 25"/>
          <p:cNvSpPr txBox="1"/>
          <p:nvPr/>
        </p:nvSpPr>
        <p:spPr>
          <a:xfrm>
            <a:off x="7315200" y="5860733"/>
            <a:ext cx="4233672" cy="329756"/>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Fecha, horario, lugar o enlace e inscripción: a completar por quien organiza.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Cómo es el taller y qué te llevás</a:t>
            </a:r>
            <a:endParaRPr lang="en-US" sz="2400" dirty="0"/>
          </a:p>
        </p:txBody>
      </p:sp>
      <p:sp>
        <p:nvSpPr>
          <p:cNvPr id="3" name="Text 1"/>
          <p:cNvSpPr txBox="1"/>
          <p:nvPr/>
        </p:nvSpPr>
        <p:spPr>
          <a:xfrm>
            <a:off x="457200" y="1207008"/>
            <a:ext cx="5500116" cy="292608"/>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Cómo trabajás con el agente</a:t>
            </a:r>
            <a:endParaRPr lang="en-US" sz="1600" dirty="0"/>
          </a:p>
        </p:txBody>
      </p:sp>
      <p:sp>
        <p:nvSpPr>
          <p:cNvPr id="4" name="Shape 2"/>
          <p:cNvSpPr/>
          <p:nvPr/>
        </p:nvSpPr>
        <p:spPr>
          <a:xfrm>
            <a:off x="457200" y="1600200"/>
            <a:ext cx="5500116" cy="1043559"/>
          </a:xfrm>
          <a:prstGeom prst="roundRect">
            <a:avLst>
              <a:gd name="adj" fmla="val 7010"/>
            </a:avLst>
          </a:prstGeom>
          <a:solidFill>
            <a:srgbClr val="E9F1F8"/>
          </a:solidFill>
          <a:ln w="12700">
            <a:solidFill>
              <a:srgbClr val="E9F1F8"/>
            </a:solidFill>
            <a:prstDash val="solid"/>
          </a:ln>
        </p:spPr>
      </p:sp>
      <p:sp>
        <p:nvSpPr>
          <p:cNvPr id="5" name="Text 3"/>
          <p:cNvSpPr txBox="1"/>
          <p:nvPr/>
        </p:nvSpPr>
        <p:spPr>
          <a:xfrm>
            <a:off x="557784" y="1700784"/>
            <a:ext cx="5298948" cy="173355"/>
          </a:xfrm>
          <a:prstGeom prst="rect">
            <a:avLst/>
          </a:prstGeom>
          <a:noFill/>
          <a:ln/>
        </p:spPr>
        <p:txBody>
          <a:bodyPr wrap="square" lIns="0" tIns="0" rIns="0" bIns="0" rtlCol="0" anchor="t"/>
          <a:lstStyle/>
          <a:p>
            <a:pPr indent="0" marL="0">
              <a:buNone/>
            </a:pPr>
            <a:r>
              <a:rPr lang="en-US" sz="1050" b="1" dirty="0">
                <a:solidFill>
                  <a:srgbClr val="002855"/>
                </a:solidFill>
                <a:latin typeface="Arial" pitchFamily="34" charset="0"/>
                <a:ea typeface="Arial" pitchFamily="34" charset="-122"/>
                <a:cs typeface="Arial" pitchFamily="34" charset="-120"/>
              </a:rPr>
              <a:t>Lo hace el agente (Claude Code con pm-method)</a:t>
            </a:r>
            <a:endParaRPr lang="en-US" sz="1050" dirty="0"/>
          </a:p>
        </p:txBody>
      </p:sp>
      <p:sp>
        <p:nvSpPr>
          <p:cNvPr id="6" name="Text 4"/>
          <p:cNvSpPr txBox="1"/>
          <p:nvPr/>
        </p:nvSpPr>
        <p:spPr>
          <a:xfrm>
            <a:off x="557784" y="1874139"/>
            <a:ext cx="5298948" cy="714756"/>
          </a:xfrm>
          <a:prstGeom prst="rect">
            <a:avLst/>
          </a:prstGeom>
          <a:noFill/>
          <a:ln/>
        </p:spPr>
        <p:txBody>
          <a:bodyPr wrap="square" lIns="0" tIns="0" rIns="0" bIns="0" rtlCol="0" anchor="t"/>
          <a:lstStyle/>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Propone riesgos candidatos con su cita: BMAD, transcripciones, Jira y artefactos</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Calcula el valor neto de cada opción de respuesta y marca la recomendada</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Avisa qué está vencido o por decidir, y cuánto se consumió de la reserva</a:t>
            </a:r>
            <a:endParaRPr lang="en-US" sz="1600" dirty="0"/>
          </a:p>
        </p:txBody>
      </p:sp>
      <p:sp>
        <p:nvSpPr>
          <p:cNvPr id="7" name="Shape 5"/>
          <p:cNvSpPr/>
          <p:nvPr/>
        </p:nvSpPr>
        <p:spPr>
          <a:xfrm>
            <a:off x="457200" y="2707767"/>
            <a:ext cx="5500116" cy="1043559"/>
          </a:xfrm>
          <a:prstGeom prst="roundRect">
            <a:avLst>
              <a:gd name="adj" fmla="val 7010"/>
            </a:avLst>
          </a:prstGeom>
          <a:solidFill>
            <a:srgbClr val="FBF1E6"/>
          </a:solidFill>
          <a:ln w="12700">
            <a:solidFill>
              <a:srgbClr val="FBF1E6"/>
            </a:solidFill>
            <a:prstDash val="solid"/>
          </a:ln>
        </p:spPr>
      </p:sp>
      <p:sp>
        <p:nvSpPr>
          <p:cNvPr id="8" name="Text 6"/>
          <p:cNvSpPr txBox="1"/>
          <p:nvPr/>
        </p:nvSpPr>
        <p:spPr>
          <a:xfrm>
            <a:off x="557784" y="2808351"/>
            <a:ext cx="5298948" cy="173355"/>
          </a:xfrm>
          <a:prstGeom prst="rect">
            <a:avLst/>
          </a:prstGeom>
          <a:noFill/>
          <a:ln/>
        </p:spPr>
        <p:txBody>
          <a:bodyPr wrap="square" lIns="0" tIns="0" rIns="0" bIns="0" rtlCol="0" anchor="t"/>
          <a:lstStyle/>
          <a:p>
            <a:pPr indent="0" marL="0">
              <a:buNone/>
            </a:pPr>
            <a:r>
              <a:rPr lang="en-US" sz="1050" b="1" dirty="0">
                <a:solidFill>
                  <a:srgbClr val="B5651D"/>
                </a:solidFill>
                <a:latin typeface="Arial" pitchFamily="34" charset="0"/>
                <a:ea typeface="Arial" pitchFamily="34" charset="-122"/>
                <a:cs typeface="Arial" pitchFamily="34" charset="-120"/>
              </a:rPr>
              <a:t>Lo decidís vos</a:t>
            </a:r>
            <a:endParaRPr lang="en-US" sz="1050" dirty="0"/>
          </a:p>
        </p:txBody>
      </p:sp>
      <p:sp>
        <p:nvSpPr>
          <p:cNvPr id="9" name="Text 7"/>
          <p:cNvSpPr txBox="1"/>
          <p:nvPr/>
        </p:nvSpPr>
        <p:spPr>
          <a:xfrm>
            <a:off x="557784" y="2981706"/>
            <a:ext cx="5298948" cy="714756"/>
          </a:xfrm>
          <a:prstGeom prst="rect">
            <a:avLst/>
          </a:prstGeom>
          <a:noFill/>
          <a:ln/>
        </p:spPr>
        <p:txBody>
          <a:bodyPr wrap="square" lIns="0" tIns="0" rIns="0" bIns="0" rtlCol="0" anchor="t"/>
          <a:lstStyle/>
          <a:p>
            <a:pPr indent="0" marL="0">
              <a:spcAft>
                <a:spcPts val="400"/>
              </a:spcAft>
              <a:buNone/>
            </a:pPr>
            <a:r>
              <a:rPr lang="en-US" sz="1050" b="1" dirty="0">
                <a:solidFill>
                  <a:srgbClr val="B5651D"/>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En el taller, el equipo decide qué candidatos son riesgos</a:t>
            </a:r>
            <a:endParaRPr lang="en-US" sz="1600" dirty="0"/>
          </a:p>
          <a:p>
            <a:pPr indent="0" marL="0">
              <a:spcAft>
                <a:spcPts val="400"/>
              </a:spcAft>
              <a:buNone/>
            </a:pPr>
            <a:r>
              <a:rPr lang="en-US" sz="1050" b="1" dirty="0">
                <a:solidFill>
                  <a:srgbClr val="B5651D"/>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El propietario elige la respuesta; si no es la recomendada, escribe el motivo</a:t>
            </a:r>
            <a:endParaRPr lang="en-US" sz="1600" dirty="0"/>
          </a:p>
          <a:p>
            <a:pPr indent="0" marL="0">
              <a:spcAft>
                <a:spcPts val="400"/>
              </a:spcAft>
              <a:buNone/>
            </a:pPr>
            <a:r>
              <a:rPr lang="en-US" sz="1050" b="1" dirty="0">
                <a:solidFill>
                  <a:srgbClr val="B5651D"/>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La junta aprueba la reserva y resuelve lo que se le escala</a:t>
            </a:r>
            <a:endParaRPr lang="en-US" sz="1600" dirty="0"/>
          </a:p>
        </p:txBody>
      </p:sp>
      <p:sp>
        <p:nvSpPr>
          <p:cNvPr id="10" name="Shape 8"/>
          <p:cNvSpPr/>
          <p:nvPr/>
        </p:nvSpPr>
        <p:spPr>
          <a:xfrm>
            <a:off x="457200" y="3815334"/>
            <a:ext cx="5500116" cy="576072"/>
          </a:xfrm>
          <a:prstGeom prst="roundRect">
            <a:avLst>
              <a:gd name="adj" fmla="val 12698"/>
            </a:avLst>
          </a:prstGeom>
          <a:solidFill>
            <a:srgbClr val="002855"/>
          </a:solidFill>
          <a:ln w="12700">
            <a:solidFill>
              <a:srgbClr val="002855"/>
            </a:solidFill>
            <a:prstDash val="solid"/>
          </a:ln>
        </p:spPr>
      </p:sp>
      <p:sp>
        <p:nvSpPr>
          <p:cNvPr id="11" name="Text 9"/>
          <p:cNvSpPr txBox="1"/>
          <p:nvPr/>
        </p:nvSpPr>
        <p:spPr>
          <a:xfrm>
            <a:off x="557784" y="3915918"/>
            <a:ext cx="5298948" cy="374904"/>
          </a:xfrm>
          <a:prstGeom prst="rect">
            <a:avLst/>
          </a:prstGeom>
          <a:noFill/>
          <a:ln/>
        </p:spPr>
        <p:txBody>
          <a:bodyPr wrap="square" lIns="0" tIns="0" rIns="0" bIns="0" rtlCol="0" anchor="t"/>
          <a:lstStyle/>
          <a:p>
            <a:pPr indent="0" marL="0">
              <a:buNone/>
            </a:pPr>
            <a:r>
              <a:rPr lang="en-US" sz="1050" b="1" dirty="0">
                <a:solidFill>
                  <a:srgbClr val="9FD0F0"/>
                </a:solidFill>
                <a:latin typeface="Arial" pitchFamily="34" charset="0"/>
                <a:ea typeface="Arial" pitchFamily="34" charset="-122"/>
                <a:cs typeface="Arial" pitchFamily="34" charset="-120"/>
              </a:rPr>
              <a:t>Control humano: </a:t>
            </a:r>
            <a:pPr indent="0" marL="0">
              <a:buNone/>
            </a:pPr>
            <a:r>
              <a:rPr lang="en-US" sz="1050" dirty="0">
                <a:solidFill>
                  <a:srgbClr val="FFFFFF"/>
                </a:solidFill>
                <a:latin typeface="Arial" pitchFamily="34" charset="0"/>
                <a:ea typeface="Arial" pitchFamily="34" charset="-122"/>
                <a:cs typeface="Arial" pitchFamily="34" charset="-120"/>
              </a:rPr>
              <a:t>El agente calcula, propone y avisa; no elige respuestas ni gasta la reserva. Cada decisión queda registrada con quién la tomó.</a:t>
            </a:r>
            <a:endParaRPr lang="en-US" sz="1600" dirty="0"/>
          </a:p>
        </p:txBody>
      </p:sp>
      <p:sp>
        <p:nvSpPr>
          <p:cNvPr id="12" name="Shape 10"/>
          <p:cNvSpPr/>
          <p:nvPr/>
        </p:nvSpPr>
        <p:spPr>
          <a:xfrm>
            <a:off x="457200" y="4455414"/>
            <a:ext cx="5500116" cy="1418463"/>
          </a:xfrm>
          <a:prstGeom prst="roundRect">
            <a:avLst>
              <a:gd name="adj" fmla="val 5157"/>
            </a:avLst>
          </a:prstGeom>
          <a:solidFill>
            <a:srgbClr val="F4F6F8"/>
          </a:solidFill>
          <a:ln w="12700">
            <a:solidFill>
              <a:srgbClr val="F4F6F8"/>
            </a:solidFill>
            <a:prstDash val="solid"/>
          </a:ln>
        </p:spPr>
      </p:sp>
      <p:sp>
        <p:nvSpPr>
          <p:cNvPr id="13" name="Text 11"/>
          <p:cNvSpPr txBox="1"/>
          <p:nvPr/>
        </p:nvSpPr>
        <p:spPr>
          <a:xfrm>
            <a:off x="557784" y="4555998"/>
            <a:ext cx="5298948" cy="173355"/>
          </a:xfrm>
          <a:prstGeom prst="rect">
            <a:avLst/>
          </a:prstGeom>
          <a:noFill/>
          <a:ln/>
        </p:spPr>
        <p:txBody>
          <a:bodyPr wrap="square" lIns="0" tIns="0" rIns="0" bIns="0" rtlCol="0" anchor="t"/>
          <a:lstStyle/>
          <a:p>
            <a:pPr indent="0" marL="0">
              <a:buNone/>
            </a:pPr>
            <a:r>
              <a:rPr lang="en-US" sz="1050" b="1" dirty="0">
                <a:solidFill>
                  <a:srgbClr val="B5651D"/>
                </a:solidFill>
                <a:latin typeface="Arial" pitchFamily="34" charset="0"/>
                <a:ea typeface="Arial" pitchFamily="34" charset="-122"/>
                <a:cs typeface="Arial" pitchFamily="34" charset="-120"/>
              </a:rPr>
              <a:t>Antes de inscribirte</a:t>
            </a:r>
            <a:endParaRPr lang="en-US" sz="1050" dirty="0"/>
          </a:p>
        </p:txBody>
      </p:sp>
      <p:sp>
        <p:nvSpPr>
          <p:cNvPr id="14" name="Text 12"/>
          <p:cNvSpPr txBox="1"/>
          <p:nvPr/>
        </p:nvSpPr>
        <p:spPr>
          <a:xfrm>
            <a:off x="557784" y="4729353"/>
            <a:ext cx="5298948" cy="714756"/>
          </a:xfrm>
          <a:prstGeom prst="rect">
            <a:avLst/>
          </a:prstGeom>
          <a:noFill/>
          <a:ln/>
        </p:spPr>
        <p:txBody>
          <a:bodyPr wrap="square" lIns="0" tIns="0" rIns="0" bIns="0" rtlCol="0" anchor="t"/>
          <a:lstStyle/>
          <a:p>
            <a:pPr indent="0" marL="0">
              <a:spcAft>
                <a:spcPts val="400"/>
              </a:spcAft>
              <a:buNone/>
            </a:pPr>
            <a:r>
              <a:rPr lang="en-US" sz="1050" b="1" dirty="0">
                <a:solidFill>
                  <a:srgbClr val="B5651D"/>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Saber qué es un riesgo, una WBS y un presupuesto; no hace falta programar</a:t>
            </a:r>
            <a:endParaRPr lang="en-US" sz="1600" dirty="0"/>
          </a:p>
          <a:p>
            <a:pPr indent="0" marL="0">
              <a:spcAft>
                <a:spcPts val="400"/>
              </a:spcAft>
              <a:buNone/>
            </a:pPr>
            <a:r>
              <a:rPr lang="en-US" sz="1050" b="1" dirty="0">
                <a:solidFill>
                  <a:srgbClr val="B5651D"/>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Un proyecto propio con al menos un riesgo alto, o el escenario del caso</a:t>
            </a:r>
            <a:endParaRPr lang="en-US" sz="1600" dirty="0"/>
          </a:p>
          <a:p>
            <a:pPr indent="0" marL="0">
              <a:spcAft>
                <a:spcPts val="400"/>
              </a:spcAft>
              <a:buNone/>
            </a:pPr>
            <a:r>
              <a:rPr lang="en-US" sz="1050" b="1" dirty="0">
                <a:solidFill>
                  <a:srgbClr val="B5651D"/>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Nada que instalar para las clases; para practicar, Claude Code con pm-method</a:t>
            </a:r>
            <a:endParaRPr lang="en-US" sz="1600" dirty="0"/>
          </a:p>
        </p:txBody>
      </p:sp>
      <p:sp>
        <p:nvSpPr>
          <p:cNvPr id="15" name="Text 13"/>
          <p:cNvSpPr txBox="1"/>
          <p:nvPr/>
        </p:nvSpPr>
        <p:spPr>
          <a:xfrm>
            <a:off x="557784" y="5398389"/>
            <a:ext cx="5298948" cy="374904"/>
          </a:xfrm>
          <a:prstGeom prst="rect">
            <a:avLst/>
          </a:prstGeom>
          <a:noFill/>
          <a:ln/>
        </p:spPr>
        <p:txBody>
          <a:bodyPr wrap="square" lIns="0" tIns="0" rIns="0" bIns="0" rtlCol="0" anchor="t"/>
          <a:lstStyle/>
          <a:p>
            <a:pPr indent="0" marL="0">
              <a:buNone/>
            </a:pPr>
            <a:r>
              <a:rPr lang="en-US" sz="1050" b="1" dirty="0">
                <a:solidFill>
                  <a:srgbClr val="002855"/>
                </a:solidFill>
                <a:latin typeface="Arial" pitchFamily="34" charset="0"/>
                <a:ea typeface="Arial" pitchFamily="34" charset="-122"/>
                <a:cs typeface="Arial" pitchFamily="34" charset="-120"/>
              </a:rPr>
              <a:t>Modalidad: </a:t>
            </a:r>
            <a:pPr indent="0" marL="0">
              <a:buNone/>
            </a:pPr>
            <a:r>
              <a:rPr lang="en-US" sz="1050" dirty="0">
                <a:solidFill>
                  <a:srgbClr val="272425"/>
                </a:solidFill>
                <a:latin typeface="Arial" pitchFamily="34" charset="0"/>
                <a:ea typeface="Arial" pitchFamily="34" charset="-122"/>
                <a:cs typeface="Arial" pitchFamily="34" charset="-120"/>
              </a:rPr>
              <a:t>Dos clases en vivo de 90 minutos: demostración sobre un caso real y ejercicio de 10 minutos al cierre de cada una.</a:t>
            </a:r>
            <a:endParaRPr lang="en-US" sz="1600" dirty="0"/>
          </a:p>
        </p:txBody>
      </p:sp>
      <p:sp>
        <p:nvSpPr>
          <p:cNvPr id="16" name="Text 14"/>
          <p:cNvSpPr txBox="1"/>
          <p:nvPr/>
        </p:nvSpPr>
        <p:spPr>
          <a:xfrm>
            <a:off x="6231636" y="1207008"/>
            <a:ext cx="5500116" cy="292608"/>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Contenidos</a:t>
            </a:r>
            <a:endParaRPr lang="en-US" sz="1600" dirty="0"/>
          </a:p>
        </p:txBody>
      </p:sp>
      <p:sp>
        <p:nvSpPr>
          <p:cNvPr id="17" name="Shape 15"/>
          <p:cNvSpPr/>
          <p:nvPr/>
        </p:nvSpPr>
        <p:spPr>
          <a:xfrm>
            <a:off x="6231636" y="1600200"/>
            <a:ext cx="5500116" cy="1254379"/>
          </a:xfrm>
          <a:prstGeom prst="roundRect">
            <a:avLst>
              <a:gd name="adj" fmla="val 5832"/>
            </a:avLst>
          </a:prstGeom>
          <a:solidFill>
            <a:srgbClr val="F4F6F8"/>
          </a:solidFill>
          <a:ln w="12700">
            <a:solidFill>
              <a:srgbClr val="F4F6F8"/>
            </a:solidFill>
            <a:prstDash val="solid"/>
          </a:ln>
        </p:spPr>
      </p:sp>
      <p:sp>
        <p:nvSpPr>
          <p:cNvPr id="18" name="Text 16"/>
          <p:cNvSpPr txBox="1"/>
          <p:nvPr/>
        </p:nvSpPr>
        <p:spPr>
          <a:xfrm>
            <a:off x="6332220" y="1700784"/>
            <a:ext cx="5298948" cy="173355"/>
          </a:xfrm>
          <a:prstGeom prst="rect">
            <a:avLst/>
          </a:prstGeom>
          <a:noFill/>
          <a:ln/>
        </p:spPr>
        <p:txBody>
          <a:bodyPr wrap="square" lIns="0" tIns="0" rIns="0" bIns="0" rtlCol="0" anchor="t"/>
          <a:lstStyle/>
          <a:p>
            <a:pPr indent="0" marL="0">
              <a:buNone/>
            </a:pPr>
            <a:r>
              <a:rPr lang="en-US" sz="1050" b="1" dirty="0">
                <a:solidFill>
                  <a:srgbClr val="002855"/>
                </a:solidFill>
                <a:latin typeface="Arial" pitchFamily="34" charset="0"/>
                <a:ea typeface="Arial" pitchFamily="34" charset="-122"/>
                <a:cs typeface="Arial" pitchFamily="34" charset="-120"/>
              </a:rPr>
              <a:t>Clase 1 · 90 min · Del taller al plan de respuesta</a:t>
            </a:r>
            <a:endParaRPr lang="en-US" sz="1050" dirty="0"/>
          </a:p>
        </p:txBody>
      </p:sp>
      <p:sp>
        <p:nvSpPr>
          <p:cNvPr id="19" name="Text 17"/>
          <p:cNvSpPr txBox="1"/>
          <p:nvPr/>
        </p:nvSpPr>
        <p:spPr>
          <a:xfrm>
            <a:off x="6332220" y="1874139"/>
            <a:ext cx="5298948" cy="925576"/>
          </a:xfrm>
          <a:prstGeom prst="rect">
            <a:avLst/>
          </a:prstGeom>
          <a:noFill/>
          <a:ln/>
        </p:spPr>
        <p:txBody>
          <a:bodyPr wrap="square" lIns="0" tIns="0" rIns="0" bIns="0" rtlCol="0" anchor="t"/>
          <a:lstStyle/>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Enfoque, apetito y escala de probabilidad e impacto</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Identificación con cita, con y sin BMAD, y evaluación</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Opciones de respuesta por valor neto y plan de contingencia</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Presupuesto de riesgo, reserva de gestión y puertas</a:t>
            </a:r>
            <a:endParaRPr lang="en-US" sz="1600" dirty="0"/>
          </a:p>
        </p:txBody>
      </p:sp>
      <p:sp>
        <p:nvSpPr>
          <p:cNvPr id="20" name="Shape 18"/>
          <p:cNvSpPr/>
          <p:nvPr/>
        </p:nvSpPr>
        <p:spPr>
          <a:xfrm>
            <a:off x="6231636" y="2918587"/>
            <a:ext cx="5500116" cy="1254379"/>
          </a:xfrm>
          <a:prstGeom prst="roundRect">
            <a:avLst>
              <a:gd name="adj" fmla="val 5832"/>
            </a:avLst>
          </a:prstGeom>
          <a:solidFill>
            <a:srgbClr val="F4F6F8"/>
          </a:solidFill>
          <a:ln w="12700">
            <a:solidFill>
              <a:srgbClr val="F4F6F8"/>
            </a:solidFill>
            <a:prstDash val="solid"/>
          </a:ln>
        </p:spPr>
      </p:sp>
      <p:sp>
        <p:nvSpPr>
          <p:cNvPr id="21" name="Text 19"/>
          <p:cNvSpPr txBox="1"/>
          <p:nvPr/>
        </p:nvSpPr>
        <p:spPr>
          <a:xfrm>
            <a:off x="6332220" y="3019171"/>
            <a:ext cx="5298948" cy="173355"/>
          </a:xfrm>
          <a:prstGeom prst="rect">
            <a:avLst/>
          </a:prstGeom>
          <a:noFill/>
          <a:ln/>
        </p:spPr>
        <p:txBody>
          <a:bodyPr wrap="square" lIns="0" tIns="0" rIns="0" bIns="0" rtlCol="0" anchor="t"/>
          <a:lstStyle/>
          <a:p>
            <a:pPr indent="0" marL="0">
              <a:buNone/>
            </a:pPr>
            <a:r>
              <a:rPr lang="en-US" sz="1050" b="1" dirty="0">
                <a:solidFill>
                  <a:srgbClr val="002855"/>
                </a:solidFill>
                <a:latin typeface="Arial" pitchFamily="34" charset="0"/>
                <a:ea typeface="Arial" pitchFamily="34" charset="-122"/>
                <a:cs typeface="Arial" pitchFamily="34" charset="-120"/>
              </a:rPr>
              <a:t>Clase 2 · 90 min · El control continuo</a:t>
            </a:r>
            <a:endParaRPr lang="en-US" sz="1050" dirty="0"/>
          </a:p>
        </p:txBody>
      </p:sp>
      <p:sp>
        <p:nvSpPr>
          <p:cNvPr id="22" name="Text 20"/>
          <p:cNvSpPr txBox="1"/>
          <p:nvPr/>
        </p:nvSpPr>
        <p:spPr>
          <a:xfrm>
            <a:off x="6332220" y="3192526"/>
            <a:ext cx="5298948" cy="925576"/>
          </a:xfrm>
          <a:prstGeom prst="rect">
            <a:avLst/>
          </a:prstGeom>
          <a:noFill/>
          <a:ln/>
        </p:spPr>
        <p:txBody>
          <a:bodyPr wrap="square" lIns="0" tIns="0" rIns="0" bIns="0" rtlCol="0" anchor="t"/>
          <a:lstStyle/>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Revisión del sprint y un riesgo que ocurre (Jira)</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Reserva bien y mal usada, y escalamiento a la junta</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Informe de riesgos, revisión periódica y radar</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Contingencia activada y límite de etapa</a:t>
            </a:r>
            <a:endParaRPr lang="en-US" sz="1600" dirty="0"/>
          </a:p>
        </p:txBody>
      </p:sp>
      <p:sp>
        <p:nvSpPr>
          <p:cNvPr id="23" name="Text 21"/>
          <p:cNvSpPr txBox="1"/>
          <p:nvPr/>
        </p:nvSpPr>
        <p:spPr>
          <a:xfrm>
            <a:off x="6231636" y="4282694"/>
            <a:ext cx="5500116" cy="292608"/>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Qué te llevás</a:t>
            </a:r>
            <a:endParaRPr lang="en-US" sz="1600" dirty="0"/>
          </a:p>
        </p:txBody>
      </p:sp>
      <p:sp>
        <p:nvSpPr>
          <p:cNvPr id="24" name="Shape 22"/>
          <p:cNvSpPr/>
          <p:nvPr/>
        </p:nvSpPr>
        <p:spPr>
          <a:xfrm>
            <a:off x="6231636" y="4675886"/>
            <a:ext cx="5500116" cy="1464310"/>
          </a:xfrm>
          <a:prstGeom prst="roundRect">
            <a:avLst>
              <a:gd name="adj" fmla="val 4996"/>
            </a:avLst>
          </a:prstGeom>
          <a:solidFill>
            <a:srgbClr val="E9F1F8"/>
          </a:solidFill>
          <a:ln w="12700">
            <a:solidFill>
              <a:srgbClr val="E9F1F8"/>
            </a:solidFill>
            <a:prstDash val="solid"/>
          </a:ln>
        </p:spPr>
      </p:sp>
      <p:sp>
        <p:nvSpPr>
          <p:cNvPr id="25" name="Text 23"/>
          <p:cNvSpPr txBox="1"/>
          <p:nvPr/>
        </p:nvSpPr>
        <p:spPr>
          <a:xfrm>
            <a:off x="6332220" y="4776470"/>
            <a:ext cx="5298948" cy="173355"/>
          </a:xfrm>
          <a:prstGeom prst="rect">
            <a:avLst/>
          </a:prstGeom>
          <a:noFill/>
          <a:ln/>
        </p:spPr>
        <p:txBody>
          <a:bodyPr wrap="square" lIns="0" tIns="0" rIns="0" bIns="0" rtlCol="0" anchor="t"/>
          <a:lstStyle/>
          <a:p>
            <a:pPr indent="0" marL="0">
              <a:buNone/>
            </a:pPr>
            <a:r>
              <a:rPr lang="en-US" sz="1050" b="1" dirty="0">
                <a:solidFill>
                  <a:srgbClr val="002855"/>
                </a:solidFill>
                <a:latin typeface="Arial" pitchFamily="34" charset="0"/>
                <a:ea typeface="Arial" pitchFamily="34" charset="-122"/>
                <a:cs typeface="Arial" pitchFamily="34" charset="-120"/>
              </a:rPr>
              <a:t>Para vos</a:t>
            </a:r>
            <a:endParaRPr lang="en-US" sz="1050" dirty="0"/>
          </a:p>
        </p:txBody>
      </p:sp>
      <p:sp>
        <p:nvSpPr>
          <p:cNvPr id="26" name="Text 24"/>
          <p:cNvSpPr txBox="1"/>
          <p:nvPr/>
        </p:nvSpPr>
        <p:spPr>
          <a:xfrm>
            <a:off x="6332220" y="4949825"/>
            <a:ext cx="5298948" cy="503936"/>
          </a:xfrm>
          <a:prstGeom prst="rect">
            <a:avLst/>
          </a:prstGeom>
          <a:noFill/>
          <a:ln/>
        </p:spPr>
        <p:txBody>
          <a:bodyPr wrap="square" lIns="0" tIns="0" rIns="0" bIns="0" rtlCol="0" anchor="t"/>
          <a:lstStyle/>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Un criterio para defender cada respuesta con números, no con intuición</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Tu hoja de trabajo aplicada a un riesgo alto de un proyecto propio</a:t>
            </a:r>
            <a:endParaRPr lang="en-US" sz="1600" dirty="0"/>
          </a:p>
        </p:txBody>
      </p:sp>
      <p:sp>
        <p:nvSpPr>
          <p:cNvPr id="27" name="Text 25"/>
          <p:cNvSpPr txBox="1"/>
          <p:nvPr/>
        </p:nvSpPr>
        <p:spPr>
          <a:xfrm>
            <a:off x="6332220" y="5408041"/>
            <a:ext cx="5298948" cy="173355"/>
          </a:xfrm>
          <a:prstGeom prst="rect">
            <a:avLst/>
          </a:prstGeom>
          <a:noFill/>
          <a:ln/>
        </p:spPr>
        <p:txBody>
          <a:bodyPr wrap="square" lIns="0" tIns="0" rIns="0" bIns="0" rtlCol="0" anchor="t"/>
          <a:lstStyle/>
          <a:p>
            <a:pPr indent="0" marL="0">
              <a:buNone/>
            </a:pPr>
            <a:r>
              <a:rPr lang="en-US" sz="1050" b="1" dirty="0">
                <a:solidFill>
                  <a:srgbClr val="002855"/>
                </a:solidFill>
                <a:latin typeface="Arial" pitchFamily="34" charset="0"/>
                <a:ea typeface="Arial" pitchFamily="34" charset="-122"/>
                <a:cs typeface="Arial" pitchFamily="34" charset="-120"/>
              </a:rPr>
              <a:t>Para tu organización</a:t>
            </a:r>
            <a:endParaRPr lang="en-US" sz="1050" dirty="0"/>
          </a:p>
        </p:txBody>
      </p:sp>
      <p:sp>
        <p:nvSpPr>
          <p:cNvPr id="28" name="Text 26"/>
          <p:cNvSpPr txBox="1"/>
          <p:nvPr/>
        </p:nvSpPr>
        <p:spPr>
          <a:xfrm>
            <a:off x="6332220" y="5581396"/>
            <a:ext cx="5298948" cy="503936"/>
          </a:xfrm>
          <a:prstGeom prst="rect">
            <a:avLst/>
          </a:prstGeom>
          <a:noFill/>
          <a:ln/>
        </p:spPr>
        <p:txBody>
          <a:bodyPr wrap="square" lIns="0" tIns="0" rIns="0" bIns="0" rtlCol="0" anchor="t"/>
          <a:lstStyle/>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Una reserva que se usa solo para riesgos: cada gasto cita el riesgo que responde</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Avisos a tiempo: en el caso, las revisiones vencidas se avisaron un mes antes</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2</a:t>
            </a:fld>
            <a:endParaRPr lang="en-US"/>
          </a:p>
        </p:txBody>
      </p:sp>
    </p:spTree>
  </p:cSld>
  <p:clrMapOvr>
    <a:masterClrMapping/>
  </p:clrMapOvr>
</p:sld>
</file>

<file path=ppt/theme/theme1.xml><?xml version="1.0" encoding="utf-8"?>
<a:theme xmlns:a="http://schemas.openxmlformats.org/drawingml/2006/main" name="Webinar pm-method">
  <a:themeElements>
    <a:clrScheme name="Webinar pm-method">
      <a:dk1>
        <a:srgbClr val="272425"/>
      </a:dk1>
      <a:lt1>
        <a:srgbClr val="FFFFFF"/>
      </a:lt1>
      <a:dk2>
        <a:srgbClr val="002855"/>
      </a:dk2>
      <a:lt2>
        <a:srgbClr val="F4F6F8"/>
      </a:lt2>
      <a:accent1>
        <a:srgbClr val="00629B"/>
      </a:accent1>
      <a:accent2>
        <a:srgbClr val="B5651D"/>
      </a:accent2>
      <a:accent3>
        <a:srgbClr val="002855"/>
      </a:accent3>
      <a:accent4>
        <a:srgbClr val="696969"/>
      </a:accent4>
      <a:accent5>
        <a:srgbClr val="272425"/>
      </a:accent5>
      <a:accent6>
        <a:srgbClr val="00629B"/>
      </a:accent6>
      <a:hlink>
        <a:srgbClr val="00629B"/>
      </a:hlink>
      <a:folHlink>
        <a:srgbClr val="002855"/>
      </a:folHlink>
    </a:clrScheme>
    <a:fontScheme name="Webinar pm-metho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Ficha del taller E2E-1 · Que el registro de riesgos no muera después del taller</dc:title>
  <dc:subject>pm-method 2.4.0</dc:subject>
  <dc:creator>pm-method</dc:creator>
  <cp:lastModifiedBy>pm-method</cp:lastModifiedBy>
  <cp:revision>1</cp:revision>
  <dcterms:created xsi:type="dcterms:W3CDTF">2026-10-22T12:25:52Z</dcterms:created>
  <dcterms:modified xsi:type="dcterms:W3CDTF">2026-10-22T12:25:52Z</dcterms:modified>
</cp:coreProperties>
</file>